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 id="2147483678" r:id="rId3"/>
    <p:sldMasterId id="2147483685" r:id="rId4"/>
    <p:sldMasterId id="2147483703" r:id="rId5"/>
  </p:sldMasterIdLst>
  <p:notesMasterIdLst>
    <p:notesMasterId r:id="rId57"/>
  </p:notesMasterIdLst>
  <p:sldIdLst>
    <p:sldId id="300" r:id="rId6"/>
    <p:sldId id="308" r:id="rId7"/>
    <p:sldId id="287" r:id="rId8"/>
    <p:sldId id="257" r:id="rId9"/>
    <p:sldId id="305" r:id="rId10"/>
    <p:sldId id="307" r:id="rId11"/>
    <p:sldId id="304" r:id="rId12"/>
    <p:sldId id="302" r:id="rId13"/>
    <p:sldId id="266" r:id="rId14"/>
    <p:sldId id="258" r:id="rId15"/>
    <p:sldId id="259" r:id="rId16"/>
    <p:sldId id="262" r:id="rId17"/>
    <p:sldId id="265" r:id="rId18"/>
    <p:sldId id="264" r:id="rId19"/>
    <p:sldId id="288" r:id="rId20"/>
    <p:sldId id="301" r:id="rId21"/>
    <p:sldId id="291" r:id="rId22"/>
    <p:sldId id="289" r:id="rId23"/>
    <p:sldId id="290" r:id="rId24"/>
    <p:sldId id="286" r:id="rId25"/>
    <p:sldId id="303" r:id="rId26"/>
    <p:sldId id="271" r:id="rId27"/>
    <p:sldId id="272" r:id="rId28"/>
    <p:sldId id="273" r:id="rId29"/>
    <p:sldId id="292" r:id="rId30"/>
    <p:sldId id="293" r:id="rId31"/>
    <p:sldId id="294" r:id="rId32"/>
    <p:sldId id="295" r:id="rId33"/>
    <p:sldId id="296" r:id="rId34"/>
    <p:sldId id="297" r:id="rId35"/>
    <p:sldId id="298" r:id="rId36"/>
    <p:sldId id="260" r:id="rId37"/>
    <p:sldId id="261" r:id="rId38"/>
    <p:sldId id="299" r:id="rId39"/>
    <p:sldId id="263" r:id="rId40"/>
    <p:sldId id="267" r:id="rId41"/>
    <p:sldId id="268" r:id="rId42"/>
    <p:sldId id="269" r:id="rId43"/>
    <p:sldId id="270"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viad itzhaky" initials="ai" lastIdx="10" clrIdx="0">
    <p:extLst>
      <p:ext uri="{19B8F6BF-5375-455C-9EA6-DF929625EA0E}">
        <p15:presenceInfo xmlns:p15="http://schemas.microsoft.com/office/powerpoint/2012/main" userId="85f879c6d6d2bb18" providerId="Windows Live"/>
      </p:ext>
    </p:extLst>
  </p:cmAuthor>
  <p:cmAuthor id="2" name="אביגיל ללונק" initials="אל" lastIdx="1" clrIdx="1">
    <p:extLst>
      <p:ext uri="{19B8F6BF-5375-455C-9EA6-DF929625EA0E}">
        <p15:presenceInfo xmlns:p15="http://schemas.microsoft.com/office/powerpoint/2012/main" userId="S-1-5-21-641946731-1502829466-943750798-789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013" autoAdjust="0"/>
    <p:restoredTop sz="94660"/>
  </p:normalViewPr>
  <p:slideViewPr>
    <p:cSldViewPr snapToGrid="0">
      <p:cViewPr>
        <p:scale>
          <a:sx n="110" d="100"/>
          <a:sy n="110" d="100"/>
        </p:scale>
        <p:origin x="576" y="2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_______________Microsoft_Excel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5793819485774"/>
          <c:y val="4.5269724707400559E-2"/>
          <c:w val="0.83768710834154358"/>
          <c:h val="0.7579953865313273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במידה רבה מאוד</c:v>
                </c:pt>
                <c:pt idx="1">
                  <c:v>במידה רבה</c:v>
                </c:pt>
                <c:pt idx="2">
                  <c:v>במידה מועטה</c:v>
                </c:pt>
                <c:pt idx="3">
                  <c:v>בכלל לא</c:v>
                </c:pt>
              </c:strCache>
            </c:strRef>
          </c:cat>
          <c:val>
            <c:numRef>
              <c:f>Sheet1!$B$2:$B$5</c:f>
              <c:numCache>
                <c:formatCode>0.0</c:formatCode>
                <c:ptCount val="4"/>
                <c:pt idx="0">
                  <c:v>39.799999999999997</c:v>
                </c:pt>
                <c:pt idx="1">
                  <c:v>51.3</c:v>
                </c:pt>
                <c:pt idx="2">
                  <c:v>8</c:v>
                </c:pt>
                <c:pt idx="3">
                  <c:v>0.8</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מידע שמגיע מהמשרד באמצעות דשבורד המכלול</c:v>
                </c:pt>
                <c:pt idx="1">
                  <c:v>סקר עצמאי ברשות</c:v>
                </c:pt>
                <c:pt idx="2">
                  <c:v>נתונים כלליים על בני 65+</c:v>
                </c:pt>
                <c:pt idx="3">
                  <c:v>דשבורד רשותי</c:v>
                </c:pt>
                <c:pt idx="4">
                  <c:v>אחר</c:v>
                </c:pt>
                <c:pt idx="5">
                  <c:v>GIS רשותי</c:v>
                </c:pt>
              </c:strCache>
            </c:strRef>
          </c:cat>
          <c:val>
            <c:numRef>
              <c:f>Sheet1!$B$2:$B$7</c:f>
              <c:numCache>
                <c:formatCode>General</c:formatCode>
                <c:ptCount val="6"/>
                <c:pt idx="0">
                  <c:v>56.9</c:v>
                </c:pt>
                <c:pt idx="1">
                  <c:v>46.6</c:v>
                </c:pt>
                <c:pt idx="2">
                  <c:v>45.1</c:v>
                </c:pt>
                <c:pt idx="3">
                  <c:v>19.5</c:v>
                </c:pt>
                <c:pt idx="4">
                  <c:v>13.4</c:v>
                </c:pt>
                <c:pt idx="5">
                  <c:v>5.6</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משתמש לצורך תכנון התקציב</c:v>
                </c:pt>
                <c:pt idx="1">
                  <c:v>משתמש לצורך הניהול השוטף</c:v>
                </c:pt>
                <c:pt idx="2">
                  <c:v>מכיר אבל לא משתמש</c:v>
                </c:pt>
                <c:pt idx="3">
                  <c:v>לא מכיר</c:v>
                </c:pt>
              </c:strCache>
            </c:strRef>
          </c:cat>
          <c:val>
            <c:numRef>
              <c:f>Sheet1!$B$2:$B$5</c:f>
              <c:numCache>
                <c:formatCode>0.0</c:formatCode>
                <c:ptCount val="4"/>
                <c:pt idx="0">
                  <c:v>39.700000000000003</c:v>
                </c:pt>
                <c:pt idx="1">
                  <c:v>34.5</c:v>
                </c:pt>
                <c:pt idx="2">
                  <c:v>30.2</c:v>
                </c:pt>
                <c:pt idx="3">
                  <c:v>3.9</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במידה רבה מאוד</c:v>
                </c:pt>
                <c:pt idx="1">
                  <c:v>במידה רבה</c:v>
                </c:pt>
                <c:pt idx="2">
                  <c:v>במידה מועטה</c:v>
                </c:pt>
                <c:pt idx="3">
                  <c:v>בכלל לא</c:v>
                </c:pt>
              </c:strCache>
            </c:strRef>
          </c:cat>
          <c:val>
            <c:numRef>
              <c:f>Sheet1!$B$2:$B$5</c:f>
              <c:numCache>
                <c:formatCode>0.0</c:formatCode>
                <c:ptCount val="4"/>
                <c:pt idx="0">
                  <c:v>11.9</c:v>
                </c:pt>
                <c:pt idx="1">
                  <c:v>58.8</c:v>
                </c:pt>
                <c:pt idx="2">
                  <c:v>29.4</c:v>
                </c:pt>
                <c:pt idx="3">
                  <c:v>0</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3-07-14T18:23:12.737" idx="10">
    <p:pos x="5905" y="4465"/>
    <p:text>כנל- דגש על האזרח הותיק, יתכן וכאן צריך לחזור לבעיה של האזרח שתקוע בין מערכות עם צרכים רבים</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2DAC69-F2DF-426A-A72B-3FFD1EE774B8}" type="doc">
      <dgm:prSet loTypeId="urn:microsoft.com/office/officeart/2005/8/layout/venn3" loCatId="relationship" qsTypeId="urn:microsoft.com/office/officeart/2005/8/quickstyle/simple1" qsCatId="simple" csTypeId="urn:microsoft.com/office/officeart/2005/8/colors/colorful4" csCatId="colorful" phldr="1"/>
      <dgm:spPr/>
      <dgm:t>
        <a:bodyPr/>
        <a:lstStyle/>
        <a:p>
          <a:pPr rtl="1"/>
          <a:endParaRPr lang="he-IL"/>
        </a:p>
      </dgm:t>
    </dgm:pt>
    <dgm:pt modelId="{59D664AA-9CE7-4157-80AE-CECD1FDCC6FA}">
      <dgm:prSet phldrT="[טקסט]"/>
      <dgm:spPr/>
      <dgm:t>
        <a:bodyPr/>
        <a:lstStyle/>
        <a:p>
          <a:pPr rtl="1"/>
          <a:r>
            <a:rPr lang="he-IL" dirty="0"/>
            <a:t>מרכז יום?</a:t>
          </a:r>
        </a:p>
      </dgm:t>
    </dgm:pt>
    <dgm:pt modelId="{5C6BFA4E-AD37-4F8C-8886-9F39FBBDC9FC}" type="parTrans" cxnId="{0E0A6C3F-8131-42F7-B5B8-8AD70CF6F9EA}">
      <dgm:prSet/>
      <dgm:spPr/>
      <dgm:t>
        <a:bodyPr/>
        <a:lstStyle/>
        <a:p>
          <a:pPr rtl="1"/>
          <a:endParaRPr lang="he-IL"/>
        </a:p>
      </dgm:t>
    </dgm:pt>
    <dgm:pt modelId="{F9A47966-D787-4858-B077-5EB512418C8F}" type="sibTrans" cxnId="{0E0A6C3F-8131-42F7-B5B8-8AD70CF6F9EA}">
      <dgm:prSet/>
      <dgm:spPr/>
      <dgm:t>
        <a:bodyPr/>
        <a:lstStyle/>
        <a:p>
          <a:pPr rtl="1"/>
          <a:endParaRPr lang="he-IL"/>
        </a:p>
      </dgm:t>
    </dgm:pt>
    <dgm:pt modelId="{AD921FC4-BC1B-4332-86D5-9520EAAAF1E4}">
      <dgm:prSet phldrT="[טקסט]"/>
      <dgm:spPr/>
      <dgm:t>
        <a:bodyPr/>
        <a:lstStyle/>
        <a:p>
          <a:pPr rtl="1"/>
          <a:r>
            <a:rPr lang="he-IL" dirty="0"/>
            <a:t>שירותי כביסה?</a:t>
          </a:r>
        </a:p>
      </dgm:t>
    </dgm:pt>
    <dgm:pt modelId="{AB9E7979-E2E9-49B1-94D7-F97E27754371}" type="parTrans" cxnId="{5FDF2474-5A49-44E0-9390-AE97E1C0ABA5}">
      <dgm:prSet/>
      <dgm:spPr/>
      <dgm:t>
        <a:bodyPr/>
        <a:lstStyle/>
        <a:p>
          <a:pPr rtl="1"/>
          <a:endParaRPr lang="he-IL"/>
        </a:p>
      </dgm:t>
    </dgm:pt>
    <dgm:pt modelId="{862EEECD-B879-441A-BDFD-367BA2D1ED03}" type="sibTrans" cxnId="{5FDF2474-5A49-44E0-9390-AE97E1C0ABA5}">
      <dgm:prSet/>
      <dgm:spPr/>
      <dgm:t>
        <a:bodyPr/>
        <a:lstStyle/>
        <a:p>
          <a:pPr rtl="1"/>
          <a:endParaRPr lang="he-IL"/>
        </a:p>
      </dgm:t>
    </dgm:pt>
    <dgm:pt modelId="{1EC8D0A6-0C22-4B81-B82E-FB70D299AD5C}">
      <dgm:prSet phldrT="[טקסט]"/>
      <dgm:spPr/>
      <dgm:t>
        <a:bodyPr/>
        <a:lstStyle/>
        <a:p>
          <a:pPr rtl="1"/>
          <a:r>
            <a:rPr lang="he-IL" dirty="0"/>
            <a:t>כסף?</a:t>
          </a:r>
        </a:p>
      </dgm:t>
    </dgm:pt>
    <dgm:pt modelId="{0DF6C506-7703-4727-99B0-EA97DC9C80D5}" type="parTrans" cxnId="{96A6A66D-8680-471B-A5CA-89D16FDE248D}">
      <dgm:prSet/>
      <dgm:spPr/>
      <dgm:t>
        <a:bodyPr/>
        <a:lstStyle/>
        <a:p>
          <a:pPr rtl="1"/>
          <a:endParaRPr lang="he-IL"/>
        </a:p>
      </dgm:t>
    </dgm:pt>
    <dgm:pt modelId="{A3C5FFE0-7A44-446D-9F87-7D8233D4A061}" type="sibTrans" cxnId="{96A6A66D-8680-471B-A5CA-89D16FDE248D}">
      <dgm:prSet/>
      <dgm:spPr/>
      <dgm:t>
        <a:bodyPr/>
        <a:lstStyle/>
        <a:p>
          <a:pPr rtl="1"/>
          <a:endParaRPr lang="he-IL"/>
        </a:p>
      </dgm:t>
    </dgm:pt>
    <dgm:pt modelId="{E07DAE9D-86FF-41A9-8360-85081503093B}">
      <dgm:prSet phldrT="[טקסט]"/>
      <dgm:spPr/>
      <dgm:t>
        <a:bodyPr/>
        <a:lstStyle/>
        <a:p>
          <a:pPr rtl="1"/>
          <a:r>
            <a:rPr lang="he-IL" dirty="0"/>
            <a:t>מטפלת?</a:t>
          </a:r>
        </a:p>
      </dgm:t>
    </dgm:pt>
    <dgm:pt modelId="{AB5EB4CD-CF8C-4456-8EA6-099F089745E5}" type="parTrans" cxnId="{12F8859B-13D8-41ED-85F9-28B582B22718}">
      <dgm:prSet/>
      <dgm:spPr/>
      <dgm:t>
        <a:bodyPr/>
        <a:lstStyle/>
        <a:p>
          <a:pPr rtl="1"/>
          <a:endParaRPr lang="he-IL"/>
        </a:p>
      </dgm:t>
    </dgm:pt>
    <dgm:pt modelId="{877891B9-F265-4CD3-A814-CF9EFCB9F31B}" type="sibTrans" cxnId="{12F8859B-13D8-41ED-85F9-28B582B22718}">
      <dgm:prSet/>
      <dgm:spPr/>
      <dgm:t>
        <a:bodyPr/>
        <a:lstStyle/>
        <a:p>
          <a:pPr rtl="1"/>
          <a:endParaRPr lang="he-IL"/>
        </a:p>
      </dgm:t>
    </dgm:pt>
    <dgm:pt modelId="{2D9CC6D8-6A0D-4CDD-9EEB-DFA9C355CF6F}">
      <dgm:prSet phldrT="[טקסט]"/>
      <dgm:spPr/>
      <dgm:t>
        <a:bodyPr/>
        <a:lstStyle/>
        <a:p>
          <a:pPr rtl="1"/>
          <a:r>
            <a:rPr lang="he-IL" dirty="0"/>
            <a:t>טיטולים?</a:t>
          </a:r>
        </a:p>
      </dgm:t>
    </dgm:pt>
    <dgm:pt modelId="{BA2A0E90-7ADB-4464-A43B-183B60838950}" type="parTrans" cxnId="{04F669AD-E0F0-4F99-85F9-CFBCFFF7C895}">
      <dgm:prSet/>
      <dgm:spPr/>
      <dgm:t>
        <a:bodyPr/>
        <a:lstStyle/>
        <a:p>
          <a:pPr rtl="1"/>
          <a:endParaRPr lang="he-IL"/>
        </a:p>
      </dgm:t>
    </dgm:pt>
    <dgm:pt modelId="{6BDEE30D-E728-4DA8-A371-F10FEFCEF934}" type="sibTrans" cxnId="{04F669AD-E0F0-4F99-85F9-CFBCFFF7C895}">
      <dgm:prSet/>
      <dgm:spPr/>
      <dgm:t>
        <a:bodyPr/>
        <a:lstStyle/>
        <a:p>
          <a:pPr rtl="1"/>
          <a:endParaRPr lang="he-IL"/>
        </a:p>
      </dgm:t>
    </dgm:pt>
    <dgm:pt modelId="{0C034FC4-A7BE-4A21-801B-EDBC92E45A61}" type="pres">
      <dgm:prSet presAssocID="{A92DAC69-F2DF-426A-A72B-3FFD1EE774B8}" presName="Name0" presStyleCnt="0">
        <dgm:presLayoutVars>
          <dgm:dir/>
          <dgm:resizeHandles val="exact"/>
        </dgm:presLayoutVars>
      </dgm:prSet>
      <dgm:spPr/>
      <dgm:t>
        <a:bodyPr/>
        <a:lstStyle/>
        <a:p>
          <a:pPr rtl="1"/>
          <a:endParaRPr lang="he-IL"/>
        </a:p>
      </dgm:t>
    </dgm:pt>
    <dgm:pt modelId="{5878192A-A055-49A5-A975-99AB0E689D6E}" type="pres">
      <dgm:prSet presAssocID="{59D664AA-9CE7-4157-80AE-CECD1FDCC6FA}" presName="Name5" presStyleLbl="vennNode1" presStyleIdx="0" presStyleCnt="5">
        <dgm:presLayoutVars>
          <dgm:bulletEnabled val="1"/>
        </dgm:presLayoutVars>
      </dgm:prSet>
      <dgm:spPr/>
      <dgm:t>
        <a:bodyPr/>
        <a:lstStyle/>
        <a:p>
          <a:pPr rtl="1"/>
          <a:endParaRPr lang="he-IL"/>
        </a:p>
      </dgm:t>
    </dgm:pt>
    <dgm:pt modelId="{D5ABBE1E-D58A-472D-B28B-BD148DDDD197}" type="pres">
      <dgm:prSet presAssocID="{F9A47966-D787-4858-B077-5EB512418C8F}" presName="space" presStyleCnt="0"/>
      <dgm:spPr/>
    </dgm:pt>
    <dgm:pt modelId="{D8E91E25-8363-4A79-9E86-77E442B0FFAC}" type="pres">
      <dgm:prSet presAssocID="{AD921FC4-BC1B-4332-86D5-9520EAAAF1E4}" presName="Name5" presStyleLbl="vennNode1" presStyleIdx="1" presStyleCnt="5">
        <dgm:presLayoutVars>
          <dgm:bulletEnabled val="1"/>
        </dgm:presLayoutVars>
      </dgm:prSet>
      <dgm:spPr/>
      <dgm:t>
        <a:bodyPr/>
        <a:lstStyle/>
        <a:p>
          <a:pPr rtl="1"/>
          <a:endParaRPr lang="he-IL"/>
        </a:p>
      </dgm:t>
    </dgm:pt>
    <dgm:pt modelId="{1A14723C-D669-4DE8-8F0A-2CD8219F7E6D}" type="pres">
      <dgm:prSet presAssocID="{862EEECD-B879-441A-BDFD-367BA2D1ED03}" presName="space" presStyleCnt="0"/>
      <dgm:spPr/>
    </dgm:pt>
    <dgm:pt modelId="{A29250C1-4D38-4611-B7E7-90B5A88926EF}" type="pres">
      <dgm:prSet presAssocID="{1EC8D0A6-0C22-4B81-B82E-FB70D299AD5C}" presName="Name5" presStyleLbl="vennNode1" presStyleIdx="2" presStyleCnt="5">
        <dgm:presLayoutVars>
          <dgm:bulletEnabled val="1"/>
        </dgm:presLayoutVars>
      </dgm:prSet>
      <dgm:spPr/>
      <dgm:t>
        <a:bodyPr/>
        <a:lstStyle/>
        <a:p>
          <a:pPr rtl="1"/>
          <a:endParaRPr lang="he-IL"/>
        </a:p>
      </dgm:t>
    </dgm:pt>
    <dgm:pt modelId="{232CCE3E-D612-4A67-996E-024B4B38B1C1}" type="pres">
      <dgm:prSet presAssocID="{A3C5FFE0-7A44-446D-9F87-7D8233D4A061}" presName="space" presStyleCnt="0"/>
      <dgm:spPr/>
    </dgm:pt>
    <dgm:pt modelId="{C36CB827-37E2-4CA7-BDEA-8A5B2412EC55}" type="pres">
      <dgm:prSet presAssocID="{E07DAE9D-86FF-41A9-8360-85081503093B}" presName="Name5" presStyleLbl="vennNode1" presStyleIdx="3" presStyleCnt="5">
        <dgm:presLayoutVars>
          <dgm:bulletEnabled val="1"/>
        </dgm:presLayoutVars>
      </dgm:prSet>
      <dgm:spPr/>
      <dgm:t>
        <a:bodyPr/>
        <a:lstStyle/>
        <a:p>
          <a:pPr rtl="1"/>
          <a:endParaRPr lang="he-IL"/>
        </a:p>
      </dgm:t>
    </dgm:pt>
    <dgm:pt modelId="{A7027685-E3E3-4A52-A937-28A4159C24A7}" type="pres">
      <dgm:prSet presAssocID="{877891B9-F265-4CD3-A814-CF9EFCB9F31B}" presName="space" presStyleCnt="0"/>
      <dgm:spPr/>
    </dgm:pt>
    <dgm:pt modelId="{084B70BC-296E-42EE-B9F0-4B73CE7ED8F5}" type="pres">
      <dgm:prSet presAssocID="{2D9CC6D8-6A0D-4CDD-9EEB-DFA9C355CF6F}" presName="Name5" presStyleLbl="vennNode1" presStyleIdx="4" presStyleCnt="5">
        <dgm:presLayoutVars>
          <dgm:bulletEnabled val="1"/>
        </dgm:presLayoutVars>
      </dgm:prSet>
      <dgm:spPr/>
      <dgm:t>
        <a:bodyPr/>
        <a:lstStyle/>
        <a:p>
          <a:pPr rtl="1"/>
          <a:endParaRPr lang="he-IL"/>
        </a:p>
      </dgm:t>
    </dgm:pt>
  </dgm:ptLst>
  <dgm:cxnLst>
    <dgm:cxn modelId="{5FDF2474-5A49-44E0-9390-AE97E1C0ABA5}" srcId="{A92DAC69-F2DF-426A-A72B-3FFD1EE774B8}" destId="{AD921FC4-BC1B-4332-86D5-9520EAAAF1E4}" srcOrd="1" destOrd="0" parTransId="{AB9E7979-E2E9-49B1-94D7-F97E27754371}" sibTransId="{862EEECD-B879-441A-BDFD-367BA2D1ED03}"/>
    <dgm:cxn modelId="{12F8859B-13D8-41ED-85F9-28B582B22718}" srcId="{A92DAC69-F2DF-426A-A72B-3FFD1EE774B8}" destId="{E07DAE9D-86FF-41A9-8360-85081503093B}" srcOrd="3" destOrd="0" parTransId="{AB5EB4CD-CF8C-4456-8EA6-099F089745E5}" sibTransId="{877891B9-F265-4CD3-A814-CF9EFCB9F31B}"/>
    <dgm:cxn modelId="{04F669AD-E0F0-4F99-85F9-CFBCFFF7C895}" srcId="{A92DAC69-F2DF-426A-A72B-3FFD1EE774B8}" destId="{2D9CC6D8-6A0D-4CDD-9EEB-DFA9C355CF6F}" srcOrd="4" destOrd="0" parTransId="{BA2A0E90-7ADB-4464-A43B-183B60838950}" sibTransId="{6BDEE30D-E728-4DA8-A371-F10FEFCEF934}"/>
    <dgm:cxn modelId="{A67B9C02-0280-41E1-8B6E-CB9FE5073514}" type="presOf" srcId="{AD921FC4-BC1B-4332-86D5-9520EAAAF1E4}" destId="{D8E91E25-8363-4A79-9E86-77E442B0FFAC}" srcOrd="0" destOrd="0" presId="urn:microsoft.com/office/officeart/2005/8/layout/venn3"/>
    <dgm:cxn modelId="{96A6A66D-8680-471B-A5CA-89D16FDE248D}" srcId="{A92DAC69-F2DF-426A-A72B-3FFD1EE774B8}" destId="{1EC8D0A6-0C22-4B81-B82E-FB70D299AD5C}" srcOrd="2" destOrd="0" parTransId="{0DF6C506-7703-4727-99B0-EA97DC9C80D5}" sibTransId="{A3C5FFE0-7A44-446D-9F87-7D8233D4A061}"/>
    <dgm:cxn modelId="{60563097-BA99-4945-AD87-D4641E97B8BF}" type="presOf" srcId="{2D9CC6D8-6A0D-4CDD-9EEB-DFA9C355CF6F}" destId="{084B70BC-296E-42EE-B9F0-4B73CE7ED8F5}" srcOrd="0" destOrd="0" presId="urn:microsoft.com/office/officeart/2005/8/layout/venn3"/>
    <dgm:cxn modelId="{2D087E55-B05D-406A-849F-099E4B3777C5}" type="presOf" srcId="{59D664AA-9CE7-4157-80AE-CECD1FDCC6FA}" destId="{5878192A-A055-49A5-A975-99AB0E689D6E}" srcOrd="0" destOrd="0" presId="urn:microsoft.com/office/officeart/2005/8/layout/venn3"/>
    <dgm:cxn modelId="{06A77C03-6AD8-41F2-AC66-33EC00CAD961}" type="presOf" srcId="{1EC8D0A6-0C22-4B81-B82E-FB70D299AD5C}" destId="{A29250C1-4D38-4611-B7E7-90B5A88926EF}" srcOrd="0" destOrd="0" presId="urn:microsoft.com/office/officeart/2005/8/layout/venn3"/>
    <dgm:cxn modelId="{0E0A6C3F-8131-42F7-B5B8-8AD70CF6F9EA}" srcId="{A92DAC69-F2DF-426A-A72B-3FFD1EE774B8}" destId="{59D664AA-9CE7-4157-80AE-CECD1FDCC6FA}" srcOrd="0" destOrd="0" parTransId="{5C6BFA4E-AD37-4F8C-8886-9F39FBBDC9FC}" sibTransId="{F9A47966-D787-4858-B077-5EB512418C8F}"/>
    <dgm:cxn modelId="{28522FD2-7B23-48A2-94EB-E85347CF3C80}" type="presOf" srcId="{E07DAE9D-86FF-41A9-8360-85081503093B}" destId="{C36CB827-37E2-4CA7-BDEA-8A5B2412EC55}" srcOrd="0" destOrd="0" presId="urn:microsoft.com/office/officeart/2005/8/layout/venn3"/>
    <dgm:cxn modelId="{D579D054-F67A-46CC-83D5-C84B457F0643}" type="presOf" srcId="{A92DAC69-F2DF-426A-A72B-3FFD1EE774B8}" destId="{0C034FC4-A7BE-4A21-801B-EDBC92E45A61}" srcOrd="0" destOrd="0" presId="urn:microsoft.com/office/officeart/2005/8/layout/venn3"/>
    <dgm:cxn modelId="{E3D563C0-6ED8-4731-918C-907B5C5F58FD}" type="presParOf" srcId="{0C034FC4-A7BE-4A21-801B-EDBC92E45A61}" destId="{5878192A-A055-49A5-A975-99AB0E689D6E}" srcOrd="0" destOrd="0" presId="urn:microsoft.com/office/officeart/2005/8/layout/venn3"/>
    <dgm:cxn modelId="{32EDCF10-3902-4DF1-AF94-732C70726757}" type="presParOf" srcId="{0C034FC4-A7BE-4A21-801B-EDBC92E45A61}" destId="{D5ABBE1E-D58A-472D-B28B-BD148DDDD197}" srcOrd="1" destOrd="0" presId="urn:microsoft.com/office/officeart/2005/8/layout/venn3"/>
    <dgm:cxn modelId="{6221BB87-D1FD-4690-917F-6234DA643468}" type="presParOf" srcId="{0C034FC4-A7BE-4A21-801B-EDBC92E45A61}" destId="{D8E91E25-8363-4A79-9E86-77E442B0FFAC}" srcOrd="2" destOrd="0" presId="urn:microsoft.com/office/officeart/2005/8/layout/venn3"/>
    <dgm:cxn modelId="{F4A92CE3-C80F-4345-B133-4F2EB78F0C50}" type="presParOf" srcId="{0C034FC4-A7BE-4A21-801B-EDBC92E45A61}" destId="{1A14723C-D669-4DE8-8F0A-2CD8219F7E6D}" srcOrd="3" destOrd="0" presId="urn:microsoft.com/office/officeart/2005/8/layout/venn3"/>
    <dgm:cxn modelId="{334E7AF1-7BFB-405E-84BB-9A701B25AD76}" type="presParOf" srcId="{0C034FC4-A7BE-4A21-801B-EDBC92E45A61}" destId="{A29250C1-4D38-4611-B7E7-90B5A88926EF}" srcOrd="4" destOrd="0" presId="urn:microsoft.com/office/officeart/2005/8/layout/venn3"/>
    <dgm:cxn modelId="{4C0A6907-E79A-4784-813D-E195F3BA83A3}" type="presParOf" srcId="{0C034FC4-A7BE-4A21-801B-EDBC92E45A61}" destId="{232CCE3E-D612-4A67-996E-024B4B38B1C1}" srcOrd="5" destOrd="0" presId="urn:microsoft.com/office/officeart/2005/8/layout/venn3"/>
    <dgm:cxn modelId="{B10A97DD-D653-4411-AF74-AD9E468B75D4}" type="presParOf" srcId="{0C034FC4-A7BE-4A21-801B-EDBC92E45A61}" destId="{C36CB827-37E2-4CA7-BDEA-8A5B2412EC55}" srcOrd="6" destOrd="0" presId="urn:microsoft.com/office/officeart/2005/8/layout/venn3"/>
    <dgm:cxn modelId="{F482A760-2CC3-49AC-9200-0DB8FD0B6F4C}" type="presParOf" srcId="{0C034FC4-A7BE-4A21-801B-EDBC92E45A61}" destId="{A7027685-E3E3-4A52-A937-28A4159C24A7}" srcOrd="7" destOrd="0" presId="urn:microsoft.com/office/officeart/2005/8/layout/venn3"/>
    <dgm:cxn modelId="{3A74B44F-783F-403B-A198-888934510A79}" type="presParOf" srcId="{0C034FC4-A7BE-4A21-801B-EDBC92E45A61}" destId="{084B70BC-296E-42EE-B9F0-4B73CE7ED8F5}"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8192A-A055-49A5-A975-99AB0E689D6E}">
      <dsp:nvSpPr>
        <dsp:cNvPr id="0" name=""/>
        <dsp:cNvSpPr/>
      </dsp:nvSpPr>
      <dsp:spPr>
        <a:xfrm>
          <a:off x="709" y="738858"/>
          <a:ext cx="1383117" cy="1383117"/>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מרכז יום?</a:t>
          </a:r>
        </a:p>
      </dsp:txBody>
      <dsp:txXfrm>
        <a:off x="203262" y="941411"/>
        <a:ext cx="978011" cy="978011"/>
      </dsp:txXfrm>
    </dsp:sp>
    <dsp:sp modelId="{D8E91E25-8363-4A79-9E86-77E442B0FFAC}">
      <dsp:nvSpPr>
        <dsp:cNvPr id="0" name=""/>
        <dsp:cNvSpPr/>
      </dsp:nvSpPr>
      <dsp:spPr>
        <a:xfrm>
          <a:off x="1107203" y="738858"/>
          <a:ext cx="1383117" cy="1383117"/>
        </a:xfrm>
        <a:prstGeom prst="ellipse">
          <a:avLst/>
        </a:prstGeom>
        <a:solidFill>
          <a:schemeClr val="accent4">
            <a:alpha val="50000"/>
            <a:hueOff val="-879986"/>
            <a:satOff val="-9032"/>
            <a:lumOff val="37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שירותי כביסה?</a:t>
          </a:r>
        </a:p>
      </dsp:txBody>
      <dsp:txXfrm>
        <a:off x="1309756" y="941411"/>
        <a:ext cx="978011" cy="978011"/>
      </dsp:txXfrm>
    </dsp:sp>
    <dsp:sp modelId="{A29250C1-4D38-4611-B7E7-90B5A88926EF}">
      <dsp:nvSpPr>
        <dsp:cNvPr id="0" name=""/>
        <dsp:cNvSpPr/>
      </dsp:nvSpPr>
      <dsp:spPr>
        <a:xfrm>
          <a:off x="2213698" y="738858"/>
          <a:ext cx="1383117" cy="1383117"/>
        </a:xfrm>
        <a:prstGeom prst="ellipse">
          <a:avLst/>
        </a:prstGeom>
        <a:solidFill>
          <a:schemeClr val="accent4">
            <a:alpha val="50000"/>
            <a:hueOff val="-1759972"/>
            <a:satOff val="-18065"/>
            <a:lumOff val="755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כסף?</a:t>
          </a:r>
        </a:p>
      </dsp:txBody>
      <dsp:txXfrm>
        <a:off x="2416251" y="941411"/>
        <a:ext cx="978011" cy="978011"/>
      </dsp:txXfrm>
    </dsp:sp>
    <dsp:sp modelId="{C36CB827-37E2-4CA7-BDEA-8A5B2412EC55}">
      <dsp:nvSpPr>
        <dsp:cNvPr id="0" name=""/>
        <dsp:cNvSpPr/>
      </dsp:nvSpPr>
      <dsp:spPr>
        <a:xfrm>
          <a:off x="3320192" y="738858"/>
          <a:ext cx="1383117" cy="1383117"/>
        </a:xfrm>
        <a:prstGeom prst="ellipse">
          <a:avLst/>
        </a:prstGeom>
        <a:solidFill>
          <a:schemeClr val="accent4">
            <a:alpha val="50000"/>
            <a:hueOff val="-2639958"/>
            <a:satOff val="-27097"/>
            <a:lumOff val="11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מטפלת?</a:t>
          </a:r>
        </a:p>
      </dsp:txBody>
      <dsp:txXfrm>
        <a:off x="3522745" y="941411"/>
        <a:ext cx="978011" cy="978011"/>
      </dsp:txXfrm>
    </dsp:sp>
    <dsp:sp modelId="{084B70BC-296E-42EE-B9F0-4B73CE7ED8F5}">
      <dsp:nvSpPr>
        <dsp:cNvPr id="0" name=""/>
        <dsp:cNvSpPr/>
      </dsp:nvSpPr>
      <dsp:spPr>
        <a:xfrm>
          <a:off x="4426686" y="738858"/>
          <a:ext cx="1383117" cy="1383117"/>
        </a:xfrm>
        <a:prstGeom prst="ellipse">
          <a:avLst/>
        </a:prstGeom>
        <a:solidFill>
          <a:schemeClr val="accent4">
            <a:alpha val="50000"/>
            <a:hueOff val="-3519944"/>
            <a:satOff val="-36129"/>
            <a:lumOff val="150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טיטולים?</a:t>
          </a:r>
        </a:p>
      </dsp:txBody>
      <dsp:txXfrm>
        <a:off x="4629239" y="941411"/>
        <a:ext cx="978011" cy="978011"/>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6267533-D971-4E79-AE6D-09A8A8F4B4F4}" type="datetimeFigureOut">
              <a:rPr lang="he-IL" smtClean="0"/>
              <a:t>ט"ו/תמוז/תשפ"ד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95BF79-C604-4444-A9C8-FE0C558E8122}" type="slidenum">
              <a:rPr lang="he-IL" smtClean="0"/>
              <a:t>‹#›</a:t>
            </a:fld>
            <a:endParaRPr lang="he-IL"/>
          </a:p>
        </p:txBody>
      </p:sp>
    </p:spTree>
    <p:extLst>
      <p:ext uri="{BB962C8B-B14F-4D97-AF65-F5344CB8AC3E}">
        <p14:creationId xmlns:p14="http://schemas.microsoft.com/office/powerpoint/2010/main" val="8382127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744953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0689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מקורות מידע מגוונים משאר המשרדים, חיזוי קדימה המאפשר היערכות להזדקנות</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50815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849571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251 רשויות עושות תכנון שירותים לעומת אין תכנון בעבר</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4715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dirty="0"/>
              <a:t>דש </a:t>
            </a:r>
            <a:r>
              <a:rPr lang="he-IL" dirty="0" err="1"/>
              <a:t>בורד</a:t>
            </a:r>
            <a:r>
              <a:rPr lang="he-IL" dirty="0"/>
              <a:t>- </a:t>
            </a:r>
            <a:r>
              <a:rPr lang="he-IL" sz="1200" dirty="0">
                <a:effectLst/>
                <a:latin typeface="Calibri" panose="020F0502020204030204" pitchFamily="34" charset="0"/>
                <a:ea typeface="Calibri" panose="020F0502020204030204" pitchFamily="34" charset="0"/>
              </a:rPr>
              <a:t>פיתוח והנגשת תמונת מצב לאומית רב מערכתית של ההיערכות להזדקנות האוכלוסייה והשלכותיה על בסיס נתונים לממשלה ולרשויות המבוסס על תשתית שהוקמה במהלך ביזור סמכויות לשלטון המקומי במשרד הרווחה.</a:t>
            </a:r>
          </a:p>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sz="1200" dirty="0">
                <a:effectLst/>
                <a:latin typeface="Calibri" panose="020F0502020204030204" pitchFamily="34" charset="0"/>
                <a:ea typeface="Calibri" panose="020F0502020204030204" pitchFamily="34" charset="0"/>
              </a:rPr>
              <a:t>פרסונליזציה- </a:t>
            </a:r>
            <a:r>
              <a:rPr lang="he-IL" sz="1800" b="0" dirty="0">
                <a:effectLst/>
                <a:ea typeface="Times New Roman" panose="02020603050405020304" pitchFamily="18" charset="0"/>
                <a:cs typeface="Arial" panose="020B0604020202020204" pitchFamily="34" charset="0"/>
              </a:rPr>
              <a:t>מיפוי של הצרכים של האזרחים הוותיקים ע"פ פרופילים והמענים שקיימים </a:t>
            </a:r>
          </a:p>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sz="1800" b="0" dirty="0">
                <a:effectLst/>
                <a:latin typeface="Calibri" panose="020F0502020204030204" pitchFamily="34" charset="0"/>
                <a:ea typeface="Calibri" panose="020F0502020204030204" pitchFamily="34" charset="0"/>
                <a:cs typeface="Arial" panose="020B0604020202020204" pitchFamily="34" charset="0"/>
              </a:rPr>
              <a:t>תכנית </a:t>
            </a:r>
            <a:r>
              <a:rPr lang="he-IL" sz="1800" b="0" dirty="0" err="1">
                <a:effectLst/>
                <a:latin typeface="Calibri" panose="020F0502020204030204" pitchFamily="34" charset="0"/>
                <a:ea typeface="Calibri" panose="020F0502020204030204" pitchFamily="34" charset="0"/>
                <a:cs typeface="Arial" panose="020B0604020202020204" pitchFamily="34" charset="0"/>
              </a:rPr>
              <a:t>אסט</a:t>
            </a:r>
            <a:r>
              <a:rPr lang="he-IL" sz="1800" b="0" dirty="0">
                <a:effectLst/>
                <a:latin typeface="Calibri" panose="020F0502020204030204" pitchFamily="34" charset="0"/>
                <a:ea typeface="Calibri" panose="020F0502020204030204" pitchFamily="34" charset="0"/>
                <a:cs typeface="Arial" panose="020B0604020202020204" pitchFamily="34" charset="0"/>
              </a:rPr>
              <a:t>'- </a:t>
            </a:r>
            <a:r>
              <a:rPr lang="he-IL" sz="1800" b="0" dirty="0">
                <a:effectLst/>
                <a:ea typeface="Times New Roman" panose="02020603050405020304" pitchFamily="18" charset="0"/>
                <a:cs typeface="Calibri" panose="020F0502020204030204" pitchFamily="34" charset="0"/>
              </a:rPr>
              <a:t>תכנית אסטרטגית ב- </a:t>
            </a:r>
            <a:r>
              <a:rPr lang="en-US" sz="1800" b="0" dirty="0">
                <a:effectLst/>
                <a:latin typeface="Calibri" panose="020F0502020204030204" pitchFamily="34" charset="0"/>
                <a:ea typeface="Times New Roman" panose="02020603050405020304" pitchFamily="18" charset="0"/>
              </a:rPr>
              <a:t>HIGH LEVEL</a:t>
            </a:r>
            <a:r>
              <a:rPr lang="he-IL" sz="1800" b="0" dirty="0">
                <a:effectLst/>
                <a:latin typeface="Calibri" panose="020F0502020204030204" pitchFamily="34" charset="0"/>
                <a:ea typeface="Times New Roman" panose="02020603050405020304" pitchFamily="18" charset="0"/>
              </a:rPr>
              <a:t> למיפוי המצב כיום, מיפוי האפשרויות הטכנולוגיות והצעות איך לפעול בציר </a:t>
            </a:r>
            <a:endParaRPr lang="he-IL" sz="1200" b="0" dirty="0">
              <a:effectLst/>
              <a:latin typeface="Calibri" panose="020F0502020204030204" pitchFamily="34" charset="0"/>
              <a:ea typeface="Calibri" panose="020F0502020204030204" pitchFamily="34" charset="0"/>
            </a:endParaRPr>
          </a:p>
          <a:p>
            <a:pPr algn="r" rtl="1"/>
            <a:endParaRPr lang="he-IL" dirty="0"/>
          </a:p>
        </p:txBody>
      </p:sp>
      <p:sp>
        <p:nvSpPr>
          <p:cNvPr id="4" name="Slide Number Placeholder 3"/>
          <p:cNvSpPr>
            <a:spLocks noGrp="1"/>
          </p:cNvSpPr>
          <p:nvPr>
            <p:ph type="sldNum" sz="quarter" idx="5"/>
          </p:nvPr>
        </p:nvSpPr>
        <p:spPr/>
        <p:txBody>
          <a:bodyPr/>
          <a:lstStyle/>
          <a:p>
            <a:fld id="{AD4B5E33-03CD-4FAC-A831-C3929E34E7AD}" type="slidenum">
              <a:rPr lang="he-IL" smtClean="0"/>
              <a:t>24</a:t>
            </a:fld>
            <a:endParaRPr lang="he-IL"/>
          </a:p>
        </p:txBody>
      </p:sp>
    </p:spTree>
    <p:extLst>
      <p:ext uri="{BB962C8B-B14F-4D97-AF65-F5344CB8AC3E}">
        <p14:creationId xmlns:p14="http://schemas.microsoft.com/office/powerpoint/2010/main" val="4139282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706115E-15CE-4FB1-84C2-177978A25976}"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58905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78325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3597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531808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8731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4404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dirty="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14014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3373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69858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332226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IL"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2655542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13454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hyperlink" Target="http://www.brookdale.jdc.org.il/" TargetMode="External"/><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55540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787374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292463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180979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433249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515834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375768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502514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672237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81260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79329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88425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6193573"/>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802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375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1716637"/>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605190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523624860"/>
      </p:ext>
    </p:extLst>
  </p:cSld>
  <p:clrMapOvr>
    <a:masterClrMapping/>
  </p:clrMapOvr>
  <p:transition spd="slow">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611681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3798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7335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9057992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750994"/>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694534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Content Bold Foo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758A5-D8CF-7C4B-91E5-22A99FEA8173}"/>
              </a:ext>
            </a:extLst>
          </p:cNvPr>
          <p:cNvSpPr>
            <a:spLocks noGrp="1"/>
          </p:cNvSpPr>
          <p:nvPr>
            <p:ph type="title"/>
          </p:nvPr>
        </p:nvSpPr>
        <p:spPr>
          <a:xfrm>
            <a:off x="443030" y="263952"/>
            <a:ext cx="11281809" cy="880636"/>
          </a:xfrm>
          <a:prstGeom prst="rect">
            <a:avLst/>
          </a:prstGeom>
        </p:spPr>
        <p:txBody>
          <a:bodyPr lIns="0" tIns="0" rIns="0" bIns="45720" anchor="t"/>
          <a:lstStyle>
            <a:lvl1pPr>
              <a:lnSpc>
                <a:spcPct val="85000"/>
              </a:lnSpc>
              <a:defRPr sz="3799" b="0" i="0">
                <a:latin typeface="Arial Rounded MT Bold" panose="020F0704030504030204" pitchFamily="34" charset="77"/>
                <a:cs typeface="Arial" panose="020B0604020202020204" pitchFamily="34" charset="0"/>
              </a:defRPr>
            </a:lvl1pPr>
          </a:lstStyle>
          <a:p>
            <a:r>
              <a:rPr lang="he-IL"/>
              <a:t>לחץ כדי לערוך סגנון כותרת של תבנית בסיס</a:t>
            </a:r>
            <a:endParaRPr lang="en-US" dirty="0"/>
          </a:p>
        </p:txBody>
      </p:sp>
      <p:sp>
        <p:nvSpPr>
          <p:cNvPr id="6" name="Text Placeholder 5">
            <a:extLst>
              <a:ext uri="{FF2B5EF4-FFF2-40B4-BE49-F238E27FC236}">
                <a16:creationId xmlns:a16="http://schemas.microsoft.com/office/drawing/2014/main" id="{A7CCC40F-A883-FE45-B522-4ADB03A19CA1}"/>
              </a:ext>
            </a:extLst>
          </p:cNvPr>
          <p:cNvSpPr>
            <a:spLocks noGrp="1"/>
          </p:cNvSpPr>
          <p:nvPr>
            <p:ph type="body" sz="quarter" idx="10"/>
          </p:nvPr>
        </p:nvSpPr>
        <p:spPr>
          <a:xfrm>
            <a:off x="443030" y="1289146"/>
            <a:ext cx="11282125" cy="4378229"/>
          </a:xfrm>
          <a:prstGeom prst="rect">
            <a:avLst/>
          </a:prstGeom>
        </p:spPr>
        <p:txBody>
          <a:bodyPr lIns="0" rIns="0"/>
          <a:lstStyle>
            <a:lvl1pPr marL="0" indent="0">
              <a:lnSpc>
                <a:spcPct val="120000"/>
              </a:lnSpc>
              <a:spcAft>
                <a:spcPts val="300"/>
              </a:spcAft>
              <a:buNone/>
              <a:defRPr b="0" i="0">
                <a:latin typeface="Arial" panose="020B0604020202020204" pitchFamily="34" charset="0"/>
                <a:cs typeface="Arial" panose="020B0604020202020204" pitchFamily="34" charset="0"/>
              </a:defRPr>
            </a:lvl1pPr>
            <a:lvl2pPr marL="685594"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2pPr>
            <a:lvl3pPr marL="1142657"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3pPr>
            <a:lvl4pPr marL="1599720"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4pPr>
            <a:lvl5pPr marL="2056783"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5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Rounded Rectangle 6">
            <a:extLst>
              <a:ext uri="{FF2B5EF4-FFF2-40B4-BE49-F238E27FC236}">
                <a16:creationId xmlns:a16="http://schemas.microsoft.com/office/drawing/2014/main" id="{E12E5537-E5C0-C745-AF97-2E51588BDB29}"/>
              </a:ext>
            </a:extLst>
          </p:cNvPr>
          <p:cNvSpPr/>
          <p:nvPr userDrawn="1"/>
        </p:nvSpPr>
        <p:spPr>
          <a:xfrm>
            <a:off x="2" y="6319330"/>
            <a:ext cx="12192000" cy="538673"/>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0" name="TextBox 9">
            <a:extLst>
              <a:ext uri="{FF2B5EF4-FFF2-40B4-BE49-F238E27FC236}">
                <a16:creationId xmlns:a16="http://schemas.microsoft.com/office/drawing/2014/main" id="{7F74D112-EBB5-494B-945B-BF708C79A04A}"/>
              </a:ext>
            </a:extLst>
          </p:cNvPr>
          <p:cNvSpPr txBox="1"/>
          <p:nvPr userDrawn="1"/>
        </p:nvSpPr>
        <p:spPr>
          <a:xfrm>
            <a:off x="8110042" y="6481681"/>
            <a:ext cx="3629316" cy="184666"/>
          </a:xfrm>
          <a:prstGeom prst="rect">
            <a:avLst/>
          </a:prstGeom>
          <a:noFill/>
        </p:spPr>
        <p:txBody>
          <a:bodyPr wrap="square" lIns="0" tIns="0" rIns="0" bIns="0" rtlCol="0" anchor="ctr">
            <a:spAutoFit/>
          </a:bodyPr>
          <a:lstStyle/>
          <a:p>
            <a:pPr marL="0" indent="0" algn="l">
              <a:tabLst>
                <a:tab pos="790338" algn="l"/>
                <a:tab pos="3593022" algn="r"/>
              </a:tabLst>
            </a:pPr>
            <a:r>
              <a:rPr lang="en-US" sz="800" b="0" i="0" spc="50" baseline="0" dirty="0">
                <a:solidFill>
                  <a:schemeClr val="bg1"/>
                </a:solidFill>
                <a:latin typeface="Arial" panose="020B0604020202020204" pitchFamily="34" charset="0"/>
                <a:cs typeface="Arial" panose="020B0604020202020204" pitchFamily="34" charset="0"/>
              </a:rPr>
              <a:t>	PROPRIETARY AND CONFIDENTIAL</a:t>
            </a:r>
            <a:r>
              <a:rPr lang="en-US" sz="900" b="0" i="0" spc="50" baseline="0" dirty="0">
                <a:solidFill>
                  <a:schemeClr val="bg1"/>
                </a:solidFill>
                <a:latin typeface="Arial" panose="020B0604020202020204" pitchFamily="34" charset="0"/>
                <a:cs typeface="Arial" panose="020B0604020202020204" pitchFamily="34" charset="0"/>
              </a:rPr>
              <a:t>	</a:t>
            </a:r>
            <a:fld id="{D23125F3-EC14-7D43-B92B-F4D0E871587A}" type="slidenum">
              <a:rPr lang="en-US" sz="1200" b="0" i="0" spc="50" baseline="0" smtClean="0">
                <a:solidFill>
                  <a:schemeClr val="bg1"/>
                </a:solidFill>
                <a:latin typeface="Arial" panose="020B0604020202020204" pitchFamily="34" charset="0"/>
                <a:cs typeface="Arial" panose="020B0604020202020204" pitchFamily="34" charset="0"/>
              </a:rPr>
              <a:pPr marL="0" indent="0" algn="l">
                <a:tabLst>
                  <a:tab pos="790338" algn="l"/>
                  <a:tab pos="3593022" algn="r"/>
                </a:tabLst>
              </a:pPr>
              <a:t>‹#›</a:t>
            </a:fld>
            <a:endParaRPr lang="en-US" sz="1200" b="0" i="0" spc="50" baseline="0"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D109F4C6-65C8-174C-A967-B3AB4E41E46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428842" y="6446287"/>
            <a:ext cx="916215" cy="284759"/>
          </a:xfrm>
          <a:prstGeom prst="rect">
            <a:avLst/>
          </a:prstGeom>
        </p:spPr>
      </p:pic>
    </p:spTree>
    <p:extLst>
      <p:ext uri="{BB962C8B-B14F-4D97-AF65-F5344CB8AC3E}">
        <p14:creationId xmlns:p14="http://schemas.microsoft.com/office/powerpoint/2010/main" val="29775580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0344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1799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2" name="Rectangle 11">
            <a:extLst>
              <a:ext uri="{FF2B5EF4-FFF2-40B4-BE49-F238E27FC236}">
                <a16:creationId xmlns:a16="http://schemas.microsoft.com/office/drawing/2014/main" id="{80283395-E810-4E4C-8BF3-5DE2E8DD7A72}"/>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15">
            <a:extLst>
              <a:ext uri="{FF2B5EF4-FFF2-40B4-BE49-F238E27FC236}">
                <a16:creationId xmlns:a16="http://schemas.microsoft.com/office/drawing/2014/main" id="{91EEA1A6-D48A-4870-9730-23870829D16B}"/>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5" name="Picture 11">
            <a:extLst>
              <a:ext uri="{FF2B5EF4-FFF2-40B4-BE49-F238E27FC236}">
                <a16:creationId xmlns:a16="http://schemas.microsoft.com/office/drawing/2014/main" id="{29F425F9-415C-4F40-825D-3C051B3775C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638922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פריסה מותאמת אישי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6766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פריסה מותאמת אישית">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7B7E6105-467F-495D-64E0-DF3EA42A18CB}"/>
              </a:ext>
            </a:extLst>
          </p:cNvPr>
          <p:cNvGrpSpPr>
            <a:grpSpLocks noChangeAspect="1"/>
          </p:cNvGrpSpPr>
          <p:nvPr userDrawn="1"/>
        </p:nvGrpSpPr>
        <p:grpSpPr>
          <a:xfrm>
            <a:off x="255917" y="288886"/>
            <a:ext cx="2401373" cy="269914"/>
            <a:chOff x="4313384" y="1520297"/>
            <a:chExt cx="4665515" cy="524404"/>
          </a:xfrm>
        </p:grpSpPr>
        <p:pic>
          <p:nvPicPr>
            <p:cNvPr id="29" name="Picture 28">
              <a:extLst>
                <a:ext uri="{FF2B5EF4-FFF2-40B4-BE49-F238E27FC236}">
                  <a16:creationId xmlns:a16="http://schemas.microsoft.com/office/drawing/2014/main" id="{AE80E6F6-668F-C528-FAB0-B27138716A9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798"/>
            <a:stretch/>
          </p:blipFill>
          <p:spPr>
            <a:xfrm>
              <a:off x="5003800" y="1520297"/>
              <a:ext cx="3975099" cy="524404"/>
            </a:xfrm>
            <a:prstGeom prst="rect">
              <a:avLst/>
            </a:prstGeom>
          </p:spPr>
        </p:pic>
        <p:grpSp>
          <p:nvGrpSpPr>
            <p:cNvPr id="30" name="Group 29">
              <a:extLst>
                <a:ext uri="{FF2B5EF4-FFF2-40B4-BE49-F238E27FC236}">
                  <a16:creationId xmlns:a16="http://schemas.microsoft.com/office/drawing/2014/main" id="{120E6C68-8E24-AB01-BE3F-FA6BA3399AA2}"/>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31" name="Rectangle: Rounded Corners 30">
                <a:extLst>
                  <a:ext uri="{FF2B5EF4-FFF2-40B4-BE49-F238E27FC236}">
                    <a16:creationId xmlns:a16="http://schemas.microsoft.com/office/drawing/2014/main" id="{2381A807-A7E3-4F28-E42C-B49264FD6D28}"/>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2" name="Rectangle: Rounded Corners 31">
                <a:extLst>
                  <a:ext uri="{FF2B5EF4-FFF2-40B4-BE49-F238E27FC236}">
                    <a16:creationId xmlns:a16="http://schemas.microsoft.com/office/drawing/2014/main" id="{FBF09E75-4E2F-3E03-06D0-AB67B885EEE9}"/>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3" name="Rectangle: Rounded Corners 32">
                <a:extLst>
                  <a:ext uri="{FF2B5EF4-FFF2-40B4-BE49-F238E27FC236}">
                    <a16:creationId xmlns:a16="http://schemas.microsoft.com/office/drawing/2014/main" id="{FC4A19BC-7294-5763-9CB9-9F8E812A41CA}"/>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4" name="Rectangle: Rounded Corners 33">
                <a:extLst>
                  <a:ext uri="{FF2B5EF4-FFF2-40B4-BE49-F238E27FC236}">
                    <a16:creationId xmlns:a16="http://schemas.microsoft.com/office/drawing/2014/main" id="{4897064D-EEEF-A234-C005-806EA2850218}"/>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5" name="Rectangle: Rounded Corners 34">
                <a:extLst>
                  <a:ext uri="{FF2B5EF4-FFF2-40B4-BE49-F238E27FC236}">
                    <a16:creationId xmlns:a16="http://schemas.microsoft.com/office/drawing/2014/main" id="{E49406B2-F59E-5549-60A6-881767701C38}"/>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grpSp>
    </p:spTree>
    <p:extLst>
      <p:ext uri="{BB962C8B-B14F-4D97-AF65-F5344CB8AC3E}">
        <p14:creationId xmlns:p14="http://schemas.microsoft.com/office/powerpoint/2010/main" val="4178118495"/>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פריסה מותאמת אישית">
    <p:bg>
      <p:bgRef idx="1001">
        <a:schemeClr val="bg2"/>
      </p:bgRef>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05DA283-911F-40AD-E860-B8877108AFA6}"/>
              </a:ext>
            </a:extLst>
          </p:cNvPr>
          <p:cNvGrpSpPr>
            <a:grpSpLocks noChangeAspect="1"/>
          </p:cNvGrpSpPr>
          <p:nvPr userDrawn="1"/>
        </p:nvGrpSpPr>
        <p:grpSpPr>
          <a:xfrm>
            <a:off x="433717" y="6413500"/>
            <a:ext cx="1902729" cy="213867"/>
            <a:chOff x="4313384" y="1520297"/>
            <a:chExt cx="4665515" cy="524404"/>
          </a:xfrm>
        </p:grpSpPr>
        <p:pic>
          <p:nvPicPr>
            <p:cNvPr id="3" name="Picture 2">
              <a:extLst>
                <a:ext uri="{FF2B5EF4-FFF2-40B4-BE49-F238E27FC236}">
                  <a16:creationId xmlns:a16="http://schemas.microsoft.com/office/drawing/2014/main" id="{71D9BA6F-7AA9-BFC7-BA7B-FE72D74CA3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798"/>
            <a:stretch/>
          </p:blipFill>
          <p:spPr>
            <a:xfrm>
              <a:off x="5003800" y="1520297"/>
              <a:ext cx="3975099" cy="524404"/>
            </a:xfrm>
            <a:prstGeom prst="rect">
              <a:avLst/>
            </a:prstGeom>
          </p:spPr>
        </p:pic>
        <p:grpSp>
          <p:nvGrpSpPr>
            <p:cNvPr id="6" name="Group 5">
              <a:extLst>
                <a:ext uri="{FF2B5EF4-FFF2-40B4-BE49-F238E27FC236}">
                  <a16:creationId xmlns:a16="http://schemas.microsoft.com/office/drawing/2014/main" id="{3C60A013-E385-2191-17C1-2A7EDEEF70FD}"/>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7" name="Rectangle: Rounded Corners 6">
                <a:extLst>
                  <a:ext uri="{FF2B5EF4-FFF2-40B4-BE49-F238E27FC236}">
                    <a16:creationId xmlns:a16="http://schemas.microsoft.com/office/drawing/2014/main" id="{A21E795D-D8F2-EA4C-3E18-6376359AE756}"/>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8" name="Rectangle: Rounded Corners 7">
                <a:extLst>
                  <a:ext uri="{FF2B5EF4-FFF2-40B4-BE49-F238E27FC236}">
                    <a16:creationId xmlns:a16="http://schemas.microsoft.com/office/drawing/2014/main" id="{59A502EF-7013-DA89-3B57-7501242DD327}"/>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9" name="Rectangle: Rounded Corners 8">
                <a:extLst>
                  <a:ext uri="{FF2B5EF4-FFF2-40B4-BE49-F238E27FC236}">
                    <a16:creationId xmlns:a16="http://schemas.microsoft.com/office/drawing/2014/main" id="{74B778A7-BA8B-95BE-2079-A42598164E98}"/>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10" name="Rectangle: Rounded Corners 9">
                <a:extLst>
                  <a:ext uri="{FF2B5EF4-FFF2-40B4-BE49-F238E27FC236}">
                    <a16:creationId xmlns:a16="http://schemas.microsoft.com/office/drawing/2014/main" id="{F93F88E3-0003-52CA-9B92-A3AEB7D8CAAE}"/>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11" name="Rectangle: Rounded Corners 10">
                <a:extLst>
                  <a:ext uri="{FF2B5EF4-FFF2-40B4-BE49-F238E27FC236}">
                    <a16:creationId xmlns:a16="http://schemas.microsoft.com/office/drawing/2014/main" id="{CF37E1C9-6309-6128-F1EC-632768F8BA6A}"/>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grpSp>
      <p:pic>
        <p:nvPicPr>
          <p:cNvPr id="2" name="Picture 3" descr="קובץ:Ministry of Labor, Social Affairs and Social Services ...">
            <a:extLst>
              <a:ext uri="{FF2B5EF4-FFF2-40B4-BE49-F238E27FC236}">
                <a16:creationId xmlns:a16="http://schemas.microsoft.com/office/drawing/2014/main" id="{F108ED66-519D-22F3-76CC-30C8A562573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384261" y="6248429"/>
            <a:ext cx="1494394" cy="40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9178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פריסה מותאמת אישית">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730148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פריסה מותאמת אישית">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C5943D-BC12-7B7F-DD35-04298F127245}"/>
              </a:ext>
            </a:extLst>
          </p:cNvPr>
          <p:cNvGrpSpPr>
            <a:grpSpLocks noChangeAspect="1"/>
          </p:cNvGrpSpPr>
          <p:nvPr userDrawn="1"/>
        </p:nvGrpSpPr>
        <p:grpSpPr>
          <a:xfrm>
            <a:off x="4696685" y="1564774"/>
            <a:ext cx="2798630" cy="2667151"/>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a:effectLst>
            <a:outerShdw blurRad="457200" dist="647700" dir="360000" sx="90000" sy="-19000" rotWithShape="0">
              <a:schemeClr val="accent1">
                <a:alpha val="75000"/>
              </a:schemeClr>
            </a:outerShdw>
          </a:effectLst>
        </p:grpSpPr>
        <p:sp>
          <p:nvSpPr>
            <p:cNvPr id="5" name="Rectangle: Rounded Corners 4">
              <a:extLst>
                <a:ext uri="{FF2B5EF4-FFF2-40B4-BE49-F238E27FC236}">
                  <a16:creationId xmlns:a16="http://schemas.microsoft.com/office/drawing/2014/main" id="{BD1A9910-9DA6-32EF-1B50-206AF0B05254}"/>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6" name="Rectangle: Rounded Corners 5">
              <a:extLst>
                <a:ext uri="{FF2B5EF4-FFF2-40B4-BE49-F238E27FC236}">
                  <a16:creationId xmlns:a16="http://schemas.microsoft.com/office/drawing/2014/main" id="{80EB4E98-AF8B-3C09-200D-28BE6C4DF312}"/>
                </a:ext>
              </a:extLst>
            </p:cNvPr>
            <p:cNvSpPr/>
            <p:nvPr userDrawn="1"/>
          </p:nvSpPr>
          <p:spPr bwMode="gray">
            <a:xfrm>
              <a:off x="6781800" y="3765016"/>
              <a:ext cx="375285" cy="380047"/>
            </a:xfrm>
            <a:prstGeom prst="roundRect">
              <a:avLst>
                <a:gd name="adj" fmla="val 21033"/>
              </a:avLst>
            </a:prstGeom>
            <a:grpFill/>
            <a:ln w="19050" algn="ctr">
              <a:noFill/>
              <a:miter lim="800000"/>
              <a:headEnd/>
              <a:tailEnd/>
            </a:ln>
            <a:effectLst>
              <a:outerShdw blurRad="50800" dist="38100" dir="8100000" algn="tr" rotWithShape="0">
                <a:prstClr val="black">
                  <a:alpha val="40000"/>
                </a:prstClr>
              </a:outerShdw>
            </a:effectLst>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7" name="Rectangle: Rounded Corners 6">
              <a:extLst>
                <a:ext uri="{FF2B5EF4-FFF2-40B4-BE49-F238E27FC236}">
                  <a16:creationId xmlns:a16="http://schemas.microsoft.com/office/drawing/2014/main" id="{7EC3B6DC-36B4-33AB-EA13-F732AA4886CC}"/>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8" name="Rectangle: Rounded Corners 7">
              <a:extLst>
                <a:ext uri="{FF2B5EF4-FFF2-40B4-BE49-F238E27FC236}">
                  <a16:creationId xmlns:a16="http://schemas.microsoft.com/office/drawing/2014/main" id="{87BA8769-C445-0D01-6BF7-316ABD85A0C0}"/>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9" name="Rectangle: Rounded Corners 8">
              <a:extLst>
                <a:ext uri="{FF2B5EF4-FFF2-40B4-BE49-F238E27FC236}">
                  <a16:creationId xmlns:a16="http://schemas.microsoft.com/office/drawing/2014/main" id="{A334C5B0-C9FA-9871-EF65-14D0C967C790}"/>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pic>
        <p:nvPicPr>
          <p:cNvPr id="11" name="Picture 10">
            <a:extLst>
              <a:ext uri="{FF2B5EF4-FFF2-40B4-BE49-F238E27FC236}">
                <a16:creationId xmlns:a16="http://schemas.microsoft.com/office/drawing/2014/main" id="{4E79A58A-CC50-1A05-F575-2FDF8D27C63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805"/>
          <a:stretch/>
        </p:blipFill>
        <p:spPr>
          <a:xfrm>
            <a:off x="3334675" y="4920158"/>
            <a:ext cx="5522649" cy="746136"/>
          </a:xfrm>
          <a:prstGeom prst="rect">
            <a:avLst/>
          </a:prstGeom>
        </p:spPr>
      </p:pic>
    </p:spTree>
    <p:extLst>
      <p:ext uri="{BB962C8B-B14F-4D97-AF65-F5344CB8AC3E}">
        <p14:creationId xmlns:p14="http://schemas.microsoft.com/office/powerpoint/2010/main" val="135677280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90923EFE-DDBD-4218-A268-B11CA2D54AC0}"/>
              </a:ext>
            </a:extLst>
          </p:cNvPr>
          <p:cNvSpPr txBox="1"/>
          <p:nvPr userDrawn="1"/>
        </p:nvSpPr>
        <p:spPr>
          <a:xfrm>
            <a:off x="85725" y="6553840"/>
            <a:ext cx="8029575" cy="246221"/>
          </a:xfrm>
          <a:prstGeom prst="rect">
            <a:avLst/>
          </a:prstGeom>
          <a:noFill/>
        </p:spPr>
        <p:txBody>
          <a:bodyPr wrap="square">
            <a:spAutoFit/>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a:ln>
                  <a:noFill/>
                </a:ln>
                <a:solidFill>
                  <a:schemeClr val="bg2">
                    <a:lumMod val="10000"/>
                  </a:schemeClr>
                </a:solidFill>
                <a:effectLst/>
                <a:uLnTx/>
                <a:uFillTx/>
                <a:latin typeface="Times New Roman" panose="02020603050405020304" pitchFamily="18" charset="0"/>
                <a:ea typeface="Calibri" panose="020F0502020204030204" pitchFamily="34" charset="0"/>
              </a:rPr>
              <a:t>© </a:t>
            </a:r>
            <a:r>
              <a:rPr kumimoji="0" lang="en-US" sz="1000" b="0" i="0" u="none" strike="noStrike" kern="1200" cap="none" spc="0" normalizeH="0" baseline="0" noProof="0">
                <a:ln>
                  <a:noFill/>
                </a:ln>
                <a:solidFill>
                  <a:schemeClr val="bg2">
                    <a:lumMod val="10000"/>
                  </a:schemeClr>
                </a:solidFill>
                <a:effectLst/>
                <a:uLnTx/>
                <a:uFillTx/>
                <a:latin typeface="Arial" pitchFamily="34" charset="0"/>
                <a:ea typeface="Calibri" panose="020F0502020204030204" pitchFamily="34" charset="0"/>
              </a:rPr>
              <a:t>2020 Know Your Data LTD</a:t>
            </a:r>
            <a:endParaRPr kumimoji="0" lang="en-US" sz="1000" b="0" i="0" u="none" strike="noStrike" kern="1200" cap="none" spc="0" normalizeH="0" baseline="0" noProof="0">
              <a:ln>
                <a:noFill/>
              </a:ln>
              <a:solidFill>
                <a:schemeClr val="bg2">
                  <a:lumMod val="10000"/>
                </a:schemeClr>
              </a:solidFill>
              <a:effectLst/>
              <a:uLnTx/>
              <a:uFillTx/>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241289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1353386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623782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01862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852463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914889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7567975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1832575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5529451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4189455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1796376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4289473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64955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5762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0592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831912909"/>
      </p:ext>
    </p:extLst>
  </p:cSld>
  <p:clrMapOvr>
    <a:masterClrMapping/>
  </p:clrMapOvr>
  <p:transition spd="slow">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Subhead: Sidebar">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8EC5EC5A-100A-7147-B3DC-6BBBC38A8B41}"/>
              </a:ext>
            </a:extLst>
          </p:cNvPr>
          <p:cNvSpPr>
            <a:spLocks noGrp="1"/>
          </p:cNvSpPr>
          <p:nvPr>
            <p:ph type="body" sz="quarter" idx="14" hasCustomPrompt="1"/>
          </p:nvPr>
        </p:nvSpPr>
        <p:spPr>
          <a:xfrm>
            <a:off x="914400" y="2959100"/>
            <a:ext cx="3009900" cy="1714500"/>
          </a:xfr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1100"/>
            </a:lvl1pPr>
          </a:lstStyle>
          <a:p>
            <a:pPr lvl="0"/>
            <a:r>
              <a:rPr lang="en-US"/>
              <a:t>7 lines running intro text. Morbi </a:t>
            </a:r>
            <a:r>
              <a:rPr lang="en-US" err="1"/>
              <a:t>leo</a:t>
            </a:r>
            <a:r>
              <a:rPr lang="en-US"/>
              <a:t> </a:t>
            </a:r>
            <a:r>
              <a:rPr lang="en-US" err="1"/>
              <a:t>risus</a:t>
            </a:r>
            <a:r>
              <a:rPr lang="en-US"/>
              <a:t>, porta ac </a:t>
            </a:r>
            <a:r>
              <a:rPr lang="en-US" err="1"/>
              <a:t>consectetur</a:t>
            </a:r>
            <a:r>
              <a:rPr lang="en-US"/>
              <a:t> ac, vestibulum at eros. Donec sed </a:t>
            </a:r>
            <a:r>
              <a:rPr lang="en-US" err="1"/>
              <a:t>odio</a:t>
            </a:r>
            <a:r>
              <a:rPr lang="en-US"/>
              <a:t> dui. </a:t>
            </a:r>
            <a:r>
              <a:rPr lang="en-US" err="1"/>
              <a:t>odio</a:t>
            </a:r>
            <a:r>
              <a:rPr lang="en-US"/>
              <a:t> dui.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 Sed </a:t>
            </a:r>
            <a:r>
              <a:rPr lang="en-US" err="1"/>
              <a:t>posuere</a:t>
            </a:r>
            <a:r>
              <a:rPr lang="en-US"/>
              <a:t> </a:t>
            </a:r>
            <a:r>
              <a:rPr lang="en-US" err="1"/>
              <a:t>consectetur</a:t>
            </a:r>
            <a:r>
              <a:rPr lang="en-US"/>
              <a:t> </a:t>
            </a:r>
            <a:r>
              <a:rPr lang="en-US" err="1"/>
              <a:t>est</a:t>
            </a:r>
            <a:r>
              <a:rPr lang="en-US"/>
              <a:t> at </a:t>
            </a:r>
            <a:r>
              <a:rPr lang="en-US" err="1"/>
              <a:t>lobortis</a:t>
            </a:r>
            <a:r>
              <a:rPr lang="en-US"/>
              <a:t>.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a:t>
            </a:r>
          </a:p>
        </p:txBody>
      </p:sp>
      <p:sp>
        <p:nvSpPr>
          <p:cNvPr id="6" name="Text Placeholder 5">
            <a:extLst>
              <a:ext uri="{FF2B5EF4-FFF2-40B4-BE49-F238E27FC236}">
                <a16:creationId xmlns:a16="http://schemas.microsoft.com/office/drawing/2014/main" id="{1110A1F4-8F2A-B944-8910-489459DDC3B8}"/>
              </a:ext>
            </a:extLst>
          </p:cNvPr>
          <p:cNvSpPr>
            <a:spLocks noGrp="1"/>
          </p:cNvSpPr>
          <p:nvPr>
            <p:ph type="body" sz="quarter" idx="18" hasCustomPrompt="1"/>
          </p:nvPr>
        </p:nvSpPr>
        <p:spPr>
          <a:xfrm>
            <a:off x="914400" y="571500"/>
            <a:ext cx="3009900" cy="2190750"/>
          </a:xfrm>
        </p:spPr>
        <p:txBody>
          <a:bodyPr anchor="b"/>
          <a:lstStyle>
            <a:lvl1pPr>
              <a:lnSpc>
                <a:spcPct val="100000"/>
              </a:lnSpc>
              <a:defRPr sz="2400">
                <a:latin typeface="Assistant" pitchFamily="2" charset="-79"/>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dirty="0"/>
              <a:t>Click to edit slide heading</a:t>
            </a:r>
          </a:p>
        </p:txBody>
      </p:sp>
    </p:spTree>
    <p:extLst>
      <p:ext uri="{BB962C8B-B14F-4D97-AF65-F5344CB8AC3E}">
        <p14:creationId xmlns:p14="http://schemas.microsoft.com/office/powerpoint/2010/main" val="212176002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78354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פריסה מותאמת אישית">
    <p:bg>
      <p:bgRef idx="1001">
        <a:schemeClr val="bg2"/>
      </p:bgRef>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05DA283-911F-40AD-E860-B8877108AFA6}"/>
              </a:ext>
            </a:extLst>
          </p:cNvPr>
          <p:cNvGrpSpPr>
            <a:grpSpLocks noChangeAspect="1"/>
          </p:cNvGrpSpPr>
          <p:nvPr userDrawn="1"/>
        </p:nvGrpSpPr>
        <p:grpSpPr>
          <a:xfrm>
            <a:off x="433717" y="6413500"/>
            <a:ext cx="1902729" cy="213867"/>
            <a:chOff x="4313384" y="1520297"/>
            <a:chExt cx="4665515" cy="524404"/>
          </a:xfrm>
        </p:grpSpPr>
        <p:pic>
          <p:nvPicPr>
            <p:cNvPr id="3" name="Picture 2">
              <a:extLst>
                <a:ext uri="{FF2B5EF4-FFF2-40B4-BE49-F238E27FC236}">
                  <a16:creationId xmlns:a16="http://schemas.microsoft.com/office/drawing/2014/main" id="{71D9BA6F-7AA9-BFC7-BA7B-FE72D74CA3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798"/>
            <a:stretch/>
          </p:blipFill>
          <p:spPr>
            <a:xfrm>
              <a:off x="5003800" y="1520297"/>
              <a:ext cx="3975099" cy="524404"/>
            </a:xfrm>
            <a:prstGeom prst="rect">
              <a:avLst/>
            </a:prstGeom>
          </p:spPr>
        </p:pic>
        <p:grpSp>
          <p:nvGrpSpPr>
            <p:cNvPr id="6" name="Group 5">
              <a:extLst>
                <a:ext uri="{FF2B5EF4-FFF2-40B4-BE49-F238E27FC236}">
                  <a16:creationId xmlns:a16="http://schemas.microsoft.com/office/drawing/2014/main" id="{3C60A013-E385-2191-17C1-2A7EDEEF70FD}"/>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7" name="Rectangle: Rounded Corners 6">
                <a:extLst>
                  <a:ext uri="{FF2B5EF4-FFF2-40B4-BE49-F238E27FC236}">
                    <a16:creationId xmlns:a16="http://schemas.microsoft.com/office/drawing/2014/main" id="{A21E795D-D8F2-EA4C-3E18-6376359AE756}"/>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8" name="Rectangle: Rounded Corners 7">
                <a:extLst>
                  <a:ext uri="{FF2B5EF4-FFF2-40B4-BE49-F238E27FC236}">
                    <a16:creationId xmlns:a16="http://schemas.microsoft.com/office/drawing/2014/main" id="{59A502EF-7013-DA89-3B57-7501242DD327}"/>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9" name="Rectangle: Rounded Corners 8">
                <a:extLst>
                  <a:ext uri="{FF2B5EF4-FFF2-40B4-BE49-F238E27FC236}">
                    <a16:creationId xmlns:a16="http://schemas.microsoft.com/office/drawing/2014/main" id="{74B778A7-BA8B-95BE-2079-A42598164E98}"/>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10" name="Rectangle: Rounded Corners 9">
                <a:extLst>
                  <a:ext uri="{FF2B5EF4-FFF2-40B4-BE49-F238E27FC236}">
                    <a16:creationId xmlns:a16="http://schemas.microsoft.com/office/drawing/2014/main" id="{F93F88E3-0003-52CA-9B92-A3AEB7D8CAAE}"/>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11" name="Rectangle: Rounded Corners 10">
                <a:extLst>
                  <a:ext uri="{FF2B5EF4-FFF2-40B4-BE49-F238E27FC236}">
                    <a16:creationId xmlns:a16="http://schemas.microsoft.com/office/drawing/2014/main" id="{CF37E1C9-6309-6128-F1EC-632768F8BA6A}"/>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grpSp>
      <p:pic>
        <p:nvPicPr>
          <p:cNvPr id="2" name="Picture 3" descr="קובץ:Ministry of Labor, Social Affairs and Social Services ...">
            <a:extLst>
              <a:ext uri="{FF2B5EF4-FFF2-40B4-BE49-F238E27FC236}">
                <a16:creationId xmlns:a16="http://schemas.microsoft.com/office/drawing/2014/main" id="{F108ED66-519D-22F3-76CC-30C8A562573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384261" y="6248429"/>
            <a:ext cx="1494394" cy="40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6682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שער 1">
    <p:spTree>
      <p:nvGrpSpPr>
        <p:cNvPr id="1" name=""/>
        <p:cNvGrpSpPr/>
        <p:nvPr/>
      </p:nvGrpSpPr>
      <p:grpSpPr>
        <a:xfrm>
          <a:off x="0" y="0"/>
          <a:ext cx="0" cy="0"/>
          <a:chOff x="0" y="0"/>
          <a:chExt cx="0" cy="0"/>
        </a:xfrm>
      </p:grpSpPr>
      <p:sp>
        <p:nvSpPr>
          <p:cNvPr id="18" name="מלבן 17"/>
          <p:cNvSpPr/>
          <p:nvPr/>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23" name="מלבן 22"/>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Text Placeholder 4"/>
          <p:cNvSpPr>
            <a:spLocks noGrp="1"/>
          </p:cNvSpPr>
          <p:nvPr>
            <p:ph type="body" sz="quarter" idx="16"/>
          </p:nvPr>
        </p:nvSpPr>
        <p:spPr>
          <a:xfrm>
            <a:off x="1912423" y="1310138"/>
            <a:ext cx="8367154" cy="1718038"/>
          </a:xfrm>
          <a:noFill/>
        </p:spPr>
        <p:txBody>
          <a:bodyPr anchor="ctr">
            <a:noAutofit/>
          </a:bodyPr>
          <a:lstStyle>
            <a:lvl1pPr marL="0" indent="0" algn="ct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pic>
        <p:nvPicPr>
          <p:cNvPr id="24" name="תמונה 23"/>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30" name="Text Placeholder 4"/>
          <p:cNvSpPr>
            <a:spLocks noGrp="1"/>
          </p:cNvSpPr>
          <p:nvPr>
            <p:ph type="body" sz="quarter" idx="17"/>
          </p:nvPr>
        </p:nvSpPr>
        <p:spPr>
          <a:xfrm>
            <a:off x="1912423" y="3134625"/>
            <a:ext cx="8367153" cy="1007754"/>
          </a:xfrm>
          <a:noFill/>
        </p:spPr>
        <p:txBody>
          <a:bodyPr anchor="t">
            <a:noAutofit/>
          </a:bodyPr>
          <a:lstStyle>
            <a:lvl1pPr marL="0" indent="0" algn="ct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1" name="Text Placeholder 4"/>
          <p:cNvSpPr>
            <a:spLocks noGrp="1"/>
          </p:cNvSpPr>
          <p:nvPr>
            <p:ph type="body" sz="quarter" idx="18"/>
          </p:nvPr>
        </p:nvSpPr>
        <p:spPr>
          <a:xfrm>
            <a:off x="524495" y="5852716"/>
            <a:ext cx="4620986" cy="575473"/>
          </a:xfrm>
          <a:noFill/>
        </p:spPr>
        <p:txBody>
          <a:bodyPr anchor="t">
            <a:noAutofit/>
          </a:bodyPr>
          <a:lstStyle>
            <a:lvl1pPr marL="0" indent="0" algn="l">
              <a:lnSpc>
                <a:spcPct val="100000"/>
              </a:lnSpc>
              <a:spcBef>
                <a:spcPts val="0"/>
              </a:spcBef>
              <a:buNone/>
              <a:defRPr sz="2400" b="0">
                <a:solidFill>
                  <a:srgbClr val="323E48"/>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2" name="Text Placeholder 4"/>
          <p:cNvSpPr>
            <a:spLocks noGrp="1"/>
          </p:cNvSpPr>
          <p:nvPr>
            <p:ph type="body" sz="quarter" idx="19"/>
          </p:nvPr>
        </p:nvSpPr>
        <p:spPr>
          <a:xfrm>
            <a:off x="7071011" y="5852716"/>
            <a:ext cx="4620986" cy="575473"/>
          </a:xfrm>
          <a:noFill/>
        </p:spPr>
        <p:txBody>
          <a:bodyPr anchor="t">
            <a:noAutofit/>
          </a:bodyPr>
          <a:lstStyle>
            <a:lvl1pPr marL="0" indent="0" algn="r">
              <a:lnSpc>
                <a:spcPct val="100000"/>
              </a:lnSpc>
              <a:spcBef>
                <a:spcPts val="0"/>
              </a:spcBef>
              <a:buNone/>
              <a:defRPr sz="2400" b="0">
                <a:solidFill>
                  <a:srgbClr val="323E48"/>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9" name="מלבן 17">
            <a:extLst>
              <a:ext uri="{FF2B5EF4-FFF2-40B4-BE49-F238E27FC236}">
                <a16:creationId xmlns:a16="http://schemas.microsoft.com/office/drawing/2014/main" id="{D1821F43-F5C8-45D9-82AC-3C87F16955C5}"/>
              </a:ext>
            </a:extLst>
          </p:cNvPr>
          <p:cNvSpPr/>
          <p:nvPr/>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10" name="מלבן 22">
            <a:extLst>
              <a:ext uri="{FF2B5EF4-FFF2-40B4-BE49-F238E27FC236}">
                <a16:creationId xmlns:a16="http://schemas.microsoft.com/office/drawing/2014/main" id="{FFC42D22-7CA4-4820-A954-FFA3B37DC869}"/>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23">
            <a:extLst>
              <a:ext uri="{FF2B5EF4-FFF2-40B4-BE49-F238E27FC236}">
                <a16:creationId xmlns:a16="http://schemas.microsoft.com/office/drawing/2014/main" id="{C7311CD7-2F14-49A9-B6E1-A771B935311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2" name="מלבן 17">
            <a:extLst>
              <a:ext uri="{FF2B5EF4-FFF2-40B4-BE49-F238E27FC236}">
                <a16:creationId xmlns:a16="http://schemas.microsoft.com/office/drawing/2014/main" id="{BEC259A9-1557-4D38-9429-A27556529DCC}"/>
              </a:ext>
            </a:extLst>
          </p:cNvPr>
          <p:cNvSpPr/>
          <p:nvPr userDrawn="1"/>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13" name="מלבן 22">
            <a:extLst>
              <a:ext uri="{FF2B5EF4-FFF2-40B4-BE49-F238E27FC236}">
                <a16:creationId xmlns:a16="http://schemas.microsoft.com/office/drawing/2014/main" id="{8A81CC8C-6C95-42CA-97D2-C0A98A4E2EEC}"/>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23">
            <a:extLst>
              <a:ext uri="{FF2B5EF4-FFF2-40B4-BE49-F238E27FC236}">
                <a16:creationId xmlns:a16="http://schemas.microsoft.com/office/drawing/2014/main" id="{6A5763CD-E7B1-4630-ACEB-5295BCBB5F6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Tree>
    <p:extLst>
      <p:ext uri="{BB962C8B-B14F-4D97-AF65-F5344CB8AC3E}">
        <p14:creationId xmlns:p14="http://schemas.microsoft.com/office/powerpoint/2010/main" val="2524375907"/>
      </p:ext>
    </p:extLst>
  </p:cSld>
  <p:clrMapOvr>
    <a:masterClrMapping/>
  </p:clrMapOvr>
  <p:hf sldNum="0" hdr="0" ft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שער 2">
    <p:spTree>
      <p:nvGrpSpPr>
        <p:cNvPr id="1" name=""/>
        <p:cNvGrpSpPr/>
        <p:nvPr/>
      </p:nvGrpSpPr>
      <p:grpSpPr>
        <a:xfrm>
          <a:off x="0" y="0"/>
          <a:ext cx="0" cy="0"/>
          <a:chOff x="0" y="0"/>
          <a:chExt cx="0" cy="0"/>
        </a:xfrm>
      </p:grpSpPr>
      <p:sp>
        <p:nvSpPr>
          <p:cNvPr id="8" name="Rectangle 8">
            <a:extLst>
              <a:ext uri="{FF2B5EF4-FFF2-40B4-BE49-F238E27FC236}">
                <a16:creationId xmlns:a16="http://schemas.microsoft.com/office/drawing/2014/main" id="{7BDC0554-B7CA-4519-A16F-BED0F3478D5E}"/>
              </a:ext>
            </a:extLst>
          </p:cNvPr>
          <p:cNvSpPr/>
          <p:nvPr/>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p:cNvSpPr/>
          <p:nvPr/>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0" name="תמונה 9"/>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
        <p:nvSpPr>
          <p:cNvPr id="21" name="Text Placeholder 4"/>
          <p:cNvSpPr>
            <a:spLocks noGrp="1"/>
          </p:cNvSpPr>
          <p:nvPr>
            <p:ph type="body" sz="quarter" idx="16"/>
          </p:nvPr>
        </p:nvSpPr>
        <p:spPr>
          <a:xfrm>
            <a:off x="4041320" y="1310138"/>
            <a:ext cx="7560129" cy="1718038"/>
          </a:xfrm>
          <a:noFill/>
        </p:spPr>
        <p:txBody>
          <a:bodyPr anchor="ctr">
            <a:noAutofit/>
          </a:bodyPr>
          <a:lstStyle>
            <a:lvl1pPr marL="0" indent="0" algn="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0" name="Text Placeholder 4"/>
          <p:cNvSpPr>
            <a:spLocks noGrp="1"/>
          </p:cNvSpPr>
          <p:nvPr>
            <p:ph type="body" sz="quarter" idx="17"/>
          </p:nvPr>
        </p:nvSpPr>
        <p:spPr>
          <a:xfrm>
            <a:off x="4041321" y="3134625"/>
            <a:ext cx="7560128" cy="1007754"/>
          </a:xfrm>
          <a:noFill/>
        </p:spPr>
        <p:txBody>
          <a:bodyPr anchor="t">
            <a:noAutofit/>
          </a:bodyPr>
          <a:lstStyle>
            <a:lvl1pPr marL="0" indent="0" algn="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1" name="Text Placeholder 4"/>
          <p:cNvSpPr>
            <a:spLocks noGrp="1"/>
          </p:cNvSpPr>
          <p:nvPr>
            <p:ph type="body" sz="quarter" idx="19"/>
          </p:nvPr>
        </p:nvSpPr>
        <p:spPr>
          <a:xfrm>
            <a:off x="6980463" y="5212453"/>
            <a:ext cx="4620986" cy="575473"/>
          </a:xfrm>
          <a:noFill/>
        </p:spPr>
        <p:txBody>
          <a:bodyPr anchor="t">
            <a:noAutofit/>
          </a:bodyPr>
          <a:lstStyle>
            <a:lvl1pPr marL="0" indent="0" algn="r">
              <a:lnSpc>
                <a:spcPct val="100000"/>
              </a:lnSpc>
              <a:spcBef>
                <a:spcPts val="0"/>
              </a:spcBef>
              <a:buNone/>
              <a:defRPr sz="24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2" name="Rectangle 8">
            <a:extLst>
              <a:ext uri="{FF2B5EF4-FFF2-40B4-BE49-F238E27FC236}">
                <a16:creationId xmlns:a16="http://schemas.microsoft.com/office/drawing/2014/main" id="{C1784FE4-FA25-4454-979F-0598519F1B2F}"/>
              </a:ext>
            </a:extLst>
          </p:cNvPr>
          <p:cNvSpPr/>
          <p:nvPr/>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8">
            <a:extLst>
              <a:ext uri="{FF2B5EF4-FFF2-40B4-BE49-F238E27FC236}">
                <a16:creationId xmlns:a16="http://schemas.microsoft.com/office/drawing/2014/main" id="{3C0D5686-6983-4EFA-8B85-D1E6A61B64A6}"/>
              </a:ext>
            </a:extLst>
          </p:cNvPr>
          <p:cNvSpPr/>
          <p:nvPr/>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9">
            <a:extLst>
              <a:ext uri="{FF2B5EF4-FFF2-40B4-BE49-F238E27FC236}">
                <a16:creationId xmlns:a16="http://schemas.microsoft.com/office/drawing/2014/main" id="{FB1CD190-6593-476C-B0B6-D823ED9D93C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
        <p:nvSpPr>
          <p:cNvPr id="15" name="Rectangle 8">
            <a:extLst>
              <a:ext uri="{FF2B5EF4-FFF2-40B4-BE49-F238E27FC236}">
                <a16:creationId xmlns:a16="http://schemas.microsoft.com/office/drawing/2014/main" id="{D59B68FB-5FC2-4813-89EC-0640EB1B9F99}"/>
              </a:ext>
            </a:extLst>
          </p:cNvPr>
          <p:cNvSpPr/>
          <p:nvPr userDrawn="1"/>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8">
            <a:extLst>
              <a:ext uri="{FF2B5EF4-FFF2-40B4-BE49-F238E27FC236}">
                <a16:creationId xmlns:a16="http://schemas.microsoft.com/office/drawing/2014/main" id="{34F7D37F-05B4-4F6C-8C6B-238F12DFECB3}"/>
              </a:ext>
            </a:extLst>
          </p:cNvPr>
          <p:cNvSpPr/>
          <p:nvPr userDrawn="1"/>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תמונה 9">
            <a:extLst>
              <a:ext uri="{FF2B5EF4-FFF2-40B4-BE49-F238E27FC236}">
                <a16:creationId xmlns:a16="http://schemas.microsoft.com/office/drawing/2014/main" id="{F6997AF1-F6FF-43C4-92A9-5F2F2DFBEA2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Tree>
    <p:extLst>
      <p:ext uri="{BB962C8B-B14F-4D97-AF65-F5344CB8AC3E}">
        <p14:creationId xmlns:p14="http://schemas.microsoft.com/office/powerpoint/2010/main" val="2666719232"/>
      </p:ext>
    </p:extLst>
  </p:cSld>
  <p:clrMapOvr>
    <a:masterClrMapping/>
  </p:clrMapOvr>
  <p:hf sldNum="0" hdr="0" ft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שער 3">
    <p:spTree>
      <p:nvGrpSpPr>
        <p:cNvPr id="1" name=""/>
        <p:cNvGrpSpPr/>
        <p:nvPr/>
      </p:nvGrpSpPr>
      <p:grpSpPr>
        <a:xfrm>
          <a:off x="0" y="0"/>
          <a:ext cx="0" cy="0"/>
          <a:chOff x="0" y="0"/>
          <a:chExt cx="0" cy="0"/>
        </a:xfrm>
      </p:grpSpPr>
      <p:sp>
        <p:nvSpPr>
          <p:cNvPr id="12" name="מלבן 11"/>
          <p:cNvSpPr/>
          <p:nvPr/>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Text Placeholder 4"/>
          <p:cNvSpPr>
            <a:spLocks noGrp="1"/>
          </p:cNvSpPr>
          <p:nvPr>
            <p:ph type="body" sz="quarter" idx="16"/>
          </p:nvPr>
        </p:nvSpPr>
        <p:spPr>
          <a:xfrm>
            <a:off x="6393996" y="557664"/>
            <a:ext cx="5453244" cy="2241923"/>
          </a:xfrm>
          <a:noFill/>
        </p:spPr>
        <p:txBody>
          <a:bodyPr anchor="t">
            <a:noAutofit/>
          </a:bodyPr>
          <a:lstStyle>
            <a:lvl1pPr marL="0" indent="0" algn="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0" name="Text Placeholder 4"/>
          <p:cNvSpPr>
            <a:spLocks noGrp="1"/>
          </p:cNvSpPr>
          <p:nvPr>
            <p:ph type="body" sz="quarter" idx="17"/>
          </p:nvPr>
        </p:nvSpPr>
        <p:spPr>
          <a:xfrm>
            <a:off x="6630263" y="3166415"/>
            <a:ext cx="5216977" cy="1007754"/>
          </a:xfrm>
          <a:noFill/>
        </p:spPr>
        <p:txBody>
          <a:bodyPr anchor="t">
            <a:noAutofit/>
          </a:bodyPr>
          <a:lstStyle>
            <a:lvl1pPr marL="0" indent="0" algn="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20" name="Text Placeholder 4"/>
          <p:cNvSpPr>
            <a:spLocks noGrp="1"/>
          </p:cNvSpPr>
          <p:nvPr>
            <p:ph type="body" sz="quarter" idx="20"/>
          </p:nvPr>
        </p:nvSpPr>
        <p:spPr>
          <a:xfrm>
            <a:off x="6890119" y="4327465"/>
            <a:ext cx="4957121" cy="575473"/>
          </a:xfrm>
          <a:noFill/>
        </p:spPr>
        <p:txBody>
          <a:bodyPr anchor="t">
            <a:noAutofit/>
          </a:bodyPr>
          <a:lstStyle>
            <a:lvl1pPr marL="0" indent="0" algn="r">
              <a:lnSpc>
                <a:spcPct val="100000"/>
              </a:lnSpc>
              <a:spcBef>
                <a:spcPts val="0"/>
              </a:spcBef>
              <a:buNone/>
              <a:defRPr sz="24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3" name="מלבן 12"/>
          <p:cNvSpPr/>
          <p:nvPr/>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3" name="Picture 2" descr="A picture containing text&#10;&#10;Description automatically generated">
            <a:extLst>
              <a:ext uri="{FF2B5EF4-FFF2-40B4-BE49-F238E27FC236}">
                <a16:creationId xmlns:a16="http://schemas.microsoft.com/office/drawing/2014/main" id="{F66CEDC6-39B5-407C-B3D4-E8B0517DC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
        <p:nvSpPr>
          <p:cNvPr id="15" name="Picture Placeholder 2"/>
          <p:cNvSpPr>
            <a:spLocks noGrp="1"/>
          </p:cNvSpPr>
          <p:nvPr>
            <p:ph type="pic" sz="quarter" idx="13"/>
          </p:nvPr>
        </p:nvSpPr>
        <p:spPr>
          <a:xfrm>
            <a:off x="493962" y="479159"/>
            <a:ext cx="5453244" cy="5899682"/>
          </a:xfrm>
        </p:spPr>
        <p:txBody>
          <a:bodyPr/>
          <a:lstStyle>
            <a:lvl1pPr marL="0" indent="0" algn="ctr">
              <a:buNone/>
              <a:defRPr/>
            </a:lvl1pPr>
          </a:lstStyle>
          <a:p>
            <a:r>
              <a:rPr lang="en-US"/>
              <a:t>Click icon to add picture</a:t>
            </a:r>
          </a:p>
        </p:txBody>
      </p:sp>
      <p:sp>
        <p:nvSpPr>
          <p:cNvPr id="9" name="מלבן 11">
            <a:extLst>
              <a:ext uri="{FF2B5EF4-FFF2-40B4-BE49-F238E27FC236}">
                <a16:creationId xmlns:a16="http://schemas.microsoft.com/office/drawing/2014/main" id="{DB45969E-A56B-45F5-A22A-1DE10523FC67}"/>
              </a:ext>
            </a:extLst>
          </p:cNvPr>
          <p:cNvSpPr/>
          <p:nvPr/>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2">
            <a:extLst>
              <a:ext uri="{FF2B5EF4-FFF2-40B4-BE49-F238E27FC236}">
                <a16:creationId xmlns:a16="http://schemas.microsoft.com/office/drawing/2014/main" id="{EED6C5C8-4AAF-4EEC-BF88-6EA92633E684}"/>
              </a:ext>
            </a:extLst>
          </p:cNvPr>
          <p:cNvSpPr/>
          <p:nvPr/>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1" name="Picture 10" descr="A picture containing text&#10;&#10;Description automatically generated">
            <a:extLst>
              <a:ext uri="{FF2B5EF4-FFF2-40B4-BE49-F238E27FC236}">
                <a16:creationId xmlns:a16="http://schemas.microsoft.com/office/drawing/2014/main" id="{4A52BCF3-4DE1-4879-AC54-759AA8E39D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
        <p:nvSpPr>
          <p:cNvPr id="14" name="מלבן 11">
            <a:extLst>
              <a:ext uri="{FF2B5EF4-FFF2-40B4-BE49-F238E27FC236}">
                <a16:creationId xmlns:a16="http://schemas.microsoft.com/office/drawing/2014/main" id="{028F2505-C471-4128-BEC7-C55756F71E4C}"/>
              </a:ext>
            </a:extLst>
          </p:cNvPr>
          <p:cNvSpPr/>
          <p:nvPr userDrawn="1"/>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2">
            <a:extLst>
              <a:ext uri="{FF2B5EF4-FFF2-40B4-BE49-F238E27FC236}">
                <a16:creationId xmlns:a16="http://schemas.microsoft.com/office/drawing/2014/main" id="{6C6505BA-0816-4FBD-A5FF-8D390CE4691B}"/>
              </a:ext>
            </a:extLst>
          </p:cNvPr>
          <p:cNvSpPr/>
          <p:nvPr userDrawn="1"/>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7" name="Picture 16" descr="A picture containing text&#10;&#10;Description automatically generated">
            <a:extLst>
              <a:ext uri="{FF2B5EF4-FFF2-40B4-BE49-F238E27FC236}">
                <a16:creationId xmlns:a16="http://schemas.microsoft.com/office/drawing/2014/main" id="{84E2D833-789A-43A5-8EF7-AFBC3E76AC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Tree>
    <p:extLst>
      <p:ext uri="{BB962C8B-B14F-4D97-AF65-F5344CB8AC3E}">
        <p14:creationId xmlns:p14="http://schemas.microsoft.com/office/powerpoint/2010/main" val="179220168"/>
      </p:ext>
    </p:extLst>
  </p:cSld>
  <p:clrMapOvr>
    <a:masterClrMapping/>
  </p:clrMapOvr>
  <p:hf sldNum="0" hdr="0" ft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ראש פרק 1">
    <p:spTree>
      <p:nvGrpSpPr>
        <p:cNvPr id="1" name=""/>
        <p:cNvGrpSpPr/>
        <p:nvPr/>
      </p:nvGrpSpPr>
      <p:grpSpPr>
        <a:xfrm>
          <a:off x="0" y="0"/>
          <a:ext cx="0" cy="0"/>
          <a:chOff x="0" y="0"/>
          <a:chExt cx="0" cy="0"/>
        </a:xfrm>
      </p:grpSpPr>
      <p:sp>
        <p:nvSpPr>
          <p:cNvPr id="21" name="Text Placeholder 4"/>
          <p:cNvSpPr>
            <a:spLocks noGrp="1"/>
          </p:cNvSpPr>
          <p:nvPr>
            <p:ph type="body" sz="quarter" idx="16"/>
          </p:nvPr>
        </p:nvSpPr>
        <p:spPr>
          <a:xfrm>
            <a:off x="1912423" y="2763381"/>
            <a:ext cx="8367154" cy="1718038"/>
          </a:xfrm>
          <a:noFill/>
        </p:spPr>
        <p:txBody>
          <a:bodyPr anchor="ctr">
            <a:noAutofit/>
          </a:bodyPr>
          <a:lstStyle>
            <a:lvl1pPr marL="0" indent="0" algn="ctr">
              <a:buNone/>
              <a:defRPr sz="5500" b="1">
                <a:solidFill>
                  <a:schemeClr val="accent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9"/>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4"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6" name="מלבן 9">
            <a:extLst>
              <a:ext uri="{FF2B5EF4-FFF2-40B4-BE49-F238E27FC236}">
                <a16:creationId xmlns:a16="http://schemas.microsoft.com/office/drawing/2014/main" id="{1EAEA001-E2B0-4E53-91D2-5C5A9F66B604}"/>
              </a:ext>
            </a:extLst>
          </p:cNvPr>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11">
            <a:extLst>
              <a:ext uri="{FF2B5EF4-FFF2-40B4-BE49-F238E27FC236}">
                <a16:creationId xmlns:a16="http://schemas.microsoft.com/office/drawing/2014/main" id="{12C2C3A2-2DC1-41AA-85A5-554843E9FF76}"/>
              </a:ext>
            </a:extLst>
          </p:cNvPr>
          <p:cNvSpPr/>
          <p:nvPr/>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8" name="Picture 11">
            <a:extLst>
              <a:ext uri="{FF2B5EF4-FFF2-40B4-BE49-F238E27FC236}">
                <a16:creationId xmlns:a16="http://schemas.microsoft.com/office/drawing/2014/main" id="{29CDFEF2-4488-4360-8C03-E5A3C0BC879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9" name="מלבן 9">
            <a:extLst>
              <a:ext uri="{FF2B5EF4-FFF2-40B4-BE49-F238E27FC236}">
                <a16:creationId xmlns:a16="http://schemas.microsoft.com/office/drawing/2014/main" id="{3DF83C02-DFE1-4098-8E57-BE9E9FE7AE47}"/>
              </a:ext>
            </a:extLst>
          </p:cNvPr>
          <p:cNvSpPr/>
          <p:nvPr userDrawn="1"/>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מלבן 11">
            <a:extLst>
              <a:ext uri="{FF2B5EF4-FFF2-40B4-BE49-F238E27FC236}">
                <a16:creationId xmlns:a16="http://schemas.microsoft.com/office/drawing/2014/main" id="{0D48724B-1916-4B06-8C81-5D4F930D9E52}"/>
              </a:ext>
            </a:extLst>
          </p:cNvPr>
          <p:cNvSpPr/>
          <p:nvPr userDrawn="1"/>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0F11BC21-A06E-4808-8B4F-F4E4FF47778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0706913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ראש פרק 2">
    <p:spTree>
      <p:nvGrpSpPr>
        <p:cNvPr id="1" name=""/>
        <p:cNvGrpSpPr/>
        <p:nvPr/>
      </p:nvGrpSpPr>
      <p:grpSpPr>
        <a:xfrm>
          <a:off x="0" y="0"/>
          <a:ext cx="0" cy="0"/>
          <a:chOff x="0" y="0"/>
          <a:chExt cx="0" cy="0"/>
        </a:xfrm>
      </p:grpSpPr>
      <p:sp>
        <p:nvSpPr>
          <p:cNvPr id="7" name="Picture Placeholder 2"/>
          <p:cNvSpPr>
            <a:spLocks noGrp="1"/>
          </p:cNvSpPr>
          <p:nvPr>
            <p:ph type="pic" sz="quarter" idx="13"/>
          </p:nvPr>
        </p:nvSpPr>
        <p:spPr>
          <a:xfrm>
            <a:off x="-5440" y="1211447"/>
            <a:ext cx="6112326" cy="5646554"/>
          </a:xfrm>
        </p:spPr>
        <p:txBody>
          <a:bodyPr/>
          <a:lstStyle>
            <a:lvl1pPr marL="0" indent="0" algn="ctr">
              <a:buNone/>
              <a:defRPr/>
            </a:lvl1pPr>
          </a:lstStyle>
          <a:p>
            <a:r>
              <a:rPr lang="en-US"/>
              <a:t>Click icon to add picture</a:t>
            </a:r>
          </a:p>
        </p:txBody>
      </p:sp>
      <p:sp>
        <p:nvSpPr>
          <p:cNvPr id="21" name="Text Placeholder 4"/>
          <p:cNvSpPr>
            <a:spLocks noGrp="1"/>
          </p:cNvSpPr>
          <p:nvPr>
            <p:ph type="body" sz="quarter" idx="16"/>
          </p:nvPr>
        </p:nvSpPr>
        <p:spPr>
          <a:xfrm>
            <a:off x="6539592" y="2122712"/>
            <a:ext cx="4957733" cy="2424019"/>
          </a:xfrm>
          <a:noFill/>
        </p:spPr>
        <p:txBody>
          <a:bodyPr anchor="t">
            <a:noAutofit/>
          </a:bodyPr>
          <a:lstStyle>
            <a:lvl1pPr marL="0" indent="0" algn="r">
              <a:buNone/>
              <a:defRPr sz="5500" b="1">
                <a:solidFill>
                  <a:schemeClr val="accent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9"/>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8" name="מלבן 9">
            <a:extLst>
              <a:ext uri="{FF2B5EF4-FFF2-40B4-BE49-F238E27FC236}">
                <a16:creationId xmlns:a16="http://schemas.microsoft.com/office/drawing/2014/main" id="{8AE7EC51-9F31-431E-94C0-8F477C6BAF8A}"/>
              </a:ext>
            </a:extLst>
          </p:cNvPr>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11">
            <a:extLst>
              <a:ext uri="{FF2B5EF4-FFF2-40B4-BE49-F238E27FC236}">
                <a16:creationId xmlns:a16="http://schemas.microsoft.com/office/drawing/2014/main" id="{7E127EBF-B22C-416B-96BD-8B13C07883F2}"/>
              </a:ext>
            </a:extLst>
          </p:cNvPr>
          <p:cNvSpPr/>
          <p:nvPr/>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4251EB9D-19AC-45A2-9FC5-D5471EC7CAB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3" name="מלבן 9">
            <a:extLst>
              <a:ext uri="{FF2B5EF4-FFF2-40B4-BE49-F238E27FC236}">
                <a16:creationId xmlns:a16="http://schemas.microsoft.com/office/drawing/2014/main" id="{BF33F012-0B48-44E4-9BCA-DF9DA2B584C2}"/>
              </a:ext>
            </a:extLst>
          </p:cNvPr>
          <p:cNvSpPr/>
          <p:nvPr userDrawn="1"/>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מלבן 11">
            <a:extLst>
              <a:ext uri="{FF2B5EF4-FFF2-40B4-BE49-F238E27FC236}">
                <a16:creationId xmlns:a16="http://schemas.microsoft.com/office/drawing/2014/main" id="{2A8CD443-66D9-4AEF-A6E8-0B1C97CA5E1C}"/>
              </a:ext>
            </a:extLst>
          </p:cNvPr>
          <p:cNvSpPr/>
          <p:nvPr userDrawn="1"/>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1">
            <a:extLst>
              <a:ext uri="{FF2B5EF4-FFF2-40B4-BE49-F238E27FC236}">
                <a16:creationId xmlns:a16="http://schemas.microsoft.com/office/drawing/2014/main" id="{6BC636B2-668B-49D4-82F2-E6187C13EE3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6732424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2" name="Rectangle 11">
            <a:extLst>
              <a:ext uri="{FF2B5EF4-FFF2-40B4-BE49-F238E27FC236}">
                <a16:creationId xmlns:a16="http://schemas.microsoft.com/office/drawing/2014/main" id="{80283395-E810-4E4C-8BF3-5DE2E8DD7A72}"/>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15">
            <a:extLst>
              <a:ext uri="{FF2B5EF4-FFF2-40B4-BE49-F238E27FC236}">
                <a16:creationId xmlns:a16="http://schemas.microsoft.com/office/drawing/2014/main" id="{91EEA1A6-D48A-4870-9730-23870829D16B}"/>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5" name="Picture 11">
            <a:extLst>
              <a:ext uri="{FF2B5EF4-FFF2-40B4-BE49-F238E27FC236}">
                <a16:creationId xmlns:a16="http://schemas.microsoft.com/office/drawing/2014/main" id="{29F425F9-415C-4F40-825D-3C051B3775C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8465287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5" name="Rectangle 8">
            <a:extLst>
              <a:ext uri="{FF2B5EF4-FFF2-40B4-BE49-F238E27FC236}">
                <a16:creationId xmlns:a16="http://schemas.microsoft.com/office/drawing/2014/main" id="{D21CA533-A1E8-4188-AC5B-7F84F3D824BA}"/>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מלבן 15">
            <a:extLst>
              <a:ext uri="{FF2B5EF4-FFF2-40B4-BE49-F238E27FC236}">
                <a16:creationId xmlns:a16="http://schemas.microsoft.com/office/drawing/2014/main" id="{F07C8E73-6940-4BC8-9188-29674601B8F2}"/>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0" name="Picture 11">
            <a:extLst>
              <a:ext uri="{FF2B5EF4-FFF2-40B4-BE49-F238E27FC236}">
                <a16:creationId xmlns:a16="http://schemas.microsoft.com/office/drawing/2014/main" id="{A9FE4719-0F47-4CF0-9405-3957B4D876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926461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כותרת ותרשימ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מלבן 14"/>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7"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1"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5" name="Content Placeholder 2"/>
          <p:cNvSpPr>
            <a:spLocks noGrp="1"/>
          </p:cNvSpPr>
          <p:nvPr>
            <p:ph sz="half" idx="1"/>
          </p:nvPr>
        </p:nvSpPr>
        <p:spPr>
          <a:xfrm>
            <a:off x="936168" y="1825625"/>
            <a:ext cx="4476753" cy="4351338"/>
          </a:xfrm>
        </p:spPr>
        <p:txBody>
          <a:bodyPr>
            <a:normAutofit/>
          </a:bodyPr>
          <a:lstStyle>
            <a:lvl1pPr>
              <a:buClr>
                <a:schemeClr val="accent3"/>
              </a:buClr>
              <a:buFontTx/>
              <a:buNone/>
              <a:defRPr sz="2800">
                <a:latin typeface="Calibri" panose="020F0502020204030204" pitchFamily="34" charset="0"/>
                <a:cs typeface="Calibri" panose="020F0502020204030204" pitchFamily="34" charset="0"/>
              </a:defRPr>
            </a:lvl1pPr>
            <a:lvl2pPr>
              <a:buClr>
                <a:schemeClr val="accent3"/>
              </a:buClr>
              <a:buFontTx/>
              <a:buNone/>
              <a:defRPr sz="2800">
                <a:latin typeface="Calibri" panose="020F0502020204030204" pitchFamily="34" charset="0"/>
                <a:cs typeface="Calibri" panose="020F0502020204030204" pitchFamily="34" charset="0"/>
              </a:defRPr>
            </a:lvl2pPr>
            <a:lvl3pPr>
              <a:buClr>
                <a:schemeClr val="accent3"/>
              </a:buClr>
              <a:buFontTx/>
              <a:buNone/>
              <a:defRPr sz="2800">
                <a:latin typeface="Calibri" panose="020F0502020204030204" pitchFamily="34" charset="0"/>
                <a:cs typeface="Calibri" panose="020F0502020204030204" pitchFamily="34" charset="0"/>
              </a:defRPr>
            </a:lvl3pPr>
            <a:lvl4pPr>
              <a:buClr>
                <a:schemeClr val="accent3"/>
              </a:buClr>
              <a:buFontTx/>
              <a:buNone/>
              <a:defRPr sz="2800">
                <a:latin typeface="Calibri" panose="020F0502020204030204" pitchFamily="34" charset="0"/>
                <a:cs typeface="Calibri" panose="020F0502020204030204" pitchFamily="34" charset="0"/>
              </a:defRPr>
            </a:lvl4pPr>
            <a:lvl5pPr>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Content Placeholder 3"/>
          <p:cNvSpPr>
            <a:spLocks noGrp="1"/>
          </p:cNvSpPr>
          <p:nvPr>
            <p:ph sz="half" idx="2"/>
          </p:nvPr>
        </p:nvSpPr>
        <p:spPr>
          <a:xfrm>
            <a:off x="5843035" y="1825625"/>
            <a:ext cx="4478400" cy="4351338"/>
          </a:xfrm>
        </p:spPr>
        <p:txBody>
          <a:bodyPr>
            <a:normAutofit/>
          </a:bodyPr>
          <a:lstStyle>
            <a:lvl1pPr>
              <a:buClr>
                <a:schemeClr val="accent3"/>
              </a:buClr>
              <a:buFontTx/>
              <a:buNone/>
              <a:defRPr sz="2800">
                <a:latin typeface="Calibri" panose="020F0502020204030204" pitchFamily="34" charset="0"/>
                <a:cs typeface="Calibri" panose="020F0502020204030204" pitchFamily="34" charset="0"/>
              </a:defRPr>
            </a:lvl1pPr>
            <a:lvl2pPr>
              <a:buClr>
                <a:schemeClr val="accent3"/>
              </a:buClr>
              <a:buFontTx/>
              <a:buNone/>
              <a:defRPr sz="2800">
                <a:latin typeface="Calibri" panose="020F0502020204030204" pitchFamily="34" charset="0"/>
                <a:cs typeface="Calibri" panose="020F0502020204030204" pitchFamily="34" charset="0"/>
              </a:defRPr>
            </a:lvl2pPr>
            <a:lvl3pPr>
              <a:buClr>
                <a:schemeClr val="accent3"/>
              </a:buClr>
              <a:buFontTx/>
              <a:buNone/>
              <a:defRPr sz="2800">
                <a:latin typeface="Calibri" panose="020F0502020204030204" pitchFamily="34" charset="0"/>
                <a:cs typeface="Calibri" panose="020F0502020204030204" pitchFamily="34" charset="0"/>
              </a:defRPr>
            </a:lvl3pPr>
            <a:lvl4pPr>
              <a:buClr>
                <a:schemeClr val="accent3"/>
              </a:buClr>
              <a:buFontTx/>
              <a:buNone/>
              <a:defRPr sz="2800">
                <a:latin typeface="Calibri" panose="020F0502020204030204" pitchFamily="34" charset="0"/>
                <a:cs typeface="Calibri" panose="020F0502020204030204" pitchFamily="34" charset="0"/>
              </a:defRPr>
            </a:lvl4pPr>
            <a:lvl5pPr>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8">
            <a:extLst>
              <a:ext uri="{FF2B5EF4-FFF2-40B4-BE49-F238E27FC236}">
                <a16:creationId xmlns:a16="http://schemas.microsoft.com/office/drawing/2014/main" id="{633FB8F9-80EF-41CB-BDF7-6956A5F661F0}"/>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מלבן 14">
            <a:extLst>
              <a:ext uri="{FF2B5EF4-FFF2-40B4-BE49-F238E27FC236}">
                <a16:creationId xmlns:a16="http://schemas.microsoft.com/office/drawing/2014/main" id="{026E2F9C-A0C1-47DF-89B6-AF78E475AEB1}"/>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2" name="Picture 11">
            <a:extLst>
              <a:ext uri="{FF2B5EF4-FFF2-40B4-BE49-F238E27FC236}">
                <a16:creationId xmlns:a16="http://schemas.microsoft.com/office/drawing/2014/main" id="{9509F423-51F3-46BE-9C99-3236FD525E8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3" name="Oval 10">
            <a:extLst>
              <a:ext uri="{FF2B5EF4-FFF2-40B4-BE49-F238E27FC236}">
                <a16:creationId xmlns:a16="http://schemas.microsoft.com/office/drawing/2014/main" id="{01DAFF46-603D-414D-9EBB-8E74F48AD3D2}"/>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Slide Number Placeholder 5">
            <a:extLst>
              <a:ext uri="{FF2B5EF4-FFF2-40B4-BE49-F238E27FC236}">
                <a16:creationId xmlns:a16="http://schemas.microsoft.com/office/drawing/2014/main" id="{F39F1B92-2FAC-45FC-86E2-2083B6CE7DF2}"/>
              </a:ext>
            </a:extLst>
          </p:cNvPr>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0" name="Rectangle 8">
            <a:extLst>
              <a:ext uri="{FF2B5EF4-FFF2-40B4-BE49-F238E27FC236}">
                <a16:creationId xmlns:a16="http://schemas.microsoft.com/office/drawing/2014/main" id="{3FAECF9A-4A57-438B-AC44-1AFE7B30D250}"/>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2" name="מלבן 14">
            <a:extLst>
              <a:ext uri="{FF2B5EF4-FFF2-40B4-BE49-F238E27FC236}">
                <a16:creationId xmlns:a16="http://schemas.microsoft.com/office/drawing/2014/main" id="{30C9825B-8947-4707-BF3D-2EFE9A18AB8F}"/>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3" name="Picture 22">
            <a:extLst>
              <a:ext uri="{FF2B5EF4-FFF2-40B4-BE49-F238E27FC236}">
                <a16:creationId xmlns:a16="http://schemas.microsoft.com/office/drawing/2014/main" id="{931FD577-C140-474C-A387-CE4715F5A59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24" name="Oval 10">
            <a:extLst>
              <a:ext uri="{FF2B5EF4-FFF2-40B4-BE49-F238E27FC236}">
                <a16:creationId xmlns:a16="http://schemas.microsoft.com/office/drawing/2014/main" id="{CD549C3D-B338-447F-80F2-873B3810028C}"/>
              </a:ext>
            </a:extLst>
          </p:cNvPr>
          <p:cNvSpPr/>
          <p:nvPr userDrawn="1"/>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Slide Number Placeholder 5">
            <a:extLst>
              <a:ext uri="{FF2B5EF4-FFF2-40B4-BE49-F238E27FC236}">
                <a16:creationId xmlns:a16="http://schemas.microsoft.com/office/drawing/2014/main" id="{3D7179F8-7789-494D-95F3-D5352819D275}"/>
              </a:ext>
            </a:extLst>
          </p:cNvPr>
          <p:cNvSpPr txBox="1">
            <a:spLocks/>
          </p:cNvSpPr>
          <p:nvPr userDrawn="1"/>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Tree>
    <p:extLst>
      <p:ext uri="{BB962C8B-B14F-4D97-AF65-F5344CB8AC3E}">
        <p14:creationId xmlns:p14="http://schemas.microsoft.com/office/powerpoint/2010/main" val="276979242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שקף סיום">
    <p:spTree>
      <p:nvGrpSpPr>
        <p:cNvPr id="1" name=""/>
        <p:cNvGrpSpPr/>
        <p:nvPr/>
      </p:nvGrpSpPr>
      <p:grpSpPr>
        <a:xfrm>
          <a:off x="0" y="0"/>
          <a:ext cx="0" cy="0"/>
          <a:chOff x="0" y="0"/>
          <a:chExt cx="0" cy="0"/>
        </a:xfrm>
      </p:grpSpPr>
      <p:sp>
        <p:nvSpPr>
          <p:cNvPr id="8" name="מלבן 7"/>
          <p:cNvSpPr/>
          <p:nvPr/>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10"/>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3" name="Rectangle 2"/>
          <p:cNvSpPr txBox="1">
            <a:spLocks noChangeArrowheads="1"/>
          </p:cNvSpPr>
          <p:nvPr/>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15" name="Text Placeholder 1">
            <a:extLst>
              <a:ext uri="{FF2B5EF4-FFF2-40B4-BE49-F238E27FC236}">
                <a16:creationId xmlns:a16="http://schemas.microsoft.com/office/drawing/2014/main" id="{10356A00-9B16-4839-B8B0-057E44862AEA}"/>
              </a:ext>
            </a:extLst>
          </p:cNvPr>
          <p:cNvSpPr txBox="1">
            <a:spLocks/>
          </p:cNvSpPr>
          <p:nvPr/>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
        <p:nvSpPr>
          <p:cNvPr id="7" name="Text Placeholder 4">
            <a:extLst>
              <a:ext uri="{FF2B5EF4-FFF2-40B4-BE49-F238E27FC236}">
                <a16:creationId xmlns:a16="http://schemas.microsoft.com/office/drawing/2014/main" id="{7F6B0A68-61F2-4AAA-8F1D-A8BC9577A614}"/>
              </a:ext>
            </a:extLst>
          </p:cNvPr>
          <p:cNvSpPr>
            <a:spLocks noGrp="1"/>
          </p:cNvSpPr>
          <p:nvPr>
            <p:ph type="body" sz="quarter" idx="20"/>
          </p:nvPr>
        </p:nvSpPr>
        <p:spPr>
          <a:xfrm>
            <a:off x="2784000" y="2646005"/>
            <a:ext cx="6624000" cy="575473"/>
          </a:xfrm>
          <a:noFill/>
        </p:spPr>
        <p:txBody>
          <a:bodyPr anchor="t">
            <a:noAutofit/>
          </a:bodyPr>
          <a:lstStyle>
            <a:lvl1pPr marL="0" indent="0" algn="ctr">
              <a:lnSpc>
                <a:spcPct val="100000"/>
              </a:lnSpc>
              <a:spcBef>
                <a:spcPts val="0"/>
              </a:spcBef>
              <a:buNone/>
              <a:defRPr sz="3200" b="0">
                <a:solidFill>
                  <a:schemeClr val="tx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7">
            <a:extLst>
              <a:ext uri="{FF2B5EF4-FFF2-40B4-BE49-F238E27FC236}">
                <a16:creationId xmlns:a16="http://schemas.microsoft.com/office/drawing/2014/main" id="{E7756C85-36BB-40DF-B74E-8FBC6C1F7B9A}"/>
              </a:ext>
            </a:extLst>
          </p:cNvPr>
          <p:cNvSpPr/>
          <p:nvPr/>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8">
            <a:extLst>
              <a:ext uri="{FF2B5EF4-FFF2-40B4-BE49-F238E27FC236}">
                <a16:creationId xmlns:a16="http://schemas.microsoft.com/office/drawing/2014/main" id="{CDC05934-5315-458D-AB18-479E04EB0B7E}"/>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10">
            <a:extLst>
              <a:ext uri="{FF2B5EF4-FFF2-40B4-BE49-F238E27FC236}">
                <a16:creationId xmlns:a16="http://schemas.microsoft.com/office/drawing/2014/main" id="{A900D701-BB26-416F-9B94-AAFC72BCB75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6" name="Rectangle 2">
            <a:extLst>
              <a:ext uri="{FF2B5EF4-FFF2-40B4-BE49-F238E27FC236}">
                <a16:creationId xmlns:a16="http://schemas.microsoft.com/office/drawing/2014/main" id="{9B92886E-F97D-49EE-A9E2-6ABD6EFC5389}"/>
              </a:ext>
            </a:extLst>
          </p:cNvPr>
          <p:cNvSpPr txBox="1">
            <a:spLocks noChangeArrowheads="1"/>
          </p:cNvSpPr>
          <p:nvPr/>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17" name="Text Placeholder 1">
            <a:extLst>
              <a:ext uri="{FF2B5EF4-FFF2-40B4-BE49-F238E27FC236}">
                <a16:creationId xmlns:a16="http://schemas.microsoft.com/office/drawing/2014/main" id="{3D8716EB-1DFE-43A3-9ADE-591792E6A324}"/>
              </a:ext>
            </a:extLst>
          </p:cNvPr>
          <p:cNvSpPr txBox="1">
            <a:spLocks/>
          </p:cNvSpPr>
          <p:nvPr/>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
        <p:nvSpPr>
          <p:cNvPr id="18" name="מלבן 7">
            <a:extLst>
              <a:ext uri="{FF2B5EF4-FFF2-40B4-BE49-F238E27FC236}">
                <a16:creationId xmlns:a16="http://schemas.microsoft.com/office/drawing/2014/main" id="{BC649F6B-057A-4D80-952A-E90E2EE34C38}"/>
              </a:ext>
            </a:extLst>
          </p:cNvPr>
          <p:cNvSpPr/>
          <p:nvPr userDrawn="1"/>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מלבן 8">
            <a:extLst>
              <a:ext uri="{FF2B5EF4-FFF2-40B4-BE49-F238E27FC236}">
                <a16:creationId xmlns:a16="http://schemas.microsoft.com/office/drawing/2014/main" id="{7998BCA0-1124-4447-8A36-03892AB762E3}"/>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0" name="תמונה 10">
            <a:extLst>
              <a:ext uri="{FF2B5EF4-FFF2-40B4-BE49-F238E27FC236}">
                <a16:creationId xmlns:a16="http://schemas.microsoft.com/office/drawing/2014/main" id="{AD4B1353-36BB-48D0-B571-F11EE752FEC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21" name="Rectangle 2">
            <a:extLst>
              <a:ext uri="{FF2B5EF4-FFF2-40B4-BE49-F238E27FC236}">
                <a16:creationId xmlns:a16="http://schemas.microsoft.com/office/drawing/2014/main" id="{E4E84AE0-F8E4-4463-83A8-DC6451E6DB41}"/>
              </a:ext>
            </a:extLst>
          </p:cNvPr>
          <p:cNvSpPr txBox="1">
            <a:spLocks noChangeArrowheads="1"/>
          </p:cNvSpPr>
          <p:nvPr userDrawn="1"/>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22" name="Text Placeholder 1">
            <a:extLst>
              <a:ext uri="{FF2B5EF4-FFF2-40B4-BE49-F238E27FC236}">
                <a16:creationId xmlns:a16="http://schemas.microsoft.com/office/drawing/2014/main" id="{851AAAB5-9EFD-4806-8EA5-9D16ED5E9562}"/>
              </a:ext>
            </a:extLst>
          </p:cNvPr>
          <p:cNvSpPr txBox="1">
            <a:spLocks/>
          </p:cNvSpPr>
          <p:nvPr userDrawn="1"/>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725628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שקף סיום עם תמונה">
    <p:spTree>
      <p:nvGrpSpPr>
        <p:cNvPr id="1" name=""/>
        <p:cNvGrpSpPr/>
        <p:nvPr/>
      </p:nvGrpSpPr>
      <p:grpSpPr>
        <a:xfrm>
          <a:off x="0" y="0"/>
          <a:ext cx="0" cy="0"/>
          <a:chOff x="0" y="0"/>
          <a:chExt cx="0" cy="0"/>
        </a:xfrm>
      </p:grpSpPr>
      <p:sp>
        <p:nvSpPr>
          <p:cNvPr id="17" name="מלבן 7">
            <a:extLst>
              <a:ext uri="{FF2B5EF4-FFF2-40B4-BE49-F238E27FC236}">
                <a16:creationId xmlns:a16="http://schemas.microsoft.com/office/drawing/2014/main" id="{AFE05CEA-783F-4364-A7B8-36D54E3B8549}"/>
              </a:ext>
            </a:extLst>
          </p:cNvPr>
          <p:cNvSpPr/>
          <p:nvPr/>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Picture Placeholder 2"/>
          <p:cNvSpPr>
            <a:spLocks noGrp="1"/>
          </p:cNvSpPr>
          <p:nvPr>
            <p:ph type="pic" sz="quarter" idx="13"/>
          </p:nvPr>
        </p:nvSpPr>
        <p:spPr>
          <a:xfrm>
            <a:off x="-17686" y="-26901"/>
            <a:ext cx="12209686" cy="5145147"/>
          </a:xfrm>
        </p:spPr>
        <p:txBody>
          <a:bodyPr/>
          <a:lstStyle>
            <a:lvl1pPr marL="0" indent="0" algn="ctr">
              <a:buNone/>
              <a:defRPr/>
            </a:lvl1pPr>
          </a:lstStyle>
          <a:p>
            <a:r>
              <a:rPr lang="en-US"/>
              <a:t>Click icon to add picture</a:t>
            </a:r>
            <a:endParaRPr lang="en-US" dirty="0"/>
          </a:p>
        </p:txBody>
      </p:sp>
      <p:sp>
        <p:nvSpPr>
          <p:cNvPr id="10" name="מלבן 8">
            <a:extLst>
              <a:ext uri="{FF2B5EF4-FFF2-40B4-BE49-F238E27FC236}">
                <a16:creationId xmlns:a16="http://schemas.microsoft.com/office/drawing/2014/main" id="{CA7EEE55-D1DC-44EF-AA92-BF9C7F3A319A}"/>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ectangle 2">
            <a:extLst>
              <a:ext uri="{FF2B5EF4-FFF2-40B4-BE49-F238E27FC236}">
                <a16:creationId xmlns:a16="http://schemas.microsoft.com/office/drawing/2014/main" id="{B301140E-BEDE-4DD4-9D4A-CB601FDCCEEF}"/>
              </a:ext>
            </a:extLst>
          </p:cNvPr>
          <p:cNvSpPr txBox="1">
            <a:spLocks noChangeArrowheads="1"/>
          </p:cNvSpPr>
          <p:nvPr/>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16" name="Picture 11">
            <a:extLst>
              <a:ext uri="{FF2B5EF4-FFF2-40B4-BE49-F238E27FC236}">
                <a16:creationId xmlns:a16="http://schemas.microsoft.com/office/drawing/2014/main" id="{E7611B44-B797-4531-94BB-693ADE11369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18" name="מלבן 11">
            <a:extLst>
              <a:ext uri="{FF2B5EF4-FFF2-40B4-BE49-F238E27FC236}">
                <a16:creationId xmlns:a16="http://schemas.microsoft.com/office/drawing/2014/main" id="{D11E7429-79D8-46BF-9D30-16CB05B7477E}"/>
              </a:ext>
            </a:extLst>
          </p:cNvPr>
          <p:cNvSpPr/>
          <p:nvPr/>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
        <p:nvSpPr>
          <p:cNvPr id="8" name="מלבן 7">
            <a:extLst>
              <a:ext uri="{FF2B5EF4-FFF2-40B4-BE49-F238E27FC236}">
                <a16:creationId xmlns:a16="http://schemas.microsoft.com/office/drawing/2014/main" id="{7BCFB976-1F9C-46A1-ABE0-30726A603247}"/>
              </a:ext>
            </a:extLst>
          </p:cNvPr>
          <p:cNvSpPr/>
          <p:nvPr/>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a:extLst>
              <a:ext uri="{FF2B5EF4-FFF2-40B4-BE49-F238E27FC236}">
                <a16:creationId xmlns:a16="http://schemas.microsoft.com/office/drawing/2014/main" id="{C499F71D-BF43-437E-B585-0966776B5335}"/>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Rectangle 2">
            <a:extLst>
              <a:ext uri="{FF2B5EF4-FFF2-40B4-BE49-F238E27FC236}">
                <a16:creationId xmlns:a16="http://schemas.microsoft.com/office/drawing/2014/main" id="{6B2E6220-C74E-4298-8DF8-43F5D10BB4E4}"/>
              </a:ext>
            </a:extLst>
          </p:cNvPr>
          <p:cNvSpPr txBox="1">
            <a:spLocks noChangeArrowheads="1"/>
          </p:cNvSpPr>
          <p:nvPr/>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2326421C-DF55-409E-9B4C-81B0D4C5371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13" name="מלבן 11">
            <a:extLst>
              <a:ext uri="{FF2B5EF4-FFF2-40B4-BE49-F238E27FC236}">
                <a16:creationId xmlns:a16="http://schemas.microsoft.com/office/drawing/2014/main" id="{390FF7A6-B227-467F-86A2-6D32ED6067DA}"/>
              </a:ext>
            </a:extLst>
          </p:cNvPr>
          <p:cNvSpPr/>
          <p:nvPr/>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
        <p:nvSpPr>
          <p:cNvPr id="14" name="מלבן 7">
            <a:extLst>
              <a:ext uri="{FF2B5EF4-FFF2-40B4-BE49-F238E27FC236}">
                <a16:creationId xmlns:a16="http://schemas.microsoft.com/office/drawing/2014/main" id="{FAC8B7FA-88AD-4F68-A3B5-69379FBD6A1C}"/>
              </a:ext>
            </a:extLst>
          </p:cNvPr>
          <p:cNvSpPr/>
          <p:nvPr userDrawn="1"/>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מלבן 8">
            <a:extLst>
              <a:ext uri="{FF2B5EF4-FFF2-40B4-BE49-F238E27FC236}">
                <a16:creationId xmlns:a16="http://schemas.microsoft.com/office/drawing/2014/main" id="{8C2F7976-1514-462C-8D6E-2B87BAD3E274}"/>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Rectangle 2">
            <a:extLst>
              <a:ext uri="{FF2B5EF4-FFF2-40B4-BE49-F238E27FC236}">
                <a16:creationId xmlns:a16="http://schemas.microsoft.com/office/drawing/2014/main" id="{F5B0AC34-01D6-4A05-9921-0ED5E546DA6A}"/>
              </a:ext>
            </a:extLst>
          </p:cNvPr>
          <p:cNvSpPr txBox="1">
            <a:spLocks noChangeArrowheads="1"/>
          </p:cNvSpPr>
          <p:nvPr userDrawn="1"/>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3A5BC498-A381-4C57-8153-ADBBADC39CE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22" name="מלבן 11">
            <a:extLst>
              <a:ext uri="{FF2B5EF4-FFF2-40B4-BE49-F238E27FC236}">
                <a16:creationId xmlns:a16="http://schemas.microsoft.com/office/drawing/2014/main" id="{8BB2842F-E825-48F6-B35E-198F490B6E84}"/>
              </a:ext>
            </a:extLst>
          </p:cNvPr>
          <p:cNvSpPr/>
          <p:nvPr userDrawn="1"/>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0960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vmlDrawing" Target="../drawings/vmlDrawing1.vml"/><Relationship Id="rId3" Type="http://schemas.openxmlformats.org/officeDocument/2006/relationships/slideLayout" Target="../slideLayouts/slideLayout31.xml"/><Relationship Id="rId7"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image" Target="../media/image3.emf"/><Relationship Id="rId5" Type="http://schemas.openxmlformats.org/officeDocument/2006/relationships/slideLayout" Target="../slideLayouts/slideLayout33.xml"/><Relationship Id="rId10" Type="http://schemas.openxmlformats.org/officeDocument/2006/relationships/oleObject" Target="../embeddings/oleObject1.bin"/><Relationship Id="rId4" Type="http://schemas.openxmlformats.org/officeDocument/2006/relationships/slideLayout" Target="../slideLayouts/slideLayout32.xml"/><Relationship Id="rId9" Type="http://schemas.openxmlformats.org/officeDocument/2006/relationships/tags" Target="../tags/tag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image" Target="../media/image7.png"/><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theme" Target="../theme/theme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theme" Target="../theme/theme5.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4CE5C9E-623F-45EB-AC7D-534F18A00758}" type="slidenum">
              <a:rPr lang="he-IL" smtClean="0"/>
              <a:t>‹#›</a:t>
            </a:fld>
            <a:endParaRPr lang="he-IL"/>
          </a:p>
        </p:txBody>
      </p:sp>
    </p:spTree>
    <p:extLst>
      <p:ext uri="{BB962C8B-B14F-4D97-AF65-F5344CB8AC3E}">
        <p14:creationId xmlns:p14="http://schemas.microsoft.com/office/powerpoint/2010/main" val="3775780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6"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8607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37" name="think-cell Slide" r:id="rId10" imgW="270" imgH="270" progId="TCLayout.ActiveDocument.1">
                  <p:embed/>
                </p:oleObj>
              </mc:Choice>
              <mc:Fallback>
                <p:oleObj name="think-cell Slide" r:id="rId10" imgW="270" imgH="270" progId="TCLayout.ActiveDocument.1">
                  <p:embed/>
                  <p:pic>
                    <p:nvPicPr>
                      <p:cNvPr id="4" name="Object 3" hidden="1"/>
                      <p:cNvPicPr/>
                      <p:nvPr/>
                    </p:nvPicPr>
                    <p:blipFill>
                      <a:blip r:embed="rId11"/>
                      <a:stretch>
                        <a:fillRect/>
                      </a:stretch>
                    </p:blipFill>
                    <p:spPr>
                      <a:xfrm>
                        <a:off x="2118" y="1589"/>
                        <a:ext cx="2116" cy="1587"/>
                      </a:xfrm>
                      <a:prstGeom prst="rect">
                        <a:avLst/>
                      </a:prstGeom>
                    </p:spPr>
                  </p:pic>
                </p:oleObj>
              </mc:Fallback>
            </mc:AlternateContent>
          </a:graphicData>
        </a:graphic>
      </p:graphicFrame>
    </p:spTree>
    <p:extLst>
      <p:ext uri="{BB962C8B-B14F-4D97-AF65-F5344CB8AC3E}">
        <p14:creationId xmlns:p14="http://schemas.microsoft.com/office/powerpoint/2010/main" val="46763361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Lst>
  <p:transition>
    <p:fade/>
  </p:transition>
  <p:txStyles>
    <p:titleStyle>
      <a:lvl1pPr algn="r" defTabSz="914400" rtl="1" eaLnBrk="1" latinLnBrk="0" hangingPunct="1">
        <a:spcBef>
          <a:spcPct val="0"/>
        </a:spcBef>
        <a:buNone/>
        <a:defRPr sz="2000" kern="1200">
          <a:solidFill>
            <a:schemeClr val="tx1"/>
          </a:solidFill>
          <a:latin typeface="+mj-lt"/>
          <a:ea typeface="+mj-ea"/>
          <a:cs typeface="+mj-cs"/>
        </a:defRPr>
      </a:lvl1pPr>
    </p:titleStyle>
    <p:bodyStyle>
      <a:lvl1pPr marL="0" indent="0" algn="r" defTabSz="914400" rtl="1"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r" defTabSz="914400" rtl="1"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r" defTabSz="914400" rtl="1"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r" defTabSz="914400" rtl="1"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r" defTabSz="798513" rtl="1"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r" defTabSz="914400" rtl="1"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78">
          <p15:clr>
            <a:srgbClr val="FBAE40"/>
          </p15:clr>
        </p15:guide>
        <p15:guide id="3" orient="horz" pos="3976">
          <p15:clr>
            <a:srgbClr val="F26B43"/>
          </p15:clr>
        </p15:guide>
        <p15:guide id="11" orient="horz" pos="236">
          <p15:clr>
            <a:srgbClr val="F26B43"/>
          </p15:clr>
        </p15:guide>
        <p15:guide id="21" orient="horz" pos="884">
          <p15:clr>
            <a:srgbClr val="9FCC3B"/>
          </p15:clr>
        </p15:guide>
        <p15:guide id="22" orient="horz" pos="779">
          <p15:clr>
            <a:srgbClr val="5ACBF0"/>
          </p15:clr>
        </p15:guide>
        <p15:guide id="23" orient="horz" pos="2160">
          <p15:clr>
            <a:srgbClr val="F26B43"/>
          </p15:clr>
        </p15:guide>
        <p15:guide id="24" pos="302">
          <p15:clr>
            <a:srgbClr val="F26B43"/>
          </p15:clr>
        </p15:guide>
        <p15:guide id="26" pos="3840">
          <p15:clr>
            <a:srgbClr val="F26B43"/>
          </p15:clr>
        </p15:guide>
        <p15:guide id="27" orient="horz" pos="482">
          <p15:clr>
            <a:srgbClr val="5ACBF0"/>
          </p15:clr>
        </p15:guide>
        <p15:guide id="28" pos="2071">
          <p15:clr>
            <a:srgbClr val="9FCC3B"/>
          </p15:clr>
        </p15:guide>
        <p15:guide id="29" pos="5609">
          <p15:clr>
            <a:srgbClr val="9FCC3B"/>
          </p15:clr>
        </p15:guide>
        <p15:guide id="30" pos="4723">
          <p15:clr>
            <a:srgbClr val="9FCC3B"/>
          </p15:clr>
        </p15:guide>
        <p15:guide id="31" orient="horz" pos="1488">
          <p15:clr>
            <a:srgbClr val="9FCC3B"/>
          </p15:clr>
        </p15:guide>
        <p15:guide id="32" pos="6493">
          <p15:clr>
            <a:srgbClr val="9FCC3B"/>
          </p15:clr>
        </p15:guide>
        <p15:guide id="33" pos="2955">
          <p15:clr>
            <a:srgbClr val="9FCC3B"/>
          </p15:clr>
        </p15:guide>
        <p15:guide id="34" pos="1186">
          <p15:clr>
            <a:srgbClr val="9FCC3B"/>
          </p15:clr>
        </p15:guide>
        <p15:guide id="35" orient="horz" pos="2832">
          <p15:clr>
            <a:srgbClr val="9FCC3B"/>
          </p15:clr>
        </p15:guide>
        <p15:guide id="36" orient="horz" pos="3498">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07/21/2024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pic>
        <p:nvPicPr>
          <p:cNvPr id="7" name="Picture 3" descr="קובץ:Ministry of Labor, Social Affairs and Social Services ...">
            <a:extLst>
              <a:ext uri="{FF2B5EF4-FFF2-40B4-BE49-F238E27FC236}">
                <a16:creationId xmlns:a16="http://schemas.microsoft.com/office/drawing/2014/main" id="{96AE7613-76B4-4A78-87B0-D9597FF1FA9F}"/>
              </a:ext>
            </a:extLst>
          </p:cNvPr>
          <p:cNvPicPr>
            <a:picLocks noChangeAspect="1" noChangeArrowheads="1"/>
          </p:cNvPicPr>
          <p:nvPr userDrawn="1"/>
        </p:nvPicPr>
        <p:blipFill>
          <a:blip r:embed="rId20"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72398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14"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7595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36454"/>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032758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Lst>
  <p:txStyles>
    <p:titleStyle>
      <a:lvl1pPr algn="r" defTabSz="914400" rtl="1" eaLnBrk="1" latinLnBrk="0" hangingPunct="1">
        <a:lnSpc>
          <a:spcPct val="90000"/>
        </a:lnSpc>
        <a:spcBef>
          <a:spcPct val="0"/>
        </a:spcBef>
        <a:buNone/>
        <a:defRPr sz="4000" b="1" kern="1200">
          <a:solidFill>
            <a:srgbClr val="AA0171"/>
          </a:solidFill>
          <a:latin typeface="Calibri" panose="020F0502020204030204" pitchFamily="34" charset="0"/>
          <a:ea typeface="+mj-ea"/>
          <a:cs typeface="Calibri" panose="020F0502020204030204" pitchFamily="34" charset="0"/>
        </a:defRPr>
      </a:lvl1pPr>
    </p:titleStyle>
    <p:bodyStyle>
      <a:lvl1pPr marL="228600" indent="-228600" algn="r" defTabSz="914400" rtl="1" eaLnBrk="1" latinLnBrk="0" hangingPunct="1">
        <a:lnSpc>
          <a:spcPct val="90000"/>
        </a:lnSpc>
        <a:spcBef>
          <a:spcPts val="1000"/>
        </a:spcBef>
        <a:buClr>
          <a:srgbClr val="AA0171"/>
        </a:buClr>
        <a:buSzPct val="110000"/>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4.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4.xml"/><Relationship Id="rId5" Type="http://schemas.openxmlformats.org/officeDocument/2006/relationships/image" Target="../media/image36.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4.xml"/><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34.xml"/><Relationship Id="rId5" Type="http://schemas.openxmlformats.org/officeDocument/2006/relationships/image" Target="../media/image49.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31.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31.xml"/><Relationship Id="rId5" Type="http://schemas.microsoft.com/office/2007/relationships/hdphoto" Target="../media/hdphoto1.wdp"/><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31.xml"/><Relationship Id="rId5" Type="http://schemas.microsoft.com/office/2007/relationships/hdphoto" Target="../media/hdphoto1.wdp"/><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57.png"/><Relationship Id="rId1" Type="http://schemas.openxmlformats.org/officeDocument/2006/relationships/slideLayout" Target="../slideLayouts/slideLayout31.xml"/><Relationship Id="rId6" Type="http://schemas.openxmlformats.org/officeDocument/2006/relationships/image" Target="../media/image59.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61.png"/><Relationship Id="rId4" Type="http://schemas.openxmlformats.org/officeDocument/2006/relationships/image" Target="../media/image58.png"/><Relationship Id="rId9" Type="http://schemas.openxmlformats.org/officeDocument/2006/relationships/image" Target="../media/image19.svg"/></Relationships>
</file>

<file path=ppt/slides/_rels/slide35.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image" Target="../media/image17.png"/><Relationship Id="rId7" Type="http://schemas.openxmlformats.org/officeDocument/2006/relationships/image" Target="../media/image66.png"/><Relationship Id="rId2" Type="http://schemas.openxmlformats.org/officeDocument/2006/relationships/image" Target="../media/image63.png"/><Relationship Id="rId1" Type="http://schemas.openxmlformats.org/officeDocument/2006/relationships/slideLayout" Target="../slideLayouts/slideLayout16.xml"/><Relationship Id="rId6" Type="http://schemas.microsoft.com/office/2007/relationships/hdphoto" Target="../media/hdphoto2.wdp"/><Relationship Id="rId5" Type="http://schemas.openxmlformats.org/officeDocument/2006/relationships/image" Target="../media/image65.png"/><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109.svg"/></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www.youtube.com/watch?v=Du_W5RyMB88&amp;list=PLHeuL9rNsYhefeh4m2e8DGjtrKIPh0Igo&amp;index=5" TargetMode="External"/><Relationship Id="rId1" Type="http://schemas.openxmlformats.org/officeDocument/2006/relationships/slideLayout" Target="../slideLayouts/slideLayout23.xml"/><Relationship Id="rId4" Type="http://schemas.openxmlformats.org/officeDocument/2006/relationships/image" Target="../media/image71.png"/></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3.xml"/><Relationship Id="rId1" Type="http://schemas.openxmlformats.org/officeDocument/2006/relationships/slideLayout" Target="../slideLayouts/slideLayout22.xml"/><Relationship Id="rId5" Type="http://schemas.openxmlformats.org/officeDocument/2006/relationships/image" Target="../media/image73.png"/><Relationship Id="rId4" Type="http://schemas.openxmlformats.org/officeDocument/2006/relationships/image" Target="../media/image20.svg"/></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4.xml"/><Relationship Id="rId1" Type="http://schemas.openxmlformats.org/officeDocument/2006/relationships/slideLayout" Target="../slideLayouts/slideLayout22.xml"/><Relationship Id="rId5" Type="http://schemas.openxmlformats.org/officeDocument/2006/relationships/image" Target="../media/image74.jpeg"/><Relationship Id="rId4" Type="http://schemas.openxmlformats.org/officeDocument/2006/relationships/image" Target="../media/image20.svg"/></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5.xml"/><Relationship Id="rId1" Type="http://schemas.openxmlformats.org/officeDocument/2006/relationships/slideLayout" Target="../slideLayouts/slideLayout22.xml"/><Relationship Id="rId4" Type="http://schemas.openxmlformats.org/officeDocument/2006/relationships/image" Target="../media/image20.svg"/></Relationships>
</file>

<file path=ppt/slides/_rels/slide4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75.png"/><Relationship Id="rId7" Type="http://schemas.openxmlformats.org/officeDocument/2006/relationships/image" Target="../media/image77.png"/><Relationship Id="rId2" Type="http://schemas.openxmlformats.org/officeDocument/2006/relationships/notesSlide" Target="../notesSlides/notesSlide16.xml"/><Relationship Id="rId1" Type="http://schemas.openxmlformats.org/officeDocument/2006/relationships/slideLayout" Target="../slideLayouts/slideLayout22.xml"/><Relationship Id="rId6" Type="http://schemas.openxmlformats.org/officeDocument/2006/relationships/image" Target="../media/image8.svg"/><Relationship Id="rId5" Type="http://schemas.openxmlformats.org/officeDocument/2006/relationships/image" Target="../media/image76.png"/><Relationship Id="rId4" Type="http://schemas.openxmlformats.org/officeDocument/2006/relationships/image" Target="../media/image6.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diagramLayout" Target="../diagrams/layout1.xml"/><Relationship Id="rId7" Type="http://schemas.openxmlformats.org/officeDocument/2006/relationships/image" Target="../media/image78.png"/><Relationship Id="rId2" Type="http://schemas.openxmlformats.org/officeDocument/2006/relationships/diagramData" Target="../diagrams/data1.xml"/><Relationship Id="rId1" Type="http://schemas.openxmlformats.org/officeDocument/2006/relationships/slideLayout" Target="../slideLayouts/slideLayout1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9.png"/><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60.svg"/><Relationship Id="rId5" Type="http://schemas.openxmlformats.org/officeDocument/2006/relationships/image" Target="../media/image67.png"/><Relationship Id="rId4" Type="http://schemas.openxmlformats.org/officeDocument/2006/relationships/image" Target="../media/image81.png"/></Relationships>
</file>

<file path=ppt/slides/_rels/slide4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7B0AC7-AE8A-4E31-9768-AEC781293DB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6527" y="0"/>
            <a:ext cx="13961727" cy="6858000"/>
          </a:xfrm>
          <a:prstGeom prst="rect">
            <a:avLst/>
          </a:prstGeom>
        </p:spPr>
      </p:pic>
      <p:sp>
        <p:nvSpPr>
          <p:cNvPr id="3" name="TextBox 2"/>
          <p:cNvSpPr txBox="1"/>
          <p:nvPr/>
        </p:nvSpPr>
        <p:spPr>
          <a:xfrm>
            <a:off x="13886" y="2459504"/>
            <a:ext cx="6082114" cy="193899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דיגיטל עד 120</a:t>
            </a:r>
            <a:r>
              <a:rPr kumimoji="0" lang="en-US" sz="36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
            </a:r>
            <a:br>
              <a:rPr kumimoji="0" lang="en-US" sz="36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br>
            <a:r>
              <a:rPr kumimoji="0" lang="he-IL" sz="3600" b="0"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מהלך הדיגיטל להזדקנות מיטבית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0"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בונים יחד את המחר של כולנו</a:t>
            </a:r>
          </a:p>
        </p:txBody>
      </p:sp>
    </p:spTree>
    <p:extLst>
      <p:ext uri="{BB962C8B-B14F-4D97-AF65-F5344CB8AC3E}">
        <p14:creationId xmlns:p14="http://schemas.microsoft.com/office/powerpoint/2010/main" val="31776241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dirty="0" smtClean="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אסטרטגיה מבוססת נתונים – מנהל אזרחים ותיקים</a:t>
            </a:r>
            <a:endParaRPr kumimoji="0" lang="en-US" sz="2800" b="0" i="0" u="none" strike="noStrike" kern="1200" cap="none" spc="-75" normalizeH="0" baseline="0" noProof="0" dirty="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grpSp>
        <p:nvGrpSpPr>
          <p:cNvPr id="37" name="קבוצה 36">
            <a:extLst>
              <a:ext uri="{FF2B5EF4-FFF2-40B4-BE49-F238E27FC236}">
                <a16:creationId xmlns:a16="http://schemas.microsoft.com/office/drawing/2014/main" id="{38A70C6C-1988-74D6-1B93-D9AF27354C20}"/>
              </a:ext>
            </a:extLst>
          </p:cNvPr>
          <p:cNvGrpSpPr/>
          <p:nvPr/>
        </p:nvGrpSpPr>
        <p:grpSpPr>
          <a:xfrm>
            <a:off x="9246400" y="1672163"/>
            <a:ext cx="2560320" cy="3822192"/>
            <a:chOff x="9047225" y="1672163"/>
            <a:chExt cx="2560320" cy="3822192"/>
          </a:xfrm>
        </p:grpSpPr>
        <p:sp>
          <p:nvSpPr>
            <p:cNvPr id="20" name="Rectangle: Rounded Corners 2">
              <a:extLst>
                <a:ext uri="{FF2B5EF4-FFF2-40B4-BE49-F238E27FC236}">
                  <a16:creationId xmlns:a16="http://schemas.microsoft.com/office/drawing/2014/main" id="{E67EDF60-AB2C-5B1C-208C-C57FA8184E2F}"/>
                </a:ext>
              </a:extLst>
            </p:cNvPr>
            <p:cNvSpPr/>
            <p:nvPr/>
          </p:nvSpPr>
          <p:spPr bwMode="gray">
            <a:xfrm>
              <a:off x="9047225"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0" name="תיבת טקסט 9">
              <a:extLst>
                <a:ext uri="{FF2B5EF4-FFF2-40B4-BE49-F238E27FC236}">
                  <a16:creationId xmlns:a16="http://schemas.microsoft.com/office/drawing/2014/main" id="{E22A8397-E7E2-25D4-25AE-2B6F81328A06}"/>
                </a:ext>
              </a:extLst>
            </p:cNvPr>
            <p:cNvSpPr txBox="1"/>
            <p:nvPr/>
          </p:nvSpPr>
          <p:spPr>
            <a:xfrm>
              <a:off x="9281700" y="2591233"/>
              <a:ext cx="2228850" cy="1754326"/>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lang="he-IL" sz="1400" dirty="0" smtClean="0">
                  <a:solidFill>
                    <a:srgbClr val="313131"/>
                  </a:solidFill>
                  <a:latin typeface="Segoe UI" panose="020B0502040204020203" pitchFamily="34" charset="0"/>
                  <a:cs typeface="Segoe UI" panose="020B0502040204020203" pitchFamily="34" charset="0"/>
                </a:rPr>
                <a:t>מידע </a:t>
              </a:r>
              <a:r>
                <a:rPr lang="he-IL" sz="1400" dirty="0" smtClean="0">
                  <a:solidFill>
                    <a:srgbClr val="313131"/>
                  </a:solidFill>
                  <a:latin typeface="Segoe UI" panose="020B0502040204020203" pitchFamily="34" charset="0"/>
                  <a:cs typeface="Segoe UI" panose="020B0502040204020203" pitchFamily="34" charset="0"/>
                </a:rPr>
                <a:t>מקיף לטובת תמונת מצב לאומית לאתגרי הזדקנות האוכלוסייה</a:t>
              </a: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הבנה של הפערים</a:t>
              </a:r>
              <a:r>
                <a:rPr kumimoji="0" lang="he-IL" sz="1400" b="0" i="0" u="none" strike="noStrike" kern="1200" cap="none" spc="0" normalizeH="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 לטובת שיפור </a:t>
              </a:r>
              <a:r>
                <a:rPr kumimoji="0" lang="he-IL" sz="1400" b="0" i="0" u="none" strike="noStrike" kern="1200" cap="none" spc="0" normalizeH="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השירותים והתאמתם </a:t>
              </a: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פיתוח ויישום מדידה</a:t>
              </a: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p:txBody>
        </p:sp>
        <p:sp>
          <p:nvSpPr>
            <p:cNvPr id="13" name="תיבת טקסט 12">
              <a:extLst>
                <a:ext uri="{FF2B5EF4-FFF2-40B4-BE49-F238E27FC236}">
                  <a16:creationId xmlns:a16="http://schemas.microsoft.com/office/drawing/2014/main" id="{B5D92938-C4B6-C3F1-7F0E-AD31F60FE5DB}"/>
                </a:ext>
              </a:extLst>
            </p:cNvPr>
            <p:cNvSpPr txBox="1"/>
            <p:nvPr/>
          </p:nvSpPr>
          <p:spPr>
            <a:xfrm>
              <a:off x="9047225" y="1953230"/>
              <a:ext cx="2560320"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he-IL" sz="1600" b="1" i="0" u="none" strike="noStrike" kern="1200" cap="none" spc="0" normalizeH="0" baseline="0" noProof="0" dirty="0" smtClean="0">
                  <a:ln>
                    <a:noFill/>
                  </a:ln>
                  <a:solidFill>
                    <a:srgbClr val="3E8F80"/>
                  </a:solidFill>
                  <a:effectLst/>
                  <a:uLnTx/>
                  <a:uFillTx/>
                  <a:latin typeface="Segoe UI" panose="020B0502040204020203" pitchFamily="34" charset="0"/>
                  <a:ea typeface="+mn-ea"/>
                  <a:cs typeface="Segoe UI" panose="020B0502040204020203" pitchFamily="34" charset="0"/>
                </a:rPr>
                <a:t>מטרות</a:t>
              </a:r>
              <a:r>
                <a:rPr kumimoji="0" lang="he-IL" sz="1600" b="1" i="0" u="none" strike="noStrike" kern="1200" cap="none" spc="0" normalizeH="0" noProof="0" dirty="0" smtClean="0">
                  <a:ln>
                    <a:noFill/>
                  </a:ln>
                  <a:solidFill>
                    <a:srgbClr val="3E8F80"/>
                  </a:solidFill>
                  <a:effectLst/>
                  <a:uLnTx/>
                  <a:uFillTx/>
                  <a:latin typeface="Segoe UI" panose="020B0502040204020203" pitchFamily="34" charset="0"/>
                  <a:ea typeface="+mn-ea"/>
                  <a:cs typeface="Segoe UI" panose="020B0502040204020203" pitchFamily="34" charset="0"/>
                </a:rPr>
                <a:t> ו</a:t>
              </a:r>
              <a:r>
                <a:rPr kumimoji="0" lang="he-IL" sz="1600" b="1" i="0" u="none" strike="noStrike" kern="1200" cap="none" spc="0" normalizeH="0" baseline="0" noProof="0" dirty="0" smtClean="0">
                  <a:ln>
                    <a:noFill/>
                  </a:ln>
                  <a:solidFill>
                    <a:srgbClr val="3E8F80"/>
                  </a:solidFill>
                  <a:effectLst/>
                  <a:uLnTx/>
                  <a:uFillTx/>
                  <a:latin typeface="Segoe UI" panose="020B0502040204020203" pitchFamily="34" charset="0"/>
                  <a:ea typeface="+mn-ea"/>
                  <a:cs typeface="Segoe UI" panose="020B0502040204020203" pitchFamily="34" charset="0"/>
                </a:rPr>
                <a:t>יעדים</a:t>
              </a:r>
              <a:endParaRPr kumimoji="0" lang="en-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cxnSp>
          <p:nvCxnSpPr>
            <p:cNvPr id="15" name="מחבר ישר 14">
              <a:extLst>
                <a:ext uri="{FF2B5EF4-FFF2-40B4-BE49-F238E27FC236}">
                  <a16:creationId xmlns:a16="http://schemas.microsoft.com/office/drawing/2014/main" id="{8DFD78FF-51AF-76FE-2D8E-D4A46E7E39D6}"/>
                </a:ext>
              </a:extLst>
            </p:cNvPr>
            <p:cNvCxnSpPr/>
            <p:nvPr/>
          </p:nvCxnSpPr>
          <p:spPr>
            <a:xfrm>
              <a:off x="9814276" y="3282741"/>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0AF13A57-5853-90DB-FF94-B95A36C5D589}"/>
                </a:ext>
              </a:extLst>
            </p:cNvPr>
            <p:cNvCxnSpPr/>
            <p:nvPr/>
          </p:nvCxnSpPr>
          <p:spPr>
            <a:xfrm>
              <a:off x="9814276" y="3975332"/>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 name="Group 65">
              <a:extLst>
                <a:ext uri="{FF2B5EF4-FFF2-40B4-BE49-F238E27FC236}">
                  <a16:creationId xmlns:a16="http://schemas.microsoft.com/office/drawing/2014/main" id="{42B9834F-3ABB-DECD-EDB6-0504719E3885}"/>
                </a:ext>
              </a:extLst>
            </p:cNvPr>
            <p:cNvGrpSpPr>
              <a:grpSpLocks noChangeAspect="1"/>
            </p:cNvGrpSpPr>
            <p:nvPr/>
          </p:nvGrpSpPr>
          <p:grpSpPr>
            <a:xfrm>
              <a:off x="10257499" y="4874905"/>
              <a:ext cx="277253" cy="454329"/>
              <a:chOff x="8146512" y="3656719"/>
              <a:chExt cx="482495" cy="790654"/>
            </a:xfrm>
            <a:gradFill>
              <a:gsLst>
                <a:gs pos="22000">
                  <a:schemeClr val="accent1"/>
                </a:gs>
                <a:gs pos="75000">
                  <a:schemeClr val="accent4"/>
                </a:gs>
                <a:gs pos="100000">
                  <a:schemeClr val="accent5"/>
                </a:gs>
              </a:gsLst>
              <a:lin ang="8100000" scaled="0"/>
            </a:gradFill>
          </p:grpSpPr>
          <p:sp>
            <p:nvSpPr>
              <p:cNvPr id="4" name="Free-form: Shape 63">
                <a:extLst>
                  <a:ext uri="{FF2B5EF4-FFF2-40B4-BE49-F238E27FC236}">
                    <a16:creationId xmlns:a16="http://schemas.microsoft.com/office/drawing/2014/main" id="{DEAD3A7F-71E3-AF49-3FCC-5B09584FEC8A}"/>
                  </a:ext>
                </a:extLst>
              </p:cNvPr>
              <p:cNvSpPr/>
              <p:nvPr/>
            </p:nvSpPr>
            <p:spPr>
              <a:xfrm>
                <a:off x="8181331" y="3656719"/>
                <a:ext cx="257201" cy="235507"/>
              </a:xfrm>
              <a:custGeom>
                <a:avLst/>
                <a:gdLst>
                  <a:gd name="connsiteX0" fmla="*/ 57147 w 257201"/>
                  <a:gd name="connsiteY0" fmla="*/ 235508 h 235507"/>
                  <a:gd name="connsiteX1" fmla="*/ 57147 w 257201"/>
                  <a:gd name="connsiteY1" fmla="*/ 183997 h 235507"/>
                  <a:gd name="connsiteX2" fmla="*/ 73030 w 257201"/>
                  <a:gd name="connsiteY2" fmla="*/ 57018 h 235507"/>
                  <a:gd name="connsiteX3" fmla="*/ 200010 w 257201"/>
                  <a:gd name="connsiteY3" fmla="*/ 72901 h 235507"/>
                  <a:gd name="connsiteX4" fmla="*/ 200479 w 257201"/>
                  <a:gd name="connsiteY4" fmla="*/ 183387 h 235507"/>
                  <a:gd name="connsiteX5" fmla="*/ 200479 w 257201"/>
                  <a:gd name="connsiteY5" fmla="*/ 235222 h 235507"/>
                  <a:gd name="connsiteX6" fmla="*/ 235222 w 257201"/>
                  <a:gd name="connsiteY6" fmla="*/ 56722 h 235507"/>
                  <a:gd name="connsiteX7" fmla="*/ 56721 w 257201"/>
                  <a:gd name="connsiteY7" fmla="*/ 21979 h 235507"/>
                  <a:gd name="connsiteX8" fmla="*/ 21979 w 257201"/>
                  <a:gd name="connsiteY8" fmla="*/ 200480 h 235507"/>
                  <a:gd name="connsiteX9" fmla="*/ 57147 w 257201"/>
                  <a:gd name="connsiteY9" fmla="*/ 235508 h 2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01" h="235507">
                    <a:moveTo>
                      <a:pt x="57147" y="235508"/>
                    </a:moveTo>
                    <a:lnTo>
                      <a:pt x="57147" y="183997"/>
                    </a:lnTo>
                    <a:cubicBezTo>
                      <a:pt x="26469" y="144546"/>
                      <a:pt x="33580" y="87696"/>
                      <a:pt x="73030" y="57018"/>
                    </a:cubicBezTo>
                    <a:cubicBezTo>
                      <a:pt x="112481" y="26339"/>
                      <a:pt x="169331" y="33450"/>
                      <a:pt x="200010" y="72901"/>
                    </a:cubicBezTo>
                    <a:cubicBezTo>
                      <a:pt x="225242" y="105348"/>
                      <a:pt x="225435" y="150726"/>
                      <a:pt x="200479" y="183387"/>
                    </a:cubicBezTo>
                    <a:lnTo>
                      <a:pt x="200479" y="235222"/>
                    </a:lnTo>
                    <a:cubicBezTo>
                      <a:pt x="259365" y="195525"/>
                      <a:pt x="274920" y="115607"/>
                      <a:pt x="235222" y="56722"/>
                    </a:cubicBezTo>
                    <a:cubicBezTo>
                      <a:pt x="195524" y="-2164"/>
                      <a:pt x="115607" y="-17719"/>
                      <a:pt x="56721" y="21979"/>
                    </a:cubicBezTo>
                    <a:cubicBezTo>
                      <a:pt x="-2164" y="61677"/>
                      <a:pt x="-17718" y="141594"/>
                      <a:pt x="21979" y="200480"/>
                    </a:cubicBezTo>
                    <a:cubicBezTo>
                      <a:pt x="31315" y="214329"/>
                      <a:pt x="43261" y="226227"/>
                      <a:pt x="57147" y="2355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Free-form: Shape 64">
                <a:extLst>
                  <a:ext uri="{FF2B5EF4-FFF2-40B4-BE49-F238E27FC236}">
                    <a16:creationId xmlns:a16="http://schemas.microsoft.com/office/drawing/2014/main" id="{A8183644-A2BC-6493-624E-C1D5F6A888D5}"/>
                  </a:ext>
                </a:extLst>
              </p:cNvPr>
              <p:cNvSpPr/>
              <p:nvPr/>
            </p:nvSpPr>
            <p:spPr>
              <a:xfrm>
                <a:off x="8146512" y="3742523"/>
                <a:ext cx="482495" cy="704850"/>
              </a:xfrm>
              <a:custGeom>
                <a:avLst/>
                <a:gdLst>
                  <a:gd name="connsiteX0" fmla="*/ 120545 w 482495"/>
                  <a:gd name="connsiteY0" fmla="*/ 43091 h 704850"/>
                  <a:gd name="connsiteX1" fmla="*/ 120545 w 482495"/>
                  <a:gd name="connsiteY1" fmla="*/ 449723 h 704850"/>
                  <a:gd name="connsiteX2" fmla="*/ 120440 w 482495"/>
                  <a:gd name="connsiteY2" fmla="*/ 449723 h 704850"/>
                  <a:gd name="connsiteX3" fmla="*/ 85045 w 482495"/>
                  <a:gd name="connsiteY3" fmla="*/ 290513 h 704850"/>
                  <a:gd name="connsiteX4" fmla="*/ 33232 w 482495"/>
                  <a:gd name="connsiteY4" fmla="*/ 258433 h 704850"/>
                  <a:gd name="connsiteX5" fmla="*/ 921 w 482495"/>
                  <a:gd name="connsiteY5" fmla="*/ 309201 h 704850"/>
                  <a:gd name="connsiteX6" fmla="*/ 52632 w 482495"/>
                  <a:gd name="connsiteY6" fmla="*/ 541839 h 704850"/>
                  <a:gd name="connsiteX7" fmla="*/ 68424 w 482495"/>
                  <a:gd name="connsiteY7" fmla="*/ 566604 h 704850"/>
                  <a:gd name="connsiteX8" fmla="*/ 163674 w 482495"/>
                  <a:gd name="connsiteY8" fmla="*/ 639851 h 704850"/>
                  <a:gd name="connsiteX9" fmla="*/ 163674 w 482495"/>
                  <a:gd name="connsiteY9" fmla="*/ 704850 h 704850"/>
                  <a:gd name="connsiteX10" fmla="*/ 413553 w 482495"/>
                  <a:gd name="connsiteY10" fmla="*/ 704850 h 704850"/>
                  <a:gd name="connsiteX11" fmla="*/ 413553 w 482495"/>
                  <a:gd name="connsiteY11" fmla="*/ 661759 h 704850"/>
                  <a:gd name="connsiteX12" fmla="*/ 482495 w 482495"/>
                  <a:gd name="connsiteY12" fmla="*/ 480784 h 704850"/>
                  <a:gd name="connsiteX13" fmla="*/ 482495 w 482495"/>
                  <a:gd name="connsiteY13" fmla="*/ 325660 h 704850"/>
                  <a:gd name="connsiteX14" fmla="*/ 430903 w 482495"/>
                  <a:gd name="connsiteY14" fmla="*/ 273963 h 704850"/>
                  <a:gd name="connsiteX15" fmla="*/ 396075 w 482495"/>
                  <a:gd name="connsiteY15" fmla="*/ 287426 h 704850"/>
                  <a:gd name="connsiteX16" fmla="*/ 396313 w 482495"/>
                  <a:gd name="connsiteY16" fmla="*/ 282578 h 704850"/>
                  <a:gd name="connsiteX17" fmla="*/ 344672 w 482495"/>
                  <a:gd name="connsiteY17" fmla="*/ 230873 h 704850"/>
                  <a:gd name="connsiteX18" fmla="*/ 308826 w 482495"/>
                  <a:gd name="connsiteY18" fmla="*/ 245297 h 704850"/>
                  <a:gd name="connsiteX19" fmla="*/ 247037 w 482495"/>
                  <a:gd name="connsiteY19" fmla="*/ 206254 h 704850"/>
                  <a:gd name="connsiteX20" fmla="*/ 206727 w 482495"/>
                  <a:gd name="connsiteY20" fmla="*/ 256727 h 704850"/>
                  <a:gd name="connsiteX21" fmla="*/ 206727 w 482495"/>
                  <a:gd name="connsiteY21" fmla="*/ 43091 h 704850"/>
                  <a:gd name="connsiteX22" fmla="*/ 163636 w 482495"/>
                  <a:gd name="connsiteY22" fmla="*/ 0 h 704850"/>
                  <a:gd name="connsiteX23" fmla="*/ 120545 w 482495"/>
                  <a:gd name="connsiteY23" fmla="*/ 43091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495" h="704850">
                    <a:moveTo>
                      <a:pt x="120545" y="43091"/>
                    </a:moveTo>
                    <a:lnTo>
                      <a:pt x="120545" y="449723"/>
                    </a:lnTo>
                    <a:lnTo>
                      <a:pt x="120440" y="449723"/>
                    </a:lnTo>
                    <a:lnTo>
                      <a:pt x="85045" y="290513"/>
                    </a:lnTo>
                    <a:cubicBezTo>
                      <a:pt x="79596" y="267346"/>
                      <a:pt x="56399" y="252984"/>
                      <a:pt x="33232" y="258433"/>
                    </a:cubicBezTo>
                    <a:cubicBezTo>
                      <a:pt x="10472" y="263786"/>
                      <a:pt x="-3866" y="286314"/>
                      <a:pt x="921" y="309201"/>
                    </a:cubicBezTo>
                    <a:lnTo>
                      <a:pt x="52632" y="541839"/>
                    </a:lnTo>
                    <a:cubicBezTo>
                      <a:pt x="54831" y="551690"/>
                      <a:pt x="60420" y="560455"/>
                      <a:pt x="68424" y="566604"/>
                    </a:cubicBezTo>
                    <a:lnTo>
                      <a:pt x="163674" y="639851"/>
                    </a:lnTo>
                    <a:lnTo>
                      <a:pt x="163674" y="704850"/>
                    </a:lnTo>
                    <a:lnTo>
                      <a:pt x="413553" y="704850"/>
                    </a:lnTo>
                    <a:lnTo>
                      <a:pt x="413553" y="661759"/>
                    </a:lnTo>
                    <a:cubicBezTo>
                      <a:pt x="413553" y="600713"/>
                      <a:pt x="482495" y="596036"/>
                      <a:pt x="482495" y="480784"/>
                    </a:cubicBezTo>
                    <a:lnTo>
                      <a:pt x="482495" y="325660"/>
                    </a:lnTo>
                    <a:cubicBezTo>
                      <a:pt x="482524" y="297137"/>
                      <a:pt x="459426" y="273991"/>
                      <a:pt x="430903" y="273963"/>
                    </a:cubicBezTo>
                    <a:cubicBezTo>
                      <a:pt x="418020" y="273950"/>
                      <a:pt x="405599" y="278752"/>
                      <a:pt x="396075" y="287426"/>
                    </a:cubicBezTo>
                    <a:cubicBezTo>
                      <a:pt x="396218" y="285826"/>
                      <a:pt x="396313" y="284216"/>
                      <a:pt x="396313" y="282578"/>
                    </a:cubicBezTo>
                    <a:cubicBezTo>
                      <a:pt x="396331" y="254040"/>
                      <a:pt x="373210" y="230891"/>
                      <a:pt x="344672" y="230873"/>
                    </a:cubicBezTo>
                    <a:cubicBezTo>
                      <a:pt x="331308" y="230865"/>
                      <a:pt x="318459" y="236034"/>
                      <a:pt x="308826" y="245297"/>
                    </a:cubicBezTo>
                    <a:cubicBezTo>
                      <a:pt x="302545" y="217454"/>
                      <a:pt x="274882" y="199974"/>
                      <a:pt x="247037" y="206254"/>
                    </a:cubicBezTo>
                    <a:cubicBezTo>
                      <a:pt x="223446" y="211576"/>
                      <a:pt x="206701" y="232544"/>
                      <a:pt x="206727" y="256727"/>
                    </a:cubicBezTo>
                    <a:lnTo>
                      <a:pt x="206727" y="43091"/>
                    </a:lnTo>
                    <a:cubicBezTo>
                      <a:pt x="206727" y="19293"/>
                      <a:pt x="187434" y="0"/>
                      <a:pt x="163636" y="0"/>
                    </a:cubicBezTo>
                    <a:cubicBezTo>
                      <a:pt x="139838" y="0"/>
                      <a:pt x="120545" y="19293"/>
                      <a:pt x="120545" y="430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nvGrpSpPr>
          <p:cNvPr id="40" name="קבוצה 39">
            <a:extLst>
              <a:ext uri="{FF2B5EF4-FFF2-40B4-BE49-F238E27FC236}">
                <a16:creationId xmlns:a16="http://schemas.microsoft.com/office/drawing/2014/main" id="{870A36DE-5F99-6B00-2351-56F45D2455C3}"/>
              </a:ext>
            </a:extLst>
          </p:cNvPr>
          <p:cNvGrpSpPr/>
          <p:nvPr/>
        </p:nvGrpSpPr>
        <p:grpSpPr>
          <a:xfrm>
            <a:off x="424222" y="1672163"/>
            <a:ext cx="2560322" cy="3822192"/>
            <a:chOff x="876890" y="1672163"/>
            <a:chExt cx="2560322" cy="3822192"/>
          </a:xfrm>
        </p:grpSpPr>
        <p:sp>
          <p:nvSpPr>
            <p:cNvPr id="34" name="Rectangle: Rounded Corners 2">
              <a:extLst>
                <a:ext uri="{FF2B5EF4-FFF2-40B4-BE49-F238E27FC236}">
                  <a16:creationId xmlns:a16="http://schemas.microsoft.com/office/drawing/2014/main" id="{6C612BA1-2DB0-BB53-25FD-A106A0649EDB}"/>
                </a:ext>
              </a:extLst>
            </p:cNvPr>
            <p:cNvSpPr/>
            <p:nvPr/>
          </p:nvSpPr>
          <p:spPr bwMode="gray">
            <a:xfrm>
              <a:off x="876891"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36" name="תיבת טקסט 35">
              <a:extLst>
                <a:ext uri="{FF2B5EF4-FFF2-40B4-BE49-F238E27FC236}">
                  <a16:creationId xmlns:a16="http://schemas.microsoft.com/office/drawing/2014/main" id="{230ADFE3-A64E-1F42-9BF2-E9516568A499}"/>
                </a:ext>
              </a:extLst>
            </p:cNvPr>
            <p:cNvSpPr txBox="1"/>
            <p:nvPr/>
          </p:nvSpPr>
          <p:spPr>
            <a:xfrm>
              <a:off x="876890" y="1925086"/>
              <a:ext cx="2560322" cy="327013"/>
            </a:xfrm>
            <a:prstGeom prst="rect">
              <a:avLst/>
            </a:prstGeom>
            <a:noFill/>
          </p:spPr>
          <p:txBody>
            <a:bodyPr wrap="square">
              <a:spAutoFit/>
            </a:bodyPr>
            <a:lstStyle/>
            <a:p>
              <a:pPr marL="0" marR="0" lvl="0" indent="0" algn="ctr" defTabSz="914400" rtl="1" eaLnBrk="1" fontAlgn="auto" latinLnBrk="0" hangingPunct="1">
                <a:lnSpc>
                  <a:spcPct val="106000"/>
                </a:lnSpc>
                <a:spcBef>
                  <a:spcPts val="0"/>
                </a:spcBef>
                <a:spcAft>
                  <a:spcPts val="0"/>
                </a:spcAft>
                <a:buClrTx/>
                <a:buSzTx/>
                <a:buFont typeface="Wingdings 2" pitchFamily="18" charset="2"/>
                <a:buNone/>
                <a:tabLst/>
                <a:defRPr/>
              </a:pPr>
              <a:r>
                <a:rPr kumimoji="0" lang="he-IL" sz="1550" b="1" i="0" u="none" strike="noStrike" kern="1200" cap="none" spc="0" normalizeH="0" baseline="0" noProof="0" dirty="0" smtClean="0">
                  <a:ln>
                    <a:noFill/>
                  </a:ln>
                  <a:solidFill>
                    <a:srgbClr val="3E8F80"/>
                  </a:solidFill>
                  <a:effectLst/>
                  <a:uLnTx/>
                  <a:uFillTx/>
                  <a:latin typeface="Segoe UI" panose="020B0502040204020203" pitchFamily="34" charset="0"/>
                  <a:ea typeface="+mn-ea"/>
                  <a:cs typeface="Segoe UI" panose="020B0502040204020203" pitchFamily="34" charset="0"/>
                </a:rPr>
                <a:t>הישגים</a:t>
              </a:r>
              <a:endParaRPr kumimoji="0" lang="en-IL"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9" name="תיבת טקסט 18">
              <a:extLst>
                <a:ext uri="{FF2B5EF4-FFF2-40B4-BE49-F238E27FC236}">
                  <a16:creationId xmlns:a16="http://schemas.microsoft.com/office/drawing/2014/main" id="{E89096E9-CE99-DEB7-EE54-CDEAF4DFBAB0}"/>
                </a:ext>
              </a:extLst>
            </p:cNvPr>
            <p:cNvSpPr txBox="1"/>
            <p:nvPr/>
          </p:nvSpPr>
          <p:spPr>
            <a:xfrm>
              <a:off x="926604" y="2247939"/>
              <a:ext cx="2384607" cy="2600712"/>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lang="he-IL" sz="1400" dirty="0" smtClean="0">
                  <a:solidFill>
                    <a:srgbClr val="313131"/>
                  </a:solidFill>
                  <a:latin typeface="Segoe UI" panose="020B0502040204020203" pitchFamily="34" charset="0"/>
                  <a:cs typeface="Segoe UI" panose="020B0502040204020203" pitchFamily="34" charset="0"/>
                </a:rPr>
                <a:t>תכנון </a:t>
              </a:r>
              <a:r>
                <a:rPr lang="he-IL" sz="1400" dirty="0" err="1" smtClean="0">
                  <a:solidFill>
                    <a:srgbClr val="313131"/>
                  </a:solidFill>
                  <a:latin typeface="Segoe UI" panose="020B0502040204020203" pitchFamily="34" charset="0"/>
                  <a:cs typeface="Segoe UI" panose="020B0502040204020203" pitchFamily="34" charset="0"/>
                </a:rPr>
                <a:t>וישום</a:t>
              </a:r>
              <a:r>
                <a:rPr lang="he-IL" sz="1400" dirty="0" smtClean="0">
                  <a:solidFill>
                    <a:srgbClr val="313131"/>
                  </a:solidFill>
                  <a:latin typeface="Segoe UI" panose="020B0502040204020203" pitchFamily="34" charset="0"/>
                  <a:cs typeface="Segoe UI" panose="020B0502040204020203" pitchFamily="34" charset="0"/>
                </a:rPr>
                <a:t> רפורמת ביזור תקציב, תכנון ודאטה לרשויות </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lang="he-IL" sz="1400" dirty="0" smtClean="0">
                  <a:solidFill>
                    <a:srgbClr val="313131"/>
                  </a:solidFill>
                  <a:latin typeface="Segoe UI" panose="020B0502040204020203" pitchFamily="34" charset="0"/>
                  <a:cs typeface="Segoe UI" panose="020B0502040204020203" pitchFamily="34" charset="0"/>
                </a:rPr>
                <a:t>פורום ברק להיערכות המדינה להזדקנות </a:t>
              </a:r>
              <a:r>
                <a:rPr lang="he-IL" sz="1400" dirty="0" err="1" smtClean="0">
                  <a:solidFill>
                    <a:srgbClr val="313131"/>
                  </a:solidFill>
                  <a:latin typeface="Segoe UI" panose="020B0502040204020203" pitchFamily="34" charset="0"/>
                  <a:cs typeface="Segoe UI" panose="020B0502040204020203" pitchFamily="34" charset="0"/>
                </a:rPr>
                <a:t>האוכלוסיה</a:t>
              </a:r>
              <a:r>
                <a:rPr lang="he-IL" sz="1400" dirty="0" smtClean="0">
                  <a:solidFill>
                    <a:srgbClr val="313131"/>
                  </a:solidFill>
                  <a:latin typeface="Segoe UI" panose="020B0502040204020203" pitchFamily="34" charset="0"/>
                  <a:cs typeface="Segoe UI" panose="020B0502040204020203" pitchFamily="34" charset="0"/>
                </a:rPr>
                <a:t> ב3 צוותי פעולה </a:t>
              </a: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err="1" smtClean="0">
                  <a:ln>
                    <a:noFill/>
                  </a:ln>
                  <a:solidFill>
                    <a:srgbClr val="313131"/>
                  </a:solidFill>
                  <a:effectLst/>
                  <a:uLnTx/>
                  <a:uFillTx/>
                  <a:latin typeface="Segoe UI" panose="020B0502040204020203" pitchFamily="34" charset="0"/>
                  <a:ea typeface="+mn-ea"/>
                  <a:cs typeface="Segoe UI" panose="020B0502040204020203" pitchFamily="34" charset="0"/>
                </a:rPr>
                <a:t>דשבורדים</a:t>
              </a: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 </a:t>
              </a:r>
              <a:r>
                <a:rPr kumimoji="0" lang="he-IL" sz="1400" b="0" i="0" u="none" strike="noStrike" kern="1200" cap="none" spc="0" normalizeH="0" baseline="0" noProof="0" dirty="0" err="1" smtClean="0">
                  <a:ln>
                    <a:noFill/>
                  </a:ln>
                  <a:solidFill>
                    <a:srgbClr val="313131"/>
                  </a:solidFill>
                  <a:effectLst/>
                  <a:uLnTx/>
                  <a:uFillTx/>
                  <a:latin typeface="Segoe UI" panose="020B0502040204020203" pitchFamily="34" charset="0"/>
                  <a:ea typeface="+mn-ea"/>
                  <a:cs typeface="Segoe UI" panose="020B0502040204020203" pitchFamily="34" charset="0"/>
                </a:rPr>
                <a:t>למינהל</a:t>
              </a: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 ולרשויות </a:t>
              </a:r>
              <a:r>
                <a:rPr kumimoji="0" lang="he-IL" sz="1400" b="0" i="0" u="none" strike="noStrike" kern="1200" cap="none" spc="0" normalizeH="0" noProof="0" dirty="0" err="1" smtClean="0">
                  <a:ln>
                    <a:noFill/>
                  </a:ln>
                  <a:solidFill>
                    <a:srgbClr val="313131"/>
                  </a:solidFill>
                  <a:effectLst/>
                  <a:uLnTx/>
                  <a:uFillTx/>
                  <a:latin typeface="Segoe UI" panose="020B0502040204020203" pitchFamily="34" charset="0"/>
                  <a:ea typeface="+mn-ea"/>
                  <a:cs typeface="Segoe UI" panose="020B0502040204020203" pitchFamily="34" charset="0"/>
                </a:rPr>
                <a:t>המנגיש</a:t>
              </a:r>
              <a:r>
                <a:rPr kumimoji="0" lang="he-IL" sz="1400" b="0" i="0" u="none" strike="noStrike" kern="1200" cap="none" spc="0" normalizeH="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 </a:t>
              </a:r>
              <a:r>
                <a:rPr kumimoji="0" lang="he-IL" sz="1400" b="0" i="0" u="none" strike="noStrike" kern="1200" cap="none" spc="0" normalizeH="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מידע </a:t>
              </a:r>
              <a:r>
                <a:rPr kumimoji="0" lang="he-IL" sz="1400" b="0" i="0" u="none" strike="noStrike" kern="1200" cap="none" spc="0" normalizeH="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רב מערכתי</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lang="he-IL" sz="1300" noProof="0" dirty="0" smtClean="0">
                  <a:solidFill>
                    <a:srgbClr val="313131"/>
                  </a:solidFill>
                  <a:latin typeface="Segoe UI" panose="020B0502040204020203" pitchFamily="34" charset="0"/>
                  <a:cs typeface="Segoe UI" panose="020B0502040204020203" pitchFamily="34" charset="0"/>
                </a:rPr>
                <a:t>תשתית מדידה המגובה בכלי דיגיטלי</a:t>
              </a:r>
              <a:endParaRPr kumimoji="0" lang="he-IL" sz="1300" b="0" i="0" u="none" strike="noStrike" kern="1200" cap="none" spc="0" normalizeH="0" baseline="0" noProof="0" dirty="0">
                <a:ln>
                  <a:noFill/>
                </a:ln>
                <a:solidFill>
                  <a:srgbClr val="313131"/>
                </a:solidFill>
                <a:effectLst/>
                <a:uLnTx/>
                <a:uFillTx/>
                <a:latin typeface="Segoe UI" panose="020B0502040204020203" pitchFamily="34" charset="0"/>
                <a:cs typeface="Segoe UI" panose="020B0502040204020203" pitchFamily="34" charset="0"/>
              </a:endParaRPr>
            </a:p>
          </p:txBody>
        </p:sp>
        <p:cxnSp>
          <p:nvCxnSpPr>
            <p:cNvPr id="43" name="מחבר ישר 42">
              <a:extLst>
                <a:ext uri="{FF2B5EF4-FFF2-40B4-BE49-F238E27FC236}">
                  <a16:creationId xmlns:a16="http://schemas.microsoft.com/office/drawing/2014/main" id="{028A8F5A-7719-1723-9E18-F7ED8899ED80}"/>
                </a:ext>
              </a:extLst>
            </p:cNvPr>
            <p:cNvCxnSpPr/>
            <p:nvPr/>
          </p:nvCxnSpPr>
          <p:spPr>
            <a:xfrm>
              <a:off x="1507299" y="3036815"/>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7" name="Group 127">
              <a:extLst>
                <a:ext uri="{FF2B5EF4-FFF2-40B4-BE49-F238E27FC236}">
                  <a16:creationId xmlns:a16="http://schemas.microsoft.com/office/drawing/2014/main" id="{FDA5C80F-DA3A-1037-1A19-A292AA22A74B}"/>
                </a:ext>
              </a:extLst>
            </p:cNvPr>
            <p:cNvGrpSpPr>
              <a:grpSpLocks noChangeAspect="1"/>
            </p:cNvGrpSpPr>
            <p:nvPr/>
          </p:nvGrpSpPr>
          <p:grpSpPr>
            <a:xfrm>
              <a:off x="1843936" y="4792269"/>
              <a:ext cx="626230" cy="518570"/>
              <a:chOff x="3890503" y="3312474"/>
              <a:chExt cx="849285" cy="721892"/>
            </a:xfrm>
            <a:gradFill>
              <a:gsLst>
                <a:gs pos="22000">
                  <a:schemeClr val="accent1"/>
                </a:gs>
                <a:gs pos="83000">
                  <a:schemeClr val="accent4"/>
                </a:gs>
                <a:gs pos="100000">
                  <a:schemeClr val="accent5"/>
                </a:gs>
              </a:gsLst>
              <a:lin ang="8100000" scaled="0"/>
            </a:gradFill>
          </p:grpSpPr>
          <p:sp>
            <p:nvSpPr>
              <p:cNvPr id="9" name="Graphic 120" descr="Monitor with solid fill">
                <a:extLst>
                  <a:ext uri="{FF2B5EF4-FFF2-40B4-BE49-F238E27FC236}">
                    <a16:creationId xmlns:a16="http://schemas.microsoft.com/office/drawing/2014/main" id="{DFD2308E-83BA-2906-D5D4-6EF7C5D23E20}"/>
                  </a:ext>
                </a:extLst>
              </p:cNvPr>
              <p:cNvSpPr/>
              <p:nvPr/>
            </p:nvSpPr>
            <p:spPr>
              <a:xfrm>
                <a:off x="3890503" y="3312474"/>
                <a:ext cx="849285" cy="721892"/>
              </a:xfrm>
              <a:custGeom>
                <a:avLst/>
                <a:gdLst>
                  <a:gd name="connsiteX0" fmla="*/ 785589 w 849285"/>
                  <a:gd name="connsiteY0" fmla="*/ 530803 h 721892"/>
                  <a:gd name="connsiteX1" fmla="*/ 63696 w 849285"/>
                  <a:gd name="connsiteY1" fmla="*/ 530803 h 721892"/>
                  <a:gd name="connsiteX2" fmla="*/ 63696 w 849285"/>
                  <a:gd name="connsiteY2" fmla="*/ 63696 h 721892"/>
                  <a:gd name="connsiteX3" fmla="*/ 785589 w 849285"/>
                  <a:gd name="connsiteY3" fmla="*/ 63696 h 721892"/>
                  <a:gd name="connsiteX4" fmla="*/ 785589 w 849285"/>
                  <a:gd name="connsiteY4" fmla="*/ 530803 h 721892"/>
                  <a:gd name="connsiteX5" fmla="*/ 806821 w 849285"/>
                  <a:gd name="connsiteY5" fmla="*/ 0 h 721892"/>
                  <a:gd name="connsiteX6" fmla="*/ 42464 w 849285"/>
                  <a:gd name="connsiteY6" fmla="*/ 0 h 721892"/>
                  <a:gd name="connsiteX7" fmla="*/ 0 w 849285"/>
                  <a:gd name="connsiteY7" fmla="*/ 42464 h 721892"/>
                  <a:gd name="connsiteX8" fmla="*/ 0 w 849285"/>
                  <a:gd name="connsiteY8" fmla="*/ 552035 h 721892"/>
                  <a:gd name="connsiteX9" fmla="*/ 42464 w 849285"/>
                  <a:gd name="connsiteY9" fmla="*/ 594500 h 721892"/>
                  <a:gd name="connsiteX10" fmla="*/ 339714 w 849285"/>
                  <a:gd name="connsiteY10" fmla="*/ 594500 h 721892"/>
                  <a:gd name="connsiteX11" fmla="*/ 339714 w 849285"/>
                  <a:gd name="connsiteY11" fmla="*/ 658196 h 721892"/>
                  <a:gd name="connsiteX12" fmla="*/ 233553 w 849285"/>
                  <a:gd name="connsiteY12" fmla="*/ 658196 h 721892"/>
                  <a:gd name="connsiteX13" fmla="*/ 233553 w 849285"/>
                  <a:gd name="connsiteY13" fmla="*/ 721892 h 721892"/>
                  <a:gd name="connsiteX14" fmla="*/ 615732 w 849285"/>
                  <a:gd name="connsiteY14" fmla="*/ 721892 h 721892"/>
                  <a:gd name="connsiteX15" fmla="*/ 615732 w 849285"/>
                  <a:gd name="connsiteY15" fmla="*/ 658196 h 721892"/>
                  <a:gd name="connsiteX16" fmla="*/ 509571 w 849285"/>
                  <a:gd name="connsiteY16" fmla="*/ 658196 h 721892"/>
                  <a:gd name="connsiteX17" fmla="*/ 509571 w 849285"/>
                  <a:gd name="connsiteY17" fmla="*/ 594500 h 721892"/>
                  <a:gd name="connsiteX18" fmla="*/ 806821 w 849285"/>
                  <a:gd name="connsiteY18" fmla="*/ 594500 h 721892"/>
                  <a:gd name="connsiteX19" fmla="*/ 849285 w 849285"/>
                  <a:gd name="connsiteY19" fmla="*/ 552035 h 721892"/>
                  <a:gd name="connsiteX20" fmla="*/ 849285 w 849285"/>
                  <a:gd name="connsiteY20" fmla="*/ 42464 h 721892"/>
                  <a:gd name="connsiteX21" fmla="*/ 806821 w 849285"/>
                  <a:gd name="connsiteY21" fmla="*/ 0 h 72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9285" h="721892">
                    <a:moveTo>
                      <a:pt x="785589" y="530803"/>
                    </a:moveTo>
                    <a:lnTo>
                      <a:pt x="63696" y="530803"/>
                    </a:lnTo>
                    <a:lnTo>
                      <a:pt x="63696" y="63696"/>
                    </a:lnTo>
                    <a:lnTo>
                      <a:pt x="785589" y="63696"/>
                    </a:lnTo>
                    <a:lnTo>
                      <a:pt x="785589" y="530803"/>
                    </a:lnTo>
                    <a:close/>
                    <a:moveTo>
                      <a:pt x="806821" y="0"/>
                    </a:moveTo>
                    <a:lnTo>
                      <a:pt x="42464" y="0"/>
                    </a:lnTo>
                    <a:cubicBezTo>
                      <a:pt x="19109" y="0"/>
                      <a:pt x="0" y="19109"/>
                      <a:pt x="0" y="42464"/>
                    </a:cubicBezTo>
                    <a:lnTo>
                      <a:pt x="0" y="552035"/>
                    </a:lnTo>
                    <a:cubicBezTo>
                      <a:pt x="0" y="575391"/>
                      <a:pt x="19109" y="594500"/>
                      <a:pt x="42464" y="594500"/>
                    </a:cubicBezTo>
                    <a:lnTo>
                      <a:pt x="339714" y="594500"/>
                    </a:lnTo>
                    <a:lnTo>
                      <a:pt x="339714" y="658196"/>
                    </a:lnTo>
                    <a:lnTo>
                      <a:pt x="233553" y="658196"/>
                    </a:lnTo>
                    <a:lnTo>
                      <a:pt x="233553" y="721892"/>
                    </a:lnTo>
                    <a:lnTo>
                      <a:pt x="615732" y="721892"/>
                    </a:lnTo>
                    <a:lnTo>
                      <a:pt x="615732" y="658196"/>
                    </a:lnTo>
                    <a:lnTo>
                      <a:pt x="509571" y="658196"/>
                    </a:lnTo>
                    <a:lnTo>
                      <a:pt x="509571" y="594500"/>
                    </a:lnTo>
                    <a:lnTo>
                      <a:pt x="806821" y="594500"/>
                    </a:lnTo>
                    <a:cubicBezTo>
                      <a:pt x="830176" y="594500"/>
                      <a:pt x="849285" y="575391"/>
                      <a:pt x="849285" y="552035"/>
                    </a:cubicBezTo>
                    <a:lnTo>
                      <a:pt x="849285" y="42464"/>
                    </a:lnTo>
                    <a:cubicBezTo>
                      <a:pt x="849285" y="19109"/>
                      <a:pt x="830176" y="0"/>
                      <a:pt x="806821" y="0"/>
                    </a:cubicBezTo>
                    <a:close/>
                  </a:path>
                </a:pathLst>
              </a:custGeom>
              <a:grp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nvGrpSpPr>
              <p:cNvPr id="12" name="Group 121">
                <a:extLst>
                  <a:ext uri="{FF2B5EF4-FFF2-40B4-BE49-F238E27FC236}">
                    <a16:creationId xmlns:a16="http://schemas.microsoft.com/office/drawing/2014/main" id="{19C3B3E2-1CFD-1B9C-90D3-B33927D0F6A3}"/>
                  </a:ext>
                </a:extLst>
              </p:cNvPr>
              <p:cNvGrpSpPr/>
              <p:nvPr/>
            </p:nvGrpSpPr>
            <p:grpSpPr>
              <a:xfrm>
                <a:off x="4091309" y="3410748"/>
                <a:ext cx="467981" cy="385046"/>
                <a:chOff x="3022003" y="3466299"/>
                <a:chExt cx="533400" cy="533402"/>
              </a:xfrm>
              <a:grpFill/>
            </p:grpSpPr>
            <p:sp>
              <p:nvSpPr>
                <p:cNvPr id="14" name="Rectangle: Rounded Corners 122">
                  <a:extLst>
                    <a:ext uri="{FF2B5EF4-FFF2-40B4-BE49-F238E27FC236}">
                      <a16:creationId xmlns:a16="http://schemas.microsoft.com/office/drawing/2014/main" id="{91591474-8B42-C667-669C-E3F99EDBA1F8}"/>
                    </a:ext>
                  </a:extLst>
                </p:cNvPr>
                <p:cNvSpPr/>
                <p:nvPr/>
              </p:nvSpPr>
              <p:spPr>
                <a:xfrm>
                  <a:off x="302200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1" name="Rectangle: Rounded Corners 123">
                  <a:extLst>
                    <a:ext uri="{FF2B5EF4-FFF2-40B4-BE49-F238E27FC236}">
                      <a16:creationId xmlns:a16="http://schemas.microsoft.com/office/drawing/2014/main" id="{A99D53D2-FA8A-9F49-8F53-3C6B826EBCE7}"/>
                    </a:ext>
                  </a:extLst>
                </p:cNvPr>
                <p:cNvSpPr/>
                <p:nvPr/>
              </p:nvSpPr>
              <p:spPr>
                <a:xfrm>
                  <a:off x="3164878" y="3466299"/>
                  <a:ext cx="104775" cy="533402"/>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2" name="Rectangle: Rounded Corners 124">
                  <a:extLst>
                    <a:ext uri="{FF2B5EF4-FFF2-40B4-BE49-F238E27FC236}">
                      <a16:creationId xmlns:a16="http://schemas.microsoft.com/office/drawing/2014/main" id="{475CB64A-4A21-66D3-F6B1-0F2EDCB8F1ED}"/>
                    </a:ext>
                  </a:extLst>
                </p:cNvPr>
                <p:cNvSpPr/>
                <p:nvPr/>
              </p:nvSpPr>
              <p:spPr>
                <a:xfrm>
                  <a:off x="330775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3" name="Rectangle: Rounded Corners 125">
                  <a:extLst>
                    <a:ext uri="{FF2B5EF4-FFF2-40B4-BE49-F238E27FC236}">
                      <a16:creationId xmlns:a16="http://schemas.microsoft.com/office/drawing/2014/main" id="{295C5BA7-05C5-1B84-B9E7-A5070241BF00}"/>
                    </a:ext>
                  </a:extLst>
                </p:cNvPr>
                <p:cNvSpPr/>
                <p:nvPr/>
              </p:nvSpPr>
              <p:spPr>
                <a:xfrm>
                  <a:off x="3450628" y="3828248"/>
                  <a:ext cx="104775" cy="17145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grpSp>
        <p:nvGrpSpPr>
          <p:cNvPr id="38" name="קבוצה 37">
            <a:extLst>
              <a:ext uri="{FF2B5EF4-FFF2-40B4-BE49-F238E27FC236}">
                <a16:creationId xmlns:a16="http://schemas.microsoft.com/office/drawing/2014/main" id="{3FFA6A41-C1F3-0246-66C0-E08B771C94D7}"/>
              </a:ext>
            </a:extLst>
          </p:cNvPr>
          <p:cNvGrpSpPr/>
          <p:nvPr/>
        </p:nvGrpSpPr>
        <p:grpSpPr>
          <a:xfrm>
            <a:off x="6305674" y="1672163"/>
            <a:ext cx="2560321" cy="3822192"/>
            <a:chOff x="6323780" y="1672163"/>
            <a:chExt cx="2560321" cy="3822192"/>
          </a:xfrm>
        </p:grpSpPr>
        <p:sp>
          <p:nvSpPr>
            <p:cNvPr id="8" name="Rectangle: Rounded Corners 2">
              <a:extLst>
                <a:ext uri="{FF2B5EF4-FFF2-40B4-BE49-F238E27FC236}">
                  <a16:creationId xmlns:a16="http://schemas.microsoft.com/office/drawing/2014/main" id="{B5505B28-57C5-36F0-7FEF-5B53D87441D1}"/>
                </a:ext>
              </a:extLst>
            </p:cNvPr>
            <p:cNvSpPr/>
            <p:nvPr/>
          </p:nvSpPr>
          <p:spPr bwMode="gray">
            <a:xfrm>
              <a:off x="6323781"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1" name="תיבת טקסט 10">
              <a:extLst>
                <a:ext uri="{FF2B5EF4-FFF2-40B4-BE49-F238E27FC236}">
                  <a16:creationId xmlns:a16="http://schemas.microsoft.com/office/drawing/2014/main" id="{2E4C3C5F-E587-AB02-FBB1-2EFBD018DC80}"/>
                </a:ext>
              </a:extLst>
            </p:cNvPr>
            <p:cNvSpPr txBox="1"/>
            <p:nvPr/>
          </p:nvSpPr>
          <p:spPr>
            <a:xfrm>
              <a:off x="6323780" y="1953230"/>
              <a:ext cx="2560321"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he-IL" sz="1600" b="1" i="0" u="none" strike="noStrike" kern="1200" cap="none" spc="0" normalizeH="0" baseline="0" noProof="0" dirty="0" smtClean="0">
                  <a:ln>
                    <a:noFill/>
                  </a:ln>
                  <a:solidFill>
                    <a:srgbClr val="3E8F80"/>
                  </a:solidFill>
                  <a:effectLst/>
                  <a:uLnTx/>
                  <a:uFillTx/>
                  <a:latin typeface="Segoe UI" panose="020B0502040204020203" pitchFamily="34" charset="0"/>
                  <a:ea typeface="+mn-ea"/>
                  <a:cs typeface="Segoe UI" panose="020B0502040204020203" pitchFamily="34" charset="0"/>
                </a:rPr>
                <a:t>אתגרים</a:t>
              </a:r>
              <a:endParaRPr kumimoji="0" lang="en-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7" name="תיבת טקסט 16">
              <a:extLst>
                <a:ext uri="{FF2B5EF4-FFF2-40B4-BE49-F238E27FC236}">
                  <a16:creationId xmlns:a16="http://schemas.microsoft.com/office/drawing/2014/main" id="{184FB2E6-1554-C629-6193-EFF1E31D82D4}"/>
                </a:ext>
              </a:extLst>
            </p:cNvPr>
            <p:cNvSpPr txBox="1"/>
            <p:nvPr/>
          </p:nvSpPr>
          <p:spPr>
            <a:xfrm>
              <a:off x="6402738" y="2591233"/>
              <a:ext cx="2391914" cy="2569934"/>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שירותים </a:t>
              </a: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לאוכלוסייה </a:t>
              </a: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אוניברסלית שאינה רשומה במחלקה</a:t>
              </a:r>
            </a:p>
            <a:p>
              <a:pPr algn="ctr">
                <a:spcBef>
                  <a:spcPts val="600"/>
                </a:spcBef>
                <a:spcAft>
                  <a:spcPts val="1200"/>
                </a:spcAft>
                <a:buSzPct val="100000"/>
                <a:defRPr/>
              </a:pPr>
              <a:r>
                <a:rPr lang="he-IL" sz="1400" dirty="0">
                  <a:solidFill>
                    <a:srgbClr val="313131"/>
                  </a:solidFill>
                  <a:latin typeface="Segoe UI" panose="020B0502040204020203" pitchFamily="34" charset="0"/>
                  <a:cs typeface="Segoe UI" panose="020B0502040204020203" pitchFamily="34" charset="0"/>
                </a:rPr>
                <a:t>מיקוד תשומת הלב הניהולית במקומות בהם קיימים פערים ובעיות.</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lang="he-IL" sz="1200" noProof="0" dirty="0" smtClean="0">
                  <a:solidFill>
                    <a:srgbClr val="313131"/>
                  </a:solidFill>
                  <a:latin typeface="Segoe UI" panose="020B0502040204020203" pitchFamily="34" charset="0"/>
                  <a:cs typeface="Segoe UI" panose="020B0502040204020203" pitchFamily="34" charset="0"/>
                </a:rPr>
                <a:t>ריבוי </a:t>
              </a:r>
              <a:r>
                <a:rPr lang="he-IL" sz="1200" noProof="0" dirty="0" smtClean="0">
                  <a:solidFill>
                    <a:srgbClr val="313131"/>
                  </a:solidFill>
                  <a:latin typeface="Segoe UI" panose="020B0502040204020203" pitchFamily="34" charset="0"/>
                  <a:cs typeface="Segoe UI" panose="020B0502040204020203" pitchFamily="34" charset="0"/>
                </a:rPr>
                <a:t>גורמים מטפלים: רווחה, ביטוח לאומי, </a:t>
              </a:r>
              <a:r>
                <a:rPr lang="he-IL" sz="1200" noProof="0" dirty="0" smtClean="0">
                  <a:solidFill>
                    <a:srgbClr val="313131"/>
                  </a:solidFill>
                  <a:latin typeface="Segoe UI" panose="020B0502040204020203" pitchFamily="34" charset="0"/>
                  <a:cs typeface="Segoe UI" panose="020B0502040204020203" pitchFamily="34" charset="0"/>
                </a:rPr>
                <a:t>בריאות, קופ"ח </a:t>
              </a:r>
              <a:r>
                <a:rPr lang="he-IL" sz="1200" noProof="0" dirty="0" smtClean="0">
                  <a:solidFill>
                    <a:srgbClr val="313131"/>
                  </a:solidFill>
                  <a:latin typeface="Segoe UI" panose="020B0502040204020203" pitchFamily="34" charset="0"/>
                  <a:cs typeface="Segoe UI" panose="020B0502040204020203" pitchFamily="34" charset="0"/>
                </a:rPr>
                <a:t>ועוד</a:t>
              </a:r>
              <a:endParaRPr kumimoji="0" lang="he-IL" sz="1200" b="0" i="0" u="none" strike="noStrike" kern="1200" cap="none" spc="0" normalizeH="0" baseline="0" noProof="0" dirty="0" smtClean="0">
                <a:ln>
                  <a:noFill/>
                </a:ln>
                <a:solidFill>
                  <a:srgbClr val="313131"/>
                </a:solidFill>
                <a:effectLst/>
                <a:uLnTx/>
                <a:uFillTx/>
                <a:latin typeface="Segoe UI" panose="020B0502040204020203" pitchFamily="34" charset="0"/>
                <a:cs typeface="Segoe UI" panose="020B0502040204020203" pitchFamily="34" charset="0"/>
              </a:endParaRPr>
            </a:p>
            <a:p>
              <a:pPr marL="0" marR="0" lvl="0" indent="0" algn="ctr" defTabSz="914400" rtl="1" eaLnBrk="1" fontAlgn="auto" latinLnBrk="0" hangingPunct="1">
                <a:lnSpc>
                  <a:spcPct val="100000"/>
                </a:lnSpc>
                <a:spcBef>
                  <a:spcPts val="600"/>
                </a:spcBef>
                <a:spcAft>
                  <a:spcPts val="1200"/>
                </a:spcAft>
                <a:buClrTx/>
                <a:buSzPct val="100000"/>
                <a:buFontTx/>
                <a:buNone/>
                <a:tabLst/>
                <a:defRPr/>
              </a:pPr>
              <a:endPar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endParaRPr>
            </a:p>
          </p:txBody>
        </p:sp>
        <p:cxnSp>
          <p:nvCxnSpPr>
            <p:cNvPr id="42" name="מחבר ישר 41">
              <a:extLst>
                <a:ext uri="{FF2B5EF4-FFF2-40B4-BE49-F238E27FC236}">
                  <a16:creationId xmlns:a16="http://schemas.microsoft.com/office/drawing/2014/main" id="{0FE14E85-620E-640F-E522-75A99CEFD9FA}"/>
                </a:ext>
              </a:extLst>
            </p:cNvPr>
            <p:cNvCxnSpPr>
              <a:cxnSpLocks/>
            </p:cNvCxnSpPr>
            <p:nvPr/>
          </p:nvCxnSpPr>
          <p:spPr>
            <a:xfrm>
              <a:off x="7066197" y="3360674"/>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72" name="קבוצה 71">
              <a:extLst>
                <a:ext uri="{FF2B5EF4-FFF2-40B4-BE49-F238E27FC236}">
                  <a16:creationId xmlns:a16="http://schemas.microsoft.com/office/drawing/2014/main" id="{1128F73F-543D-DBDA-37E0-0525D54D3D7F}"/>
                </a:ext>
              </a:extLst>
            </p:cNvPr>
            <p:cNvGrpSpPr/>
            <p:nvPr/>
          </p:nvGrpSpPr>
          <p:grpSpPr>
            <a:xfrm>
              <a:off x="7439880" y="4859253"/>
              <a:ext cx="479834" cy="454163"/>
              <a:chOff x="6192645" y="5588918"/>
              <a:chExt cx="751881" cy="752474"/>
            </a:xfrm>
          </p:grpSpPr>
          <p:sp>
            <p:nvSpPr>
              <p:cNvPr id="65" name="גרפיקה 63" descr="זכוכית מגדלת עם מילוי מלא">
                <a:extLst>
                  <a:ext uri="{FF2B5EF4-FFF2-40B4-BE49-F238E27FC236}">
                    <a16:creationId xmlns:a16="http://schemas.microsoft.com/office/drawing/2014/main" id="{F834A437-B288-EC6E-D5CA-4B4DF5D3AB88}"/>
                  </a:ext>
                </a:extLst>
              </p:cNvPr>
              <p:cNvSpPr/>
              <p:nvPr/>
            </p:nvSpPr>
            <p:spPr>
              <a:xfrm>
                <a:off x="6192645" y="5588918"/>
                <a:ext cx="751881" cy="752474"/>
              </a:xfrm>
              <a:custGeom>
                <a:avLst/>
                <a:gdLst>
                  <a:gd name="connsiteX0" fmla="*/ 732473 w 751881"/>
                  <a:gd name="connsiteY0" fmla="*/ 638175 h 752474"/>
                  <a:gd name="connsiteX1" fmla="*/ 613410 w 751881"/>
                  <a:gd name="connsiteY1" fmla="*/ 519112 h 752474"/>
                  <a:gd name="connsiteX2" fmla="*/ 554355 w 751881"/>
                  <a:gd name="connsiteY2" fmla="*/ 501015 h 752474"/>
                  <a:gd name="connsiteX3" fmla="*/ 512445 w 751881"/>
                  <a:gd name="connsiteY3" fmla="*/ 459105 h 752474"/>
                  <a:gd name="connsiteX4" fmla="*/ 571500 w 751881"/>
                  <a:gd name="connsiteY4" fmla="*/ 285750 h 752474"/>
                  <a:gd name="connsiteX5" fmla="*/ 285750 w 751881"/>
                  <a:gd name="connsiteY5" fmla="*/ 0 h 752474"/>
                  <a:gd name="connsiteX6" fmla="*/ 0 w 751881"/>
                  <a:gd name="connsiteY6" fmla="*/ 285750 h 752474"/>
                  <a:gd name="connsiteX7" fmla="*/ 285750 w 751881"/>
                  <a:gd name="connsiteY7" fmla="*/ 571500 h 752474"/>
                  <a:gd name="connsiteX8" fmla="*/ 459105 w 751881"/>
                  <a:gd name="connsiteY8" fmla="*/ 512445 h 752474"/>
                  <a:gd name="connsiteX9" fmla="*/ 501015 w 751881"/>
                  <a:gd name="connsiteY9" fmla="*/ 554355 h 752474"/>
                  <a:gd name="connsiteX10" fmla="*/ 519112 w 751881"/>
                  <a:gd name="connsiteY10" fmla="*/ 613410 h 752474"/>
                  <a:gd name="connsiteX11" fmla="*/ 638175 w 751881"/>
                  <a:gd name="connsiteY11" fmla="*/ 732473 h 752474"/>
                  <a:gd name="connsiteX12" fmla="*/ 685800 w 751881"/>
                  <a:gd name="connsiteY12" fmla="*/ 752475 h 752474"/>
                  <a:gd name="connsiteX13" fmla="*/ 733425 w 751881"/>
                  <a:gd name="connsiteY13" fmla="*/ 732473 h 752474"/>
                  <a:gd name="connsiteX14" fmla="*/ 732473 w 751881"/>
                  <a:gd name="connsiteY14" fmla="*/ 638175 h 752474"/>
                  <a:gd name="connsiteX15" fmla="*/ 284798 w 751881"/>
                  <a:gd name="connsiteY15" fmla="*/ 513398 h 752474"/>
                  <a:gd name="connsiteX16" fmla="*/ 56197 w 751881"/>
                  <a:gd name="connsiteY16" fmla="*/ 284798 h 752474"/>
                  <a:gd name="connsiteX17" fmla="*/ 284798 w 751881"/>
                  <a:gd name="connsiteY17" fmla="*/ 56197 h 752474"/>
                  <a:gd name="connsiteX18" fmla="*/ 513398 w 751881"/>
                  <a:gd name="connsiteY18" fmla="*/ 284798 h 752474"/>
                  <a:gd name="connsiteX19" fmla="*/ 284798 w 751881"/>
                  <a:gd name="connsiteY19" fmla="*/ 513398 h 75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1881" h="752474">
                    <a:moveTo>
                      <a:pt x="732473" y="638175"/>
                    </a:moveTo>
                    <a:lnTo>
                      <a:pt x="613410" y="519112"/>
                    </a:lnTo>
                    <a:cubicBezTo>
                      <a:pt x="597218" y="502920"/>
                      <a:pt x="575310" y="497205"/>
                      <a:pt x="554355" y="501015"/>
                    </a:cubicBezTo>
                    <a:lnTo>
                      <a:pt x="512445" y="459105"/>
                    </a:lnTo>
                    <a:cubicBezTo>
                      <a:pt x="549593" y="411480"/>
                      <a:pt x="571500" y="350520"/>
                      <a:pt x="571500" y="285750"/>
                    </a:cubicBezTo>
                    <a:cubicBezTo>
                      <a:pt x="571500" y="128588"/>
                      <a:pt x="442912" y="0"/>
                      <a:pt x="285750" y="0"/>
                    </a:cubicBezTo>
                    <a:cubicBezTo>
                      <a:pt x="128588" y="0"/>
                      <a:pt x="0" y="128588"/>
                      <a:pt x="0" y="285750"/>
                    </a:cubicBezTo>
                    <a:cubicBezTo>
                      <a:pt x="0" y="442912"/>
                      <a:pt x="128588" y="571500"/>
                      <a:pt x="285750" y="571500"/>
                    </a:cubicBezTo>
                    <a:cubicBezTo>
                      <a:pt x="350520" y="571500"/>
                      <a:pt x="410528" y="549593"/>
                      <a:pt x="459105" y="512445"/>
                    </a:cubicBezTo>
                    <a:lnTo>
                      <a:pt x="501015" y="554355"/>
                    </a:lnTo>
                    <a:cubicBezTo>
                      <a:pt x="497205" y="575310"/>
                      <a:pt x="502920" y="597218"/>
                      <a:pt x="519112" y="613410"/>
                    </a:cubicBezTo>
                    <a:lnTo>
                      <a:pt x="638175" y="732473"/>
                    </a:lnTo>
                    <a:cubicBezTo>
                      <a:pt x="651510" y="745808"/>
                      <a:pt x="668655" y="752475"/>
                      <a:pt x="685800" y="752475"/>
                    </a:cubicBezTo>
                    <a:cubicBezTo>
                      <a:pt x="702945" y="752475"/>
                      <a:pt x="720090" y="745808"/>
                      <a:pt x="733425" y="732473"/>
                    </a:cubicBezTo>
                    <a:cubicBezTo>
                      <a:pt x="758190" y="705802"/>
                      <a:pt x="758190" y="663893"/>
                      <a:pt x="732473" y="638175"/>
                    </a:cubicBezTo>
                    <a:close/>
                    <a:moveTo>
                      <a:pt x="284798" y="513398"/>
                    </a:moveTo>
                    <a:cubicBezTo>
                      <a:pt x="159067" y="513398"/>
                      <a:pt x="56197" y="410528"/>
                      <a:pt x="56197" y="284798"/>
                    </a:cubicBezTo>
                    <a:cubicBezTo>
                      <a:pt x="56197" y="159067"/>
                      <a:pt x="159067" y="56197"/>
                      <a:pt x="284798" y="56197"/>
                    </a:cubicBezTo>
                    <a:cubicBezTo>
                      <a:pt x="410528" y="56197"/>
                      <a:pt x="513398" y="159067"/>
                      <a:pt x="513398" y="284798"/>
                    </a:cubicBezTo>
                    <a:cubicBezTo>
                      <a:pt x="513398" y="410528"/>
                      <a:pt x="410528" y="513398"/>
                      <a:pt x="284798" y="513398"/>
                    </a:cubicBez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nvGrpSpPr>
              <p:cNvPr id="66" name="קבוצה 65">
                <a:extLst>
                  <a:ext uri="{FF2B5EF4-FFF2-40B4-BE49-F238E27FC236}">
                    <a16:creationId xmlns:a16="http://schemas.microsoft.com/office/drawing/2014/main" id="{02132F0A-F5F6-8756-B0E8-0ED02F4BBFE0}"/>
                  </a:ext>
                </a:extLst>
              </p:cNvPr>
              <p:cNvGrpSpPr/>
              <p:nvPr/>
            </p:nvGrpSpPr>
            <p:grpSpPr>
              <a:xfrm>
                <a:off x="6345201" y="5764809"/>
                <a:ext cx="246100" cy="226416"/>
                <a:chOff x="6353837" y="5437053"/>
                <a:chExt cx="657225" cy="670656"/>
              </a:xfrm>
            </p:grpSpPr>
            <p:sp>
              <p:nvSpPr>
                <p:cNvPr id="67" name="צורה חופשית: צורה 66">
                  <a:extLst>
                    <a:ext uri="{FF2B5EF4-FFF2-40B4-BE49-F238E27FC236}">
                      <a16:creationId xmlns:a16="http://schemas.microsoft.com/office/drawing/2014/main" id="{9D9B06CB-CF79-B5EB-E8EC-40276A92C464}"/>
                    </a:ext>
                  </a:extLst>
                </p:cNvPr>
                <p:cNvSpPr/>
                <p:nvPr/>
              </p:nvSpPr>
              <p:spPr>
                <a:xfrm flipH="1">
                  <a:off x="6353837" y="5440959"/>
                  <a:ext cx="657225" cy="666750"/>
                </a:xfrm>
                <a:custGeom>
                  <a:avLst/>
                  <a:gdLst>
                    <a:gd name="connsiteX0" fmla="*/ 600075 w 657225"/>
                    <a:gd name="connsiteY0" fmla="*/ 609600 h 666750"/>
                    <a:gd name="connsiteX1" fmla="*/ 0 w 657225"/>
                    <a:gd name="connsiteY1" fmla="*/ 609600 h 666750"/>
                    <a:gd name="connsiteX2" fmla="*/ 0 w 657225"/>
                    <a:gd name="connsiteY2" fmla="*/ 666750 h 666750"/>
                    <a:gd name="connsiteX3" fmla="*/ 657225 w 657225"/>
                    <a:gd name="connsiteY3" fmla="*/ 666750 h 666750"/>
                    <a:gd name="connsiteX4" fmla="*/ 657225 w 657225"/>
                    <a:gd name="connsiteY4" fmla="*/ 0 h 666750"/>
                    <a:gd name="connsiteX5" fmla="*/ 600075 w 657225"/>
                    <a:gd name="connsiteY5" fmla="*/ 0 h 666750"/>
                    <a:gd name="connsiteX6" fmla="*/ 600075 w 657225"/>
                    <a:gd name="connsiteY6" fmla="*/ 60960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600075" y="609600"/>
                      </a:moveTo>
                      <a:lnTo>
                        <a:pt x="0" y="609600"/>
                      </a:lnTo>
                      <a:lnTo>
                        <a:pt x="0" y="666750"/>
                      </a:lnTo>
                      <a:lnTo>
                        <a:pt x="657225" y="666750"/>
                      </a:lnTo>
                      <a:lnTo>
                        <a:pt x="657225" y="0"/>
                      </a:lnTo>
                      <a:lnTo>
                        <a:pt x="600075" y="0"/>
                      </a:lnTo>
                      <a:lnTo>
                        <a:pt x="600075" y="60960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68" name="צורה חופשית: צורה 67">
                  <a:extLst>
                    <a:ext uri="{FF2B5EF4-FFF2-40B4-BE49-F238E27FC236}">
                      <a16:creationId xmlns:a16="http://schemas.microsoft.com/office/drawing/2014/main" id="{6FAD90C5-0E06-4C8F-4076-310AF38B43A7}"/>
                    </a:ext>
                  </a:extLst>
                </p:cNvPr>
                <p:cNvSpPr/>
                <p:nvPr/>
              </p:nvSpPr>
              <p:spPr>
                <a:xfrm flipH="1">
                  <a:off x="6468137" y="5440959"/>
                  <a:ext cx="142875" cy="552450"/>
                </a:xfrm>
                <a:custGeom>
                  <a:avLst/>
                  <a:gdLst>
                    <a:gd name="connsiteX0" fmla="*/ 0 w 142875"/>
                    <a:gd name="connsiteY0" fmla="*/ 0 h 552450"/>
                    <a:gd name="connsiteX1" fmla="*/ 142875 w 142875"/>
                    <a:gd name="connsiteY1" fmla="*/ 0 h 552450"/>
                    <a:gd name="connsiteX2" fmla="*/ 142875 w 142875"/>
                    <a:gd name="connsiteY2" fmla="*/ 552450 h 552450"/>
                    <a:gd name="connsiteX3" fmla="*/ 0 w 142875"/>
                    <a:gd name="connsiteY3" fmla="*/ 552450 h 552450"/>
                  </a:gdLst>
                  <a:ahLst/>
                  <a:cxnLst>
                    <a:cxn ang="0">
                      <a:pos x="connsiteX0" y="connsiteY0"/>
                    </a:cxn>
                    <a:cxn ang="0">
                      <a:pos x="connsiteX1" y="connsiteY1"/>
                    </a:cxn>
                    <a:cxn ang="0">
                      <a:pos x="connsiteX2" y="connsiteY2"/>
                    </a:cxn>
                    <a:cxn ang="0">
                      <a:pos x="connsiteX3" y="connsiteY3"/>
                    </a:cxn>
                  </a:cxnLst>
                  <a:rect l="l" t="t" r="r" b="b"/>
                  <a:pathLst>
                    <a:path w="142875" h="552450">
                      <a:moveTo>
                        <a:pt x="0" y="0"/>
                      </a:moveTo>
                      <a:lnTo>
                        <a:pt x="142875" y="0"/>
                      </a:lnTo>
                      <a:lnTo>
                        <a:pt x="142875" y="552450"/>
                      </a:lnTo>
                      <a:lnTo>
                        <a:pt x="0" y="55245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69" name="צורה חופשית: צורה 68">
                  <a:extLst>
                    <a:ext uri="{FF2B5EF4-FFF2-40B4-BE49-F238E27FC236}">
                      <a16:creationId xmlns:a16="http://schemas.microsoft.com/office/drawing/2014/main" id="{206999D6-82CC-ABE0-98AF-9B2EC95AB434}"/>
                    </a:ext>
                  </a:extLst>
                </p:cNvPr>
                <p:cNvSpPr/>
                <p:nvPr/>
              </p:nvSpPr>
              <p:spPr>
                <a:xfrm flipH="1">
                  <a:off x="6668162" y="5631459"/>
                  <a:ext cx="142875" cy="361950"/>
                </a:xfrm>
                <a:custGeom>
                  <a:avLst/>
                  <a:gdLst>
                    <a:gd name="connsiteX0" fmla="*/ 0 w 142875"/>
                    <a:gd name="connsiteY0" fmla="*/ 0 h 361950"/>
                    <a:gd name="connsiteX1" fmla="*/ 142875 w 142875"/>
                    <a:gd name="connsiteY1" fmla="*/ 0 h 361950"/>
                    <a:gd name="connsiteX2" fmla="*/ 142875 w 142875"/>
                    <a:gd name="connsiteY2" fmla="*/ 361950 h 361950"/>
                    <a:gd name="connsiteX3" fmla="*/ 0 w 142875"/>
                    <a:gd name="connsiteY3" fmla="*/ 361950 h 361950"/>
                  </a:gdLst>
                  <a:ahLst/>
                  <a:cxnLst>
                    <a:cxn ang="0">
                      <a:pos x="connsiteX0" y="connsiteY0"/>
                    </a:cxn>
                    <a:cxn ang="0">
                      <a:pos x="connsiteX1" y="connsiteY1"/>
                    </a:cxn>
                    <a:cxn ang="0">
                      <a:pos x="connsiteX2" y="connsiteY2"/>
                    </a:cxn>
                    <a:cxn ang="0">
                      <a:pos x="connsiteX3" y="connsiteY3"/>
                    </a:cxn>
                  </a:cxnLst>
                  <a:rect l="l" t="t" r="r" b="b"/>
                  <a:pathLst>
                    <a:path w="142875" h="361950">
                      <a:moveTo>
                        <a:pt x="0" y="0"/>
                      </a:moveTo>
                      <a:lnTo>
                        <a:pt x="142875" y="0"/>
                      </a:lnTo>
                      <a:lnTo>
                        <a:pt x="142875" y="361950"/>
                      </a:lnTo>
                      <a:lnTo>
                        <a:pt x="0" y="36195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0" name="צורה חופשית: צורה 69">
                  <a:extLst>
                    <a:ext uri="{FF2B5EF4-FFF2-40B4-BE49-F238E27FC236}">
                      <a16:creationId xmlns:a16="http://schemas.microsoft.com/office/drawing/2014/main" id="{C03E0771-5CB4-F67E-CE0E-1DB7CAFDEE3C}"/>
                    </a:ext>
                  </a:extLst>
                </p:cNvPr>
                <p:cNvSpPr/>
                <p:nvPr/>
              </p:nvSpPr>
              <p:spPr>
                <a:xfrm flipH="1">
                  <a:off x="6868187" y="5802909"/>
                  <a:ext cx="142875" cy="190500"/>
                </a:xfrm>
                <a:custGeom>
                  <a:avLst/>
                  <a:gdLst>
                    <a:gd name="connsiteX0" fmla="*/ 0 w 142875"/>
                    <a:gd name="connsiteY0" fmla="*/ 0 h 190500"/>
                    <a:gd name="connsiteX1" fmla="*/ 142875 w 142875"/>
                    <a:gd name="connsiteY1" fmla="*/ 0 h 190500"/>
                    <a:gd name="connsiteX2" fmla="*/ 142875 w 142875"/>
                    <a:gd name="connsiteY2" fmla="*/ 190500 h 190500"/>
                    <a:gd name="connsiteX3" fmla="*/ 0 w 142875"/>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142875" h="190500">
                      <a:moveTo>
                        <a:pt x="0" y="0"/>
                      </a:moveTo>
                      <a:lnTo>
                        <a:pt x="142875" y="0"/>
                      </a:lnTo>
                      <a:lnTo>
                        <a:pt x="142875" y="190500"/>
                      </a:lnTo>
                      <a:lnTo>
                        <a:pt x="0" y="19050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1" name="צורה חופשית: צורה 70">
                  <a:extLst>
                    <a:ext uri="{FF2B5EF4-FFF2-40B4-BE49-F238E27FC236}">
                      <a16:creationId xmlns:a16="http://schemas.microsoft.com/office/drawing/2014/main" id="{E89B817A-8C9F-09FB-2D63-AEF54D5FF00F}"/>
                    </a:ext>
                  </a:extLst>
                </p:cNvPr>
                <p:cNvSpPr/>
                <p:nvPr/>
              </p:nvSpPr>
              <p:spPr>
                <a:xfrm flipH="1">
                  <a:off x="6692832" y="5437053"/>
                  <a:ext cx="308705" cy="308705"/>
                </a:xfrm>
                <a:custGeom>
                  <a:avLst/>
                  <a:gdLst>
                    <a:gd name="connsiteX0" fmla="*/ 0 w 308705"/>
                    <a:gd name="connsiteY0" fmla="*/ 177832 h 308705"/>
                    <a:gd name="connsiteX1" fmla="*/ 0 w 308705"/>
                    <a:gd name="connsiteY1" fmla="*/ 308705 h 308705"/>
                    <a:gd name="connsiteX2" fmla="*/ 130874 w 308705"/>
                    <a:gd name="connsiteY2" fmla="*/ 308705 h 308705"/>
                    <a:gd name="connsiteX3" fmla="*/ 78867 w 308705"/>
                    <a:gd name="connsiteY3" fmla="*/ 256699 h 308705"/>
                    <a:gd name="connsiteX4" fmla="*/ 308705 w 308705"/>
                    <a:gd name="connsiteY4" fmla="*/ 26860 h 308705"/>
                    <a:gd name="connsiteX5" fmla="*/ 281845 w 308705"/>
                    <a:gd name="connsiteY5" fmla="*/ 0 h 308705"/>
                    <a:gd name="connsiteX6" fmla="*/ 52006 w 308705"/>
                    <a:gd name="connsiteY6" fmla="*/ 229838 h 308705"/>
                    <a:gd name="connsiteX7" fmla="*/ 0 w 308705"/>
                    <a:gd name="connsiteY7" fmla="*/ 177832 h 30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705" h="308705">
                      <a:moveTo>
                        <a:pt x="0" y="177832"/>
                      </a:moveTo>
                      <a:lnTo>
                        <a:pt x="0" y="308705"/>
                      </a:lnTo>
                      <a:lnTo>
                        <a:pt x="130874" y="308705"/>
                      </a:lnTo>
                      <a:lnTo>
                        <a:pt x="78867" y="256699"/>
                      </a:lnTo>
                      <a:lnTo>
                        <a:pt x="308705" y="26860"/>
                      </a:lnTo>
                      <a:lnTo>
                        <a:pt x="281845" y="0"/>
                      </a:lnTo>
                      <a:lnTo>
                        <a:pt x="52006" y="229838"/>
                      </a:lnTo>
                      <a:lnTo>
                        <a:pt x="0" y="177832"/>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grpSp>
        <p:nvGrpSpPr>
          <p:cNvPr id="39" name="קבוצה 38">
            <a:extLst>
              <a:ext uri="{FF2B5EF4-FFF2-40B4-BE49-F238E27FC236}">
                <a16:creationId xmlns:a16="http://schemas.microsoft.com/office/drawing/2014/main" id="{2EF4C54A-396E-7DCD-DBDE-1FD02A8A41A9}"/>
              </a:ext>
            </a:extLst>
          </p:cNvPr>
          <p:cNvGrpSpPr/>
          <p:nvPr/>
        </p:nvGrpSpPr>
        <p:grpSpPr>
          <a:xfrm>
            <a:off x="3364949" y="1672163"/>
            <a:ext cx="2560320" cy="3822192"/>
            <a:chOff x="3600336" y="1672163"/>
            <a:chExt cx="2560320" cy="3822192"/>
          </a:xfrm>
        </p:grpSpPr>
        <p:sp>
          <p:nvSpPr>
            <p:cNvPr id="25" name="Rectangle: Rounded Corners 2">
              <a:extLst>
                <a:ext uri="{FF2B5EF4-FFF2-40B4-BE49-F238E27FC236}">
                  <a16:creationId xmlns:a16="http://schemas.microsoft.com/office/drawing/2014/main" id="{D1D44744-D3C2-0B6E-1F4C-AB2BE33C22B6}"/>
                </a:ext>
              </a:extLst>
            </p:cNvPr>
            <p:cNvSpPr/>
            <p:nvPr/>
          </p:nvSpPr>
          <p:spPr bwMode="gray">
            <a:xfrm>
              <a:off x="3600336"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27" name="תיבת טקסט 26">
              <a:extLst>
                <a:ext uri="{FF2B5EF4-FFF2-40B4-BE49-F238E27FC236}">
                  <a16:creationId xmlns:a16="http://schemas.microsoft.com/office/drawing/2014/main" id="{D21CDD26-4117-2582-5C72-C665C4FCB596}"/>
                </a:ext>
              </a:extLst>
            </p:cNvPr>
            <p:cNvSpPr txBox="1"/>
            <p:nvPr/>
          </p:nvSpPr>
          <p:spPr>
            <a:xfrm>
              <a:off x="3640806" y="1953230"/>
              <a:ext cx="2360509" cy="334579"/>
            </a:xfrm>
            <a:prstGeom prst="rect">
              <a:avLst/>
            </a:prstGeom>
            <a:noFill/>
          </p:spPr>
          <p:txBody>
            <a:bodyPr wrap="square">
              <a:spAutoFit/>
            </a:bodyPr>
            <a:lstStyle/>
            <a:p>
              <a:pPr lvl="0" algn="ctr" rtl="0">
                <a:lnSpc>
                  <a:spcPct val="106000"/>
                </a:lnSpc>
                <a:defRPr/>
              </a:pPr>
              <a:r>
                <a:rPr lang="he-IL" sz="1600" b="1" dirty="0">
                  <a:solidFill>
                    <a:srgbClr val="3E8F80"/>
                  </a:solidFill>
                  <a:latin typeface="Segoe UI" panose="020B0502040204020203" pitchFamily="34" charset="0"/>
                  <a:cs typeface="Segoe UI" panose="020B0502040204020203" pitchFamily="34" charset="0"/>
                </a:rPr>
                <a:t>מיקוד המאמץ</a:t>
              </a:r>
              <a:endParaRPr lang="en-IL" sz="1600" b="1" dirty="0">
                <a:solidFill>
                  <a:srgbClr val="3E8F80"/>
                </a:solidFill>
                <a:latin typeface="Segoe UI" panose="020B0502040204020203" pitchFamily="34" charset="0"/>
                <a:cs typeface="Segoe UI" panose="020B0502040204020203" pitchFamily="34" charset="0"/>
              </a:endParaRPr>
            </a:p>
          </p:txBody>
        </p:sp>
        <p:sp>
          <p:nvSpPr>
            <p:cNvPr id="18" name="תיבת טקסט 17">
              <a:extLst>
                <a:ext uri="{FF2B5EF4-FFF2-40B4-BE49-F238E27FC236}">
                  <a16:creationId xmlns:a16="http://schemas.microsoft.com/office/drawing/2014/main" id="{CA498395-428E-DF27-2B7A-9F2F04E4F5BC}"/>
                </a:ext>
              </a:extLst>
            </p:cNvPr>
            <p:cNvSpPr txBox="1"/>
            <p:nvPr/>
          </p:nvSpPr>
          <p:spPr>
            <a:xfrm>
              <a:off x="3676272" y="2252678"/>
              <a:ext cx="2231136" cy="2431435"/>
            </a:xfrm>
            <a:prstGeom prst="rect">
              <a:avLst/>
            </a:prstGeom>
            <a:noFill/>
          </p:spPr>
          <p:txBody>
            <a:bodyPr wrap="square" lIns="0" tIns="0" rIns="0" bIns="0" rtlCol="0">
              <a:spAutoFit/>
            </a:bodyPr>
            <a:lstStyle/>
            <a:p>
              <a:pPr lvl="0">
                <a:spcBef>
                  <a:spcPts val="600"/>
                </a:spcBef>
                <a:spcAft>
                  <a:spcPts val="1200"/>
                </a:spcAft>
                <a:buSzPct val="100000"/>
                <a:defRPr/>
              </a:pPr>
              <a:r>
                <a:rPr lang="he-IL" sz="1400" dirty="0">
                  <a:solidFill>
                    <a:srgbClr val="313131"/>
                  </a:solidFill>
                  <a:latin typeface="Segoe UI" panose="020B0502040204020203" pitchFamily="34" charset="0"/>
                  <a:cs typeface="Segoe UI" panose="020B0502040204020203" pitchFamily="34" charset="0"/>
                </a:rPr>
                <a:t>השגת </a:t>
              </a:r>
              <a:r>
                <a:rPr lang="he-IL" sz="1400" dirty="0" err="1">
                  <a:solidFill>
                    <a:srgbClr val="313131"/>
                  </a:solidFill>
                  <a:latin typeface="Segoe UI" panose="020B0502040204020203" pitchFamily="34" charset="0"/>
                  <a:cs typeface="Segoe UI" panose="020B0502040204020203" pitchFamily="34" charset="0"/>
                </a:rPr>
                <a:t>והנגשת</a:t>
              </a:r>
              <a:r>
                <a:rPr lang="he-IL" sz="1400" dirty="0">
                  <a:solidFill>
                    <a:srgbClr val="313131"/>
                  </a:solidFill>
                  <a:latin typeface="Segoe UI" panose="020B0502040204020203" pitchFamily="34" charset="0"/>
                  <a:cs typeface="Segoe UI" panose="020B0502040204020203" pitchFamily="34" charset="0"/>
                </a:rPr>
                <a:t> מידע ממקורות משלימים:</a:t>
              </a:r>
            </a:p>
            <a:p>
              <a:pPr marL="285750" lvl="0" indent="-285750">
                <a:spcBef>
                  <a:spcPts val="600"/>
                </a:spcBef>
                <a:spcAft>
                  <a:spcPts val="1200"/>
                </a:spcAft>
                <a:buSzPct val="100000"/>
                <a:buFontTx/>
                <a:buChar char="-"/>
                <a:defRPr/>
              </a:pPr>
              <a:r>
                <a:rPr lang="he-IL" sz="1400" dirty="0" smtClean="0">
                  <a:solidFill>
                    <a:srgbClr val="313131"/>
                  </a:solidFill>
                  <a:latin typeface="Segoe UI" panose="020B0502040204020203" pitchFamily="34" charset="0"/>
                  <a:cs typeface="Segoe UI" panose="020B0502040204020203" pitchFamily="34" charset="0"/>
                </a:rPr>
                <a:t>למ"ס, מרשם אוכלוסין</a:t>
              </a:r>
              <a:endParaRPr lang="he-IL" sz="1400" dirty="0">
                <a:solidFill>
                  <a:srgbClr val="313131"/>
                </a:solidFill>
                <a:latin typeface="Segoe UI" panose="020B0502040204020203" pitchFamily="34" charset="0"/>
                <a:cs typeface="Segoe UI" panose="020B0502040204020203" pitchFamily="34" charset="0"/>
              </a:endParaRPr>
            </a:p>
            <a:p>
              <a:pPr marL="285750" lvl="0" indent="-285750">
                <a:spcBef>
                  <a:spcPts val="600"/>
                </a:spcBef>
                <a:spcAft>
                  <a:spcPts val="1200"/>
                </a:spcAft>
                <a:buSzPct val="100000"/>
                <a:buFontTx/>
                <a:buChar char="-"/>
                <a:defRPr/>
              </a:pPr>
              <a:r>
                <a:rPr lang="he-IL" sz="1400" dirty="0">
                  <a:solidFill>
                    <a:srgbClr val="313131"/>
                  </a:solidFill>
                  <a:latin typeface="Segoe UI" panose="020B0502040204020203" pitchFamily="34" charset="0"/>
                  <a:cs typeface="Segoe UI" panose="020B0502040204020203" pitchFamily="34" charset="0"/>
                </a:rPr>
                <a:t>ביטוח לאומי</a:t>
              </a:r>
            </a:p>
            <a:p>
              <a:pPr marL="285750" lvl="0" indent="-285750">
                <a:spcBef>
                  <a:spcPts val="600"/>
                </a:spcBef>
                <a:spcAft>
                  <a:spcPts val="1200"/>
                </a:spcAft>
                <a:buSzPct val="100000"/>
                <a:buFontTx/>
                <a:buChar char="-"/>
                <a:defRPr/>
              </a:pPr>
              <a:r>
                <a:rPr lang="he-IL" sz="1400" dirty="0">
                  <a:solidFill>
                    <a:srgbClr val="313131"/>
                  </a:solidFill>
                  <a:latin typeface="Segoe UI" panose="020B0502040204020203" pitchFamily="34" charset="0"/>
                  <a:cs typeface="Segoe UI" panose="020B0502040204020203" pitchFamily="34" charset="0"/>
                </a:rPr>
                <a:t>הרשות </a:t>
              </a:r>
              <a:r>
                <a:rPr lang="he-IL" sz="1400" dirty="0" err="1" smtClean="0">
                  <a:solidFill>
                    <a:srgbClr val="313131"/>
                  </a:solidFill>
                  <a:latin typeface="Segoe UI" panose="020B0502040204020203" pitchFamily="34" charset="0"/>
                  <a:cs typeface="Segoe UI" panose="020B0502040204020203" pitchFamily="34" charset="0"/>
                </a:rPr>
                <a:t>לנצל"ש</a:t>
              </a:r>
              <a:r>
                <a:rPr lang="he-IL" sz="1400" dirty="0" smtClean="0">
                  <a:solidFill>
                    <a:srgbClr val="313131"/>
                  </a:solidFill>
                  <a:latin typeface="Segoe UI" panose="020B0502040204020203" pitchFamily="34" charset="0"/>
                  <a:cs typeface="Segoe UI" panose="020B0502040204020203" pitchFamily="34" charset="0"/>
                </a:rPr>
                <a:t>, רוה"מ</a:t>
              </a:r>
              <a:endParaRPr lang="he-IL" sz="1400" dirty="0">
                <a:solidFill>
                  <a:srgbClr val="313131"/>
                </a:solidFill>
                <a:latin typeface="Segoe UI" panose="020B0502040204020203" pitchFamily="34" charset="0"/>
                <a:cs typeface="Segoe UI" panose="020B0502040204020203" pitchFamily="34" charset="0"/>
              </a:endParaRP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lang="he-IL" sz="1400" dirty="0" smtClean="0">
                  <a:solidFill>
                    <a:srgbClr val="313131"/>
                  </a:solidFill>
                  <a:latin typeface="Segoe UI" panose="020B0502040204020203" pitchFamily="34" charset="0"/>
                  <a:cs typeface="Segoe UI" panose="020B0502040204020203" pitchFamily="34" charset="0"/>
                </a:rPr>
                <a:t>בניית כלים והטמעתם </a:t>
              </a:r>
              <a:r>
                <a:rPr lang="he-IL" sz="1400" dirty="0" err="1" smtClean="0">
                  <a:solidFill>
                    <a:srgbClr val="313131"/>
                  </a:solidFill>
                  <a:latin typeface="Segoe UI" panose="020B0502040204020203" pitchFamily="34" charset="0"/>
                  <a:cs typeface="Segoe UI" panose="020B0502040204020203" pitchFamily="34" charset="0"/>
                </a:rPr>
                <a:t>במינהל</a:t>
              </a: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p:txBody>
        </p:sp>
        <p:grpSp>
          <p:nvGrpSpPr>
            <p:cNvPr id="49" name="Graphic 23" descr="Decision chart outline">
              <a:extLst>
                <a:ext uri="{FF2B5EF4-FFF2-40B4-BE49-F238E27FC236}">
                  <a16:creationId xmlns:a16="http://schemas.microsoft.com/office/drawing/2014/main" id="{3EE078E8-8880-14E2-C51F-28E1B0E86A2A}"/>
                </a:ext>
              </a:extLst>
            </p:cNvPr>
            <p:cNvGrpSpPr/>
            <p:nvPr/>
          </p:nvGrpSpPr>
          <p:grpSpPr>
            <a:xfrm>
              <a:off x="4580282" y="4727228"/>
              <a:ext cx="481555" cy="591386"/>
              <a:chOff x="6034030" y="5742781"/>
              <a:chExt cx="784225" cy="846137"/>
            </a:xfrm>
            <a:gradFill>
              <a:gsLst>
                <a:gs pos="22000">
                  <a:schemeClr val="accent1"/>
                </a:gs>
                <a:gs pos="75000">
                  <a:schemeClr val="accent4"/>
                </a:gs>
                <a:gs pos="100000">
                  <a:schemeClr val="accent5"/>
                </a:gs>
              </a:gsLst>
              <a:lin ang="8100000" scaled="0"/>
            </a:gradFill>
          </p:grpSpPr>
          <p:sp>
            <p:nvSpPr>
              <p:cNvPr id="50" name="צורה חופשית: צורה 49">
                <a:extLst>
                  <a:ext uri="{FF2B5EF4-FFF2-40B4-BE49-F238E27FC236}">
                    <a16:creationId xmlns:a16="http://schemas.microsoft.com/office/drawing/2014/main" id="{F6D30FEA-CDAD-1969-0114-0578D479073F}"/>
                  </a:ext>
                </a:extLst>
              </p:cNvPr>
              <p:cNvSpPr/>
              <p:nvPr/>
            </p:nvSpPr>
            <p:spPr>
              <a:xfrm>
                <a:off x="6034030" y="6444456"/>
                <a:ext cx="288925" cy="144462"/>
              </a:xfrm>
              <a:custGeom>
                <a:avLst/>
                <a:gdLst>
                  <a:gd name="connsiteX0" fmla="*/ 0 w 288925"/>
                  <a:gd name="connsiteY0" fmla="*/ 144463 h 144462"/>
                  <a:gd name="connsiteX1" fmla="*/ 288925 w 288925"/>
                  <a:gd name="connsiteY1" fmla="*/ 144463 h 144462"/>
                  <a:gd name="connsiteX2" fmla="*/ 288925 w 288925"/>
                  <a:gd name="connsiteY2" fmla="*/ 0 h 144462"/>
                  <a:gd name="connsiteX3" fmla="*/ 0 w 288925"/>
                  <a:gd name="connsiteY3" fmla="*/ 0 h 144462"/>
                  <a:gd name="connsiteX4" fmla="*/ 20638 w 288925"/>
                  <a:gd name="connsiteY4" fmla="*/ 20638 h 144462"/>
                  <a:gd name="connsiteX5" fmla="*/ 268288 w 288925"/>
                  <a:gd name="connsiteY5" fmla="*/ 20638 h 144462"/>
                  <a:gd name="connsiteX6" fmla="*/ 268288 w 288925"/>
                  <a:gd name="connsiteY6" fmla="*/ 123825 h 144462"/>
                  <a:gd name="connsiteX7" fmla="*/ 20638 w 288925"/>
                  <a:gd name="connsiteY7" fmla="*/ 123825 h 14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25" h="144462">
                    <a:moveTo>
                      <a:pt x="0" y="144463"/>
                    </a:moveTo>
                    <a:lnTo>
                      <a:pt x="288925" y="144463"/>
                    </a:lnTo>
                    <a:lnTo>
                      <a:pt x="288925" y="0"/>
                    </a:lnTo>
                    <a:lnTo>
                      <a:pt x="0" y="0"/>
                    </a:lnTo>
                    <a:close/>
                    <a:moveTo>
                      <a:pt x="20638" y="20638"/>
                    </a:moveTo>
                    <a:lnTo>
                      <a:pt x="268288" y="20638"/>
                    </a:lnTo>
                    <a:lnTo>
                      <a:pt x="268288" y="123825"/>
                    </a:lnTo>
                    <a:lnTo>
                      <a:pt x="20638" y="123825"/>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1" name="צורה חופשית: צורה 50">
                <a:extLst>
                  <a:ext uri="{FF2B5EF4-FFF2-40B4-BE49-F238E27FC236}">
                    <a16:creationId xmlns:a16="http://schemas.microsoft.com/office/drawing/2014/main" id="{96018293-D616-EBB1-3E4F-F21B6C945F38}"/>
                  </a:ext>
                </a:extLst>
              </p:cNvPr>
              <p:cNvSpPr/>
              <p:nvPr/>
            </p:nvSpPr>
            <p:spPr>
              <a:xfrm>
                <a:off x="6529330" y="6444456"/>
                <a:ext cx="288925" cy="144462"/>
              </a:xfrm>
              <a:custGeom>
                <a:avLst/>
                <a:gdLst>
                  <a:gd name="connsiteX0" fmla="*/ 0 w 288925"/>
                  <a:gd name="connsiteY0" fmla="*/ 0 h 144462"/>
                  <a:gd name="connsiteX1" fmla="*/ 0 w 288925"/>
                  <a:gd name="connsiteY1" fmla="*/ 144463 h 144462"/>
                  <a:gd name="connsiteX2" fmla="*/ 288925 w 288925"/>
                  <a:gd name="connsiteY2" fmla="*/ 144463 h 144462"/>
                  <a:gd name="connsiteX3" fmla="*/ 288925 w 288925"/>
                  <a:gd name="connsiteY3" fmla="*/ 0 h 144462"/>
                  <a:gd name="connsiteX4" fmla="*/ 268288 w 288925"/>
                  <a:gd name="connsiteY4" fmla="*/ 123825 h 144462"/>
                  <a:gd name="connsiteX5" fmla="*/ 20638 w 288925"/>
                  <a:gd name="connsiteY5" fmla="*/ 123825 h 144462"/>
                  <a:gd name="connsiteX6" fmla="*/ 20638 w 288925"/>
                  <a:gd name="connsiteY6" fmla="*/ 20638 h 144462"/>
                  <a:gd name="connsiteX7" fmla="*/ 268288 w 288925"/>
                  <a:gd name="connsiteY7" fmla="*/ 20638 h 14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25" h="144462">
                    <a:moveTo>
                      <a:pt x="0" y="0"/>
                    </a:moveTo>
                    <a:lnTo>
                      <a:pt x="0" y="144463"/>
                    </a:lnTo>
                    <a:lnTo>
                      <a:pt x="288925" y="144463"/>
                    </a:lnTo>
                    <a:lnTo>
                      <a:pt x="288925" y="0"/>
                    </a:lnTo>
                    <a:close/>
                    <a:moveTo>
                      <a:pt x="268288" y="123825"/>
                    </a:moveTo>
                    <a:lnTo>
                      <a:pt x="20638" y="123825"/>
                    </a:lnTo>
                    <a:lnTo>
                      <a:pt x="20638" y="20638"/>
                    </a:lnTo>
                    <a:lnTo>
                      <a:pt x="268288" y="20638"/>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2" name="צורה חופשית: צורה 51">
                <a:extLst>
                  <a:ext uri="{FF2B5EF4-FFF2-40B4-BE49-F238E27FC236}">
                    <a16:creationId xmlns:a16="http://schemas.microsoft.com/office/drawing/2014/main" id="{81BBFE91-9F85-C734-E650-ED6F5EED6217}"/>
                  </a:ext>
                </a:extLst>
              </p:cNvPr>
              <p:cNvSpPr/>
              <p:nvPr/>
            </p:nvSpPr>
            <p:spPr>
              <a:xfrm>
                <a:off x="6106388" y="6089346"/>
                <a:ext cx="639509" cy="334469"/>
              </a:xfrm>
              <a:custGeom>
                <a:avLst/>
                <a:gdLst>
                  <a:gd name="connsiteX0" fmla="*/ 416895 w 639509"/>
                  <a:gd name="connsiteY0" fmla="*/ 117778 h 334469"/>
                  <a:gd name="connsiteX1" fmla="*/ 557086 w 639509"/>
                  <a:gd name="connsiteY1" fmla="*/ 117778 h 334469"/>
                  <a:gd name="connsiteX2" fmla="*/ 557086 w 639509"/>
                  <a:gd name="connsiteY2" fmla="*/ 298996 h 334469"/>
                  <a:gd name="connsiteX3" fmla="*/ 556910 w 639509"/>
                  <a:gd name="connsiteY3" fmla="*/ 299068 h 334469"/>
                  <a:gd name="connsiteX4" fmla="*/ 512787 w 639509"/>
                  <a:gd name="connsiteY4" fmla="*/ 254945 h 334469"/>
                  <a:gd name="connsiteX5" fmla="*/ 498197 w 639509"/>
                  <a:gd name="connsiteY5" fmla="*/ 255199 h 334469"/>
                  <a:gd name="connsiteX6" fmla="*/ 498197 w 639509"/>
                  <a:gd name="connsiteY6" fmla="*/ 269536 h 334469"/>
                  <a:gd name="connsiteX7" fmla="*/ 560109 w 639509"/>
                  <a:gd name="connsiteY7" fmla="*/ 331449 h 334469"/>
                  <a:gd name="connsiteX8" fmla="*/ 574700 w 639509"/>
                  <a:gd name="connsiteY8" fmla="*/ 331449 h 334469"/>
                  <a:gd name="connsiteX9" fmla="*/ 636612 w 639509"/>
                  <a:gd name="connsiteY9" fmla="*/ 269536 h 334469"/>
                  <a:gd name="connsiteX10" fmla="*/ 636359 w 639509"/>
                  <a:gd name="connsiteY10" fmla="*/ 254945 h 334469"/>
                  <a:gd name="connsiteX11" fmla="*/ 622022 w 639509"/>
                  <a:gd name="connsiteY11" fmla="*/ 254945 h 334469"/>
                  <a:gd name="connsiteX12" fmla="*/ 577899 w 639509"/>
                  <a:gd name="connsiteY12" fmla="*/ 299068 h 334469"/>
                  <a:gd name="connsiteX13" fmla="*/ 577723 w 639509"/>
                  <a:gd name="connsiteY13" fmla="*/ 298996 h 334469"/>
                  <a:gd name="connsiteX14" fmla="*/ 577723 w 639509"/>
                  <a:gd name="connsiteY14" fmla="*/ 97141 h 334469"/>
                  <a:gd name="connsiteX15" fmla="*/ 416895 w 639509"/>
                  <a:gd name="connsiteY15" fmla="*/ 97141 h 334469"/>
                  <a:gd name="connsiteX16" fmla="*/ 319755 w 639509"/>
                  <a:gd name="connsiteY16" fmla="*/ 0 h 334469"/>
                  <a:gd name="connsiteX17" fmla="*/ 222614 w 639509"/>
                  <a:gd name="connsiteY17" fmla="*/ 97141 h 334469"/>
                  <a:gd name="connsiteX18" fmla="*/ 61786 w 639509"/>
                  <a:gd name="connsiteY18" fmla="*/ 97141 h 334469"/>
                  <a:gd name="connsiteX19" fmla="*/ 61786 w 639509"/>
                  <a:gd name="connsiteY19" fmla="*/ 298996 h 334469"/>
                  <a:gd name="connsiteX20" fmla="*/ 61610 w 639509"/>
                  <a:gd name="connsiteY20" fmla="*/ 299068 h 334469"/>
                  <a:gd name="connsiteX21" fmla="*/ 17487 w 639509"/>
                  <a:gd name="connsiteY21" fmla="*/ 254945 h 334469"/>
                  <a:gd name="connsiteX22" fmla="*/ 2897 w 639509"/>
                  <a:gd name="connsiteY22" fmla="*/ 255199 h 334469"/>
                  <a:gd name="connsiteX23" fmla="*/ 2897 w 639509"/>
                  <a:gd name="connsiteY23" fmla="*/ 269536 h 334469"/>
                  <a:gd name="connsiteX24" fmla="*/ 64809 w 639509"/>
                  <a:gd name="connsiteY24" fmla="*/ 331449 h 334469"/>
                  <a:gd name="connsiteX25" fmla="*/ 79400 w 639509"/>
                  <a:gd name="connsiteY25" fmla="*/ 331449 h 334469"/>
                  <a:gd name="connsiteX26" fmla="*/ 141312 w 639509"/>
                  <a:gd name="connsiteY26" fmla="*/ 269536 h 334469"/>
                  <a:gd name="connsiteX27" fmla="*/ 141566 w 639509"/>
                  <a:gd name="connsiteY27" fmla="*/ 254945 h 334469"/>
                  <a:gd name="connsiteX28" fmla="*/ 126976 w 639509"/>
                  <a:gd name="connsiteY28" fmla="*/ 254692 h 334469"/>
                  <a:gd name="connsiteX29" fmla="*/ 126722 w 639509"/>
                  <a:gd name="connsiteY29" fmla="*/ 254945 h 334469"/>
                  <a:gd name="connsiteX30" fmla="*/ 82599 w 639509"/>
                  <a:gd name="connsiteY30" fmla="*/ 299068 h 334469"/>
                  <a:gd name="connsiteX31" fmla="*/ 82423 w 639509"/>
                  <a:gd name="connsiteY31" fmla="*/ 298996 h 334469"/>
                  <a:gd name="connsiteX32" fmla="*/ 82423 w 639509"/>
                  <a:gd name="connsiteY32" fmla="*/ 117778 h 334469"/>
                  <a:gd name="connsiteX33" fmla="*/ 222614 w 639509"/>
                  <a:gd name="connsiteY33" fmla="*/ 117778 h 334469"/>
                  <a:gd name="connsiteX34" fmla="*/ 319755 w 639509"/>
                  <a:gd name="connsiteY34" fmla="*/ 214919 h 334469"/>
                  <a:gd name="connsiteX35" fmla="*/ 319755 w 639509"/>
                  <a:gd name="connsiteY35" fmla="*/ 29181 h 334469"/>
                  <a:gd name="connsiteX36" fmla="*/ 398033 w 639509"/>
                  <a:gd name="connsiteY36" fmla="*/ 107459 h 334469"/>
                  <a:gd name="connsiteX37" fmla="*/ 319755 w 639509"/>
                  <a:gd name="connsiteY37" fmla="*/ 185738 h 334469"/>
                  <a:gd name="connsiteX38" fmla="*/ 241477 w 639509"/>
                  <a:gd name="connsiteY38" fmla="*/ 107459 h 3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39509" h="334469">
                    <a:moveTo>
                      <a:pt x="416895" y="117778"/>
                    </a:moveTo>
                    <a:lnTo>
                      <a:pt x="557086" y="117778"/>
                    </a:lnTo>
                    <a:lnTo>
                      <a:pt x="557086" y="298996"/>
                    </a:lnTo>
                    <a:cubicBezTo>
                      <a:pt x="557086" y="299130"/>
                      <a:pt x="557003" y="299161"/>
                      <a:pt x="556910" y="299068"/>
                    </a:cubicBezTo>
                    <a:lnTo>
                      <a:pt x="512787" y="254945"/>
                    </a:lnTo>
                    <a:cubicBezTo>
                      <a:pt x="508688" y="250986"/>
                      <a:pt x="502156" y="251100"/>
                      <a:pt x="498197" y="255199"/>
                    </a:cubicBezTo>
                    <a:cubicBezTo>
                      <a:pt x="494334" y="259198"/>
                      <a:pt x="494334" y="265538"/>
                      <a:pt x="498197" y="269536"/>
                    </a:cubicBezTo>
                    <a:lnTo>
                      <a:pt x="560109" y="331449"/>
                    </a:lnTo>
                    <a:cubicBezTo>
                      <a:pt x="564139" y="335477"/>
                      <a:pt x="570670" y="335477"/>
                      <a:pt x="574700" y="331449"/>
                    </a:cubicBezTo>
                    <a:lnTo>
                      <a:pt x="636612" y="269536"/>
                    </a:lnTo>
                    <a:cubicBezTo>
                      <a:pt x="640572" y="265436"/>
                      <a:pt x="640458" y="258905"/>
                      <a:pt x="636359" y="254945"/>
                    </a:cubicBezTo>
                    <a:cubicBezTo>
                      <a:pt x="632360" y="251083"/>
                      <a:pt x="626020" y="251083"/>
                      <a:pt x="622022" y="254945"/>
                    </a:cubicBezTo>
                    <a:lnTo>
                      <a:pt x="577899" y="299068"/>
                    </a:lnTo>
                    <a:cubicBezTo>
                      <a:pt x="577806" y="299161"/>
                      <a:pt x="577723" y="299130"/>
                      <a:pt x="577723" y="298996"/>
                    </a:cubicBezTo>
                    <a:lnTo>
                      <a:pt x="577723" y="97141"/>
                    </a:lnTo>
                    <a:lnTo>
                      <a:pt x="416895" y="97141"/>
                    </a:lnTo>
                    <a:lnTo>
                      <a:pt x="319755" y="0"/>
                    </a:lnTo>
                    <a:lnTo>
                      <a:pt x="222614" y="97141"/>
                    </a:lnTo>
                    <a:lnTo>
                      <a:pt x="61786" y="97141"/>
                    </a:lnTo>
                    <a:lnTo>
                      <a:pt x="61786" y="298996"/>
                    </a:lnTo>
                    <a:cubicBezTo>
                      <a:pt x="61786" y="299130"/>
                      <a:pt x="61703" y="299161"/>
                      <a:pt x="61610" y="299068"/>
                    </a:cubicBezTo>
                    <a:lnTo>
                      <a:pt x="17487" y="254945"/>
                    </a:lnTo>
                    <a:cubicBezTo>
                      <a:pt x="13388" y="250986"/>
                      <a:pt x="6856" y="251100"/>
                      <a:pt x="2897" y="255199"/>
                    </a:cubicBezTo>
                    <a:cubicBezTo>
                      <a:pt x="-966" y="259198"/>
                      <a:pt x="-966" y="265538"/>
                      <a:pt x="2897" y="269536"/>
                    </a:cubicBezTo>
                    <a:lnTo>
                      <a:pt x="64809" y="331449"/>
                    </a:lnTo>
                    <a:cubicBezTo>
                      <a:pt x="68839" y="335477"/>
                      <a:pt x="75370" y="335477"/>
                      <a:pt x="79400" y="331449"/>
                    </a:cubicBezTo>
                    <a:lnTo>
                      <a:pt x="141312" y="269536"/>
                    </a:lnTo>
                    <a:cubicBezTo>
                      <a:pt x="145412" y="265577"/>
                      <a:pt x="145526" y="259045"/>
                      <a:pt x="141566" y="254945"/>
                    </a:cubicBezTo>
                    <a:cubicBezTo>
                      <a:pt x="137607" y="250846"/>
                      <a:pt x="131074" y="250732"/>
                      <a:pt x="126976" y="254692"/>
                    </a:cubicBezTo>
                    <a:cubicBezTo>
                      <a:pt x="126889" y="254775"/>
                      <a:pt x="126805" y="254860"/>
                      <a:pt x="126722" y="254945"/>
                    </a:cubicBezTo>
                    <a:lnTo>
                      <a:pt x="82599" y="299068"/>
                    </a:lnTo>
                    <a:cubicBezTo>
                      <a:pt x="82506" y="299161"/>
                      <a:pt x="82423" y="299130"/>
                      <a:pt x="82423" y="298996"/>
                    </a:cubicBezTo>
                    <a:lnTo>
                      <a:pt x="82423" y="117778"/>
                    </a:lnTo>
                    <a:lnTo>
                      <a:pt x="222614" y="117778"/>
                    </a:lnTo>
                    <a:lnTo>
                      <a:pt x="319755" y="214919"/>
                    </a:lnTo>
                    <a:close/>
                    <a:moveTo>
                      <a:pt x="319755" y="29181"/>
                    </a:moveTo>
                    <a:lnTo>
                      <a:pt x="398033" y="107459"/>
                    </a:lnTo>
                    <a:lnTo>
                      <a:pt x="319755" y="185738"/>
                    </a:lnTo>
                    <a:lnTo>
                      <a:pt x="241477" y="107459"/>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3" name="צורה חופשית: צורה 52">
                <a:extLst>
                  <a:ext uri="{FF2B5EF4-FFF2-40B4-BE49-F238E27FC236}">
                    <a16:creationId xmlns:a16="http://schemas.microsoft.com/office/drawing/2014/main" id="{F06882E2-08B4-2BBC-0F94-35C03B05D94C}"/>
                  </a:ext>
                </a:extLst>
              </p:cNvPr>
              <p:cNvSpPr/>
              <p:nvPr/>
            </p:nvSpPr>
            <p:spPr>
              <a:xfrm>
                <a:off x="6281680" y="5742781"/>
                <a:ext cx="288925" cy="325812"/>
              </a:xfrm>
              <a:custGeom>
                <a:avLst/>
                <a:gdLst>
                  <a:gd name="connsiteX0" fmla="*/ 134144 w 288925"/>
                  <a:gd name="connsiteY0" fmla="*/ 290339 h 325812"/>
                  <a:gd name="connsiteX1" fmla="*/ 133968 w 288925"/>
                  <a:gd name="connsiteY1" fmla="*/ 290411 h 325812"/>
                  <a:gd name="connsiteX2" fmla="*/ 89845 w 288925"/>
                  <a:gd name="connsiteY2" fmla="*/ 246288 h 325812"/>
                  <a:gd name="connsiteX3" fmla="*/ 75255 w 288925"/>
                  <a:gd name="connsiteY3" fmla="*/ 246034 h 325812"/>
                  <a:gd name="connsiteX4" fmla="*/ 75001 w 288925"/>
                  <a:gd name="connsiteY4" fmla="*/ 260625 h 325812"/>
                  <a:gd name="connsiteX5" fmla="*/ 75255 w 288925"/>
                  <a:gd name="connsiteY5" fmla="*/ 260879 h 325812"/>
                  <a:gd name="connsiteX6" fmla="*/ 137167 w 288925"/>
                  <a:gd name="connsiteY6" fmla="*/ 322791 h 325812"/>
                  <a:gd name="connsiteX7" fmla="*/ 151758 w 288925"/>
                  <a:gd name="connsiteY7" fmla="*/ 322791 h 325812"/>
                  <a:gd name="connsiteX8" fmla="*/ 213670 w 288925"/>
                  <a:gd name="connsiteY8" fmla="*/ 260879 h 325812"/>
                  <a:gd name="connsiteX9" fmla="*/ 213924 w 288925"/>
                  <a:gd name="connsiteY9" fmla="*/ 246288 h 325812"/>
                  <a:gd name="connsiteX10" fmla="*/ 199333 w 288925"/>
                  <a:gd name="connsiteY10" fmla="*/ 246034 h 325812"/>
                  <a:gd name="connsiteX11" fmla="*/ 199080 w 288925"/>
                  <a:gd name="connsiteY11" fmla="*/ 246288 h 325812"/>
                  <a:gd name="connsiteX12" fmla="*/ 154957 w 288925"/>
                  <a:gd name="connsiteY12" fmla="*/ 290411 h 325812"/>
                  <a:gd name="connsiteX13" fmla="*/ 154781 w 288925"/>
                  <a:gd name="connsiteY13" fmla="*/ 290339 h 325812"/>
                  <a:gd name="connsiteX14" fmla="*/ 154781 w 288925"/>
                  <a:gd name="connsiteY14" fmla="*/ 144463 h 325812"/>
                  <a:gd name="connsiteX15" fmla="*/ 288925 w 288925"/>
                  <a:gd name="connsiteY15" fmla="*/ 144463 h 325812"/>
                  <a:gd name="connsiteX16" fmla="*/ 288925 w 288925"/>
                  <a:gd name="connsiteY16" fmla="*/ 0 h 325812"/>
                  <a:gd name="connsiteX17" fmla="*/ 0 w 288925"/>
                  <a:gd name="connsiteY17" fmla="*/ 0 h 325812"/>
                  <a:gd name="connsiteX18" fmla="*/ 0 w 288925"/>
                  <a:gd name="connsiteY18" fmla="*/ 144463 h 325812"/>
                  <a:gd name="connsiteX19" fmla="*/ 134144 w 288925"/>
                  <a:gd name="connsiteY19" fmla="*/ 144463 h 325812"/>
                  <a:gd name="connsiteX20" fmla="*/ 20638 w 288925"/>
                  <a:gd name="connsiteY20" fmla="*/ 20638 h 325812"/>
                  <a:gd name="connsiteX21" fmla="*/ 268288 w 288925"/>
                  <a:gd name="connsiteY21" fmla="*/ 20638 h 325812"/>
                  <a:gd name="connsiteX22" fmla="*/ 268288 w 288925"/>
                  <a:gd name="connsiteY22" fmla="*/ 123825 h 325812"/>
                  <a:gd name="connsiteX23" fmla="*/ 20638 w 288925"/>
                  <a:gd name="connsiteY23" fmla="*/ 123825 h 325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8925" h="325812">
                    <a:moveTo>
                      <a:pt x="134144" y="290339"/>
                    </a:moveTo>
                    <a:cubicBezTo>
                      <a:pt x="134144" y="290473"/>
                      <a:pt x="134061" y="290504"/>
                      <a:pt x="133968" y="290411"/>
                    </a:cubicBezTo>
                    <a:lnTo>
                      <a:pt x="89845" y="246288"/>
                    </a:lnTo>
                    <a:cubicBezTo>
                      <a:pt x="85886" y="242188"/>
                      <a:pt x="79354" y="242075"/>
                      <a:pt x="75255" y="246034"/>
                    </a:cubicBezTo>
                    <a:cubicBezTo>
                      <a:pt x="71155" y="249993"/>
                      <a:pt x="71042" y="256526"/>
                      <a:pt x="75001" y="260625"/>
                    </a:cubicBezTo>
                    <a:cubicBezTo>
                      <a:pt x="75084" y="260711"/>
                      <a:pt x="75169" y="260796"/>
                      <a:pt x="75255" y="260879"/>
                    </a:cubicBezTo>
                    <a:lnTo>
                      <a:pt x="137167" y="322791"/>
                    </a:lnTo>
                    <a:cubicBezTo>
                      <a:pt x="141197" y="326820"/>
                      <a:pt x="147728" y="326820"/>
                      <a:pt x="151758" y="322791"/>
                    </a:cubicBezTo>
                    <a:lnTo>
                      <a:pt x="213670" y="260879"/>
                    </a:lnTo>
                    <a:cubicBezTo>
                      <a:pt x="217770" y="256919"/>
                      <a:pt x="217884" y="250388"/>
                      <a:pt x="213924" y="246288"/>
                    </a:cubicBezTo>
                    <a:cubicBezTo>
                      <a:pt x="209965" y="242189"/>
                      <a:pt x="203432" y="242075"/>
                      <a:pt x="199333" y="246034"/>
                    </a:cubicBezTo>
                    <a:cubicBezTo>
                      <a:pt x="199247" y="246118"/>
                      <a:pt x="199162" y="246202"/>
                      <a:pt x="199080" y="246288"/>
                    </a:cubicBezTo>
                    <a:lnTo>
                      <a:pt x="154957" y="290411"/>
                    </a:lnTo>
                    <a:cubicBezTo>
                      <a:pt x="154864" y="290504"/>
                      <a:pt x="154781" y="290473"/>
                      <a:pt x="154781" y="290339"/>
                    </a:cubicBezTo>
                    <a:lnTo>
                      <a:pt x="154781" y="144463"/>
                    </a:lnTo>
                    <a:lnTo>
                      <a:pt x="288925" y="144463"/>
                    </a:lnTo>
                    <a:lnTo>
                      <a:pt x="288925" y="0"/>
                    </a:lnTo>
                    <a:lnTo>
                      <a:pt x="0" y="0"/>
                    </a:lnTo>
                    <a:lnTo>
                      <a:pt x="0" y="144463"/>
                    </a:lnTo>
                    <a:lnTo>
                      <a:pt x="134144" y="144463"/>
                    </a:lnTo>
                    <a:close/>
                    <a:moveTo>
                      <a:pt x="20638" y="20638"/>
                    </a:moveTo>
                    <a:lnTo>
                      <a:pt x="268288" y="20638"/>
                    </a:lnTo>
                    <a:lnTo>
                      <a:pt x="268288" y="123825"/>
                    </a:lnTo>
                    <a:lnTo>
                      <a:pt x="20638" y="123825"/>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cxnSp>
          <p:nvCxnSpPr>
            <p:cNvPr id="35" name="מחבר ישר 34">
              <a:extLst>
                <a:ext uri="{FF2B5EF4-FFF2-40B4-BE49-F238E27FC236}">
                  <a16:creationId xmlns:a16="http://schemas.microsoft.com/office/drawing/2014/main" id="{5A96EF2E-E132-81EC-89FB-D9E150580479}"/>
                </a:ext>
              </a:extLst>
            </p:cNvPr>
            <p:cNvCxnSpPr>
              <a:cxnSpLocks/>
            </p:cNvCxnSpPr>
            <p:nvPr/>
          </p:nvCxnSpPr>
          <p:spPr>
            <a:xfrm>
              <a:off x="4298742" y="4253542"/>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cxnSp>
        <p:nvCxnSpPr>
          <p:cNvPr id="47" name="מחבר ישר 46">
            <a:extLst>
              <a:ext uri="{FF2B5EF4-FFF2-40B4-BE49-F238E27FC236}">
                <a16:creationId xmlns:a16="http://schemas.microsoft.com/office/drawing/2014/main" id="{0FE14E85-620E-640F-E522-75A99CEFD9FA}"/>
              </a:ext>
            </a:extLst>
          </p:cNvPr>
          <p:cNvCxnSpPr>
            <a:cxnSpLocks/>
          </p:cNvCxnSpPr>
          <p:nvPr/>
        </p:nvCxnSpPr>
        <p:spPr>
          <a:xfrm>
            <a:off x="6908107" y="4194717"/>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8" name="מחבר ישר 47">
            <a:extLst>
              <a:ext uri="{FF2B5EF4-FFF2-40B4-BE49-F238E27FC236}">
                <a16:creationId xmlns:a16="http://schemas.microsoft.com/office/drawing/2014/main" id="{028A8F5A-7719-1723-9E18-F7ED8899ED80}"/>
              </a:ext>
            </a:extLst>
          </p:cNvPr>
          <p:cNvCxnSpPr/>
          <p:nvPr/>
        </p:nvCxnSpPr>
        <p:spPr>
          <a:xfrm>
            <a:off x="1027610" y="3901253"/>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3213670"/>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7">
            <a:extLst>
              <a:ext uri="{FF2B5EF4-FFF2-40B4-BE49-F238E27FC236}">
                <a16:creationId xmlns:a16="http://schemas.microsoft.com/office/drawing/2014/main" id="{9A5A16C3-0AE7-46F5-900E-CA9765867086}"/>
              </a:ext>
            </a:extLst>
          </p:cNvPr>
          <p:cNvPicPr preferRelativeResize="0">
            <a:picLocks noChangeAspect="1"/>
          </p:cNvPicPr>
          <p:nvPr/>
        </p:nvPicPr>
        <p:blipFill rotWithShape="1">
          <a:blip r:embed="rId2" cstate="email">
            <a:extLst>
              <a:ext uri="{28A0092B-C50C-407E-A947-70E740481C1C}">
                <a14:useLocalDpi xmlns:a14="http://schemas.microsoft.com/office/drawing/2010/main"/>
              </a:ext>
            </a:extLst>
          </a:blip>
          <a:srcRect/>
          <a:stretch/>
        </p:blipFill>
        <p:spPr bwMode="auto">
          <a:xfrm>
            <a:off x="337025" y="3113591"/>
            <a:ext cx="2068845" cy="774134"/>
          </a:xfrm>
          <a:prstGeom prst="rect">
            <a:avLst/>
          </a:prstGeom>
          <a:noFill/>
          <a:ln>
            <a:noFill/>
          </a:ln>
          <a:extLst>
            <a:ext uri="{53640926-AAD7-44D8-BBD7-CCE9431645EC}">
              <a14:shadowObscured xmlns:a14="http://schemas.microsoft.com/office/drawing/2010/main"/>
            </a:ext>
          </a:extLst>
        </p:spPr>
      </p:pic>
      <p:pic>
        <p:nvPicPr>
          <p:cNvPr id="6" name="Picture 5" descr="Logo&#10;&#10;Description automatically generated">
            <a:extLst>
              <a:ext uri="{FF2B5EF4-FFF2-40B4-BE49-F238E27FC236}">
                <a16:creationId xmlns:a16="http://schemas.microsoft.com/office/drawing/2014/main" id="{4B0FACA9-7294-4F1E-A723-0387F7BB10DB}"/>
              </a:ext>
            </a:extLst>
          </p:cNvPr>
          <p:cNvPicPr preferRelativeResize="0">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2750" y="4857960"/>
            <a:ext cx="1374445" cy="913458"/>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4AEF775A-F413-474B-9FE6-ABE38C29734B}"/>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105497" y="2953561"/>
            <a:ext cx="1914840" cy="1094194"/>
          </a:xfrm>
          <a:prstGeom prst="rect">
            <a:avLst/>
          </a:prstGeom>
        </p:spPr>
      </p:pic>
      <p:pic>
        <p:nvPicPr>
          <p:cNvPr id="10" name="Picture 9">
            <a:extLst>
              <a:ext uri="{FF2B5EF4-FFF2-40B4-BE49-F238E27FC236}">
                <a16:creationId xmlns:a16="http://schemas.microsoft.com/office/drawing/2014/main" id="{475E7178-D35A-43BB-90B6-350ADEDC363A}"/>
              </a:ext>
            </a:extLst>
          </p:cNvPr>
          <p:cNvPicPr preferRelativeResize="0">
            <a:picLocks noChangeAspect="1"/>
          </p:cNvPicPr>
          <p:nvPr/>
        </p:nvPicPr>
        <p:blipFill>
          <a:blip r:embed="rId5" cstate="email">
            <a:extLst>
              <a:ext uri="{28A0092B-C50C-407E-A947-70E740481C1C}">
                <a14:useLocalDpi xmlns:a14="http://schemas.microsoft.com/office/drawing/2010/main"/>
              </a:ext>
            </a:extLst>
          </a:blip>
          <a:srcRect/>
          <a:stretch/>
        </p:blipFill>
        <p:spPr>
          <a:xfrm>
            <a:off x="7340742" y="4928003"/>
            <a:ext cx="2064358" cy="773372"/>
          </a:xfrm>
          <a:prstGeom prst="rect">
            <a:avLst/>
          </a:prstGeom>
        </p:spPr>
      </p:pic>
      <p:pic>
        <p:nvPicPr>
          <p:cNvPr id="11" name="תמונה 3">
            <a:extLst>
              <a:ext uri="{FF2B5EF4-FFF2-40B4-BE49-F238E27FC236}">
                <a16:creationId xmlns:a16="http://schemas.microsoft.com/office/drawing/2014/main" id="{114F2E32-5496-4E36-98C7-23C212F6BC7F}"/>
              </a:ext>
            </a:extLst>
          </p:cNvPr>
          <p:cNvPicPr preferRelativeResize="0">
            <a:picLocks noChangeAspect="1"/>
          </p:cNvPicPr>
          <p:nvPr/>
        </p:nvPicPr>
        <p:blipFill rotWithShape="1">
          <a:blip r:embed="rId6" cstate="email">
            <a:extLst>
              <a:ext uri="{28A0092B-C50C-407E-A947-70E740481C1C}">
                <a14:useLocalDpi xmlns:a14="http://schemas.microsoft.com/office/drawing/2010/main"/>
              </a:ext>
            </a:extLst>
          </a:blip>
          <a:srcRect/>
          <a:stretch/>
        </p:blipFill>
        <p:spPr bwMode="auto">
          <a:xfrm>
            <a:off x="2739584" y="3205936"/>
            <a:ext cx="2032199" cy="589444"/>
          </a:xfrm>
          <a:prstGeom prst="rect">
            <a:avLst/>
          </a:prstGeom>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849EFEE9-7B0D-4A36-91D6-3DD67559A324}"/>
              </a:ext>
            </a:extLst>
          </p:cNvPr>
          <p:cNvSpPr txBox="1"/>
          <p:nvPr/>
        </p:nvSpPr>
        <p:spPr>
          <a:xfrm>
            <a:off x="3861616" y="307451"/>
            <a:ext cx="7817574" cy="1200329"/>
          </a:xfrm>
          <a:prstGeom prst="rect">
            <a:avLst/>
          </a:prstGeom>
          <a:noFill/>
        </p:spPr>
        <p:txBody>
          <a:bodyPr wrap="square" rtlCol="0">
            <a:spAutoFit/>
          </a:bodyPr>
          <a:lstStyle/>
          <a:p>
            <a:pPr algn="r" rtl="1"/>
            <a:r>
              <a:rPr lang="he-IL" sz="3600" b="1" dirty="0">
                <a:solidFill>
                  <a:schemeClr val="bg2">
                    <a:lumMod val="10000"/>
                  </a:schemeClr>
                </a:solidFill>
                <a:latin typeface="Assistant" pitchFamily="2" charset="-79"/>
                <a:cs typeface="Assistant" pitchFamily="2" charset="-79"/>
              </a:rPr>
              <a:t>שותפויות הן הבסיס להובלת שינוי אסטרטגי מול </a:t>
            </a:r>
            <a:r>
              <a:rPr lang="he-IL" sz="3600" b="1" dirty="0" smtClean="0">
                <a:solidFill>
                  <a:schemeClr val="bg2">
                    <a:lumMod val="10000"/>
                  </a:schemeClr>
                </a:solidFill>
                <a:latin typeface="Assistant" pitchFamily="2" charset="-79"/>
                <a:cs typeface="Assistant" pitchFamily="2" charset="-79"/>
              </a:rPr>
              <a:t>אתגרי </a:t>
            </a:r>
            <a:r>
              <a:rPr lang="he-IL" sz="3600" b="1" dirty="0">
                <a:solidFill>
                  <a:schemeClr val="bg2">
                    <a:lumMod val="10000"/>
                  </a:schemeClr>
                </a:solidFill>
                <a:latin typeface="Assistant" pitchFamily="2" charset="-79"/>
                <a:cs typeface="Assistant" pitchFamily="2" charset="-79"/>
              </a:rPr>
              <a:t>ההזדקנות</a:t>
            </a:r>
            <a:endParaRPr lang="en-IL" sz="3600" b="1" dirty="0">
              <a:solidFill>
                <a:schemeClr val="bg2">
                  <a:lumMod val="10000"/>
                </a:schemeClr>
              </a:solidFill>
              <a:latin typeface="Assistant" pitchFamily="2" charset="-79"/>
              <a:cs typeface="Assistant" pitchFamily="2" charset="-79"/>
            </a:endParaRPr>
          </a:p>
        </p:txBody>
      </p:sp>
      <p:pic>
        <p:nvPicPr>
          <p:cNvPr id="2050" name="Picture 2">
            <a:extLst>
              <a:ext uri="{FF2B5EF4-FFF2-40B4-BE49-F238E27FC236}">
                <a16:creationId xmlns:a16="http://schemas.microsoft.com/office/drawing/2014/main" id="{ED1465D4-9607-4724-A317-6B74F7E156AA}"/>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p:blipFill>
        <p:spPr bwMode="auto">
          <a:xfrm>
            <a:off x="9798648" y="4927622"/>
            <a:ext cx="1865236" cy="7741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מערך הדיגיטל הלאומי">
            <a:extLst>
              <a:ext uri="{FF2B5EF4-FFF2-40B4-BE49-F238E27FC236}">
                <a16:creationId xmlns:a16="http://schemas.microsoft.com/office/drawing/2014/main" id="{F069467E-5128-4869-B81D-CA77048CC77F}"/>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9632777" y="3142231"/>
            <a:ext cx="2064358" cy="71685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1F1671A4-CB2A-4DAD-9463-F105ED4CFA0E}"/>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p:blipFill>
        <p:spPr bwMode="auto">
          <a:xfrm>
            <a:off x="7354051" y="2991413"/>
            <a:ext cx="1945012" cy="101849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AE91C96-5C4E-4B40-8922-28DEDC56A1C8}"/>
              </a:ext>
            </a:extLst>
          </p:cNvPr>
          <p:cNvSpPr txBox="1"/>
          <p:nvPr/>
        </p:nvSpPr>
        <p:spPr>
          <a:xfrm>
            <a:off x="9999233" y="2540478"/>
            <a:ext cx="1697902" cy="369332"/>
          </a:xfrm>
          <a:prstGeom prst="rect">
            <a:avLst/>
          </a:prstGeom>
          <a:noFill/>
        </p:spPr>
        <p:txBody>
          <a:bodyPr wrap="none" rtlCol="0">
            <a:spAutoFit/>
          </a:bodyPr>
          <a:lstStyle/>
          <a:p>
            <a:pPr algn="r" rtl="1"/>
            <a:r>
              <a:rPr lang="he-IL" b="1" dirty="0">
                <a:solidFill>
                  <a:schemeClr val="bg2">
                    <a:lumMod val="25000"/>
                  </a:schemeClr>
                </a:solidFill>
                <a:latin typeface="Assistant SemiBold" pitchFamily="2" charset="-79"/>
                <a:cs typeface="Assistant SemiBold" pitchFamily="2" charset="-79"/>
              </a:rPr>
              <a:t>שותפים מרכזיים:</a:t>
            </a:r>
            <a:endParaRPr lang="en-IL" b="1" dirty="0">
              <a:solidFill>
                <a:schemeClr val="bg2">
                  <a:lumMod val="25000"/>
                </a:schemeClr>
              </a:solidFill>
              <a:latin typeface="Assistant SemiBold" pitchFamily="2" charset="-79"/>
              <a:cs typeface="Assistant SemiBold" pitchFamily="2" charset="-79"/>
            </a:endParaRPr>
          </a:p>
        </p:txBody>
      </p:sp>
      <p:sp>
        <p:nvSpPr>
          <p:cNvPr id="21" name="TextBox 20">
            <a:extLst>
              <a:ext uri="{FF2B5EF4-FFF2-40B4-BE49-F238E27FC236}">
                <a16:creationId xmlns:a16="http://schemas.microsoft.com/office/drawing/2014/main" id="{41FB56E4-ACAE-4B6D-93FD-C95C79AE7EAE}"/>
              </a:ext>
            </a:extLst>
          </p:cNvPr>
          <p:cNvSpPr txBox="1"/>
          <p:nvPr/>
        </p:nvSpPr>
        <p:spPr>
          <a:xfrm>
            <a:off x="10153122" y="4326098"/>
            <a:ext cx="1544013" cy="369332"/>
          </a:xfrm>
          <a:prstGeom prst="rect">
            <a:avLst/>
          </a:prstGeom>
          <a:noFill/>
        </p:spPr>
        <p:txBody>
          <a:bodyPr wrap="none" rtlCol="0">
            <a:spAutoFit/>
          </a:bodyPr>
          <a:lstStyle>
            <a:defPPr>
              <a:defRPr lang="en-IL"/>
            </a:defPPr>
            <a:lvl1pPr algn="r" rtl="1">
              <a:defRPr b="1">
                <a:solidFill>
                  <a:schemeClr val="bg2">
                    <a:lumMod val="25000"/>
                  </a:schemeClr>
                </a:solidFill>
                <a:latin typeface="Assistant SemiBold" pitchFamily="2" charset="-79"/>
                <a:cs typeface="Assistant SemiBold" pitchFamily="2" charset="-79"/>
              </a:defRPr>
            </a:lvl1pPr>
          </a:lstStyle>
          <a:p>
            <a:r>
              <a:rPr lang="he-IL" dirty="0"/>
              <a:t>שותפים נוספים:</a:t>
            </a:r>
            <a:endParaRPr lang="en-IL" dirty="0"/>
          </a:p>
        </p:txBody>
      </p:sp>
      <p:sp>
        <p:nvSpPr>
          <p:cNvPr id="3" name="Rectangle 2">
            <a:extLst>
              <a:ext uri="{FF2B5EF4-FFF2-40B4-BE49-F238E27FC236}">
                <a16:creationId xmlns:a16="http://schemas.microsoft.com/office/drawing/2014/main" id="{AD00825C-FD70-4ED2-8411-A27CADFD470E}"/>
              </a:ext>
            </a:extLst>
          </p:cNvPr>
          <p:cNvSpPr/>
          <p:nvPr/>
        </p:nvSpPr>
        <p:spPr>
          <a:xfrm>
            <a:off x="4155976" y="1705165"/>
            <a:ext cx="7523214" cy="369332"/>
          </a:xfrm>
          <a:prstGeom prst="rect">
            <a:avLst/>
          </a:prstGeom>
        </p:spPr>
        <p:txBody>
          <a:bodyPr wrap="none">
            <a:spAutoFit/>
          </a:bodyPr>
          <a:lstStyle/>
          <a:p>
            <a:pPr algn="r"/>
            <a:r>
              <a:rPr lang="he-IL" b="1" dirty="0">
                <a:solidFill>
                  <a:schemeClr val="bg2">
                    <a:lumMod val="25000"/>
                  </a:schemeClr>
                </a:solidFill>
                <a:latin typeface="Assistant SemiBold" pitchFamily="2" charset="-79"/>
                <a:cs typeface="Assistant SemiBold" pitchFamily="2" charset="-79"/>
              </a:rPr>
              <a:t>משרד הרווחה פועל ב-256 רשויות ומגוון רחב של גופים ממשלתיים, ציבורים ופרטיים </a:t>
            </a:r>
            <a:endParaRPr lang="en-IL" b="1" dirty="0">
              <a:solidFill>
                <a:schemeClr val="bg2">
                  <a:lumMod val="25000"/>
                </a:schemeClr>
              </a:solidFill>
              <a:latin typeface="Assistant SemiBold" pitchFamily="2" charset="-79"/>
              <a:cs typeface="Assistant SemiBold" pitchFamily="2" charset="-79"/>
            </a:endParaRPr>
          </a:p>
        </p:txBody>
      </p:sp>
      <p:pic>
        <p:nvPicPr>
          <p:cNvPr id="20" name="Picture 19">
            <a:extLst>
              <a:ext uri="{FF2B5EF4-FFF2-40B4-BE49-F238E27FC236}">
                <a16:creationId xmlns:a16="http://schemas.microsoft.com/office/drawing/2014/main" id="{2ED4A7E9-ADE1-4D85-9B6C-9CA846038F10}"/>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35206" y="4657165"/>
            <a:ext cx="2497703" cy="2497703"/>
          </a:xfrm>
          <a:prstGeom prst="rect">
            <a:avLst/>
          </a:prstGeom>
          <a:effectLst>
            <a:outerShdw blurRad="533400" dist="50800" dir="5400000" algn="ctr" rotWithShape="0">
              <a:schemeClr val="tx1">
                <a:lumMod val="85000"/>
                <a:lumOff val="15000"/>
                <a:alpha val="30000"/>
              </a:schemeClr>
            </a:outerShdw>
          </a:effectLst>
        </p:spPr>
      </p:pic>
    </p:spTree>
    <p:extLst>
      <p:ext uri="{BB962C8B-B14F-4D97-AF65-F5344CB8AC3E}">
        <p14:creationId xmlns:p14="http://schemas.microsoft.com/office/powerpoint/2010/main" val="1276334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F30606D-4C69-49C9-B4EE-D35182697DA4}"/>
              </a:ext>
            </a:extLst>
          </p:cNvPr>
          <p:cNvSpPr/>
          <p:nvPr/>
        </p:nvSpPr>
        <p:spPr>
          <a:xfrm>
            <a:off x="0" y="0"/>
            <a:ext cx="785994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4" name="Group 3">
            <a:extLst>
              <a:ext uri="{FF2B5EF4-FFF2-40B4-BE49-F238E27FC236}">
                <a16:creationId xmlns:a16="http://schemas.microsoft.com/office/drawing/2014/main" id="{F3EB93A2-64A8-4208-9229-22D52D3FE645}"/>
              </a:ext>
            </a:extLst>
          </p:cNvPr>
          <p:cNvGrpSpPr>
            <a:grpSpLocks noChangeAspect="1"/>
          </p:cNvGrpSpPr>
          <p:nvPr/>
        </p:nvGrpSpPr>
        <p:grpSpPr>
          <a:xfrm>
            <a:off x="2337507" y="1521000"/>
            <a:ext cx="4286214" cy="3816000"/>
            <a:chOff x="1496309" y="2306745"/>
            <a:chExt cx="3547280" cy="3158130"/>
          </a:xfrm>
        </p:grpSpPr>
        <p:sp>
          <p:nvSpPr>
            <p:cNvPr id="24" name="Freeform 7">
              <a:extLst>
                <a:ext uri="{FF2B5EF4-FFF2-40B4-BE49-F238E27FC236}">
                  <a16:creationId xmlns:a16="http://schemas.microsoft.com/office/drawing/2014/main" id="{22EF891F-198B-497F-9E83-36383EDA3B0D}"/>
                </a:ext>
              </a:extLst>
            </p:cNvPr>
            <p:cNvSpPr>
              <a:spLocks/>
            </p:cNvSpPr>
            <p:nvPr/>
          </p:nvSpPr>
          <p:spPr bwMode="gray">
            <a:xfrm rot="107936" flipH="1">
              <a:off x="2541303" y="2485756"/>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2"/>
            </a:solidFill>
            <a:ln>
              <a:noFill/>
              <a:headEnd/>
              <a:tailEnd/>
            </a:ln>
            <a:effectLst/>
          </p:spPr>
          <p:style>
            <a:lnRef idx="3">
              <a:schemeClr val="lt1"/>
            </a:lnRef>
            <a:fillRef idx="1">
              <a:schemeClr val="accent5"/>
            </a:fillRef>
            <a:effectRef idx="1">
              <a:schemeClr val="accent5"/>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תשתית נתונים</a:t>
              </a:r>
              <a:endPar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5" name="Freeform 118">
              <a:extLst>
                <a:ext uri="{FF2B5EF4-FFF2-40B4-BE49-F238E27FC236}">
                  <a16:creationId xmlns:a16="http://schemas.microsoft.com/office/drawing/2014/main" id="{3E1193BD-58A8-4CB0-8C85-52A0633968F6}"/>
                </a:ext>
              </a:extLst>
            </p:cNvPr>
            <p:cNvSpPr>
              <a:spLocks/>
            </p:cNvSpPr>
            <p:nvPr/>
          </p:nvSpPr>
          <p:spPr bwMode="gray">
            <a:xfrm rot="107936" flipH="1">
              <a:off x="3380876" y="3782327"/>
              <a:ext cx="1503328"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3"/>
            </a:solidFill>
            <a:ln>
              <a:noFill/>
              <a:headEnd/>
              <a:tailEnd/>
            </a:ln>
            <a:effectLst/>
          </p:spPr>
          <p:style>
            <a:lnRef idx="3">
              <a:schemeClr val="lt1"/>
            </a:lnRef>
            <a:fillRef idx="1">
              <a:schemeClr val="accent6"/>
            </a:fillRef>
            <a:effectRef idx="1">
              <a:schemeClr val="accent6"/>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הנגשת</a:t>
              </a: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תוצרי נתונים </a:t>
              </a:r>
              <a:endPar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8" name="Freeform 7">
              <a:extLst>
                <a:ext uri="{FF2B5EF4-FFF2-40B4-BE49-F238E27FC236}">
                  <a16:creationId xmlns:a16="http://schemas.microsoft.com/office/drawing/2014/main" id="{1046D0AB-6A9C-4FC4-99BB-D86F43C15C04}"/>
                </a:ext>
              </a:extLst>
            </p:cNvPr>
            <p:cNvSpPr>
              <a:spLocks/>
            </p:cNvSpPr>
            <p:nvPr/>
          </p:nvSpPr>
          <p:spPr bwMode="gray">
            <a:xfrm rot="107936" flipH="1">
              <a:off x="1663504" y="3736349"/>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1"/>
            </a:solidFill>
            <a:ln>
              <a:noFill/>
              <a:headEnd/>
              <a:tailEnd/>
            </a:ln>
            <a:effectLst/>
          </p:spPr>
          <p:style>
            <a:lnRef idx="3">
              <a:schemeClr val="lt1"/>
            </a:lnRef>
            <a:fillRef idx="1">
              <a:schemeClr val="accent2"/>
            </a:fillRef>
            <a:effectRef idx="1">
              <a:schemeClr val="accent2"/>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פיתוח יכולות</a:t>
              </a:r>
              <a: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r>
              <a:b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AI</a:t>
              </a:r>
            </a:p>
          </p:txBody>
        </p:sp>
        <p:sp>
          <p:nvSpPr>
            <p:cNvPr id="29" name="Arc 28">
              <a:extLst>
                <a:ext uri="{FF2B5EF4-FFF2-40B4-BE49-F238E27FC236}">
                  <a16:creationId xmlns:a16="http://schemas.microsoft.com/office/drawing/2014/main" id="{D9CCFA4A-3616-48CE-876F-07F1365A64CE}"/>
                </a:ext>
              </a:extLst>
            </p:cNvPr>
            <p:cNvSpPr/>
            <p:nvPr/>
          </p:nvSpPr>
          <p:spPr bwMode="gray">
            <a:xfrm rot="617810">
              <a:off x="3159925" y="3597701"/>
              <a:ext cx="1883664" cy="1867174"/>
            </a:xfrm>
            <a:prstGeom prst="arc">
              <a:avLst>
                <a:gd name="adj1" fmla="val 16686941"/>
                <a:gd name="adj2" fmla="val 8034923"/>
              </a:avLst>
            </a:prstGeom>
            <a:ln w="28575">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0" name="Arc 29">
              <a:extLst>
                <a:ext uri="{FF2B5EF4-FFF2-40B4-BE49-F238E27FC236}">
                  <a16:creationId xmlns:a16="http://schemas.microsoft.com/office/drawing/2014/main" id="{08FA9DA3-15A3-4F2E-87C3-948BF5D3994F}"/>
                </a:ext>
              </a:extLst>
            </p:cNvPr>
            <p:cNvSpPr/>
            <p:nvPr/>
          </p:nvSpPr>
          <p:spPr bwMode="gray">
            <a:xfrm rot="617810">
              <a:off x="2390715" y="2306745"/>
              <a:ext cx="1792224" cy="1773816"/>
            </a:xfrm>
            <a:prstGeom prst="arc">
              <a:avLst>
                <a:gd name="adj1" fmla="val 10210110"/>
                <a:gd name="adj2" fmla="val 175146"/>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1" name="Arc 30">
              <a:extLst>
                <a:ext uri="{FF2B5EF4-FFF2-40B4-BE49-F238E27FC236}">
                  <a16:creationId xmlns:a16="http://schemas.microsoft.com/office/drawing/2014/main" id="{09F281AB-D5A6-44C6-A902-2ABC33B66EE6}"/>
                </a:ext>
              </a:extLst>
            </p:cNvPr>
            <p:cNvSpPr/>
            <p:nvPr/>
          </p:nvSpPr>
          <p:spPr bwMode="gray">
            <a:xfrm rot="5756245" flipH="1">
              <a:off x="1475770" y="3579735"/>
              <a:ext cx="1829831" cy="1788753"/>
            </a:xfrm>
            <a:prstGeom prst="arc">
              <a:avLst>
                <a:gd name="adj1" fmla="val 1078623"/>
                <a:gd name="adj2" fmla="val 13769744"/>
              </a:avLst>
            </a:prstGeom>
            <a:ln w="285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32" name="Group 449">
              <a:extLst>
                <a:ext uri="{FF2B5EF4-FFF2-40B4-BE49-F238E27FC236}">
                  <a16:creationId xmlns:a16="http://schemas.microsoft.com/office/drawing/2014/main" id="{02D64051-01E2-4749-B62D-BB4DE7E5D45F}"/>
                </a:ext>
              </a:extLst>
            </p:cNvPr>
            <p:cNvGrpSpPr>
              <a:grpSpLocks noChangeAspect="1"/>
            </p:cNvGrpSpPr>
            <p:nvPr/>
          </p:nvGrpSpPr>
          <p:grpSpPr bwMode="auto">
            <a:xfrm>
              <a:off x="3130085" y="2757956"/>
              <a:ext cx="316218" cy="316218"/>
              <a:chOff x="2276" y="1587"/>
              <a:chExt cx="340" cy="340"/>
            </a:xfrm>
            <a:solidFill>
              <a:schemeClr val="bg1"/>
            </a:solidFill>
          </p:grpSpPr>
          <p:sp>
            <p:nvSpPr>
              <p:cNvPr id="33" name="Freeform 450">
                <a:extLst>
                  <a:ext uri="{FF2B5EF4-FFF2-40B4-BE49-F238E27FC236}">
                    <a16:creationId xmlns:a16="http://schemas.microsoft.com/office/drawing/2014/main" id="{283CA427-C2FB-45CE-8FFE-D53E3B6E40D4}"/>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 name="Freeform 451">
                <a:extLst>
                  <a:ext uri="{FF2B5EF4-FFF2-40B4-BE49-F238E27FC236}">
                    <a16:creationId xmlns:a16="http://schemas.microsoft.com/office/drawing/2014/main" id="{F33F217B-C391-45FE-A081-3FD26A91C94A}"/>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35" name="Freeform 884">
              <a:extLst>
                <a:ext uri="{FF2B5EF4-FFF2-40B4-BE49-F238E27FC236}">
                  <a16:creationId xmlns:a16="http://schemas.microsoft.com/office/drawing/2014/main" id="{94B830AB-5E6E-4A1E-9567-03F2E3B1DC53}"/>
                </a:ext>
              </a:extLst>
            </p:cNvPr>
            <p:cNvSpPr>
              <a:spLocks noChangeAspect="1" noEditPoints="1"/>
            </p:cNvSpPr>
            <p:nvPr/>
          </p:nvSpPr>
          <p:spPr bwMode="auto">
            <a:xfrm>
              <a:off x="2238436" y="3993502"/>
              <a:ext cx="314521" cy="3145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106 w 512"/>
                <a:gd name="T13" fmla="*/ 266 h 512"/>
                <a:gd name="T14" fmla="*/ 96 w 512"/>
                <a:gd name="T15" fmla="*/ 256 h 512"/>
                <a:gd name="T16" fmla="*/ 106 w 512"/>
                <a:gd name="T17" fmla="*/ 245 h 512"/>
                <a:gd name="T18" fmla="*/ 405 w 512"/>
                <a:gd name="T19" fmla="*/ 245 h 512"/>
                <a:gd name="T20" fmla="*/ 416 w 512"/>
                <a:gd name="T21" fmla="*/ 256 h 512"/>
                <a:gd name="T22" fmla="*/ 405 w 512"/>
                <a:gd name="T2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106" y="266"/>
                    <a:pt x="106" y="266"/>
                    <a:pt x="106" y="266"/>
                  </a:cubicBezTo>
                  <a:cubicBezTo>
                    <a:pt x="100" y="266"/>
                    <a:pt x="96" y="262"/>
                    <a:pt x="96" y="256"/>
                  </a:cubicBezTo>
                  <a:cubicBezTo>
                    <a:pt x="96" y="250"/>
                    <a:pt x="100" y="245"/>
                    <a:pt x="106" y="245"/>
                  </a:cubicBezTo>
                  <a:cubicBezTo>
                    <a:pt x="405" y="245"/>
                    <a:pt x="405" y="245"/>
                    <a:pt x="405" y="245"/>
                  </a:cubicBezTo>
                  <a:cubicBezTo>
                    <a:pt x="411" y="245"/>
                    <a:pt x="416" y="250"/>
                    <a:pt x="416" y="256"/>
                  </a:cubicBezTo>
                  <a:cubicBezTo>
                    <a:pt x="416" y="262"/>
                    <a:pt x="411" y="266"/>
                    <a:pt x="405" y="266"/>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6" name="Freeform 598">
              <a:extLst>
                <a:ext uri="{FF2B5EF4-FFF2-40B4-BE49-F238E27FC236}">
                  <a16:creationId xmlns:a16="http://schemas.microsoft.com/office/drawing/2014/main" id="{AA8A77A4-5095-478D-A60E-5D43AC7E5A9D}"/>
                </a:ext>
              </a:extLst>
            </p:cNvPr>
            <p:cNvSpPr>
              <a:spLocks noChangeAspect="1" noEditPoints="1"/>
            </p:cNvSpPr>
            <p:nvPr/>
          </p:nvSpPr>
          <p:spPr bwMode="auto">
            <a:xfrm>
              <a:off x="3963308" y="4083789"/>
              <a:ext cx="316779" cy="31677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2 w 512"/>
                <a:gd name="T11" fmla="*/ 167 h 512"/>
                <a:gd name="T12" fmla="*/ 189 w 512"/>
                <a:gd name="T13" fmla="*/ 381 h 512"/>
                <a:gd name="T14" fmla="*/ 181 w 512"/>
                <a:gd name="T15" fmla="*/ 384 h 512"/>
                <a:gd name="T16" fmla="*/ 173 w 512"/>
                <a:gd name="T17" fmla="*/ 381 h 512"/>
                <a:gd name="T18" fmla="*/ 99 w 512"/>
                <a:gd name="T19" fmla="*/ 306 h 512"/>
                <a:gd name="T20" fmla="*/ 99 w 512"/>
                <a:gd name="T21" fmla="*/ 291 h 512"/>
                <a:gd name="T22" fmla="*/ 114 w 512"/>
                <a:gd name="T23" fmla="*/ 291 h 512"/>
                <a:gd name="T24" fmla="*/ 181 w 512"/>
                <a:gd name="T25" fmla="*/ 358 h 512"/>
                <a:gd name="T26" fmla="*/ 387 w 512"/>
                <a:gd name="T27" fmla="*/ 152 h 512"/>
                <a:gd name="T28" fmla="*/ 402 w 512"/>
                <a:gd name="T29" fmla="*/ 152 h 512"/>
                <a:gd name="T30" fmla="*/ 402 w 512"/>
                <a:gd name="T31" fmla="*/ 16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2" y="167"/>
                  </a:moveTo>
                  <a:cubicBezTo>
                    <a:pt x="189" y="381"/>
                    <a:pt x="189" y="381"/>
                    <a:pt x="189" y="381"/>
                  </a:cubicBezTo>
                  <a:cubicBezTo>
                    <a:pt x="186" y="383"/>
                    <a:pt x="184" y="384"/>
                    <a:pt x="181" y="384"/>
                  </a:cubicBezTo>
                  <a:cubicBezTo>
                    <a:pt x="178" y="384"/>
                    <a:pt x="176" y="383"/>
                    <a:pt x="173" y="381"/>
                  </a:cubicBezTo>
                  <a:cubicBezTo>
                    <a:pt x="99" y="306"/>
                    <a:pt x="99" y="306"/>
                    <a:pt x="99" y="306"/>
                  </a:cubicBezTo>
                  <a:cubicBezTo>
                    <a:pt x="95" y="302"/>
                    <a:pt x="95" y="295"/>
                    <a:pt x="99" y="291"/>
                  </a:cubicBezTo>
                  <a:cubicBezTo>
                    <a:pt x="103" y="287"/>
                    <a:pt x="110" y="287"/>
                    <a:pt x="114" y="291"/>
                  </a:cubicBezTo>
                  <a:cubicBezTo>
                    <a:pt x="181" y="358"/>
                    <a:pt x="181" y="358"/>
                    <a:pt x="181" y="358"/>
                  </a:cubicBezTo>
                  <a:cubicBezTo>
                    <a:pt x="387" y="152"/>
                    <a:pt x="387" y="152"/>
                    <a:pt x="387" y="152"/>
                  </a:cubicBezTo>
                  <a:cubicBezTo>
                    <a:pt x="391" y="148"/>
                    <a:pt x="398" y="148"/>
                    <a:pt x="402" y="152"/>
                  </a:cubicBezTo>
                  <a:cubicBezTo>
                    <a:pt x="406" y="156"/>
                    <a:pt x="406" y="163"/>
                    <a:pt x="402" y="167"/>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5" name="Rectangle 4">
            <a:extLst>
              <a:ext uri="{FF2B5EF4-FFF2-40B4-BE49-F238E27FC236}">
                <a16:creationId xmlns:a16="http://schemas.microsoft.com/office/drawing/2014/main" id="{F919C655-10E5-46CB-8EDA-5DC9AF1A8A9B}"/>
              </a:ext>
            </a:extLst>
          </p:cNvPr>
          <p:cNvSpPr/>
          <p:nvPr/>
        </p:nvSpPr>
        <p:spPr>
          <a:xfrm>
            <a:off x="1375341" y="907211"/>
            <a:ext cx="2862604" cy="64633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1. איסוף, אחסון ועיבוד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 נתונים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ממגוון מקורות</a:t>
            </a:r>
            <a:endParaRPr kumimoji="0" lang="en-IL"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7" name="Rectangle 36">
            <a:extLst>
              <a:ext uri="{FF2B5EF4-FFF2-40B4-BE49-F238E27FC236}">
                <a16:creationId xmlns:a16="http://schemas.microsoft.com/office/drawing/2014/main" id="{733275F5-392B-4374-84DC-73F844BCD03A}"/>
              </a:ext>
            </a:extLst>
          </p:cNvPr>
          <p:cNvSpPr/>
          <p:nvPr/>
        </p:nvSpPr>
        <p:spPr>
          <a:xfrm>
            <a:off x="4693704" y="5397801"/>
            <a:ext cx="2989267"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2. הנגשת מוצרי נתונים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תומכי החלטה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לכלל השחקנים</a:t>
            </a:r>
            <a:endParaRPr kumimoji="0" lang="en-IL"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8" name="Rectangle 37">
            <a:extLst>
              <a:ext uri="{FF2B5EF4-FFF2-40B4-BE49-F238E27FC236}">
                <a16:creationId xmlns:a16="http://schemas.microsoft.com/office/drawing/2014/main" id="{6B6E0391-254E-43BC-93B2-F9A05A60B799}"/>
              </a:ext>
            </a:extLst>
          </p:cNvPr>
          <p:cNvSpPr/>
          <p:nvPr/>
        </p:nvSpPr>
        <p:spPr>
          <a:xfrm>
            <a:off x="60674" y="3560515"/>
            <a:ext cx="2260738"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3. פיתוח ושימוש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בפתרונות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AI</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חדשניים</a:t>
            </a: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 name="Rectangle 1">
            <a:extLst>
              <a:ext uri="{FF2B5EF4-FFF2-40B4-BE49-F238E27FC236}">
                <a16:creationId xmlns:a16="http://schemas.microsoft.com/office/drawing/2014/main" id="{9850D813-0660-48D7-A702-7BF9E0E3143A}"/>
              </a:ext>
            </a:extLst>
          </p:cNvPr>
          <p:cNvSpPr/>
          <p:nvPr/>
        </p:nvSpPr>
        <p:spPr>
          <a:xfrm>
            <a:off x="139241" y="4150855"/>
            <a:ext cx="218235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1" name="Rectangle 20">
            <a:extLst>
              <a:ext uri="{FF2B5EF4-FFF2-40B4-BE49-F238E27FC236}">
                <a16:creationId xmlns:a16="http://schemas.microsoft.com/office/drawing/2014/main" id="{EA39893E-899D-4024-B8C0-F8FC8BDCAF03}"/>
              </a:ext>
            </a:extLst>
          </p:cNvPr>
          <p:cNvSpPr/>
          <p:nvPr/>
        </p:nvSpPr>
        <p:spPr>
          <a:xfrm>
            <a:off x="2111066" y="1526415"/>
            <a:ext cx="2182355" cy="45719"/>
          </a:xfrm>
          <a:prstGeom prst="rect">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2" name="Rectangle 21">
            <a:extLst>
              <a:ext uri="{FF2B5EF4-FFF2-40B4-BE49-F238E27FC236}">
                <a16:creationId xmlns:a16="http://schemas.microsoft.com/office/drawing/2014/main" id="{4256B75F-415B-426C-B6EC-F0588F2E5FCD}"/>
              </a:ext>
            </a:extLst>
          </p:cNvPr>
          <p:cNvSpPr/>
          <p:nvPr/>
        </p:nvSpPr>
        <p:spPr>
          <a:xfrm>
            <a:off x="5486392" y="5323056"/>
            <a:ext cx="2182355" cy="45719"/>
          </a:xfrm>
          <a:prstGeom prst="rect">
            <a:avLst/>
          </a:prstGeom>
          <a:solidFill>
            <a:srgbClr val="0BD0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9" name="TextBox 38">
            <a:extLst>
              <a:ext uri="{FF2B5EF4-FFF2-40B4-BE49-F238E27FC236}">
                <a16:creationId xmlns:a16="http://schemas.microsoft.com/office/drawing/2014/main" id="{7DA120A2-EA0D-4385-8632-798C6F4B2401}"/>
              </a:ext>
            </a:extLst>
          </p:cNvPr>
          <p:cNvSpPr txBox="1"/>
          <p:nvPr/>
        </p:nvSpPr>
        <p:spPr>
          <a:xfrm>
            <a:off x="8307235" y="682177"/>
            <a:ext cx="3868677" cy="2610843"/>
          </a:xfrm>
          <a:prstGeom prst="rect">
            <a:avLst/>
          </a:prstGeom>
          <a:noFill/>
        </p:spPr>
        <p:txBody>
          <a:bodyPr wrap="square" rtlCol="0">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BD0D9">
                    <a:lumMod val="75000"/>
                  </a:srgbClr>
                </a:solidFill>
                <a:effectLst/>
                <a:uLnTx/>
                <a:uFillTx/>
                <a:latin typeface="Calibri" panose="020F0502020204030204" pitchFamily="34" charset="0"/>
                <a:ea typeface="+mn-ea"/>
                <a:cs typeface="Calibri" panose="020F0502020204030204" pitchFamily="34" charset="0"/>
              </a:rPr>
              <a:t>בציר הטכנולוגי </a:t>
            </a: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אנו פועלים לפיתוח והטמעה של טכנולוגיות וכלים לאורך שרשרת הערך</a:t>
            </a:r>
          </a:p>
        </p:txBody>
      </p:sp>
      <p:pic>
        <p:nvPicPr>
          <p:cNvPr id="23" name="Picture 22">
            <a:extLst>
              <a:ext uri="{FF2B5EF4-FFF2-40B4-BE49-F238E27FC236}">
                <a16:creationId xmlns:a16="http://schemas.microsoft.com/office/drawing/2014/main" id="{60C3B16B-3EB3-4B99-8FB0-7CAF4CDA7B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58064" y="3510098"/>
            <a:ext cx="2642672" cy="2645554"/>
          </a:xfrm>
          <a:prstGeom prst="rect">
            <a:avLst/>
          </a:prstGeom>
        </p:spPr>
      </p:pic>
    </p:spTree>
    <p:extLst>
      <p:ext uri="{BB962C8B-B14F-4D97-AF65-F5344CB8AC3E}">
        <p14:creationId xmlns:p14="http://schemas.microsoft.com/office/powerpoint/2010/main" val="3965614513"/>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p:cNvSpPr/>
          <p:nvPr/>
        </p:nvSpPr>
        <p:spPr>
          <a:xfrm>
            <a:off x="1691944" y="340980"/>
            <a:ext cx="8759129" cy="1446550"/>
          </a:xfrm>
          <a:prstGeom prst="rect">
            <a:avLst/>
          </a:prstGeom>
        </p:spPr>
        <p:txBody>
          <a:bodyPr wrap="none">
            <a:spAutoFit/>
          </a:bodyPr>
          <a:lstStyle/>
          <a:p>
            <a:pPr lvl="0" algn="ctr" defTabSz="410751" rtl="0" hangingPunct="0">
              <a:defRPr/>
            </a:pPr>
            <a:r>
              <a:rPr lang="he-IL" sz="2800" b="1" dirty="0" smtClean="0">
                <a:solidFill>
                  <a:prstClr val="black"/>
                </a:solidFill>
                <a:latin typeface="Calibri" panose="020F0502020204030204" pitchFamily="34" charset="0"/>
                <a:ea typeface="Tahoma"/>
                <a:cs typeface="Calibri" panose="020F0502020204030204" pitchFamily="34" charset="0"/>
              </a:rPr>
              <a:t>עבודה מבוססת נתונים </a:t>
            </a:r>
            <a:r>
              <a:rPr lang="en-US" sz="2800" b="1" dirty="0" smtClean="0">
                <a:solidFill>
                  <a:prstClr val="black"/>
                </a:solidFill>
                <a:latin typeface="Calibri" panose="020F0502020204030204" pitchFamily="34" charset="0"/>
                <a:ea typeface="Tahoma"/>
                <a:cs typeface="Calibri" panose="020F0502020204030204" pitchFamily="34" charset="0"/>
              </a:rPr>
              <a:t/>
            </a:r>
            <a:br>
              <a:rPr lang="en-US" sz="2800" b="1" dirty="0" smtClean="0">
                <a:solidFill>
                  <a:prstClr val="black"/>
                </a:solidFill>
                <a:latin typeface="Calibri" panose="020F0502020204030204" pitchFamily="34" charset="0"/>
                <a:ea typeface="Tahoma"/>
                <a:cs typeface="Calibri" panose="020F0502020204030204" pitchFamily="34" charset="0"/>
              </a:rPr>
            </a:br>
            <a:r>
              <a:rPr lang="he-IL" sz="2000" dirty="0" smtClean="0">
                <a:solidFill>
                  <a:prstClr val="black"/>
                </a:solidFill>
                <a:latin typeface="Calibri" panose="020F0502020204030204" pitchFamily="34" charset="0"/>
                <a:ea typeface="Tahoma"/>
                <a:cs typeface="Calibri" panose="020F0502020204030204" pitchFamily="34" charset="0"/>
              </a:rPr>
              <a:t>פיתוח דשבורדים לפי נושאים ושירותים המאגדים מקורות מידע שונים</a:t>
            </a:r>
            <a:br>
              <a:rPr lang="he-IL" sz="2000" dirty="0" smtClean="0">
                <a:solidFill>
                  <a:prstClr val="black"/>
                </a:solidFill>
                <a:latin typeface="Calibri" panose="020F0502020204030204" pitchFamily="34" charset="0"/>
                <a:ea typeface="Tahoma"/>
                <a:cs typeface="Calibri" panose="020F0502020204030204" pitchFamily="34" charset="0"/>
              </a:rPr>
            </a:br>
            <a:r>
              <a:rPr lang="he-IL" sz="2000" dirty="0" smtClean="0">
                <a:solidFill>
                  <a:prstClr val="black"/>
                </a:solidFill>
                <a:latin typeface="Calibri" panose="020F0502020204030204" pitchFamily="34" charset="0"/>
                <a:ea typeface="Tahoma"/>
                <a:cs typeface="Calibri" panose="020F0502020204030204" pitchFamily="34" charset="0"/>
              </a:rPr>
              <a:t>(למ"ס, רשות האוכלוסין, </a:t>
            </a:r>
            <a:r>
              <a:rPr lang="he-IL" sz="2000" dirty="0" err="1" smtClean="0">
                <a:solidFill>
                  <a:prstClr val="black"/>
                </a:solidFill>
                <a:latin typeface="Calibri" panose="020F0502020204030204" pitchFamily="34" charset="0"/>
                <a:ea typeface="Tahoma"/>
                <a:cs typeface="Calibri" panose="020F0502020204030204" pitchFamily="34" charset="0"/>
              </a:rPr>
              <a:t>בטל"א</a:t>
            </a:r>
            <a:r>
              <a:rPr lang="he-IL" sz="2000" dirty="0" smtClean="0">
                <a:solidFill>
                  <a:prstClr val="black"/>
                </a:solidFill>
                <a:latin typeface="Calibri" panose="020F0502020204030204" pitchFamily="34" charset="0"/>
                <a:ea typeface="Tahoma"/>
                <a:cs typeface="Calibri" panose="020F0502020204030204" pitchFamily="34" charset="0"/>
              </a:rPr>
              <a:t>, הרשות לניצולי שואה</a:t>
            </a:r>
            <a:r>
              <a:rPr lang="he-IL" sz="2000" dirty="0" smtClean="0">
                <a:solidFill>
                  <a:prstClr val="black"/>
                </a:solidFill>
                <a:latin typeface="Calibri" panose="020F0502020204030204" pitchFamily="34" charset="0"/>
                <a:ea typeface="Tahoma"/>
                <a:cs typeface="Calibri" panose="020F0502020204030204" pitchFamily="34" charset="0"/>
              </a:rPr>
              <a:t>, רוה"מ, </a:t>
            </a:r>
            <a:r>
              <a:rPr lang="he-IL" sz="2000" dirty="0" smtClean="0">
                <a:solidFill>
                  <a:prstClr val="black"/>
                </a:solidFill>
                <a:latin typeface="Calibri" panose="020F0502020204030204" pitchFamily="34" charset="0"/>
                <a:ea typeface="Tahoma"/>
                <a:cs typeface="Calibri" panose="020F0502020204030204" pitchFamily="34" charset="0"/>
              </a:rPr>
              <a:t>נתוני יסוד, מסר , תקצוב ועוד...)</a:t>
            </a:r>
            <a:r>
              <a:rPr lang="en-US" sz="2000" dirty="0" smtClean="0">
                <a:solidFill>
                  <a:prstClr val="black"/>
                </a:solidFill>
                <a:latin typeface="Calibri" panose="020F0502020204030204" pitchFamily="34" charset="0"/>
                <a:ea typeface="Tahoma"/>
                <a:cs typeface="Calibri" panose="020F0502020204030204" pitchFamily="34" charset="0"/>
              </a:rPr>
              <a:t/>
            </a:r>
            <a:br>
              <a:rPr lang="en-US" sz="2000" dirty="0" smtClean="0">
                <a:solidFill>
                  <a:prstClr val="black"/>
                </a:solidFill>
                <a:latin typeface="Calibri" panose="020F0502020204030204" pitchFamily="34" charset="0"/>
                <a:ea typeface="Tahoma"/>
                <a:cs typeface="Calibri" panose="020F0502020204030204" pitchFamily="34" charset="0"/>
              </a:rPr>
            </a:br>
            <a:endParaRPr lang="he-IL" sz="2000" dirty="0">
              <a:solidFill>
                <a:prstClr val="black"/>
              </a:solidFill>
              <a:latin typeface="Calibri" panose="020F0502020204030204" pitchFamily="34" charset="0"/>
              <a:ea typeface="Tahoma"/>
              <a:cs typeface="Calibri" panose="020F0502020204030204" pitchFamily="34" charset="0"/>
            </a:endParaRPr>
          </a:p>
        </p:txBody>
      </p:sp>
      <p:pic>
        <p:nvPicPr>
          <p:cNvPr id="5" name="תמונה 4"/>
          <p:cNvPicPr>
            <a:picLocks noChangeAspect="1"/>
          </p:cNvPicPr>
          <p:nvPr/>
        </p:nvPicPr>
        <p:blipFill>
          <a:blip r:embed="rId2"/>
          <a:stretch>
            <a:fillRect/>
          </a:stretch>
        </p:blipFill>
        <p:spPr>
          <a:xfrm>
            <a:off x="5849309" y="1679894"/>
            <a:ext cx="6011419" cy="3374966"/>
          </a:xfrm>
          <a:prstGeom prst="rect">
            <a:avLst/>
          </a:prstGeom>
        </p:spPr>
      </p:pic>
      <p:pic>
        <p:nvPicPr>
          <p:cNvPr id="6" name="תמונה 5"/>
          <p:cNvPicPr>
            <a:picLocks noChangeAspect="1"/>
          </p:cNvPicPr>
          <p:nvPr/>
        </p:nvPicPr>
        <p:blipFill>
          <a:blip r:embed="rId3"/>
          <a:stretch>
            <a:fillRect/>
          </a:stretch>
        </p:blipFill>
        <p:spPr>
          <a:xfrm>
            <a:off x="107507" y="3341716"/>
            <a:ext cx="6093787" cy="3426288"/>
          </a:xfrm>
          <a:prstGeom prst="rect">
            <a:avLst/>
          </a:prstGeom>
        </p:spPr>
      </p:pic>
    </p:spTree>
    <p:extLst>
      <p:ext uri="{BB962C8B-B14F-4D97-AF65-F5344CB8AC3E}">
        <p14:creationId xmlns:p14="http://schemas.microsoft.com/office/powerpoint/2010/main" val="1834150090"/>
      </p:ext>
    </p:extLst>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921135" y="448888"/>
            <a:ext cx="7132320" cy="523220"/>
          </a:xfrm>
          <a:prstGeom prst="rect">
            <a:avLst/>
          </a:prstGeom>
          <a:noFill/>
        </p:spPr>
        <p:txBody>
          <a:bodyPr wrap="square" rtlCol="1">
            <a:spAutoFit/>
          </a:bodyPr>
          <a:lstStyle/>
          <a:p>
            <a:pPr algn="r" rtl="1"/>
            <a:r>
              <a:rPr lang="he-IL" sz="2800" b="1" dirty="0" smtClean="0">
                <a:latin typeface="Calibri" panose="020F0502020204030204" pitchFamily="34" charset="0"/>
                <a:cs typeface="Calibri" panose="020F0502020204030204" pitchFamily="34" charset="0"/>
              </a:rPr>
              <a:t>ביזור- 97% הגשות לשנת </a:t>
            </a:r>
            <a:r>
              <a:rPr lang="he-IL" sz="2800" dirty="0" smtClean="0">
                <a:latin typeface="Calibri" panose="020F0502020204030204" pitchFamily="34" charset="0"/>
                <a:cs typeface="Calibri" panose="020F0502020204030204" pitchFamily="34" charset="0"/>
              </a:rPr>
              <a:t>2024 (</a:t>
            </a:r>
            <a:r>
              <a:rPr lang="he-IL" sz="2800" dirty="0" err="1" smtClean="0">
                <a:latin typeface="Calibri" panose="020F0502020204030204" pitchFamily="34" charset="0"/>
                <a:cs typeface="Calibri" panose="020F0502020204030204" pitchFamily="34" charset="0"/>
              </a:rPr>
              <a:t>תו"כ</a:t>
            </a:r>
            <a:r>
              <a:rPr lang="he-IL" sz="2800" dirty="0" smtClean="0">
                <a:latin typeface="Calibri" panose="020F0502020204030204" pitchFamily="34" charset="0"/>
                <a:cs typeface="Calibri" panose="020F0502020204030204" pitchFamily="34" charset="0"/>
              </a:rPr>
              <a:t> חרבות ברזל)</a:t>
            </a:r>
            <a:endParaRPr lang="he-IL" sz="2800" dirty="0">
              <a:latin typeface="Calibri" panose="020F0502020204030204" pitchFamily="34" charset="0"/>
              <a:cs typeface="Calibri" panose="020F0502020204030204" pitchFamily="34" charset="0"/>
            </a:endParaRPr>
          </a:p>
        </p:txBody>
      </p:sp>
      <p:pic>
        <p:nvPicPr>
          <p:cNvPr id="6" name="תמונה 5"/>
          <p:cNvPicPr>
            <a:picLocks noChangeAspect="1"/>
          </p:cNvPicPr>
          <p:nvPr/>
        </p:nvPicPr>
        <p:blipFill>
          <a:blip r:embed="rId2"/>
          <a:stretch>
            <a:fillRect/>
          </a:stretch>
        </p:blipFill>
        <p:spPr>
          <a:xfrm>
            <a:off x="402590" y="3217026"/>
            <a:ext cx="6313599" cy="3421874"/>
          </a:xfrm>
          <a:prstGeom prst="rect">
            <a:avLst/>
          </a:prstGeom>
        </p:spPr>
      </p:pic>
      <p:sp>
        <p:nvSpPr>
          <p:cNvPr id="7" name="TextBox 6"/>
          <p:cNvSpPr txBox="1"/>
          <p:nvPr/>
        </p:nvSpPr>
        <p:spPr>
          <a:xfrm>
            <a:off x="2078181" y="2847694"/>
            <a:ext cx="2488277" cy="369332"/>
          </a:xfrm>
          <a:prstGeom prst="rect">
            <a:avLst/>
          </a:prstGeom>
          <a:noFill/>
        </p:spPr>
        <p:txBody>
          <a:bodyPr wrap="square" rtlCol="1">
            <a:spAutoFit/>
          </a:bodyPr>
          <a:lstStyle/>
          <a:p>
            <a:pPr algn="r" rtl="1"/>
            <a:r>
              <a:rPr lang="he-IL" b="1" dirty="0" smtClean="0">
                <a:latin typeface="Calibri" panose="020F0502020204030204" pitchFamily="34" charset="0"/>
                <a:cs typeface="Calibri" panose="020F0502020204030204" pitchFamily="34" charset="0"/>
              </a:rPr>
              <a:t>מעקב ולמידה בזמן אמת</a:t>
            </a:r>
            <a:endParaRPr lang="he-IL" b="1" dirty="0">
              <a:latin typeface="Calibri" panose="020F0502020204030204" pitchFamily="34" charset="0"/>
              <a:cs typeface="Calibri" panose="020F0502020204030204" pitchFamily="34" charset="0"/>
            </a:endParaRPr>
          </a:p>
        </p:txBody>
      </p:sp>
      <p:grpSp>
        <p:nvGrpSpPr>
          <p:cNvPr id="3" name="קבוצה 2"/>
          <p:cNvGrpSpPr/>
          <p:nvPr/>
        </p:nvGrpSpPr>
        <p:grpSpPr>
          <a:xfrm>
            <a:off x="5724317" y="1230946"/>
            <a:ext cx="5334925" cy="3375890"/>
            <a:chOff x="5916549" y="1074190"/>
            <a:chExt cx="5966658" cy="3853773"/>
          </a:xfrm>
        </p:grpSpPr>
        <p:pic>
          <p:nvPicPr>
            <p:cNvPr id="4" name="תמונה 3"/>
            <p:cNvPicPr>
              <a:picLocks noChangeAspect="1"/>
            </p:cNvPicPr>
            <p:nvPr/>
          </p:nvPicPr>
          <p:blipFill>
            <a:blip r:embed="rId3"/>
            <a:stretch>
              <a:fillRect/>
            </a:stretch>
          </p:blipFill>
          <p:spPr>
            <a:xfrm>
              <a:off x="5916550" y="1074190"/>
              <a:ext cx="5966657" cy="3373120"/>
            </a:xfrm>
            <a:prstGeom prst="rect">
              <a:avLst/>
            </a:prstGeom>
          </p:spPr>
        </p:pic>
        <p:pic>
          <p:nvPicPr>
            <p:cNvPr id="2" name="תמונה 1"/>
            <p:cNvPicPr>
              <a:picLocks noChangeAspect="1"/>
            </p:cNvPicPr>
            <p:nvPr/>
          </p:nvPicPr>
          <p:blipFill rotWithShape="1">
            <a:blip r:embed="rId4"/>
            <a:srcRect l="12604" t="25926" r="11250" b="12407"/>
            <a:stretch/>
          </p:blipFill>
          <p:spPr>
            <a:xfrm>
              <a:off x="5916549" y="2265776"/>
              <a:ext cx="5966657" cy="2662187"/>
            </a:xfrm>
            <a:prstGeom prst="rect">
              <a:avLst/>
            </a:prstGeom>
          </p:spPr>
        </p:pic>
      </p:grpSp>
    </p:spTree>
    <p:extLst>
      <p:ext uri="{BB962C8B-B14F-4D97-AF65-F5344CB8AC3E}">
        <p14:creationId xmlns:p14="http://schemas.microsoft.com/office/powerpoint/2010/main" val="2132252313"/>
      </p:ext>
    </p:extLst>
  </p:cSld>
  <p:clrMapOvr>
    <a:masterClrMapping/>
  </p:clrMapOvr>
  <p:transition spd="slow">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endParaRPr lang="he-IL"/>
          </a:p>
        </p:txBody>
      </p:sp>
      <p:sp>
        <p:nvSpPr>
          <p:cNvPr id="3" name="כותרת משנה 2"/>
          <p:cNvSpPr>
            <a:spLocks noGrp="1"/>
          </p:cNvSpPr>
          <p:nvPr>
            <p:ph type="subTitle" idx="1"/>
          </p:nvPr>
        </p:nvSpPr>
        <p:spPr/>
        <p:txBody>
          <a:bodyPr/>
          <a:lstStyle/>
          <a:p>
            <a:endParaRPr lang="he-IL"/>
          </a:p>
        </p:txBody>
      </p:sp>
      <p:pic>
        <p:nvPicPr>
          <p:cNvPr id="4" name="תמונה 3"/>
          <p:cNvPicPr>
            <a:picLocks noChangeAspect="1"/>
          </p:cNvPicPr>
          <p:nvPr/>
        </p:nvPicPr>
        <p:blipFill rotWithShape="1">
          <a:blip r:embed="rId2"/>
          <a:srcRect l="10263" t="11832" r="11053" b="4269"/>
          <a:stretch/>
        </p:blipFill>
        <p:spPr>
          <a:xfrm>
            <a:off x="1193680" y="623305"/>
            <a:ext cx="10395021" cy="6234695"/>
          </a:xfrm>
          <a:prstGeom prst="rect">
            <a:avLst/>
          </a:prstGeom>
        </p:spPr>
      </p:pic>
      <p:sp>
        <p:nvSpPr>
          <p:cNvPr id="5" name="מלבן 4"/>
          <p:cNvSpPr/>
          <p:nvPr/>
        </p:nvSpPr>
        <p:spPr>
          <a:xfrm>
            <a:off x="8188113" y="100085"/>
            <a:ext cx="2848857" cy="523220"/>
          </a:xfrm>
          <a:prstGeom prst="rect">
            <a:avLst/>
          </a:prstGeom>
        </p:spPr>
        <p:txBody>
          <a:bodyPr wrap="none">
            <a:spAutoFit/>
          </a:bodyPr>
          <a:lstStyle/>
          <a:p>
            <a:pPr lvl="0" defTabSz="410751" rtl="0" hangingPunct="0">
              <a:defRPr/>
            </a:pPr>
            <a:r>
              <a:rPr lang="he-IL" sz="2800" b="1" dirty="0" err="1">
                <a:solidFill>
                  <a:prstClr val="black"/>
                </a:solidFill>
                <a:latin typeface="Calibri" panose="020F0502020204030204" pitchFamily="34" charset="0"/>
                <a:ea typeface="Tahoma"/>
                <a:cs typeface="Calibri" panose="020F0502020204030204" pitchFamily="34" charset="0"/>
              </a:rPr>
              <a:t>דשבורדים</a:t>
            </a:r>
            <a:r>
              <a:rPr lang="he-IL" sz="2800" b="1" dirty="0">
                <a:solidFill>
                  <a:prstClr val="black"/>
                </a:solidFill>
                <a:latin typeface="Calibri" panose="020F0502020204030204" pitchFamily="34" charset="0"/>
                <a:ea typeface="Tahoma"/>
                <a:cs typeface="Calibri" panose="020F0502020204030204" pitchFamily="34" charset="0"/>
              </a:rPr>
              <a:t> לשירותים</a:t>
            </a:r>
          </a:p>
        </p:txBody>
      </p:sp>
      <p:grpSp>
        <p:nvGrpSpPr>
          <p:cNvPr id="6" name="קבוצה 5"/>
          <p:cNvGrpSpPr/>
          <p:nvPr/>
        </p:nvGrpSpPr>
        <p:grpSpPr>
          <a:xfrm>
            <a:off x="-11699817" y="100085"/>
            <a:ext cx="13656954" cy="700067"/>
            <a:chOff x="-3056263" y="8858817"/>
            <a:chExt cx="19925771" cy="1048795"/>
          </a:xfrm>
        </p:grpSpPr>
        <p:grpSp>
          <p:nvGrpSpPr>
            <p:cNvPr id="7" name="קבוצה 6"/>
            <p:cNvGrpSpPr/>
            <p:nvPr/>
          </p:nvGrpSpPr>
          <p:grpSpPr>
            <a:xfrm>
              <a:off x="-3056263" y="9002217"/>
              <a:ext cx="1699846" cy="905395"/>
              <a:chOff x="-3079832" y="9022029"/>
              <a:chExt cx="1699846" cy="905395"/>
            </a:xfrm>
          </p:grpSpPr>
          <p:pic>
            <p:nvPicPr>
              <p:cNvPr id="9" name="Image" descr="Image"/>
              <p:cNvPicPr>
                <a:picLocks noChangeAspect="1"/>
              </p:cNvPicPr>
              <p:nvPr/>
            </p:nvPicPr>
            <p:blipFill rotWithShape="1">
              <a:blip r:embed="rId3">
                <a:extLst/>
              </a:blip>
              <a:srcRect r="98659"/>
              <a:stretch/>
            </p:blipFill>
            <p:spPr>
              <a:xfrm>
                <a:off x="-2312032" y="9269684"/>
                <a:ext cx="164246" cy="657740"/>
              </a:xfrm>
              <a:prstGeom prst="rect">
                <a:avLst/>
              </a:prstGeom>
              <a:ln w="12700">
                <a:miter lim="400000"/>
              </a:ln>
            </p:spPr>
          </p:pic>
          <p:sp>
            <p:nvSpPr>
              <p:cNvPr id="10" name="מלבן 9"/>
              <p:cNvSpPr/>
              <p:nvPr/>
            </p:nvSpPr>
            <p:spPr>
              <a:xfrm>
                <a:off x="-3079832" y="9022029"/>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8" name="תמונה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Tree>
    <p:extLst>
      <p:ext uri="{BB962C8B-B14F-4D97-AF65-F5344CB8AC3E}">
        <p14:creationId xmlns:p14="http://schemas.microsoft.com/office/powerpoint/2010/main" val="24842900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dirty="0"/>
          </a:p>
        </p:txBody>
      </p:sp>
      <p:sp>
        <p:nvSpPr>
          <p:cNvPr id="3" name="מציין מיקום תוכן 2"/>
          <p:cNvSpPr>
            <a:spLocks noGrp="1"/>
          </p:cNvSpPr>
          <p:nvPr>
            <p:ph idx="1"/>
          </p:nvPr>
        </p:nvSpPr>
        <p:spPr/>
        <p:txBody>
          <a:bodyPr/>
          <a:lstStyle/>
          <a:p>
            <a:pPr marL="0" indent="0">
              <a:buNone/>
            </a:pPr>
            <a:endParaRPr lang="he-IL" dirty="0" smtClean="0"/>
          </a:p>
        </p:txBody>
      </p:sp>
      <p:pic>
        <p:nvPicPr>
          <p:cNvPr id="4" name="תמונה 3"/>
          <p:cNvPicPr>
            <a:picLocks noChangeAspect="1"/>
          </p:cNvPicPr>
          <p:nvPr/>
        </p:nvPicPr>
        <p:blipFill rotWithShape="1">
          <a:blip r:embed="rId2"/>
          <a:srcRect l="1755" t="10364" r="17280" b="5749"/>
          <a:stretch/>
        </p:blipFill>
        <p:spPr>
          <a:xfrm>
            <a:off x="0" y="0"/>
            <a:ext cx="12192000" cy="6842315"/>
          </a:xfrm>
          <a:prstGeom prst="rect">
            <a:avLst/>
          </a:prstGeom>
        </p:spPr>
      </p:pic>
    </p:spTree>
    <p:extLst>
      <p:ext uri="{BB962C8B-B14F-4D97-AF65-F5344CB8AC3E}">
        <p14:creationId xmlns:p14="http://schemas.microsoft.com/office/powerpoint/2010/main" val="17934608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D05366-1929-4BEB-B2F0-69E56A17A07C}"/>
              </a:ext>
            </a:extLst>
          </p:cNvPr>
          <p:cNvSpPr txBox="1"/>
          <p:nvPr/>
        </p:nvSpPr>
        <p:spPr>
          <a:xfrm>
            <a:off x="4297680" y="474205"/>
            <a:ext cx="7230621"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מערכת </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BI</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לרשויות- המכלול</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10" name="תמונה 1">
            <a:extLst>
              <a:ext uri="{FF2B5EF4-FFF2-40B4-BE49-F238E27FC236}">
                <a16:creationId xmlns:a16="http://schemas.microsoft.com/office/drawing/2014/main" id="{2B5B4AC0-3E64-4797-8E3C-40AA508A0A9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58413" y="1058979"/>
            <a:ext cx="10797193" cy="551828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525156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D05366-1929-4BEB-B2F0-69E56A17A07C}"/>
              </a:ext>
            </a:extLst>
          </p:cNvPr>
          <p:cNvSpPr txBox="1"/>
          <p:nvPr/>
        </p:nvSpPr>
        <p:spPr>
          <a:xfrm>
            <a:off x="2103120" y="485795"/>
            <a:ext cx="9654551"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פיתוח דשבורדים תומכי ניהול ותכנון לגופים השונים</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5" name="תמונה 1">
            <a:extLst>
              <a:ext uri="{FF2B5EF4-FFF2-40B4-BE49-F238E27FC236}">
                <a16:creationId xmlns:a16="http://schemas.microsoft.com/office/drawing/2014/main" id="{E9906F2E-6CBF-4E30-8F87-32DC1C773AF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67041" y="1466785"/>
            <a:ext cx="4265492" cy="2452894"/>
          </a:xfrm>
          <a:prstGeom prst="rect">
            <a:avLst/>
          </a:prstGeom>
          <a:effectLst>
            <a:outerShdw blurRad="50800" dist="38100" dir="2700000" algn="tl" rotWithShape="0">
              <a:prstClr val="black">
                <a:alpha val="40000"/>
              </a:prstClr>
            </a:outerShdw>
          </a:effectLst>
        </p:spPr>
      </p:pic>
      <p:grpSp>
        <p:nvGrpSpPr>
          <p:cNvPr id="6" name="Group 5">
            <a:extLst>
              <a:ext uri="{FF2B5EF4-FFF2-40B4-BE49-F238E27FC236}">
                <a16:creationId xmlns:a16="http://schemas.microsoft.com/office/drawing/2014/main" id="{DE3B83B0-4B49-441A-9B9A-190CBAE5F6A3}"/>
              </a:ext>
            </a:extLst>
          </p:cNvPr>
          <p:cNvGrpSpPr/>
          <p:nvPr/>
        </p:nvGrpSpPr>
        <p:grpSpPr>
          <a:xfrm>
            <a:off x="5464302" y="1482026"/>
            <a:ext cx="4877055" cy="2437653"/>
            <a:chOff x="1" y="0"/>
            <a:chExt cx="12217630" cy="6719368"/>
          </a:xfrm>
        </p:grpSpPr>
        <p:pic>
          <p:nvPicPr>
            <p:cNvPr id="7" name="תמונה 4">
              <a:extLst>
                <a:ext uri="{FF2B5EF4-FFF2-40B4-BE49-F238E27FC236}">
                  <a16:creationId xmlns:a16="http://schemas.microsoft.com/office/drawing/2014/main" id="{FF106A7E-BEF9-4143-8DB0-CCD21B7F5BA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 y="0"/>
              <a:ext cx="12192000" cy="3535680"/>
            </a:xfrm>
            <a:prstGeom prst="rect">
              <a:avLst/>
            </a:prstGeom>
            <a:effectLst>
              <a:outerShdw blurRad="50800" dist="38100" dir="2700000" algn="tl" rotWithShape="0">
                <a:prstClr val="black">
                  <a:alpha val="40000"/>
                </a:prstClr>
              </a:outerShdw>
            </a:effectLst>
          </p:spPr>
        </p:pic>
        <p:pic>
          <p:nvPicPr>
            <p:cNvPr id="8" name="תמונה 5">
              <a:extLst>
                <a:ext uri="{FF2B5EF4-FFF2-40B4-BE49-F238E27FC236}">
                  <a16:creationId xmlns:a16="http://schemas.microsoft.com/office/drawing/2014/main" id="{BEBA3039-86EF-4156-9036-7FF325EB0CA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82034" y="2476990"/>
              <a:ext cx="12035597" cy="4242378"/>
            </a:xfrm>
            <a:prstGeom prst="rect">
              <a:avLst/>
            </a:prstGeom>
            <a:effectLst>
              <a:outerShdw blurRad="50800" dist="38100" dir="2700000" algn="tl" rotWithShape="0">
                <a:prstClr val="black">
                  <a:alpha val="40000"/>
                </a:prstClr>
              </a:outerShdw>
            </a:effectLst>
          </p:spPr>
        </p:pic>
      </p:grpSp>
      <p:pic>
        <p:nvPicPr>
          <p:cNvPr id="9" name="תמונה 3">
            <a:extLst>
              <a:ext uri="{FF2B5EF4-FFF2-40B4-BE49-F238E27FC236}">
                <a16:creationId xmlns:a16="http://schemas.microsoft.com/office/drawing/2014/main" id="{5F1DC23D-093B-4A5B-95E9-5B7F4BAD895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03760" y="4172388"/>
            <a:ext cx="3967519" cy="2161076"/>
          </a:xfrm>
          <a:prstGeom prst="rect">
            <a:avLst/>
          </a:prstGeom>
          <a:effectLst>
            <a:outerShdw blurRad="50800" dist="38100" dir="2700000" algn="tl" rotWithShape="0">
              <a:prstClr val="black">
                <a:alpha val="40000"/>
              </a:prstClr>
            </a:outerShdw>
          </a:effectLst>
        </p:spPr>
      </p:pic>
      <p:pic>
        <p:nvPicPr>
          <p:cNvPr id="10" name="תמונה 9">
            <a:extLst>
              <a:ext uri="{FF2B5EF4-FFF2-40B4-BE49-F238E27FC236}">
                <a16:creationId xmlns:a16="http://schemas.microsoft.com/office/drawing/2014/main" id="{5D5769BF-ACC0-463B-A8BE-0FE8FE1B1F8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020560" y="4172388"/>
            <a:ext cx="3898016" cy="216107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26772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328451"/>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644954" y="122320"/>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r" defTabSz="410751" rtl="0" eaLnBrk="1" fontAlgn="auto" latinLnBrk="0" hangingPunct="0">
              <a:lnSpc>
                <a:spcPct val="100000"/>
              </a:lnSpc>
              <a:spcBef>
                <a:spcPts val="0"/>
              </a:spcBef>
              <a:spcAft>
                <a:spcPts val="0"/>
              </a:spcAft>
              <a:buClrTx/>
              <a:buSzTx/>
              <a:buFontTx/>
              <a:buNone/>
              <a:tabLst/>
              <a:defRPr/>
            </a:pPr>
            <a:r>
              <a:rPr kumimoji="0" lang="he-IL" sz="2601" b="1" i="0" u="none" strike="noStrike" kern="1200" cap="none" spc="0" normalizeH="0" baseline="0" noProof="0" dirty="0" err="1">
                <a:ln>
                  <a:noFill/>
                </a:ln>
                <a:solidFill>
                  <a:prstClr val="black"/>
                </a:solidFill>
                <a:effectLst/>
                <a:uLnTx/>
                <a:uFillTx/>
                <a:latin typeface="Calibri" panose="020F0502020204030204" pitchFamily="34" charset="0"/>
                <a:ea typeface="Tahoma"/>
                <a:cs typeface="Calibri" panose="020F0502020204030204" pitchFamily="34" charset="0"/>
              </a:rPr>
              <a:t>דשבורדים</a:t>
            </a:r>
            <a:r>
              <a:rPr kumimoji="0" lang="he-IL" sz="2601" b="1" i="0" u="none" strike="noStrike" kern="1200" cap="none" spc="0" normalizeH="0" baseline="0" noProof="0" dirty="0">
                <a:ln>
                  <a:noFill/>
                </a:ln>
                <a:solidFill>
                  <a:prstClr val="black"/>
                </a:solidFill>
                <a:effectLst/>
                <a:uLnTx/>
                <a:uFillTx/>
                <a:latin typeface="Calibri" panose="020F0502020204030204" pitchFamily="34" charset="0"/>
                <a:ea typeface="Tahoma"/>
                <a:cs typeface="Calibri" panose="020F0502020204030204" pitchFamily="34" charset="0"/>
              </a:rPr>
              <a:t> לשירותים</a:t>
            </a:r>
          </a:p>
        </p:txBody>
      </p:sp>
      <p:pic>
        <p:nvPicPr>
          <p:cNvPr id="2" name="תמונה 1"/>
          <p:cNvPicPr>
            <a:picLocks noChangeAspect="1"/>
          </p:cNvPicPr>
          <p:nvPr/>
        </p:nvPicPr>
        <p:blipFill rotWithShape="1">
          <a:blip r:embed="rId5"/>
          <a:srcRect l="9078" t="11027" r="9378" b="12954"/>
          <a:stretch/>
        </p:blipFill>
        <p:spPr>
          <a:xfrm>
            <a:off x="684855" y="762457"/>
            <a:ext cx="10653805" cy="558663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18035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166623" y="2172689"/>
            <a:ext cx="4430945"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6992044"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בישראל</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2172689"/>
            <a:ext cx="2853339"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ניתוחים גאוגרפים – ניתוח ביקושים לקהילות תומכות למקבלי חוק סיעוד ברמה הארצית</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3049401"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תל אביב</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spTree>
    <p:extLst>
      <p:ext uri="{BB962C8B-B14F-4D97-AF65-F5344CB8AC3E}">
        <p14:creationId xmlns:p14="http://schemas.microsoft.com/office/powerpoint/2010/main" val="29606194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313404-E4E1-479F-9600-3F8DF43A4A88}"/>
              </a:ext>
            </a:extLst>
          </p:cNvPr>
          <p:cNvSpPr/>
          <p:nvPr/>
        </p:nvSpPr>
        <p:spPr>
          <a:xfrm>
            <a:off x="6863298" y="1"/>
            <a:ext cx="5328702" cy="6858000"/>
          </a:xfrm>
          <a:prstGeom prst="rect">
            <a:avLst/>
          </a:prstGeom>
          <a:solidFill>
            <a:srgbClr val="10CF9B"/>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0CF9B"/>
              </a:solidFill>
              <a:effectLst/>
              <a:uLnTx/>
              <a:uFillTx/>
              <a:latin typeface="Arial" panose="020B0604020202020204" pitchFamily="34" charset="0"/>
              <a:ea typeface="+mn-ea"/>
              <a:cs typeface="+mn-cs"/>
            </a:endParaRPr>
          </a:p>
        </p:txBody>
      </p:sp>
      <p:sp>
        <p:nvSpPr>
          <p:cNvPr id="2" name="TextBox 1">
            <a:extLst>
              <a:ext uri="{FF2B5EF4-FFF2-40B4-BE49-F238E27FC236}">
                <a16:creationId xmlns:a16="http://schemas.microsoft.com/office/drawing/2014/main" id="{A9CF82E6-1903-4E2D-A0AC-E2D03EED4F56}"/>
              </a:ext>
            </a:extLst>
          </p:cNvPr>
          <p:cNvSpPr txBox="1"/>
          <p:nvPr/>
        </p:nvSpPr>
        <p:spPr>
          <a:xfrm>
            <a:off x="6892260" y="401468"/>
            <a:ext cx="5083671" cy="86177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דוגמאות לפרויקטים מובילים: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סימולטור תכנון שירותים ותקציב</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3" name="תמונה 2">
            <a:extLst>
              <a:ext uri="{FF2B5EF4-FFF2-40B4-BE49-F238E27FC236}">
                <a16:creationId xmlns:a16="http://schemas.microsoft.com/office/drawing/2014/main" id="{69BCD928-B99B-4321-B510-B166E4C3C7E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1"/>
          <a:stretch/>
        </p:blipFill>
        <p:spPr>
          <a:xfrm>
            <a:off x="99895" y="435343"/>
            <a:ext cx="4872625" cy="2550823"/>
          </a:xfrm>
          <a:prstGeom prst="rect">
            <a:avLst/>
          </a:prstGeom>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994D1341-C141-4AF5-8B67-1AF0E9E09EFA}"/>
              </a:ext>
            </a:extLst>
          </p:cNvPr>
          <p:cNvSpPr txBox="1"/>
          <p:nvPr/>
        </p:nvSpPr>
        <p:spPr>
          <a:xfrm>
            <a:off x="7632438" y="1500196"/>
            <a:ext cx="393539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בניית כלי תכנון שמאפשר לרשויות המקומיות השונות לבצע תכנון מבוסס נתונים. </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ADB35831-E902-4772-95B9-2AD3298B54C2}"/>
              </a:ext>
            </a:extLst>
          </p:cNvPr>
          <p:cNvSpPr/>
          <p:nvPr/>
        </p:nvSpPr>
        <p:spPr>
          <a:xfrm>
            <a:off x="7411821" y="3203547"/>
            <a:ext cx="4183182" cy="2542363"/>
          </a:xfrm>
          <a:prstGeom prst="rect">
            <a:avLst/>
          </a:prstGeom>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הכלי כולל בין השאר:</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ביצועי עבר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תכנון מול ביצוע</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תקצוב</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הקצאות תקציביות עתידיות</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תכנון שירותים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הפעילות ובחירת השירותים</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דשבורד</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למעקב אחר התכנון וביצועי העבר</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ספר שירותים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לזקן ובני משפחתו</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DEF5794F-92D3-4A7B-8104-33E54D6178E7}"/>
              </a:ext>
            </a:extLst>
          </p:cNvPr>
          <p:cNvSpPr txBox="1"/>
          <p:nvPr/>
        </p:nvSpPr>
        <p:spPr>
          <a:xfrm>
            <a:off x="7632438" y="2449517"/>
            <a:ext cx="393539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הכלי מבוסס אקסל ומיועד לבעלי תפקידים ברשויות</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8" name="Picture 7">
            <a:extLst>
              <a:ext uri="{FF2B5EF4-FFF2-40B4-BE49-F238E27FC236}">
                <a16:creationId xmlns:a16="http://schemas.microsoft.com/office/drawing/2014/main" id="{129CCF40-D312-48EE-AAF2-ED4A2F026FE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752277" y="2676561"/>
            <a:ext cx="3886762" cy="2096733"/>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AE5A836F-85E8-4558-8EC9-D7591A0A0C9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2404" y="4034394"/>
            <a:ext cx="4719355" cy="264149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089383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קבוצה 3">
            <a:extLst>
              <a:ext uri="{FF2B5EF4-FFF2-40B4-BE49-F238E27FC236}">
                <a16:creationId xmlns:a16="http://schemas.microsoft.com/office/drawing/2014/main" id="{2BAD002D-6440-B863-F2BC-B285FF8040DE}"/>
              </a:ext>
            </a:extLst>
          </p:cNvPr>
          <p:cNvGrpSpPr/>
          <p:nvPr/>
        </p:nvGrpSpPr>
        <p:grpSpPr>
          <a:xfrm>
            <a:off x="561321" y="1183895"/>
            <a:ext cx="6966545" cy="4130041"/>
            <a:chOff x="0" y="1"/>
            <a:chExt cx="12192001" cy="7944403"/>
          </a:xfrm>
          <a:effectLst>
            <a:outerShdw blurRad="50800" dist="38100" dir="2700000" algn="tl" rotWithShape="0">
              <a:prstClr val="black">
                <a:alpha val="40000"/>
              </a:prstClr>
            </a:outerShdw>
          </a:effectLst>
        </p:grpSpPr>
        <p:pic>
          <p:nvPicPr>
            <p:cNvPr id="2" name="תמונה 1">
              <a:extLst>
                <a:ext uri="{FF2B5EF4-FFF2-40B4-BE49-F238E27FC236}">
                  <a16:creationId xmlns:a16="http://schemas.microsoft.com/office/drawing/2014/main" id="{F5E5CE72-C6FA-9C8A-41DA-57E10AE65CA4}"/>
                </a:ext>
              </a:extLst>
            </p:cNvPr>
            <p:cNvPicPr>
              <a:picLocks noChangeAspect="1"/>
            </p:cNvPicPr>
            <p:nvPr/>
          </p:nvPicPr>
          <p:blipFill rotWithShape="1">
            <a:blip r:embed="rId3"/>
            <a:srcRect l="12656" t="14722" r="12969" b="13889"/>
            <a:stretch/>
          </p:blipFill>
          <p:spPr>
            <a:xfrm>
              <a:off x="0" y="1118601"/>
              <a:ext cx="12192000" cy="6825803"/>
            </a:xfrm>
            <a:prstGeom prst="rect">
              <a:avLst/>
            </a:prstGeom>
          </p:spPr>
        </p:pic>
        <p:pic>
          <p:nvPicPr>
            <p:cNvPr id="3" name="תמונה 2">
              <a:extLst>
                <a:ext uri="{FF2B5EF4-FFF2-40B4-BE49-F238E27FC236}">
                  <a16:creationId xmlns:a16="http://schemas.microsoft.com/office/drawing/2014/main" id="{854086B9-5DCF-4592-43E3-F14A834D1B0B}"/>
                </a:ext>
              </a:extLst>
            </p:cNvPr>
            <p:cNvPicPr>
              <a:picLocks noChangeAspect="1"/>
            </p:cNvPicPr>
            <p:nvPr/>
          </p:nvPicPr>
          <p:blipFill rotWithShape="1">
            <a:blip r:embed="rId4"/>
            <a:srcRect l="3961" t="11770" r="4337" b="59426"/>
            <a:stretch/>
          </p:blipFill>
          <p:spPr>
            <a:xfrm>
              <a:off x="1" y="1"/>
              <a:ext cx="12192000" cy="2413932"/>
            </a:xfrm>
            <a:prstGeom prst="rect">
              <a:avLst/>
            </a:prstGeom>
          </p:spPr>
        </p:pic>
      </p:grpSp>
      <p:sp>
        <p:nvSpPr>
          <p:cNvPr id="6" name="תיבת טקסט 5">
            <a:extLst>
              <a:ext uri="{FF2B5EF4-FFF2-40B4-BE49-F238E27FC236}">
                <a16:creationId xmlns:a16="http://schemas.microsoft.com/office/drawing/2014/main" id="{EDB60929-9D74-38CB-CCC9-6848FD8363F1}"/>
              </a:ext>
            </a:extLst>
          </p:cNvPr>
          <p:cNvSpPr txBox="1"/>
          <p:nvPr/>
        </p:nvSpPr>
        <p:spPr>
          <a:xfrm>
            <a:off x="9259340" y="1591754"/>
            <a:ext cx="2350323" cy="523220"/>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האם זה אפשרי?</a:t>
            </a:r>
          </a:p>
        </p:txBody>
      </p:sp>
      <p:sp>
        <p:nvSpPr>
          <p:cNvPr id="5" name="Rectangle 4">
            <a:extLst>
              <a:ext uri="{FF2B5EF4-FFF2-40B4-BE49-F238E27FC236}">
                <a16:creationId xmlns:a16="http://schemas.microsoft.com/office/drawing/2014/main" id="{AEED4751-B966-4F21-8F9E-BA058DC2606F}"/>
              </a:ext>
            </a:extLst>
          </p:cNvPr>
          <p:cNvSpPr/>
          <p:nvPr/>
        </p:nvSpPr>
        <p:spPr>
          <a:xfrm>
            <a:off x="6304006" y="1811357"/>
            <a:ext cx="1137920" cy="62746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7" name="TextBox 6">
            <a:extLst>
              <a:ext uri="{FF2B5EF4-FFF2-40B4-BE49-F238E27FC236}">
                <a16:creationId xmlns:a16="http://schemas.microsoft.com/office/drawing/2014/main" id="{876BFF6F-7EB5-4D48-B632-3399D369F1F0}"/>
              </a:ext>
            </a:extLst>
          </p:cNvPr>
          <p:cNvSpPr txBox="1"/>
          <p:nvPr/>
        </p:nvSpPr>
        <p:spPr>
          <a:xfrm>
            <a:off x="7738703" y="2112710"/>
            <a:ext cx="3870960" cy="2805063"/>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98% מהרשויות ביצעו תכנון מבוסס נתונים בשנת 2022 שאושר בפיקוח המחוזי ומשתקף חזרה כיעדים </a:t>
            </a:r>
            <a:r>
              <a:rPr kumimoji="0" lang="he-IL"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בדשבורדים</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שהמשרד מנגיש</a:t>
            </a:r>
            <a:endParaRPr kumimoji="0" lang="en-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8" name="Group 7">
            <a:extLst>
              <a:ext uri="{FF2B5EF4-FFF2-40B4-BE49-F238E27FC236}">
                <a16:creationId xmlns:a16="http://schemas.microsoft.com/office/drawing/2014/main" id="{73E0FEF1-EF52-47AA-A848-03EE011333DA}"/>
              </a:ext>
            </a:extLst>
          </p:cNvPr>
          <p:cNvGrpSpPr>
            <a:grpSpLocks noChangeAspect="1"/>
          </p:cNvGrpSpPr>
          <p:nvPr/>
        </p:nvGrpSpPr>
        <p:grpSpPr>
          <a:xfrm>
            <a:off x="10922635" y="1066420"/>
            <a:ext cx="522288" cy="523875"/>
            <a:chOff x="11115676" y="4182110"/>
            <a:chExt cx="522288" cy="523875"/>
          </a:xfrm>
        </p:grpSpPr>
        <p:sp>
          <p:nvSpPr>
            <p:cNvPr id="9" name="Freeform 45">
              <a:extLst>
                <a:ext uri="{FF2B5EF4-FFF2-40B4-BE49-F238E27FC236}">
                  <a16:creationId xmlns:a16="http://schemas.microsoft.com/office/drawing/2014/main" id="{F10D1453-7BB5-4230-BF95-B5B9B8A20F47}"/>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327">
              <a:extLst>
                <a:ext uri="{FF2B5EF4-FFF2-40B4-BE49-F238E27FC236}">
                  <a16:creationId xmlns:a16="http://schemas.microsoft.com/office/drawing/2014/main" id="{5C85AC6E-1D40-4E4F-A770-C3B6C6814B1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328">
              <a:extLst>
                <a:ext uri="{FF2B5EF4-FFF2-40B4-BE49-F238E27FC236}">
                  <a16:creationId xmlns:a16="http://schemas.microsoft.com/office/drawing/2014/main" id="{5A1485D9-0D20-43B7-8AAB-9F3C1CE3D21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Flowchart: Connector 11">
            <a:extLst>
              <a:ext uri="{FF2B5EF4-FFF2-40B4-BE49-F238E27FC236}">
                <a16:creationId xmlns:a16="http://schemas.microsoft.com/office/drawing/2014/main" id="{B40A8D88-AF88-40DD-A62E-EC86768C4180}"/>
              </a:ext>
            </a:extLst>
          </p:cNvPr>
          <p:cNvSpPr/>
          <p:nvPr/>
        </p:nvSpPr>
        <p:spPr>
          <a:xfrm>
            <a:off x="11172666" y="1183895"/>
            <a:ext cx="108000" cy="108000"/>
          </a:xfrm>
          <a:prstGeom prst="flowChartConnec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696294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9105156-2634-42D6-B843-6D3E841E668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46FF407-79D8-40A3-91DF-27F8B7D83E14}"/>
              </a:ext>
            </a:extLst>
          </p:cNvPr>
          <p:cNvSpPr txBox="1"/>
          <p:nvPr/>
        </p:nvSpPr>
        <p:spPr>
          <a:xfrm>
            <a:off x="5273040" y="531116"/>
            <a:ext cx="5830570" cy="1354217"/>
          </a:xfrm>
          <a:prstGeom prst="rect">
            <a:avLst/>
          </a:prstGeom>
          <a:noFill/>
        </p:spPr>
        <p:txBody>
          <a:bodyPr wrap="square" rtlCol="0">
            <a:spAutoFit/>
          </a:bodyPr>
          <a:lstStyle/>
          <a:p>
            <a:pPr algn="r" rtl="1"/>
            <a:r>
              <a:rPr lang="he-IL" u="sng" dirty="0">
                <a:latin typeface="Calibri" panose="020F0502020204030204" pitchFamily="34" charset="0"/>
                <a:cs typeface="Calibri" panose="020F0502020204030204" pitchFamily="34" charset="0"/>
              </a:rPr>
              <a:t>שנה שנייה לרפורמה</a:t>
            </a:r>
            <a:r>
              <a:rPr lang="en-US" sz="3200" b="1" dirty="0">
                <a:latin typeface="Calibri" panose="020F0502020204030204" pitchFamily="34" charset="0"/>
                <a:cs typeface="Calibri" panose="020F0502020204030204" pitchFamily="34" charset="0"/>
              </a:rPr>
              <a:t/>
            </a:r>
            <a:br>
              <a:rPr lang="en-US" sz="3200" b="1" dirty="0">
                <a:latin typeface="Calibri" panose="020F0502020204030204" pitchFamily="34" charset="0"/>
                <a:cs typeface="Calibri" panose="020F0502020204030204" pitchFamily="34" charset="0"/>
              </a:rPr>
            </a:br>
            <a:r>
              <a:rPr lang="he-IL" sz="3200" b="1" dirty="0">
                <a:latin typeface="Calibri" panose="020F0502020204030204" pitchFamily="34" charset="0"/>
                <a:cs typeface="Calibri" panose="020F0502020204030204" pitchFamily="34" charset="0"/>
              </a:rPr>
              <a:t>הרפורמה מגדירה מחדש את מערכת היחסים בין המשרד לרשויות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4D7F7E7-6108-4451-8C04-597653E774A3}"/>
              </a:ext>
            </a:extLst>
          </p:cNvPr>
          <p:cNvSpPr txBox="1"/>
          <p:nvPr/>
        </p:nvSpPr>
        <p:spPr>
          <a:xfrm>
            <a:off x="6585664" y="2162449"/>
            <a:ext cx="4146548" cy="3096360"/>
          </a:xfrm>
          <a:prstGeom prst="rect">
            <a:avLst/>
          </a:prstGeom>
          <a:noFill/>
        </p:spPr>
        <p:txBody>
          <a:bodyPr wrap="square" rtlCol="0">
            <a:spAutoFit/>
          </a:bodyPr>
          <a:lstStyle/>
          <a:p>
            <a:pPr algn="r" rtl="1">
              <a:lnSpc>
                <a:spcPct val="150000"/>
              </a:lnSpc>
            </a:pPr>
            <a:r>
              <a:rPr lang="he-IL" sz="2400" b="1" dirty="0">
                <a:latin typeface="Calibri" panose="020F0502020204030204" pitchFamily="34" charset="0"/>
                <a:cs typeface="Calibri" panose="020F0502020204030204" pitchFamily="34" charset="0"/>
              </a:rPr>
              <a:t>משרד הרווחה</a:t>
            </a:r>
          </a:p>
          <a:p>
            <a:pPr algn="r" rtl="1">
              <a:lnSpc>
                <a:spcPct val="150000"/>
              </a:lnSpc>
            </a:pPr>
            <a:r>
              <a:rPr lang="he-IL" dirty="0">
                <a:latin typeface="Calibri" panose="020F0502020204030204" pitchFamily="34" charset="0"/>
                <a:cs typeface="Calibri" panose="020F0502020204030204" pitchFamily="34" charset="0"/>
              </a:rPr>
              <a:t>מוביל </a:t>
            </a:r>
            <a:r>
              <a:rPr lang="he-IL" b="1" dirty="0">
                <a:latin typeface="Calibri" panose="020F0502020204030204" pitchFamily="34" charset="0"/>
                <a:cs typeface="Calibri" panose="020F0502020204030204" pitchFamily="34" charset="0"/>
              </a:rPr>
              <a:t>מדיניות</a:t>
            </a:r>
            <a:r>
              <a:rPr lang="he-IL" dirty="0">
                <a:latin typeface="Calibri" panose="020F0502020204030204" pitchFamily="34" charset="0"/>
                <a:cs typeface="Calibri" panose="020F0502020204030204" pitchFamily="34" charset="0"/>
              </a:rPr>
              <a:t>, </a:t>
            </a:r>
            <a:r>
              <a:rPr lang="he-IL" dirty="0" err="1">
                <a:latin typeface="Calibri" panose="020F0502020204030204" pitchFamily="34" charset="0"/>
                <a:cs typeface="Calibri" panose="020F0502020204030204" pitchFamily="34" charset="0"/>
              </a:rPr>
              <a:t>מתכלל</a:t>
            </a:r>
            <a:r>
              <a:rPr lang="he-IL" dirty="0">
                <a:latin typeface="Calibri" panose="020F0502020204030204" pitchFamily="34" charset="0"/>
                <a:cs typeface="Calibri" panose="020F0502020204030204" pitchFamily="34" charset="0"/>
              </a:rPr>
              <a:t> ומבצע רגולציה וניטור</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האסטרטגיה בתחום </a:t>
            </a:r>
            <a:r>
              <a:rPr lang="he-IL" dirty="0" err="1">
                <a:latin typeface="Calibri" panose="020F0502020204030204" pitchFamily="34" charset="0"/>
                <a:cs typeface="Calibri" panose="020F0502020204030204" pitchFamily="34" charset="0"/>
              </a:rPr>
              <a:t>הזיקנה</a:t>
            </a:r>
            <a:endParaRPr lang="he-IL" dirty="0">
              <a:latin typeface="Calibri" panose="020F0502020204030204" pitchFamily="34" charset="0"/>
              <a:cs typeface="Calibri" panose="020F0502020204030204" pitchFamily="34" charset="0"/>
            </a:endParaRP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מדיניות ותקציבים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גיבוש כלים תומכים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שיתוף חדשנות</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מדידה ובקרה</a:t>
            </a:r>
          </a:p>
        </p:txBody>
      </p:sp>
      <p:sp>
        <p:nvSpPr>
          <p:cNvPr id="8" name="TextBox 7">
            <a:extLst>
              <a:ext uri="{FF2B5EF4-FFF2-40B4-BE49-F238E27FC236}">
                <a16:creationId xmlns:a16="http://schemas.microsoft.com/office/drawing/2014/main" id="{C33E26FD-955A-45CA-9EC5-E8CEDE84916A}"/>
              </a:ext>
            </a:extLst>
          </p:cNvPr>
          <p:cNvSpPr txBox="1"/>
          <p:nvPr/>
        </p:nvSpPr>
        <p:spPr>
          <a:xfrm>
            <a:off x="1476415" y="2164080"/>
            <a:ext cx="4364354" cy="3096360"/>
          </a:xfrm>
          <a:prstGeom prst="rect">
            <a:avLst/>
          </a:prstGeom>
          <a:noFill/>
        </p:spPr>
        <p:txBody>
          <a:bodyPr wrap="square" rtlCol="0">
            <a:spAutoFit/>
          </a:bodyPr>
          <a:lstStyle/>
          <a:p>
            <a:pPr algn="r" rtl="1">
              <a:lnSpc>
                <a:spcPct val="150000"/>
              </a:lnSpc>
            </a:pPr>
            <a:r>
              <a:rPr lang="he-IL" sz="2400" b="1" dirty="0">
                <a:latin typeface="Calibri" panose="020F0502020204030204" pitchFamily="34" charset="0"/>
                <a:cs typeface="Calibri" panose="020F0502020204030204" pitchFamily="34" charset="0"/>
              </a:rPr>
              <a:t>הרשויות המקומיות</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dirty="0">
                <a:latin typeface="Calibri" panose="020F0502020204030204" pitchFamily="34" charset="0"/>
                <a:cs typeface="Calibri" panose="020F0502020204030204" pitchFamily="34" charset="0"/>
              </a:rPr>
              <a:t>מהוות את זרוע האופרטיבית, </a:t>
            </a:r>
            <a:r>
              <a:rPr lang="he-IL" b="1" dirty="0">
                <a:latin typeface="Calibri" panose="020F0502020204030204" pitchFamily="34" charset="0"/>
                <a:cs typeface="Calibri" panose="020F0502020204030204" pitchFamily="34" charset="0"/>
              </a:rPr>
              <a:t>מתכננות</a:t>
            </a:r>
            <a:r>
              <a:rPr lang="he-IL"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dirty="0">
                <a:latin typeface="Calibri" panose="020F0502020204030204" pitchFamily="34" charset="0"/>
                <a:cs typeface="Calibri" panose="020F0502020204030204" pitchFamily="34" charset="0"/>
              </a:rPr>
              <a:t>ומתפעלות את המענים לאזרח</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ידע וניסיון אופרטיבי</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חלוקת שירותים ותקציבים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יוזמות וחדשנות</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הכרות עם </a:t>
            </a:r>
            <a:r>
              <a:rPr lang="he-IL" dirty="0" err="1">
                <a:latin typeface="Calibri" panose="020F0502020204030204" pitchFamily="34" charset="0"/>
                <a:cs typeface="Calibri" panose="020F0502020204030204" pitchFamily="34" charset="0"/>
              </a:rPr>
              <a:t>האוכלוסיה</a:t>
            </a:r>
            <a:endParaRPr lang="en-IL"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B091E221-BE54-4803-8D8A-07725F554FA5}"/>
              </a:ext>
            </a:extLst>
          </p:cNvPr>
          <p:cNvSpPr/>
          <p:nvPr/>
        </p:nvSpPr>
        <p:spPr>
          <a:xfrm>
            <a:off x="2583469" y="2658319"/>
            <a:ext cx="3204000" cy="947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06CB7379-B4AD-4621-914C-54C041A9E899}"/>
              </a:ext>
            </a:extLst>
          </p:cNvPr>
          <p:cNvSpPr/>
          <p:nvPr/>
        </p:nvSpPr>
        <p:spPr>
          <a:xfrm>
            <a:off x="7528212" y="2658319"/>
            <a:ext cx="3204000" cy="947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888167384"/>
      </p:ext>
    </p:extLst>
  </p:cSld>
  <p:clrMapOvr>
    <a:masterClrMapping/>
  </p:clrMapOvr>
  <p:transition spd="slow">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a:xfrm>
            <a:off x="936658" y="681037"/>
            <a:ext cx="9385267" cy="1325563"/>
          </a:xfrm>
        </p:spPr>
        <p:txBody>
          <a:bodyPr>
            <a:normAutofit fontScale="90000"/>
          </a:bodyPr>
          <a:lstStyle/>
          <a:p>
            <a:r>
              <a:rPr lang="en-US" dirty="0"/>
              <a:t>Q42</a:t>
            </a:r>
            <a:r>
              <a:rPr lang="he-IL" dirty="0"/>
              <a:t>: באיזו מידה אתה באופן אישי מאמין בתהליך הביזור (כלומר שיש לו פוטנציאל לשיפור בפעולת המחלקה ו/או לאזרחים </a:t>
            </a:r>
            <a:r>
              <a:rPr lang="he-IL" dirty="0" err="1"/>
              <a:t>הותיקים</a:t>
            </a:r>
            <a:r>
              <a:rPr lang="he-IL" dirty="0"/>
              <a:t>)? (</a:t>
            </a:r>
            <a:r>
              <a:rPr lang="en-US" dirty="0"/>
              <a:t>N=257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724277" y="2509283"/>
          <a:ext cx="9597648" cy="39458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9966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Q12</a:t>
            </a:r>
            <a:r>
              <a:rPr lang="he-IL" dirty="0"/>
              <a:t>: מקורות המידע בהם השתמש בתהליך התכנון (</a:t>
            </a:r>
            <a:r>
              <a:rPr lang="en-US" dirty="0"/>
              <a:t>N=257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C89F9338-0556-F814-6AE0-E837A3C134AC}"/>
              </a:ext>
            </a:extLst>
          </p:cNvPr>
          <p:cNvSpPr txBox="1"/>
          <p:nvPr/>
        </p:nvSpPr>
        <p:spPr>
          <a:xfrm>
            <a:off x="2497667" y="6193896"/>
            <a:ext cx="8010035" cy="369332"/>
          </a:xfrm>
          <a:prstGeom prst="rect">
            <a:avLst/>
          </a:prstGeom>
          <a:noFill/>
        </p:spPr>
        <p:txBody>
          <a:bodyPr wrap="square" rtlCol="1">
            <a:spAutoFit/>
          </a:bodyPr>
          <a:lstStyle/>
          <a:p>
            <a:pPr algn="r" rtl="1"/>
            <a:r>
              <a:rPr lang="he-IL" b="1" dirty="0"/>
              <a:t>* ניתן היה לענות על יותר מתשובה אחת, לכן האחוזים אינם מסתכמים ל100</a:t>
            </a:r>
          </a:p>
        </p:txBody>
      </p:sp>
    </p:spTree>
    <p:extLst>
      <p:ext uri="{BB962C8B-B14F-4D97-AF65-F5344CB8AC3E}">
        <p14:creationId xmlns:p14="http://schemas.microsoft.com/office/powerpoint/2010/main" val="3169930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Q8</a:t>
            </a:r>
            <a:r>
              <a:rPr lang="he-IL" dirty="0"/>
              <a:t>: באיזו מידה אתה משתמש </a:t>
            </a:r>
            <a:r>
              <a:rPr lang="he-IL" dirty="0" err="1"/>
              <a:t>בדשבורד</a:t>
            </a:r>
            <a:r>
              <a:rPr lang="he-IL" dirty="0"/>
              <a:t> המכלול (</a:t>
            </a:r>
            <a:r>
              <a:rPr lang="en-US" dirty="0"/>
              <a:t>N=257</a:t>
            </a:r>
            <a:r>
              <a:rPr lang="he-IL" dirty="0" smtClean="0"/>
              <a:t>) </a:t>
            </a:r>
            <a:endParaRPr lang="he-IL" dirty="0"/>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465A03D6-C32F-9E7D-60F9-1A71E00DCD25}"/>
              </a:ext>
            </a:extLst>
          </p:cNvPr>
          <p:cNvSpPr txBox="1"/>
          <p:nvPr/>
        </p:nvSpPr>
        <p:spPr>
          <a:xfrm>
            <a:off x="2497667" y="6193896"/>
            <a:ext cx="8010035" cy="369332"/>
          </a:xfrm>
          <a:prstGeom prst="rect">
            <a:avLst/>
          </a:prstGeom>
          <a:noFill/>
        </p:spPr>
        <p:txBody>
          <a:bodyPr wrap="square" rtlCol="1">
            <a:spAutoFit/>
          </a:bodyPr>
          <a:lstStyle/>
          <a:p>
            <a:pPr algn="r" rtl="1"/>
            <a:r>
              <a:rPr lang="he-IL" b="1" dirty="0"/>
              <a:t>* ניתן היה לענות על יותר מתשובה אחת, לכן האחוזים אינם מסתכמים ל100</a:t>
            </a:r>
          </a:p>
        </p:txBody>
      </p:sp>
      <p:sp>
        <p:nvSpPr>
          <p:cNvPr id="3" name="מלבן 2"/>
          <p:cNvSpPr/>
          <p:nvPr/>
        </p:nvSpPr>
        <p:spPr>
          <a:xfrm>
            <a:off x="12192000" y="3631962"/>
            <a:ext cx="646331" cy="369332"/>
          </a:xfrm>
          <a:prstGeom prst="rect">
            <a:avLst/>
          </a:prstGeom>
        </p:spPr>
        <p:txBody>
          <a:bodyPr wrap="none">
            <a:spAutoFit/>
          </a:bodyPr>
          <a:lstStyle/>
          <a:p>
            <a:r>
              <a:rPr lang="he-IL" dirty="0" smtClean="0"/>
              <a:t>74%</a:t>
            </a:r>
            <a:endParaRPr lang="he-IL" dirty="0"/>
          </a:p>
        </p:txBody>
      </p:sp>
    </p:spTree>
    <p:extLst>
      <p:ext uri="{BB962C8B-B14F-4D97-AF65-F5344CB8AC3E}">
        <p14:creationId xmlns:p14="http://schemas.microsoft.com/office/powerpoint/2010/main" val="29664235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Q9</a:t>
            </a:r>
            <a:r>
              <a:rPr lang="he-IL" dirty="0"/>
              <a:t>: באיזו מידה </a:t>
            </a:r>
            <a:r>
              <a:rPr lang="he-IL" dirty="0" err="1"/>
              <a:t>דשבורד</a:t>
            </a:r>
            <a:r>
              <a:rPr lang="he-IL" dirty="0"/>
              <a:t> המכלול הוא נוח וידידותי לשימוש?(</a:t>
            </a:r>
            <a:r>
              <a:rPr lang="en-US" dirty="0"/>
              <a:t>N=247</a:t>
            </a:r>
            <a:r>
              <a:rPr lang="he-IL" dirty="0" smtClean="0"/>
              <a:t>)</a:t>
            </a:r>
            <a:endParaRPr lang="he-IL" dirty="0">
              <a:solidFill>
                <a:schemeClr val="tx1"/>
              </a:solidFill>
            </a:endParaRP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2" name="מלבן 1"/>
          <p:cNvSpPr/>
          <p:nvPr/>
        </p:nvSpPr>
        <p:spPr>
          <a:xfrm>
            <a:off x="3970161" y="2686985"/>
            <a:ext cx="646331"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he-IL" dirty="0"/>
              <a:t>71%</a:t>
            </a:r>
          </a:p>
        </p:txBody>
      </p:sp>
    </p:spTree>
    <p:extLst>
      <p:ext uri="{BB962C8B-B14F-4D97-AF65-F5344CB8AC3E}">
        <p14:creationId xmlns:p14="http://schemas.microsoft.com/office/powerpoint/2010/main" val="3215991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93109DC6-B38C-1970-58FE-DE059CBAD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 y="0"/>
            <a:ext cx="12178468" cy="6858000"/>
          </a:xfrm>
          <a:prstGeom prst="rect">
            <a:avLst/>
          </a:prstGeom>
          <a:solidFill>
            <a:schemeClr val="tx1"/>
          </a:solidFill>
          <a:effectLst>
            <a:reflection blurRad="1257300" stA="0" endPos="65000" dist="1270000" dir="5400000" sy="-100000" algn="bl" rotWithShape="0"/>
          </a:effectLst>
        </p:spPr>
      </p:pic>
      <p:sp>
        <p:nvSpPr>
          <p:cNvPr id="8" name="מלבן 7">
            <a:extLst>
              <a:ext uri="{FF2B5EF4-FFF2-40B4-BE49-F238E27FC236}">
                <a16:creationId xmlns:a16="http://schemas.microsoft.com/office/drawing/2014/main" id="{6EC5129C-E0D7-1E68-C5B8-2E4DE42FBCCD}"/>
              </a:ext>
            </a:extLst>
          </p:cNvPr>
          <p:cNvSpPr/>
          <p:nvPr/>
        </p:nvSpPr>
        <p:spPr>
          <a:xfrm>
            <a:off x="6766" y="0"/>
            <a:ext cx="12192000" cy="6858000"/>
          </a:xfrm>
          <a:prstGeom prst="rect">
            <a:avLst/>
          </a:prstGeom>
          <a:solidFill>
            <a:schemeClr val="dk1">
              <a:alpha val="63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algn="ctr"/>
            <a:endParaRPr lang="he-IL">
              <a:solidFill>
                <a:schemeClr val="bg1"/>
              </a:solidFill>
            </a:endParaRPr>
          </a:p>
        </p:txBody>
      </p:sp>
      <p:sp>
        <p:nvSpPr>
          <p:cNvPr id="2" name="כותרת 1"/>
          <p:cNvSpPr>
            <a:spLocks noGrp="1"/>
          </p:cNvSpPr>
          <p:nvPr>
            <p:ph type="title"/>
          </p:nvPr>
        </p:nvSpPr>
        <p:spPr>
          <a:xfrm>
            <a:off x="1244668" y="275980"/>
            <a:ext cx="10515600" cy="638485"/>
          </a:xfrm>
        </p:spPr>
        <p:txBody>
          <a:bodyPr>
            <a:normAutofit fontScale="90000"/>
          </a:bodyPr>
          <a:lstStyle/>
          <a:p>
            <a:r>
              <a:rPr lang="he-IL" dirty="0">
                <a:solidFill>
                  <a:schemeClr val="bg1"/>
                </a:solidFill>
              </a:rPr>
              <a:t>פורום </a:t>
            </a:r>
            <a:r>
              <a:rPr lang="he-IL" dirty="0" smtClean="0">
                <a:solidFill>
                  <a:schemeClr val="bg1"/>
                </a:solidFill>
              </a:rPr>
              <a:t>ברק- </a:t>
            </a:r>
            <a:r>
              <a:rPr lang="he-IL" b="1" dirty="0">
                <a:solidFill>
                  <a:schemeClr val="bg1"/>
                </a:solidFill>
              </a:rPr>
              <a:t>צוות דאטה </a:t>
            </a:r>
            <a:r>
              <a:rPr lang="he-IL" b="1" dirty="0" err="1">
                <a:solidFill>
                  <a:schemeClr val="bg1"/>
                </a:solidFill>
              </a:rPr>
              <a:t>דיגיטל</a:t>
            </a:r>
            <a:r>
              <a:rPr lang="he-IL" sz="4000" b="1" dirty="0" smtClean="0">
                <a:solidFill>
                  <a:schemeClr val="bg1"/>
                </a:solidFill>
              </a:rPr>
              <a:t>:</a:t>
            </a:r>
            <a:br>
              <a:rPr lang="he-IL" sz="4000" b="1" dirty="0" smtClean="0">
                <a:solidFill>
                  <a:schemeClr val="bg1"/>
                </a:solidFill>
              </a:rPr>
            </a:br>
            <a:endParaRPr lang="he-IL" dirty="0">
              <a:solidFill>
                <a:schemeClr val="bg1"/>
              </a:solidFill>
            </a:endParaRPr>
          </a:p>
        </p:txBody>
      </p:sp>
      <p:sp>
        <p:nvSpPr>
          <p:cNvPr id="3" name="מציין מיקום תוכן 2"/>
          <p:cNvSpPr>
            <a:spLocks noGrp="1"/>
          </p:cNvSpPr>
          <p:nvPr>
            <p:ph idx="1"/>
          </p:nvPr>
        </p:nvSpPr>
        <p:spPr>
          <a:xfrm>
            <a:off x="245276" y="2506662"/>
            <a:ext cx="11390366" cy="4351338"/>
          </a:xfrm>
        </p:spPr>
        <p:txBody>
          <a:bodyPr>
            <a:normAutofit/>
          </a:bodyPr>
          <a:lstStyle/>
          <a:p>
            <a:endParaRPr lang="he-IL" dirty="0">
              <a:solidFill>
                <a:schemeClr val="bg1"/>
              </a:solidFill>
            </a:endParaRPr>
          </a:p>
          <a:p>
            <a:pPr marL="0" indent="0">
              <a:buNone/>
            </a:pPr>
            <a:endParaRPr lang="he-IL" sz="1400" b="1" dirty="0" smtClean="0">
              <a:solidFill>
                <a:schemeClr val="bg1"/>
              </a:solidFill>
            </a:endParaRPr>
          </a:p>
          <a:p>
            <a:pPr marL="0" indent="0">
              <a:buNone/>
            </a:pPr>
            <a:r>
              <a:rPr lang="he-IL" sz="3200" b="1" dirty="0" smtClean="0">
                <a:solidFill>
                  <a:schemeClr val="bg1"/>
                </a:solidFill>
              </a:rPr>
              <a:t>פרוייקטים משותפים:</a:t>
            </a:r>
            <a:endParaRPr lang="he-IL" b="1" dirty="0">
              <a:solidFill>
                <a:schemeClr val="bg1"/>
              </a:solidFill>
            </a:endParaRPr>
          </a:p>
          <a:p>
            <a:pPr marL="514350" indent="-514350">
              <a:buFont typeface="+mj-lt"/>
              <a:buAutoNum type="arabicPeriod"/>
            </a:pPr>
            <a:r>
              <a:rPr lang="he-IL" sz="2600" b="1" dirty="0" smtClean="0">
                <a:solidFill>
                  <a:schemeClr val="bg1"/>
                </a:solidFill>
              </a:rPr>
              <a:t>'ברק בעיניים'- תמונת מצב לאומית בזקנה לממשלה ולרשויות (מערכת אמון)</a:t>
            </a:r>
            <a:endParaRPr lang="he-IL" sz="2600" b="1" dirty="0">
              <a:solidFill>
                <a:schemeClr val="bg1"/>
              </a:solidFill>
            </a:endParaRPr>
          </a:p>
          <a:p>
            <a:pPr marL="514350" indent="-514350">
              <a:buFont typeface="+mj-lt"/>
              <a:buAutoNum type="arabicPeriod"/>
            </a:pPr>
            <a:r>
              <a:rPr lang="he-IL" sz="2700" b="1" dirty="0" smtClean="0">
                <a:solidFill>
                  <a:schemeClr val="bg1"/>
                </a:solidFill>
              </a:rPr>
              <a:t>סל שירותים מותאם אישית </a:t>
            </a:r>
            <a:r>
              <a:rPr lang="en-US" sz="2700" b="1" dirty="0" smtClean="0">
                <a:solidFill>
                  <a:schemeClr val="bg1"/>
                </a:solidFill>
              </a:rPr>
              <a:t>AI</a:t>
            </a:r>
            <a:r>
              <a:rPr lang="he-IL" sz="2700" b="1" dirty="0" smtClean="0">
                <a:solidFill>
                  <a:schemeClr val="bg1"/>
                </a:solidFill>
              </a:rPr>
              <a:t>- </a:t>
            </a:r>
            <a:r>
              <a:rPr lang="he-IL" sz="2700" b="1" dirty="0" err="1">
                <a:solidFill>
                  <a:schemeClr val="bg1"/>
                </a:solidFill>
              </a:rPr>
              <a:t>בטל"א</a:t>
            </a:r>
            <a:r>
              <a:rPr lang="he-IL" sz="2700" b="1" dirty="0">
                <a:solidFill>
                  <a:schemeClr val="bg1"/>
                </a:solidFill>
              </a:rPr>
              <a:t>, רווחה, רשויות, קופ"ח ומערך הדיגיטל</a:t>
            </a:r>
          </a:p>
          <a:p>
            <a:pPr marL="514350" indent="-514350">
              <a:buFont typeface="+mj-lt"/>
              <a:buAutoNum type="arabicPeriod"/>
            </a:pPr>
            <a:r>
              <a:rPr lang="he-IL" b="1" dirty="0" smtClean="0">
                <a:solidFill>
                  <a:schemeClr val="bg1"/>
                </a:solidFill>
              </a:rPr>
              <a:t>מרשם חברתי והפניות הדדיות: </a:t>
            </a:r>
            <a:r>
              <a:rPr lang="he-IL" dirty="0" smtClean="0">
                <a:solidFill>
                  <a:schemeClr val="bg1"/>
                </a:solidFill>
              </a:rPr>
              <a:t>רווחה-קופ"ח- </a:t>
            </a:r>
            <a:r>
              <a:rPr lang="he-IL" dirty="0" err="1" smtClean="0">
                <a:solidFill>
                  <a:schemeClr val="bg1"/>
                </a:solidFill>
              </a:rPr>
              <a:t>בטל"א</a:t>
            </a:r>
            <a:endParaRPr lang="he-IL" dirty="0" smtClean="0">
              <a:solidFill>
                <a:schemeClr val="bg1"/>
              </a:solidFill>
            </a:endParaRPr>
          </a:p>
          <a:p>
            <a:pPr marL="514350" indent="-514350">
              <a:buFont typeface="+mj-lt"/>
              <a:buAutoNum type="arabicPeriod"/>
            </a:pPr>
            <a:r>
              <a:rPr lang="he-IL" b="1" dirty="0" smtClean="0">
                <a:solidFill>
                  <a:schemeClr val="bg1"/>
                </a:solidFill>
              </a:rPr>
              <a:t>אופטימיזציה </a:t>
            </a:r>
            <a:r>
              <a:rPr lang="he-IL" b="1" dirty="0">
                <a:solidFill>
                  <a:schemeClr val="bg1"/>
                </a:solidFill>
              </a:rPr>
              <a:t>של צרכים ומענים- </a:t>
            </a:r>
            <a:r>
              <a:rPr lang="he-IL" sz="2400" b="1" dirty="0" smtClean="0">
                <a:solidFill>
                  <a:schemeClr val="bg1"/>
                </a:solidFill>
              </a:rPr>
              <a:t>מיפוי צרכים ומענים וחיבור חכם ביניהם</a:t>
            </a:r>
            <a:endParaRPr lang="he-IL" sz="2400" dirty="0">
              <a:solidFill>
                <a:schemeClr val="bg1"/>
              </a:solidFill>
            </a:endParaRPr>
          </a:p>
          <a:p>
            <a:pPr marL="514350" indent="-514350">
              <a:buFont typeface="+mj-lt"/>
              <a:buAutoNum type="arabicPeriod"/>
            </a:pPr>
            <a:r>
              <a:rPr lang="he-IL" b="1" dirty="0" smtClean="0">
                <a:solidFill>
                  <a:schemeClr val="bg1"/>
                </a:solidFill>
              </a:rPr>
              <a:t>מהלך הדיגיטל להזדקנות מיטבית- </a:t>
            </a:r>
            <a:r>
              <a:rPr lang="he-IL" sz="2400" dirty="0" smtClean="0">
                <a:solidFill>
                  <a:schemeClr val="bg1"/>
                </a:solidFill>
              </a:rPr>
              <a:t>רווחה, מערך הדיגיטל </a:t>
            </a:r>
            <a:r>
              <a:rPr lang="he-IL" sz="2400" dirty="0" err="1" smtClean="0">
                <a:solidFill>
                  <a:schemeClr val="bg1"/>
                </a:solidFill>
              </a:rPr>
              <a:t>וגוינט</a:t>
            </a:r>
            <a:endParaRPr lang="he-IL" sz="2400" dirty="0">
              <a:solidFill>
                <a:schemeClr val="bg1"/>
              </a:solidFill>
            </a:endParaRPr>
          </a:p>
          <a:p>
            <a:endParaRPr lang="he-IL" dirty="0">
              <a:solidFill>
                <a:schemeClr val="bg1"/>
              </a:solidFill>
            </a:endParaRPr>
          </a:p>
          <a:p>
            <a:endParaRPr lang="he-IL" dirty="0">
              <a:solidFill>
                <a:schemeClr val="bg1"/>
              </a:solidFill>
            </a:endParaRPr>
          </a:p>
        </p:txBody>
      </p:sp>
      <p:sp>
        <p:nvSpPr>
          <p:cNvPr id="5" name="מלבן 4"/>
          <p:cNvSpPr/>
          <p:nvPr/>
        </p:nvSpPr>
        <p:spPr>
          <a:xfrm>
            <a:off x="850232" y="769959"/>
            <a:ext cx="10916802" cy="954107"/>
          </a:xfrm>
          <a:prstGeom prst="rect">
            <a:avLst/>
          </a:prstGeom>
        </p:spPr>
        <p:txBody>
          <a:bodyPr wrap="square">
            <a:spAutoFit/>
          </a:bodyPr>
          <a:lstStyle/>
          <a:p>
            <a:pPr algn="ctr"/>
            <a:r>
              <a:rPr lang="he-IL" sz="2800" b="1" dirty="0" smtClean="0">
                <a:solidFill>
                  <a:schemeClr val="bg1"/>
                </a:solidFill>
              </a:rPr>
              <a:t>רווחה, מערך הדיגיטל הלאומי, </a:t>
            </a:r>
            <a:r>
              <a:rPr lang="he-IL" sz="2800" b="1" dirty="0" err="1" smtClean="0">
                <a:solidFill>
                  <a:schemeClr val="bg1"/>
                </a:solidFill>
              </a:rPr>
              <a:t>בטל"א</a:t>
            </a:r>
            <a:r>
              <a:rPr lang="he-IL" sz="2800" b="1" dirty="0" smtClean="0">
                <a:solidFill>
                  <a:schemeClr val="bg1"/>
                </a:solidFill>
              </a:rPr>
              <a:t>, בריאות</a:t>
            </a:r>
            <a:r>
              <a:rPr lang="he-IL" sz="2800" dirty="0" smtClean="0">
                <a:solidFill>
                  <a:schemeClr val="bg1"/>
                </a:solidFill>
              </a:rPr>
              <a:t>, כל קופ"ח, רשויות, למ"ס, </a:t>
            </a:r>
            <a:r>
              <a:rPr lang="he-IL" sz="2800" dirty="0" err="1" smtClean="0">
                <a:solidFill>
                  <a:schemeClr val="bg1"/>
                </a:solidFill>
              </a:rPr>
              <a:t>שיוויון</a:t>
            </a:r>
            <a:r>
              <a:rPr lang="he-IL" sz="2800" dirty="0" smtClean="0">
                <a:solidFill>
                  <a:schemeClr val="bg1"/>
                </a:solidFill>
              </a:rPr>
              <a:t> חברתי, הרשות לחדשנות, ג'וינט והאוצר</a:t>
            </a:r>
            <a:endParaRPr lang="he-IL" sz="2800" dirty="0">
              <a:solidFill>
                <a:schemeClr val="bg1"/>
              </a:solidFill>
            </a:endParaRPr>
          </a:p>
        </p:txBody>
      </p:sp>
    </p:spTree>
    <p:extLst>
      <p:ext uri="{BB962C8B-B14F-4D97-AF65-F5344CB8AC3E}">
        <p14:creationId xmlns:p14="http://schemas.microsoft.com/office/powerpoint/2010/main" val="408470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062790" y="2617390"/>
            <a:ext cx="10515600" cy="1325563"/>
          </a:xfrm>
        </p:spPr>
        <p:txBody>
          <a:bodyPr/>
          <a:lstStyle/>
          <a:p>
            <a:endParaRPr lang="he-IL" dirty="0"/>
          </a:p>
        </p:txBody>
      </p:sp>
      <p:pic>
        <p:nvPicPr>
          <p:cNvPr id="4" name="מציין מיקום תוכן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99" y="1027906"/>
            <a:ext cx="12204399" cy="5830094"/>
          </a:xfrm>
          <a:solidFill>
            <a:schemeClr val="bg1">
              <a:alpha val="0"/>
            </a:schemeClr>
          </a:solidFill>
        </p:spPr>
      </p:pic>
      <p:sp>
        <p:nvSpPr>
          <p:cNvPr id="5" name="מלבן 4"/>
          <p:cNvSpPr/>
          <p:nvPr/>
        </p:nvSpPr>
        <p:spPr>
          <a:xfrm>
            <a:off x="4764505" y="47062"/>
            <a:ext cx="7427495" cy="1323439"/>
          </a:xfrm>
          <a:prstGeom prst="rect">
            <a:avLst/>
          </a:prstGeom>
        </p:spPr>
        <p:txBody>
          <a:bodyPr wrap="square">
            <a:spAutoFit/>
          </a:bodyPr>
          <a:lstStyle/>
          <a:p>
            <a:r>
              <a:rPr lang="he-IL" sz="4000" b="1" dirty="0" smtClean="0"/>
              <a:t>'פורום ברק</a:t>
            </a:r>
            <a:r>
              <a:rPr lang="he-IL" sz="4000" dirty="0" smtClean="0"/>
              <a:t>'- </a:t>
            </a:r>
            <a:r>
              <a:rPr lang="he-IL" sz="4000" b="1" dirty="0" smtClean="0"/>
              <a:t>צוות דאטה </a:t>
            </a:r>
            <a:r>
              <a:rPr lang="he-IL" sz="4000" b="1" dirty="0" err="1" smtClean="0"/>
              <a:t>דיגיטל</a:t>
            </a:r>
            <a:r>
              <a:rPr lang="he-IL" sz="3600" b="1" dirty="0" smtClean="0"/>
              <a:t>:</a:t>
            </a:r>
            <a:br>
              <a:rPr lang="he-IL" sz="3600" b="1" dirty="0" smtClean="0"/>
            </a:br>
            <a:endParaRPr lang="he-IL" sz="4000" dirty="0"/>
          </a:p>
        </p:txBody>
      </p:sp>
      <p:sp>
        <p:nvSpPr>
          <p:cNvPr id="6" name="מלבן 5"/>
          <p:cNvSpPr/>
          <p:nvPr/>
        </p:nvSpPr>
        <p:spPr>
          <a:xfrm>
            <a:off x="-192506" y="120995"/>
            <a:ext cx="6063915" cy="646331"/>
          </a:xfrm>
          <a:prstGeom prst="rect">
            <a:avLst/>
          </a:prstGeom>
        </p:spPr>
        <p:txBody>
          <a:bodyPr wrap="square">
            <a:spAutoFit/>
          </a:bodyPr>
          <a:lstStyle/>
          <a:p>
            <a:pPr algn="ctr"/>
            <a:r>
              <a:rPr lang="he-IL" b="1" dirty="0"/>
              <a:t>רווחה, מערך הדיגיטל הלאומי, </a:t>
            </a:r>
            <a:r>
              <a:rPr lang="he-IL" b="1" dirty="0" err="1"/>
              <a:t>בטל"א</a:t>
            </a:r>
            <a:r>
              <a:rPr lang="he-IL" b="1" dirty="0"/>
              <a:t>, בריאות</a:t>
            </a:r>
            <a:r>
              <a:rPr lang="he-IL" dirty="0"/>
              <a:t>, כל קופ"ח, רשויות, למ"ס, </a:t>
            </a:r>
            <a:r>
              <a:rPr lang="he-IL" dirty="0" err="1"/>
              <a:t>שיוויון</a:t>
            </a:r>
            <a:r>
              <a:rPr lang="he-IL" dirty="0"/>
              <a:t> חברתי, הרשות לחדשנות, ג'וינט והאוצר</a:t>
            </a:r>
          </a:p>
        </p:txBody>
      </p:sp>
      <p:sp>
        <p:nvSpPr>
          <p:cNvPr id="9" name="מלבן 8"/>
          <p:cNvSpPr/>
          <p:nvPr/>
        </p:nvSpPr>
        <p:spPr>
          <a:xfrm>
            <a:off x="-12400" y="1027906"/>
            <a:ext cx="12204399" cy="5810271"/>
          </a:xfrm>
          <a:prstGeom prst="rect">
            <a:avLst/>
          </a:prstGeom>
          <a:solidFill>
            <a:schemeClr val="tx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6"/>
          <p:cNvSpPr/>
          <p:nvPr/>
        </p:nvSpPr>
        <p:spPr>
          <a:xfrm>
            <a:off x="1219200" y="1027906"/>
            <a:ext cx="10665995" cy="3477875"/>
          </a:xfrm>
          <a:prstGeom prst="rect">
            <a:avLst/>
          </a:prstGeom>
        </p:spPr>
        <p:txBody>
          <a:bodyPr wrap="square">
            <a:spAutoFit/>
          </a:bodyPr>
          <a:lstStyle/>
          <a:p>
            <a:r>
              <a:rPr lang="he-IL" sz="3200" b="1" dirty="0" smtClean="0">
                <a:solidFill>
                  <a:schemeClr val="bg1"/>
                </a:solidFill>
              </a:rPr>
              <a:t>פרוייקטים משותפים:</a:t>
            </a:r>
            <a:endParaRPr lang="he-IL" sz="2800" b="1" dirty="0" smtClean="0">
              <a:solidFill>
                <a:schemeClr val="bg1"/>
              </a:solidFill>
            </a:endParaRPr>
          </a:p>
          <a:p>
            <a:pPr marL="514350" indent="-514350">
              <a:buFont typeface="+mj-lt"/>
              <a:buAutoNum type="arabicPeriod"/>
            </a:pPr>
            <a:r>
              <a:rPr lang="he-IL" sz="2800" b="1" dirty="0">
                <a:solidFill>
                  <a:schemeClr val="bg1"/>
                </a:solidFill>
              </a:rPr>
              <a:t>'ברק בעיניים'- </a:t>
            </a:r>
            <a:r>
              <a:rPr lang="he-IL" sz="2400" b="1" dirty="0">
                <a:solidFill>
                  <a:schemeClr val="bg1"/>
                </a:solidFill>
              </a:rPr>
              <a:t>תמונת מצב לאומית בזקנה לממשלה ולרשויות (מערכת אמון)</a:t>
            </a:r>
          </a:p>
          <a:p>
            <a:pPr marL="514350" indent="-514350">
              <a:buFont typeface="+mj-lt"/>
              <a:buAutoNum type="arabicPeriod"/>
            </a:pPr>
            <a:r>
              <a:rPr lang="he-IL" sz="2800" b="1" dirty="0">
                <a:solidFill>
                  <a:schemeClr val="bg1"/>
                </a:solidFill>
              </a:rPr>
              <a:t>סל שירותים מותאם אישית </a:t>
            </a:r>
            <a:r>
              <a:rPr lang="en-US" sz="2800" b="1" dirty="0">
                <a:solidFill>
                  <a:schemeClr val="bg1"/>
                </a:solidFill>
              </a:rPr>
              <a:t>AI</a:t>
            </a:r>
            <a:r>
              <a:rPr lang="he-IL" sz="2800" b="1" dirty="0">
                <a:solidFill>
                  <a:schemeClr val="bg1"/>
                </a:solidFill>
              </a:rPr>
              <a:t>- </a:t>
            </a:r>
            <a:r>
              <a:rPr lang="he-IL" sz="2400" b="1" dirty="0" err="1">
                <a:solidFill>
                  <a:schemeClr val="bg1"/>
                </a:solidFill>
              </a:rPr>
              <a:t>בטל"א</a:t>
            </a:r>
            <a:r>
              <a:rPr lang="he-IL" sz="2400" b="1" dirty="0">
                <a:solidFill>
                  <a:schemeClr val="bg1"/>
                </a:solidFill>
              </a:rPr>
              <a:t>, רווחה, רשויות, קופ"ח ומערך הדיגיטל</a:t>
            </a:r>
          </a:p>
          <a:p>
            <a:pPr marL="514350" indent="-514350">
              <a:buFont typeface="+mj-lt"/>
              <a:buAutoNum type="arabicPeriod"/>
            </a:pPr>
            <a:r>
              <a:rPr lang="he-IL" sz="2800" b="1" dirty="0" smtClean="0">
                <a:solidFill>
                  <a:schemeClr val="bg1"/>
                </a:solidFill>
              </a:rPr>
              <a:t>מרשם חברתי והפניות הדדיות: </a:t>
            </a:r>
            <a:r>
              <a:rPr lang="he-IL" sz="2400" dirty="0" smtClean="0">
                <a:solidFill>
                  <a:schemeClr val="bg1"/>
                </a:solidFill>
              </a:rPr>
              <a:t>רווחה-קופ"ח- </a:t>
            </a:r>
            <a:r>
              <a:rPr lang="he-IL" sz="2400" dirty="0" err="1" smtClean="0">
                <a:solidFill>
                  <a:schemeClr val="bg1"/>
                </a:solidFill>
              </a:rPr>
              <a:t>בטל"א</a:t>
            </a:r>
            <a:endParaRPr lang="he-IL" sz="2400" dirty="0" smtClean="0">
              <a:solidFill>
                <a:schemeClr val="bg1"/>
              </a:solidFill>
            </a:endParaRPr>
          </a:p>
          <a:p>
            <a:pPr marL="514350" indent="-514350">
              <a:buFont typeface="+mj-lt"/>
              <a:buAutoNum type="arabicPeriod"/>
            </a:pPr>
            <a:r>
              <a:rPr lang="he-IL" sz="2800" b="1" dirty="0" smtClean="0">
                <a:solidFill>
                  <a:schemeClr val="bg1"/>
                </a:solidFill>
              </a:rPr>
              <a:t>אופטימיזציה של צרכים ומענים- </a:t>
            </a:r>
            <a:r>
              <a:rPr lang="he-IL" sz="2000" b="1" dirty="0" smtClean="0">
                <a:solidFill>
                  <a:schemeClr val="bg1"/>
                </a:solidFill>
              </a:rPr>
              <a:t>מיפוי צרכים ומענים וחיבור חכם ביניהם</a:t>
            </a:r>
            <a:endParaRPr lang="he-IL" sz="2000" dirty="0" smtClean="0">
              <a:solidFill>
                <a:schemeClr val="bg1"/>
              </a:solidFill>
            </a:endParaRPr>
          </a:p>
          <a:p>
            <a:pPr marL="514350" indent="-514350">
              <a:buFont typeface="+mj-lt"/>
              <a:buAutoNum type="arabicPeriod"/>
            </a:pPr>
            <a:r>
              <a:rPr lang="he-IL" sz="2800" b="1" dirty="0" smtClean="0">
                <a:solidFill>
                  <a:schemeClr val="bg1"/>
                </a:solidFill>
              </a:rPr>
              <a:t>מהלך הדיגיטל להזדקנות מיטבית- </a:t>
            </a:r>
            <a:r>
              <a:rPr lang="he-IL" sz="2000" dirty="0" smtClean="0">
                <a:solidFill>
                  <a:schemeClr val="bg1"/>
                </a:solidFill>
              </a:rPr>
              <a:t>רווחה, מערך הדיגיטל </a:t>
            </a:r>
            <a:r>
              <a:rPr lang="he-IL" sz="2000" dirty="0" err="1" smtClean="0">
                <a:solidFill>
                  <a:schemeClr val="bg1"/>
                </a:solidFill>
              </a:rPr>
              <a:t>וגוינט</a:t>
            </a:r>
            <a:endParaRPr lang="he-IL" sz="2000" dirty="0" smtClean="0">
              <a:solidFill>
                <a:schemeClr val="bg1"/>
              </a:solidFill>
            </a:endParaRPr>
          </a:p>
          <a:p>
            <a:endParaRPr lang="he-IL" sz="2400" dirty="0" smtClean="0">
              <a:solidFill>
                <a:schemeClr val="bg1"/>
              </a:solidFill>
            </a:endParaRPr>
          </a:p>
          <a:p>
            <a:endParaRPr lang="he-IL" sz="2400" dirty="0">
              <a:solidFill>
                <a:schemeClr val="bg1"/>
              </a:solidFill>
            </a:endParaRPr>
          </a:p>
        </p:txBody>
      </p:sp>
    </p:spTree>
    <p:extLst>
      <p:ext uri="{BB962C8B-B14F-4D97-AF65-F5344CB8AC3E}">
        <p14:creationId xmlns:p14="http://schemas.microsoft.com/office/powerpoint/2010/main" val="26421126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004AC-4BFD-5FD0-3AB7-C3B758330B09}"/>
              </a:ext>
            </a:extLst>
          </p:cNvPr>
          <p:cNvSpPr>
            <a:spLocks noGrp="1"/>
          </p:cNvSpPr>
          <p:nvPr>
            <p:ph type="title"/>
          </p:nvPr>
        </p:nvSpPr>
        <p:spPr>
          <a:xfrm>
            <a:off x="4987636" y="365126"/>
            <a:ext cx="6366164" cy="730344"/>
          </a:xfrm>
        </p:spPr>
        <p:txBody>
          <a:bodyPr>
            <a:normAutofit/>
          </a:bodyPr>
          <a:lstStyle/>
          <a:p>
            <a:pPr algn="r" rtl="1"/>
            <a:r>
              <a:rPr lang="he-IL" sz="4400" b="1" dirty="0">
                <a:effectLst/>
                <a:latin typeface="Calibri" panose="020F0502020204030204" pitchFamily="34" charset="0"/>
                <a:ea typeface="Calibri" panose="020F0502020204030204" pitchFamily="34" charset="0"/>
                <a:cs typeface="Calibri" panose="020F0502020204030204" pitchFamily="34" charset="0"/>
              </a:rPr>
              <a:t>צוות דאטה-</a:t>
            </a:r>
            <a:r>
              <a:rPr lang="he-IL" sz="4400" b="1" dirty="0" err="1">
                <a:effectLst/>
                <a:latin typeface="Calibri" panose="020F0502020204030204" pitchFamily="34" charset="0"/>
                <a:ea typeface="Calibri" panose="020F0502020204030204" pitchFamily="34" charset="0"/>
                <a:cs typeface="Calibri" panose="020F0502020204030204" pitchFamily="34" charset="0"/>
              </a:rPr>
              <a:t>דיגיטל</a:t>
            </a:r>
            <a:r>
              <a:rPr lang="he-IL" sz="4400" b="1" dirty="0">
                <a:effectLst/>
                <a:latin typeface="Calibri" panose="020F0502020204030204" pitchFamily="34" charset="0"/>
                <a:ea typeface="Calibri" panose="020F0502020204030204" pitchFamily="34" charset="0"/>
                <a:cs typeface="Calibri" panose="020F0502020204030204" pitchFamily="34" charset="0"/>
              </a:rPr>
              <a:t>- מטרות</a:t>
            </a:r>
            <a:endParaRPr lang="he-IL"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0E42A39-8CE7-E478-4054-AE3815DBDEC2}"/>
              </a:ext>
            </a:extLst>
          </p:cNvPr>
          <p:cNvSpPr>
            <a:spLocks noGrp="1"/>
          </p:cNvSpPr>
          <p:nvPr>
            <p:ph idx="1"/>
          </p:nvPr>
        </p:nvSpPr>
        <p:spPr>
          <a:xfrm>
            <a:off x="1163782" y="2133600"/>
            <a:ext cx="10340830" cy="3777622"/>
          </a:xfrm>
        </p:spPr>
        <p:txBody>
          <a:bodyPr>
            <a:normAutofit/>
          </a:bodyPr>
          <a:lstStyle/>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ליזום ולהוביל פרויקטים </a:t>
            </a:r>
            <a:r>
              <a:rPr lang="he-IL" sz="2000" kern="1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משותפים פורצי דרך </a:t>
            </a:r>
            <a:r>
              <a:rPr lang="he-IL" sz="2000" kern="100" dirty="0">
                <a:effectLst/>
                <a:latin typeface="Calibri" panose="020F0502020204030204" pitchFamily="34" charset="0"/>
                <a:ea typeface="Calibri" panose="020F0502020204030204" pitchFamily="34" charset="0"/>
                <a:cs typeface="Calibri" panose="020F0502020204030204" pitchFamily="34" charset="0"/>
              </a:rPr>
              <a:t>בעולמות הדאטה </a:t>
            </a:r>
            <a:r>
              <a:rPr lang="he-IL" sz="2000" kern="100" dirty="0" err="1">
                <a:effectLst/>
                <a:latin typeface="Calibri" panose="020F0502020204030204" pitchFamily="34" charset="0"/>
                <a:ea typeface="Calibri" panose="020F0502020204030204" pitchFamily="34" charset="0"/>
                <a:cs typeface="Calibri" panose="020F0502020204030204" pitchFamily="34" charset="0"/>
              </a:rPr>
              <a:t>והדיגיטל</a:t>
            </a:r>
            <a:r>
              <a:rPr lang="he-IL" sz="2000" kern="100" dirty="0">
                <a:effectLst/>
                <a:latin typeface="Calibri" panose="020F0502020204030204" pitchFamily="34" charset="0"/>
                <a:ea typeface="Calibri" panose="020F0502020204030204" pitchFamily="34" charset="0"/>
                <a:cs typeface="Calibri" panose="020F0502020204030204" pitchFamily="34" charset="0"/>
              </a:rPr>
              <a:t> שתכליתם להעמיד תוצר שמקדם בשדה ההזדקנות:</a:t>
            </a:r>
            <a:endParaRPr lang="en-US" sz="20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כלים ותשתיות משותפות</a:t>
            </a: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שירותים</a:t>
            </a:r>
            <a:endParaRPr lang="en-US" sz="20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תהליכים, של עבודת מנגנונים, קיצור בירוקרטיות ועוד</a:t>
            </a:r>
          </a:p>
          <a:p>
            <a:pPr marL="0" indent="0" algn="r" rtl="1">
              <a:lnSpc>
                <a:spcPct val="107000"/>
              </a:lnSpc>
              <a:spcAft>
                <a:spcPts val="800"/>
              </a:spcAft>
              <a:buNone/>
            </a:pPr>
            <a:endParaRPr lang="he-IL" sz="2000" kern="100" dirty="0">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הצוות מהווה מכפיל </a:t>
            </a:r>
            <a:r>
              <a:rPr lang="he-IL" sz="2000" kern="100" dirty="0" err="1">
                <a:effectLst/>
                <a:latin typeface="Calibri" panose="020F0502020204030204" pitchFamily="34" charset="0"/>
                <a:ea typeface="Calibri" panose="020F0502020204030204" pitchFamily="34" charset="0"/>
                <a:cs typeface="Calibri" panose="020F0502020204030204" pitchFamily="34" charset="0"/>
              </a:rPr>
              <a:t>כח</a:t>
            </a:r>
            <a:r>
              <a:rPr lang="he-IL" sz="2000" kern="100" dirty="0">
                <a:effectLst/>
                <a:latin typeface="Calibri" panose="020F0502020204030204" pitchFamily="34" charset="0"/>
                <a:ea typeface="Calibri" panose="020F0502020204030204" pitchFamily="34" charset="0"/>
                <a:cs typeface="Calibri" panose="020F0502020204030204" pitchFamily="34" charset="0"/>
              </a:rPr>
              <a:t> למינוף יוזמות ומהלכים מכווני אימפקט, ולהוצאתם לפועל.</a:t>
            </a:r>
            <a:endParaRPr lang="he-IL"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2289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15CC-83D1-CC5E-5F4D-4EFAFD44EBAB}"/>
              </a:ext>
            </a:extLst>
          </p:cNvPr>
          <p:cNvSpPr>
            <a:spLocks noGrp="1"/>
          </p:cNvSpPr>
          <p:nvPr>
            <p:ph type="title"/>
          </p:nvPr>
        </p:nvSpPr>
        <p:spPr>
          <a:xfrm>
            <a:off x="1318491" y="-150801"/>
            <a:ext cx="10515600" cy="857093"/>
          </a:xfrm>
        </p:spPr>
        <p:txBody>
          <a:bodyPr/>
          <a:lstStyle/>
          <a:p>
            <a:pPr algn="r" rtl="1"/>
            <a:r>
              <a:rPr lang="he-IL" dirty="0"/>
              <a:t>דאטה-</a:t>
            </a:r>
            <a:r>
              <a:rPr lang="he-IL" dirty="0" err="1"/>
              <a:t>דיגיטל</a:t>
            </a:r>
            <a:r>
              <a:rPr lang="he-IL" dirty="0"/>
              <a:t>- הצוות</a:t>
            </a:r>
          </a:p>
        </p:txBody>
      </p:sp>
      <p:sp>
        <p:nvSpPr>
          <p:cNvPr id="3" name="Content Placeholder 2">
            <a:extLst>
              <a:ext uri="{FF2B5EF4-FFF2-40B4-BE49-F238E27FC236}">
                <a16:creationId xmlns:a16="http://schemas.microsoft.com/office/drawing/2014/main" id="{68AA4743-CE44-EDD9-69FB-CDDA237D8B36}"/>
              </a:ext>
            </a:extLst>
          </p:cNvPr>
          <p:cNvSpPr>
            <a:spLocks noGrp="1"/>
          </p:cNvSpPr>
          <p:nvPr>
            <p:ph idx="1"/>
          </p:nvPr>
        </p:nvSpPr>
        <p:spPr>
          <a:xfrm>
            <a:off x="814812" y="1128508"/>
            <a:ext cx="10710249" cy="4351338"/>
          </a:xfrm>
        </p:spPr>
        <p:txBody>
          <a:bodyPr>
            <a:normAutofit fontScale="92500" lnSpcReduction="20000"/>
          </a:bodyPr>
          <a:lstStyle/>
          <a:p>
            <a:pPr marL="0" indent="0" algn="r" rtl="1">
              <a:lnSpc>
                <a:spcPct val="107000"/>
              </a:lnSpc>
              <a:spcAft>
                <a:spcPts val="800"/>
              </a:spcAft>
              <a:buNone/>
            </a:pP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הרכב הצוות: </a:t>
            </a:r>
            <a:r>
              <a:rPr lang="he-IL" sz="1800" b="1" kern="100" dirty="0">
                <a:effectLst/>
                <a:latin typeface="Calibri" panose="020F0502020204030204" pitchFamily="34" charset="0"/>
                <a:ea typeface="Calibri" panose="020F0502020204030204" pitchFamily="34" charset="0"/>
                <a:cs typeface="Calibri" panose="020F0502020204030204" pitchFamily="34" charset="0"/>
              </a:rPr>
              <a:t>18 משתתפים ממגוון גופים: </a:t>
            </a:r>
            <a:r>
              <a:rPr lang="he-IL" sz="1800" kern="100" dirty="0">
                <a:effectLst/>
                <a:latin typeface="Calibri" panose="020F0502020204030204" pitchFamily="34" charset="0"/>
                <a:ea typeface="Calibri" panose="020F0502020204030204" pitchFamily="34" charset="0"/>
                <a:cs typeface="Calibri" panose="020F0502020204030204" pitchFamily="34" charset="0"/>
              </a:rPr>
              <a:t>משרד הרווחה והבטחון החברתי,  מערך </a:t>
            </a:r>
            <a:r>
              <a:rPr lang="he-IL" sz="1800" kern="100" dirty="0" err="1">
                <a:effectLst/>
                <a:latin typeface="Calibri" panose="020F0502020204030204" pitchFamily="34" charset="0"/>
                <a:ea typeface="Calibri" panose="020F0502020204030204" pitchFamily="34" charset="0"/>
                <a:cs typeface="Calibri" panose="020F0502020204030204" pitchFamily="34" charset="0"/>
              </a:rPr>
              <a:t>הדיגיטל</a:t>
            </a:r>
            <a:r>
              <a:rPr lang="he-IL" sz="1800" kern="100" dirty="0">
                <a:effectLst/>
                <a:latin typeface="Calibri" panose="020F0502020204030204" pitchFamily="34" charset="0"/>
                <a:ea typeface="Calibri" panose="020F0502020204030204" pitchFamily="34" charset="0"/>
                <a:cs typeface="Calibri" panose="020F0502020204030204" pitchFamily="34" charset="0"/>
              </a:rPr>
              <a:t> הלאומי, קופ"ח כללית, קופ"ח מכבי, קופ"ח מאוחדת, המשרד לשוויון חברתי, </a:t>
            </a:r>
            <a:r>
              <a:rPr lang="he-IL" sz="1800" kern="100" dirty="0" err="1">
                <a:effectLst/>
                <a:latin typeface="Calibri" panose="020F0502020204030204" pitchFamily="34" charset="0"/>
                <a:ea typeface="Calibri" panose="020F0502020204030204" pitchFamily="34" charset="0"/>
                <a:cs typeface="Calibri" panose="020F0502020204030204" pitchFamily="34" charset="0"/>
              </a:rPr>
              <a:t>הלמ"ס</a:t>
            </a:r>
            <a:r>
              <a:rPr lang="he-IL" sz="1800" kern="100" dirty="0">
                <a:effectLst/>
                <a:latin typeface="Calibri" panose="020F0502020204030204" pitchFamily="34" charset="0"/>
                <a:ea typeface="Calibri" panose="020F0502020204030204" pitchFamily="34" charset="0"/>
                <a:cs typeface="Calibri" panose="020F0502020204030204" pitchFamily="34" charset="0"/>
              </a:rPr>
              <a:t>, עיריית תל אביב, עיריית ירושלים, הג'וינט</a:t>
            </a:r>
          </a:p>
          <a:p>
            <a:pPr marL="0" indent="0" algn="r" rtl="1">
              <a:lnSpc>
                <a:spcPct val="107000"/>
              </a:lnSpc>
              <a:spcAft>
                <a:spcPts val="800"/>
              </a:spcAft>
              <a:buNone/>
            </a:pPr>
            <a:r>
              <a:rPr lang="he-IL" sz="1800" b="1" u="sng" kern="100" dirty="0" err="1">
                <a:effectLst/>
                <a:latin typeface="Calibri" panose="020F0502020204030204" pitchFamily="34" charset="0"/>
                <a:ea typeface="Calibri" panose="020F0502020204030204" pitchFamily="34" charset="0"/>
                <a:cs typeface="Calibri" panose="020F0502020204030204" pitchFamily="34" charset="0"/>
              </a:rPr>
              <a:t>מנהל.ות</a:t>
            </a: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 הצוות</a:t>
            </a:r>
            <a:r>
              <a:rPr lang="he-IL" sz="1800" kern="100" dirty="0">
                <a:effectLst/>
                <a:latin typeface="Calibri" panose="020F0502020204030204" pitchFamily="34" charset="0"/>
                <a:ea typeface="Calibri" panose="020F0502020204030204" pitchFamily="34" charset="0"/>
                <a:cs typeface="Calibri" panose="020F0502020204030204" pitchFamily="34" charset="0"/>
              </a:rPr>
              <a:t>:</a:t>
            </a:r>
            <a:r>
              <a:rPr lang="he-IL" sz="1800" kern="100" dirty="0">
                <a:effectLst/>
                <a:latin typeface="Calibri" panose="020F0502020204030204" pitchFamily="34" charset="0"/>
                <a:ea typeface="Calibri" panose="020F0502020204030204" pitchFamily="34" charset="0"/>
                <a:cs typeface="Arial" panose="020B0604020202020204" pitchFamily="34" charset="0"/>
              </a:rPr>
              <a:t> </a:t>
            </a:r>
          </a:p>
          <a:p>
            <a:pPr marL="0" indent="0" algn="r" rtl="1">
              <a:lnSpc>
                <a:spcPct val="107000"/>
              </a:lnSpc>
              <a:spcAft>
                <a:spcPts val="800"/>
              </a:spcAft>
              <a:buNone/>
            </a:pPr>
            <a:r>
              <a:rPr lang="he-IL" sz="1800" kern="100" dirty="0">
                <a:effectLst/>
                <a:latin typeface="Calibri" panose="020F0502020204030204" pitchFamily="34" charset="0"/>
                <a:ea typeface="Calibri" panose="020F0502020204030204" pitchFamily="34" charset="0"/>
                <a:cs typeface="Calibri" panose="020F0502020204030204" pitchFamily="34" charset="0"/>
              </a:rPr>
              <a:t>אביעד יצחקי-ראש אגף תכנון מדיניות הזדקנות האוכלוסייה, משרד הרווחה והבטחון החברתי</a:t>
            </a:r>
            <a:endParaRPr lang="he-IL"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dirty="0">
                <a:effectLst/>
                <a:ea typeface="Calibri" panose="020F0502020204030204" pitchFamily="34" charset="0"/>
                <a:cs typeface="Calibri" panose="020F0502020204030204" pitchFamily="34" charset="0"/>
              </a:rPr>
              <a:t>רותם </a:t>
            </a:r>
            <a:r>
              <a:rPr lang="he-IL" sz="1800" dirty="0" err="1">
                <a:effectLst/>
                <a:ea typeface="Calibri" panose="020F0502020204030204" pitchFamily="34" charset="0"/>
                <a:cs typeface="Calibri" panose="020F0502020204030204" pitchFamily="34" charset="0"/>
              </a:rPr>
              <a:t>ארנרייך</a:t>
            </a:r>
            <a:r>
              <a:rPr lang="he-IL" sz="1800" dirty="0">
                <a:effectLst/>
                <a:ea typeface="Calibri" panose="020F0502020204030204" pitchFamily="34" charset="0"/>
                <a:cs typeface="Calibri" panose="020F0502020204030204" pitchFamily="34" charset="0"/>
              </a:rPr>
              <a:t> - מנהלת מדיניות ואסט</a:t>
            </a:r>
            <a:r>
              <a:rPr lang="he-IL" sz="1800" dirty="0">
                <a:ea typeface="Calibri" panose="020F0502020204030204" pitchFamily="34" charset="0"/>
                <a:cs typeface="Calibri" panose="020F0502020204030204" pitchFamily="34" charset="0"/>
              </a:rPr>
              <a:t>רטגיה</a:t>
            </a:r>
            <a:r>
              <a:rPr lang="he-IL" sz="1800" dirty="0">
                <a:effectLst/>
                <a:ea typeface="Calibri" panose="020F0502020204030204" pitchFamily="34" charset="0"/>
                <a:cs typeface="Calibri" panose="020F0502020204030204" pitchFamily="34" charset="0"/>
              </a:rPr>
              <a:t> בשלטון המקומי, מערך </a:t>
            </a:r>
            <a:r>
              <a:rPr lang="he-IL" sz="1800" dirty="0" err="1">
                <a:effectLst/>
                <a:ea typeface="Calibri" panose="020F0502020204030204" pitchFamily="34" charset="0"/>
                <a:cs typeface="Calibri" panose="020F0502020204030204" pitchFamily="34" charset="0"/>
              </a:rPr>
              <a:t>הדיגיטל</a:t>
            </a:r>
            <a:r>
              <a:rPr lang="he-IL" sz="1800" dirty="0">
                <a:effectLst/>
                <a:ea typeface="Calibri" panose="020F0502020204030204" pitchFamily="34" charset="0"/>
                <a:cs typeface="Calibri" panose="020F0502020204030204" pitchFamily="34" charset="0"/>
              </a:rPr>
              <a:t> הלאומי</a:t>
            </a:r>
          </a:p>
          <a:p>
            <a:pPr marL="0" indent="0" algn="r" rtl="1">
              <a:lnSpc>
                <a:spcPct val="107000"/>
              </a:lnSpc>
              <a:spcAft>
                <a:spcPts val="800"/>
              </a:spcAft>
              <a:buNone/>
            </a:pPr>
            <a:r>
              <a:rPr lang="he-IL" sz="1800" dirty="0">
                <a:effectLst/>
                <a:ea typeface="Calibri" panose="020F0502020204030204" pitchFamily="34" charset="0"/>
                <a:cs typeface="Calibri" panose="020F0502020204030204" pitchFamily="34" charset="0"/>
              </a:rPr>
              <a:t> מובילה דיגיטלית- דפנה לוין- מנהלת טרנספורמציה דיגיטלית, תהליכי יזום ומעורבות לקוח, הג'וינט- </a:t>
            </a:r>
            <a:r>
              <a:rPr lang="he-IL" sz="1800" dirty="0" err="1">
                <a:effectLst/>
                <a:ea typeface="Calibri" panose="020F0502020204030204" pitchFamily="34" charset="0"/>
                <a:cs typeface="Calibri" panose="020F0502020204030204" pitchFamily="34" charset="0"/>
              </a:rPr>
              <a:t>דידא</a:t>
            </a:r>
            <a:r>
              <a:rPr lang="he-IL" sz="1800" dirty="0">
                <a:effectLst/>
                <a:ea typeface="Calibri" panose="020F0502020204030204" pitchFamily="34" charset="0"/>
                <a:cs typeface="Calibri" panose="020F0502020204030204" pitchFamily="34" charset="0"/>
              </a:rPr>
              <a:t> </a:t>
            </a:r>
          </a:p>
          <a:p>
            <a:pPr marL="0" indent="0" algn="r" rtl="1">
              <a:lnSpc>
                <a:spcPct val="107000"/>
              </a:lnSpc>
              <a:spcAft>
                <a:spcPts val="800"/>
              </a:spcAft>
              <a:buNone/>
            </a:pP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מלוות התהליך</a:t>
            </a:r>
            <a:r>
              <a:rPr lang="he-IL" sz="1800" b="1" kern="100" dirty="0">
                <a:effectLst/>
                <a:latin typeface="Calibri" panose="020F0502020204030204" pitchFamily="34" charset="0"/>
                <a:ea typeface="Calibri" panose="020F0502020204030204" pitchFamily="34" charset="0"/>
                <a:cs typeface="Calibri" panose="020F0502020204030204" pitchFamily="34" charset="0"/>
              </a:rPr>
              <a:t>:</a:t>
            </a:r>
            <a:r>
              <a:rPr lang="he-IL" sz="1800" b="1" kern="100" dirty="0">
                <a:effectLst/>
                <a:latin typeface="Calibri" panose="020F0502020204030204" pitchFamily="34" charset="0"/>
                <a:ea typeface="Calibri" panose="020F0502020204030204" pitchFamily="34" charset="0"/>
                <a:cs typeface="Arial" panose="020B0604020202020204" pitchFamily="34" charset="0"/>
              </a:rPr>
              <a:t> </a:t>
            </a:r>
          </a:p>
          <a:p>
            <a:pPr marL="0" indent="0" algn="r" rtl="1">
              <a:lnSpc>
                <a:spcPct val="107000"/>
              </a:lnSpc>
              <a:spcAft>
                <a:spcPts val="800"/>
              </a:spcAft>
              <a:buFont typeface="Arial" panose="020B0604020202020204" pitchFamily="34" charset="0"/>
              <a:buNone/>
            </a:pPr>
            <a:r>
              <a:rPr lang="he-IL" sz="1800" kern="100" dirty="0">
                <a:latin typeface="Calibri" panose="020F0502020204030204" pitchFamily="34" charset="0"/>
                <a:ea typeface="Calibri" panose="020F0502020204030204" pitchFamily="34" charset="0"/>
                <a:cs typeface="Arial" panose="020B0604020202020204" pitchFamily="34" charset="0"/>
              </a:rPr>
              <a:t>הדס ברזילי- מנהלת </a:t>
            </a:r>
            <a:r>
              <a:rPr lang="he-IL" sz="1800" kern="100" dirty="0" err="1">
                <a:latin typeface="Calibri" panose="020F0502020204030204" pitchFamily="34" charset="0"/>
                <a:ea typeface="Calibri" panose="020F0502020204030204" pitchFamily="34" charset="0"/>
                <a:cs typeface="Arial" panose="020B0604020202020204" pitchFamily="34" charset="0"/>
              </a:rPr>
              <a:t>תכניות</a:t>
            </a:r>
            <a:r>
              <a:rPr lang="he-IL" sz="1800" kern="100" dirty="0">
                <a:latin typeface="Calibri" panose="020F0502020204030204" pitchFamily="34" charset="0"/>
                <a:ea typeface="Calibri" panose="020F0502020204030204" pitchFamily="34" charset="0"/>
                <a:cs typeface="Arial" panose="020B0604020202020204" pitchFamily="34" charset="0"/>
              </a:rPr>
              <a:t>, הג'וינט-</a:t>
            </a:r>
            <a:r>
              <a:rPr lang="he-IL" sz="1800" kern="100" dirty="0" err="1">
                <a:latin typeface="Calibri" panose="020F0502020204030204" pitchFamily="34" charset="0"/>
                <a:ea typeface="Calibri" panose="020F0502020204030204" pitchFamily="34" charset="0"/>
                <a:cs typeface="Arial" panose="020B0604020202020204" pitchFamily="34" charset="0"/>
              </a:rPr>
              <a:t>אלכא</a:t>
            </a:r>
            <a:endParaRPr lang="he-IL" sz="1800" kern="100" dirty="0">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u="sng" kern="100" dirty="0">
                <a:latin typeface="Calibri" panose="020F0502020204030204" pitchFamily="34" charset="0"/>
                <a:cs typeface="Calibri" panose="020F0502020204030204" pitchFamily="34" charset="0"/>
              </a:rPr>
              <a:t>רכז הפורום: </a:t>
            </a:r>
          </a:p>
          <a:p>
            <a:pPr marL="0" indent="0" algn="r" rtl="1">
              <a:lnSpc>
                <a:spcPct val="107000"/>
              </a:lnSpc>
              <a:spcAft>
                <a:spcPts val="800"/>
              </a:spcAft>
              <a:buNone/>
            </a:pPr>
            <a:r>
              <a:rPr lang="he-IL" sz="1800" kern="100" dirty="0">
                <a:effectLst/>
                <a:latin typeface="Calibri" panose="020F0502020204030204" pitchFamily="34" charset="0"/>
                <a:ea typeface="Calibri" panose="020F0502020204030204" pitchFamily="34" charset="0"/>
                <a:cs typeface="Arial" panose="020B0604020202020204" pitchFamily="34" charset="0"/>
              </a:rPr>
              <a:t>חיים פרג</a:t>
            </a:r>
          </a:p>
          <a:p>
            <a:pPr marL="0" indent="0" algn="r" rtl="1">
              <a:lnSpc>
                <a:spcPct val="107000"/>
              </a:lnSpc>
              <a:spcAft>
                <a:spcPts val="800"/>
              </a:spcAft>
              <a:buFont typeface="Arial" panose="020B0604020202020204" pitchFamily="34" charset="0"/>
              <a:buNone/>
            </a:pPr>
            <a:endParaRPr lang="en-US" sz="1800" kern="1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he-IL" dirty="0"/>
          </a:p>
        </p:txBody>
      </p:sp>
    </p:spTree>
    <p:extLst>
      <p:ext uri="{BB962C8B-B14F-4D97-AF65-F5344CB8AC3E}">
        <p14:creationId xmlns:p14="http://schemas.microsoft.com/office/powerpoint/2010/main" val="1895204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9" y="1027906"/>
            <a:ext cx="12204399" cy="5830094"/>
          </a:xfrm>
          <a:prstGeom prst="rect">
            <a:avLst/>
          </a:prstGeom>
          <a:solidFill>
            <a:sysClr val="window" lastClr="FFFFFF">
              <a:alpha val="0"/>
            </a:sysClr>
          </a:solidFill>
        </p:spPr>
      </p:pic>
      <p:sp>
        <p:nvSpPr>
          <p:cNvPr id="2" name="Title 1">
            <a:extLst>
              <a:ext uri="{FF2B5EF4-FFF2-40B4-BE49-F238E27FC236}">
                <a16:creationId xmlns:a16="http://schemas.microsoft.com/office/drawing/2014/main" id="{B91004AC-4BFD-5FD0-3AB7-C3B758330B09}"/>
              </a:ext>
            </a:extLst>
          </p:cNvPr>
          <p:cNvSpPr>
            <a:spLocks noGrp="1"/>
          </p:cNvSpPr>
          <p:nvPr>
            <p:ph type="title"/>
          </p:nvPr>
        </p:nvSpPr>
        <p:spPr>
          <a:xfrm>
            <a:off x="838200" y="365126"/>
            <a:ext cx="10515600" cy="730344"/>
          </a:xfrm>
        </p:spPr>
        <p:txBody>
          <a:bodyPr>
            <a:normAutofit fontScale="90000"/>
          </a:bodyPr>
          <a:lstStyle/>
          <a:p>
            <a:pPr algn="r" rtl="1"/>
            <a:r>
              <a:rPr lang="he-IL" sz="4400" b="1" dirty="0">
                <a:effectLst/>
                <a:latin typeface="Calibri" panose="020F0502020204030204" pitchFamily="34" charset="0"/>
                <a:ea typeface="Calibri" panose="020F0502020204030204" pitchFamily="34" charset="0"/>
                <a:cs typeface="Calibri" panose="020F0502020204030204" pitchFamily="34" charset="0"/>
              </a:rPr>
              <a:t>צוות דאטה-</a:t>
            </a:r>
            <a:r>
              <a:rPr lang="he-IL" sz="4400" b="1" dirty="0" err="1">
                <a:effectLst/>
                <a:latin typeface="Calibri" panose="020F0502020204030204" pitchFamily="34" charset="0"/>
                <a:ea typeface="Calibri" panose="020F0502020204030204" pitchFamily="34" charset="0"/>
                <a:cs typeface="Calibri" panose="020F0502020204030204" pitchFamily="34" charset="0"/>
              </a:rPr>
              <a:t>דיגיטל</a:t>
            </a:r>
            <a:r>
              <a:rPr lang="he-IL" sz="4400" b="1" dirty="0">
                <a:effectLst/>
                <a:latin typeface="Calibri" panose="020F0502020204030204" pitchFamily="34" charset="0"/>
                <a:ea typeface="Calibri" panose="020F0502020204030204" pitchFamily="34" charset="0"/>
                <a:cs typeface="Calibri" panose="020F0502020204030204" pitchFamily="34" charset="0"/>
              </a:rPr>
              <a:t> </a:t>
            </a:r>
            <a:r>
              <a:rPr lang="he-IL" sz="4400" dirty="0">
                <a:effectLst/>
                <a:latin typeface="Calibri" panose="020F0502020204030204" pitchFamily="34" charset="0"/>
                <a:ea typeface="Calibri" panose="020F0502020204030204" pitchFamily="34" charset="0"/>
                <a:cs typeface="Calibri" panose="020F0502020204030204" pitchFamily="34" charset="0"/>
              </a:rPr>
              <a:t>-</a:t>
            </a:r>
            <a:r>
              <a:rPr lang="he-IL" sz="4400" b="1" dirty="0">
                <a:effectLst/>
                <a:latin typeface="Calibri" panose="020F0502020204030204" pitchFamily="34" charset="0"/>
                <a:ea typeface="Calibri" panose="020F0502020204030204" pitchFamily="34" charset="0"/>
                <a:cs typeface="Calibri" panose="020F0502020204030204" pitchFamily="34" charset="0"/>
              </a:rPr>
              <a:t> </a:t>
            </a:r>
            <a:r>
              <a:rPr lang="he-IL" sz="4400" dirty="0">
                <a:latin typeface="Calibri" panose="020F0502020204030204" pitchFamily="34" charset="0"/>
                <a:cs typeface="Calibri" panose="020F0502020204030204" pitchFamily="34" charset="0"/>
              </a:rPr>
              <a:t>מעיקרי הפעילות</a:t>
            </a:r>
            <a:r>
              <a:rPr lang="he-IL" sz="2800" dirty="0">
                <a:latin typeface="Calibri" panose="020F0502020204030204" pitchFamily="34" charset="0"/>
                <a:ea typeface="Calibri" panose="020F0502020204030204" pitchFamily="34" charset="0"/>
                <a:cs typeface="Calibri" panose="020F0502020204030204" pitchFamily="34" charset="0"/>
              </a:rPr>
              <a:t/>
            </a:r>
            <a:br>
              <a:rPr lang="he-IL" sz="2800" dirty="0">
                <a:latin typeface="Calibri" panose="020F0502020204030204" pitchFamily="34" charset="0"/>
                <a:ea typeface="Calibri" panose="020F0502020204030204" pitchFamily="34" charset="0"/>
                <a:cs typeface="Calibri" panose="020F0502020204030204" pitchFamily="34" charset="0"/>
              </a:rPr>
            </a:br>
            <a:endParaRPr lang="he-IL" dirty="0">
              <a:latin typeface="Calibri" panose="020F0502020204030204" pitchFamily="34" charset="0"/>
              <a:cs typeface="Calibri" panose="020F0502020204030204" pitchFamily="34" charset="0"/>
            </a:endParaRPr>
          </a:p>
        </p:txBody>
      </p:sp>
      <p:sp>
        <p:nvSpPr>
          <p:cNvPr id="6" name="מלבן 5"/>
          <p:cNvSpPr/>
          <p:nvPr/>
        </p:nvSpPr>
        <p:spPr>
          <a:xfrm>
            <a:off x="-463400" y="923403"/>
            <a:ext cx="13106400" cy="7650693"/>
          </a:xfrm>
          <a:prstGeom prst="rect">
            <a:avLst/>
          </a:prstGeom>
          <a:solidFill>
            <a:schemeClr val="tx1">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Content Placeholder 2">
            <a:extLst>
              <a:ext uri="{FF2B5EF4-FFF2-40B4-BE49-F238E27FC236}">
                <a16:creationId xmlns:a16="http://schemas.microsoft.com/office/drawing/2014/main" id="{B0E42A39-8CE7-E478-4054-AE3815DBDEC2}"/>
              </a:ext>
            </a:extLst>
          </p:cNvPr>
          <p:cNvSpPr>
            <a:spLocks noGrp="1"/>
          </p:cNvSpPr>
          <p:nvPr>
            <p:ph idx="1"/>
          </p:nvPr>
        </p:nvSpPr>
        <p:spPr>
          <a:xfrm>
            <a:off x="1131515" y="1266700"/>
            <a:ext cx="10515600" cy="4730338"/>
          </a:xfrm>
        </p:spPr>
        <p:txBody>
          <a:bodyPr>
            <a:noAutofit/>
          </a:bodyPr>
          <a:lstStyle/>
          <a:p>
            <a:pPr marL="0" indent="0" algn="just" rtl="1">
              <a:lnSpc>
                <a:spcPct val="107000"/>
              </a:lnSpc>
              <a:spcAft>
                <a:spcPts val="800"/>
              </a:spcAft>
              <a:buNone/>
            </a:pPr>
            <a:r>
              <a:rPr lang="he-IL" sz="24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במסגרת צוות זה מקודמים הפרויקטים הבאים:</a:t>
            </a:r>
            <a:endParaRPr lang="en-US" sz="2400" b="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cs typeface="Calibri" panose="020F0502020204030204" pitchFamily="34" charset="0"/>
              </a:rPr>
              <a:t>1. </a:t>
            </a:r>
            <a:r>
              <a:rPr lang="he-IL" sz="2000" b="1" dirty="0">
                <a:solidFill>
                  <a:schemeClr val="bg1"/>
                </a:solidFill>
                <a:latin typeface="Calibri" panose="020F0502020204030204" pitchFamily="34" charset="0"/>
                <a:cs typeface="Calibri" panose="020F0502020204030204" pitchFamily="34" charset="0"/>
              </a:rPr>
              <a:t>'ברק בעיניים'- </a:t>
            </a:r>
            <a:r>
              <a:rPr lang="he-IL" sz="2000" b="1" dirty="0" err="1">
                <a:solidFill>
                  <a:schemeClr val="bg1"/>
                </a:solidFill>
                <a:latin typeface="Calibri" panose="020F0502020204030204" pitchFamily="34" charset="0"/>
                <a:cs typeface="Calibri" panose="020F0502020204030204" pitchFamily="34" charset="0"/>
              </a:rPr>
              <a:t>דשבורד</a:t>
            </a:r>
            <a:r>
              <a:rPr lang="he-IL" sz="2000" b="1" dirty="0">
                <a:solidFill>
                  <a:schemeClr val="bg1"/>
                </a:solidFill>
                <a:latin typeface="Calibri" panose="020F0502020204030204" pitchFamily="34" charset="0"/>
                <a:cs typeface="Calibri" panose="020F0502020204030204" pitchFamily="34" charset="0"/>
              </a:rPr>
              <a:t> ממשלה ורשויות - </a:t>
            </a:r>
            <a:r>
              <a:rPr lang="he-IL" sz="2000" dirty="0">
                <a:solidFill>
                  <a:schemeClr val="bg1"/>
                </a:solidFill>
                <a:latin typeface="Calibri" panose="020F0502020204030204" pitchFamily="34" charset="0"/>
                <a:ea typeface="Times New Roman" panose="02020603050405020304" pitchFamily="18" charset="0"/>
                <a:cs typeface="Calibri" panose="020F0502020204030204" pitchFamily="34" charset="0"/>
              </a:rPr>
              <a:t>הנגשת תמונת מצב לאומית לאתגרי ההזדקנות לממשלה ולרשויות המקומיות דרך איגום והצלבת מידע רב מערכתי </a:t>
            </a:r>
            <a:r>
              <a:rPr lang="he-IL" sz="20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והנגשתו</a:t>
            </a:r>
            <a:r>
              <a:rPr lang="he-IL" sz="20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t>
            </a:r>
            <a:r>
              <a:rPr lang="he-IL" sz="20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בדשבורדים</a:t>
            </a:r>
            <a:r>
              <a:rPr lang="he-IL" sz="20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t>
            </a:r>
            <a:r>
              <a:rPr lang="he-IL" sz="20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יעודיים</a:t>
            </a:r>
            <a:endParaRPr lang="en-US" sz="2000" strike="sng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rPr>
              <a:t>2</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0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אופטימיזציה של צרכים ומענים - </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פיתוח תשתית דאטה המבוססת על צרכים של אזרחים ותיקים לפי פרופילים והמענים הקיימים המתאימים להם, כשתשתית תומכת לפרסונליזציה של שירותים מותאמי אדם. </a:t>
            </a:r>
            <a:endParaRPr lang="en-US"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rPr>
              <a:t>3</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0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מהלך </a:t>
            </a:r>
            <a:r>
              <a:rPr lang="he-IL" sz="2000" b="1"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הדיגיטל</a:t>
            </a:r>
            <a:r>
              <a:rPr lang="he-IL" sz="20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להזדקנות מיטבית- </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תכנית אסטרטגית דאטה-</a:t>
            </a:r>
            <a:r>
              <a:rPr lang="he-IL" sz="200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דיגיטל</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להזדקנות מיטבית: מיפוי המצב כיום, מיפוי ההזדמנויות הטכנולוגיות והצעות לשינוי ומינוף.</a:t>
            </a:r>
            <a:endPar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rPr>
              <a:t>4</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0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הפניות הדדיות - </a:t>
            </a:r>
            <a:r>
              <a:rPr lang="he-IL" sz="2000" dirty="0">
                <a:solidFill>
                  <a:schemeClr val="bg1"/>
                </a:solidFill>
                <a:latin typeface="Calibri" panose="020F0502020204030204" pitchFamily="34" charset="0"/>
                <a:cs typeface="Calibri" panose="020F0502020204030204" pitchFamily="34" charset="0"/>
              </a:rPr>
              <a:t>הבניית שיטת עבודה בין מערכת הרווחה, הבריאות וביטוח לאומי, לטובת הפניות הדדיות בין מערכות המיועדות לשימור תפקוד ומניעת הדרדרות.</a:t>
            </a:r>
            <a:endParaRPr lang="en-US" sz="2000" dirty="0">
              <a:solidFill>
                <a:schemeClr val="bg1"/>
              </a:solidFill>
              <a:latin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rPr>
              <a:t>5</a:t>
            </a:r>
            <a:r>
              <a:rPr lang="he-IL" sz="2000" b="1" dirty="0">
                <a:solidFill>
                  <a:schemeClr val="bg1"/>
                </a:solidFill>
                <a:latin typeface="Calibri" panose="020F0502020204030204" pitchFamily="34" charset="0"/>
                <a:cs typeface="Calibri" panose="020F0502020204030204" pitchFamily="34" charset="0"/>
              </a:rPr>
              <a:t>. סל תפקוד מותאם אישית</a:t>
            </a:r>
            <a:r>
              <a:rPr lang="en-US" sz="2000" b="1" dirty="0">
                <a:solidFill>
                  <a:schemeClr val="bg1"/>
                </a:solidFill>
                <a:latin typeface="Calibri" panose="020F0502020204030204" pitchFamily="34" charset="0"/>
                <a:cs typeface="Calibri" panose="020F0502020204030204" pitchFamily="34" charset="0"/>
              </a:rPr>
              <a:t>AI </a:t>
            </a:r>
            <a:r>
              <a:rPr lang="he-IL" sz="2000" b="1" dirty="0">
                <a:solidFill>
                  <a:schemeClr val="bg1"/>
                </a:solidFill>
                <a:latin typeface="Calibri" panose="020F0502020204030204" pitchFamily="34" charset="0"/>
                <a:cs typeface="Calibri" panose="020F0502020204030204" pitchFamily="34" charset="0"/>
              </a:rPr>
              <a:t>- </a:t>
            </a:r>
            <a:r>
              <a:rPr lang="he-IL" sz="2000" dirty="0">
                <a:solidFill>
                  <a:schemeClr val="bg1"/>
                </a:solidFill>
                <a:latin typeface="Calibri" panose="020F0502020204030204" pitchFamily="34" charset="0"/>
                <a:cs typeface="Calibri" panose="020F0502020204030204" pitchFamily="34" charset="0"/>
              </a:rPr>
              <a:t>פיתוח מנגנון בר-קיימא, יעיל ואפקטיבי, לאספקת שירותים מותאמים בקהילה על ידי בחירה וניהול עצמי של האזרח הוותיק לשיפור איכות חייו, מניעת הידרדרות תפקודית, והרחבת העצמאות וההשתתפות החברתית שלו.</a:t>
            </a:r>
          </a:p>
          <a:p>
            <a:pPr marL="0" indent="0" algn="just" rtl="1">
              <a:lnSpc>
                <a:spcPct val="107000"/>
              </a:lnSpc>
              <a:spcAft>
                <a:spcPts val="800"/>
              </a:spcAft>
              <a:buNone/>
            </a:pPr>
            <a:endParaRPr lang="en-US"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r" rtl="1">
              <a:buNone/>
            </a:pPr>
            <a:endParaRPr lang="he-IL" sz="20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55807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idx="4294967295"/>
          </p:nvPr>
        </p:nvSpPr>
        <p:spPr>
          <a:xfrm>
            <a:off x="6625390" y="1281635"/>
            <a:ext cx="5343112" cy="2387600"/>
          </a:xfrm>
          <a:prstGeom prst="rect">
            <a:avLst/>
          </a:prstGeom>
        </p:spPr>
        <p:txBody>
          <a:bodyPr>
            <a:normAutofit fontScale="90000"/>
          </a:bodyPr>
          <a:lstStyle/>
          <a:p>
            <a:pPr algn="r" rtl="1">
              <a:spcAft>
                <a:spcPts val="600"/>
              </a:spcAft>
              <a:buSzPct val="100000"/>
            </a:pPr>
            <a:r>
              <a:rPr lang="he-IL" sz="4000" kern="0" dirty="0">
                <a:solidFill>
                  <a:schemeClr val="accent5"/>
                </a:solidFill>
                <a:latin typeface="Segoe UI" panose="020B0502040204020203" pitchFamily="34" charset="0"/>
                <a:cs typeface="Segoe UI" panose="020B0502040204020203" pitchFamily="34" charset="0"/>
              </a:rPr>
              <a:t>הצגת תפישה של מערכת </a:t>
            </a:r>
            <a:r>
              <a:rPr lang="he-IL" sz="4000" kern="0" dirty="0" smtClean="0">
                <a:solidFill>
                  <a:schemeClr val="accent5"/>
                </a:solidFill>
                <a:latin typeface="Segoe UI" panose="020B0502040204020203" pitchFamily="34" charset="0"/>
                <a:cs typeface="Segoe UI" panose="020B0502040204020203" pitchFamily="34" charset="0"/>
              </a:rPr>
              <a:t>אסטרטגית לניהול דאטה, פערים ומדדים</a:t>
            </a:r>
            <a:endParaRPr lang="he-IL" sz="3600" dirty="0">
              <a:solidFill>
                <a:schemeClr val="accent5"/>
              </a:solidFill>
              <a:latin typeface="Segoe UI" panose="020B0502040204020203" pitchFamily="34" charset="0"/>
              <a:cs typeface="Segoe UI" panose="020B0502040204020203" pitchFamily="34" charset="0"/>
            </a:endParaRPr>
          </a:p>
        </p:txBody>
      </p:sp>
      <p:pic>
        <p:nvPicPr>
          <p:cNvPr id="4" name="תמונה 3"/>
          <p:cNvPicPr>
            <a:picLocks noChangeAspect="1"/>
          </p:cNvPicPr>
          <p:nvPr/>
        </p:nvPicPr>
        <p:blipFill>
          <a:blip r:embed="rId3"/>
          <a:stretch>
            <a:fillRect/>
          </a:stretch>
        </p:blipFill>
        <p:spPr>
          <a:xfrm>
            <a:off x="313312" y="177421"/>
            <a:ext cx="5299384" cy="6458805"/>
          </a:xfrm>
          <a:prstGeom prst="rect">
            <a:avLst/>
          </a:prstGeom>
        </p:spPr>
      </p:pic>
      <p:sp>
        <p:nvSpPr>
          <p:cNvPr id="5" name="מקבילית 1"/>
          <p:cNvSpPr/>
          <p:nvPr/>
        </p:nvSpPr>
        <p:spPr bwMode="gray">
          <a:xfrm>
            <a:off x="-1696876" y="0"/>
            <a:ext cx="8758334" cy="6858000"/>
          </a:xfrm>
          <a:prstGeom prst="parallelogram">
            <a:avLst>
              <a:gd name="adj" fmla="val 21164"/>
            </a:avLst>
          </a:prstGeom>
          <a:blipFill dpi="0" rotWithShape="1">
            <a:blip r:embed="rId4"/>
            <a:srcRect/>
            <a:tile tx="-1403350" ty="-31750" sx="92000" sy="92000" flip="none" algn="tl"/>
          </a:bli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3" name="כותרת 1">
            <a:extLst>
              <a:ext uri="{FF2B5EF4-FFF2-40B4-BE49-F238E27FC236}">
                <a16:creationId xmlns:a16="http://schemas.microsoft.com/office/drawing/2014/main" id="{43DCD03F-331A-9505-274F-512D00DF5D2D}"/>
              </a:ext>
            </a:extLst>
          </p:cNvPr>
          <p:cNvSpPr txBox="1">
            <a:spLocks/>
          </p:cNvSpPr>
          <p:nvPr/>
        </p:nvSpPr>
        <p:spPr>
          <a:xfrm>
            <a:off x="7175757" y="4197096"/>
            <a:ext cx="4632325" cy="730504"/>
          </a:xfrm>
          <a:prstGeom prst="rect">
            <a:avLst/>
          </a:prstGeom>
        </p:spPr>
        <p:txBody>
          <a:bodyPr>
            <a:normAutofit fontScale="52500" lnSpcReduction="20000"/>
          </a:bodyPr>
          <a:lstStyle>
            <a:lvl1pPr algn="r" rtl="1">
              <a:spcBef>
                <a:spcPct val="0"/>
              </a:spcBef>
              <a:spcAft>
                <a:spcPts val="600"/>
              </a:spcAft>
              <a:buSzPct val="100000"/>
              <a:buNone/>
              <a:defRPr sz="4000" kern="0">
                <a:solidFill>
                  <a:schemeClr val="accent5"/>
                </a:solidFill>
                <a:latin typeface="Segoe UI" panose="020B0502040204020203" pitchFamily="34" charset="0"/>
                <a:ea typeface="+mj-ea"/>
                <a:cs typeface="+mj-cs"/>
              </a:defRPr>
            </a:lvl1pPr>
          </a:lstStyle>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4000" b="1" i="0" u="none" strike="noStrike" kern="0" cap="none" spc="0" normalizeH="0" baseline="0" noProof="0" err="1">
                <a:ln>
                  <a:noFill/>
                </a:ln>
                <a:solidFill>
                  <a:srgbClr val="001E2F"/>
                </a:solidFill>
                <a:effectLst/>
                <a:uLnTx/>
                <a:uFillTx/>
                <a:latin typeface="Segoe UI" panose="020B0502040204020203" pitchFamily="34" charset="0"/>
                <a:ea typeface="+mj-ea"/>
                <a:cs typeface="Segoe UI" panose="020B0502040204020203" pitchFamily="34" charset="0"/>
              </a:rPr>
              <a:t>מינהל</a:t>
            </a:r>
            <a:r>
              <a:rPr kumimoji="0" lang="he-IL" sz="4000" b="1" i="0" u="none" strike="noStrike" kern="0" cap="none" spc="0" normalizeH="0" baseline="0" noProof="0">
                <a:ln>
                  <a:noFill/>
                </a:ln>
                <a:solidFill>
                  <a:srgbClr val="001E2F"/>
                </a:solidFill>
                <a:effectLst/>
                <a:uLnTx/>
                <a:uFillTx/>
                <a:latin typeface="Segoe UI" panose="020B0502040204020203" pitchFamily="34" charset="0"/>
                <a:ea typeface="+mj-ea"/>
                <a:cs typeface="Segoe UI" panose="020B0502040204020203" pitchFamily="34" charset="0"/>
              </a:rPr>
              <a:t> אזרחים ותיקים </a:t>
            </a:r>
          </a:p>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4000" b="1" i="0" u="none" strike="noStrike" kern="0" cap="none" spc="0" normalizeH="0" baseline="0" noProof="0">
                <a:ln>
                  <a:noFill/>
                </a:ln>
                <a:solidFill>
                  <a:srgbClr val="001E2F"/>
                </a:solidFill>
                <a:effectLst/>
                <a:uLnTx/>
                <a:uFillTx/>
                <a:latin typeface="Segoe UI" panose="020B0502040204020203" pitchFamily="34" charset="0"/>
                <a:ea typeface="+mj-ea"/>
                <a:cs typeface="Segoe UI" panose="020B0502040204020203" pitchFamily="34" charset="0"/>
              </a:rPr>
              <a:t>משרד הרווחה</a:t>
            </a:r>
          </a:p>
        </p:txBody>
      </p:sp>
      <p:sp>
        <p:nvSpPr>
          <p:cNvPr id="7" name="כותרת 1">
            <a:extLst>
              <a:ext uri="{FF2B5EF4-FFF2-40B4-BE49-F238E27FC236}">
                <a16:creationId xmlns:a16="http://schemas.microsoft.com/office/drawing/2014/main" id="{0865C7A5-12B8-8ED8-AB6A-6643DFFDA611}"/>
              </a:ext>
            </a:extLst>
          </p:cNvPr>
          <p:cNvSpPr txBox="1">
            <a:spLocks/>
          </p:cNvSpPr>
          <p:nvPr/>
        </p:nvSpPr>
        <p:spPr>
          <a:xfrm>
            <a:off x="7175756" y="5832348"/>
            <a:ext cx="4632325" cy="502920"/>
          </a:xfrm>
          <a:prstGeom prst="rect">
            <a:avLst/>
          </a:prstGeom>
        </p:spPr>
        <p:txBody>
          <a:bodyPr>
            <a:normAutofit fontScale="97500"/>
          </a:bodyPr>
          <a:lstStyle>
            <a:defPPr>
              <a:defRPr lang="en-US"/>
            </a:defPPr>
            <a:lvl1pPr algn="r" rtl="1">
              <a:spcBef>
                <a:spcPct val="0"/>
              </a:spcBef>
              <a:spcAft>
                <a:spcPts val="600"/>
              </a:spcAft>
              <a:buSzPct val="100000"/>
              <a:buNone/>
              <a:defRPr sz="4000" b="1" kern="0">
                <a:solidFill>
                  <a:schemeClr val="tx2"/>
                </a:solidFill>
                <a:latin typeface="Segoe UI" panose="020B0502040204020203" pitchFamily="34" charset="0"/>
                <a:ea typeface="+mj-ea"/>
                <a:cs typeface="+mj-cs"/>
              </a:defRPr>
            </a:lvl1pPr>
          </a:lstStyle>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1800" b="0" i="0" u="none" strike="noStrike" kern="0" cap="none" spc="0" normalizeH="0" baseline="0" noProof="0" dirty="0">
                <a:ln>
                  <a:noFill/>
                </a:ln>
                <a:solidFill>
                  <a:srgbClr val="001E2F"/>
                </a:solidFill>
                <a:effectLst/>
                <a:uLnTx/>
                <a:uFillTx/>
                <a:latin typeface="Segoe UI" panose="020B0502040204020203" pitchFamily="34" charset="0"/>
                <a:ea typeface="+mj-ea"/>
                <a:cs typeface="Segoe UI" panose="020B0502040204020203" pitchFamily="34" charset="0"/>
              </a:rPr>
              <a:t>19/09/2023</a:t>
            </a:r>
          </a:p>
        </p:txBody>
      </p:sp>
      <p:pic>
        <p:nvPicPr>
          <p:cNvPr id="6" name="Picture 3" descr="קובץ:Ministry of Labor, Social Affairs and Social Services ...">
            <a:extLst>
              <a:ext uri="{FF2B5EF4-FFF2-40B4-BE49-F238E27FC236}">
                <a16:creationId xmlns:a16="http://schemas.microsoft.com/office/drawing/2014/main" id="{2358F968-53FF-170F-179A-A8E4610586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068066" y="291690"/>
            <a:ext cx="1694750" cy="462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714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descr="רקע לבן מופשט של טכנולוגיה">
            <a:extLst>
              <a:ext uri="{FF2B5EF4-FFF2-40B4-BE49-F238E27FC236}">
                <a16:creationId xmlns:a16="http://schemas.microsoft.com/office/drawing/2014/main" id="{12B89C69-40D5-99F6-EC3B-BFE9FE80643D}"/>
              </a:ext>
            </a:extLst>
          </p:cNvPr>
          <p:cNvPicPr>
            <a:picLocks noChangeAspect="1"/>
          </p:cNvPicPr>
          <p:nvPr/>
        </p:nvPicPr>
        <p:blipFill>
          <a:blip r:embed="rId2">
            <a:duotone>
              <a:prstClr val="black"/>
              <a:schemeClr val="bg2">
                <a:tint val="45000"/>
                <a:satMod val="400000"/>
              </a:schemeClr>
            </a:duotone>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409805" y="1543460"/>
            <a:ext cx="11372389" cy="1096092"/>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ctr" defTabSz="914400" rtl="1" eaLnBrk="1" fontAlgn="auto" latinLnBrk="0" hangingPunct="1">
              <a:lnSpc>
                <a:spcPct val="20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1E2F"/>
                </a:solidFill>
                <a:effectLst/>
                <a:uLnTx/>
                <a:uFillTx/>
                <a:latin typeface="Segoe UI" panose="020B0502040204020203" pitchFamily="34" charset="0"/>
                <a:ea typeface="Bebas Neue" charset="0"/>
                <a:cs typeface="Segoe UI" panose="020B0502040204020203" pitchFamily="34" charset="0"/>
              </a:rPr>
              <a:t>מיקוד תשומת הלב הניהולית במקומות הדורשים התערבות</a:t>
            </a:r>
            <a:endParaRPr kumimoji="0" lang="en-US" sz="2800" b="0" i="0" u="none" strike="noStrike" kern="1200" cap="none" spc="-75" normalizeH="0" baseline="0" noProof="0">
              <a:ln>
                <a:noFill/>
              </a:ln>
              <a:solidFill>
                <a:srgbClr val="001E2F"/>
              </a:solidFill>
              <a:effectLst/>
              <a:uLnTx/>
              <a:uFillTx/>
              <a:latin typeface="Segoe UI" panose="020B0502040204020203" pitchFamily="34" charset="0"/>
              <a:ea typeface="Bebas Neue" charset="0"/>
              <a:cs typeface="Segoe UI" panose="020B0502040204020203" pitchFamily="34" charset="0"/>
            </a:endParaRPr>
          </a:p>
        </p:txBody>
      </p:sp>
      <p:sp>
        <p:nvSpPr>
          <p:cNvPr id="4" name="TextBox 3">
            <a:extLst>
              <a:ext uri="{FF2B5EF4-FFF2-40B4-BE49-F238E27FC236}">
                <a16:creationId xmlns:a16="http://schemas.microsoft.com/office/drawing/2014/main" id="{374D4E02-A843-6079-5451-967F1B6A8074}"/>
              </a:ext>
            </a:extLst>
          </p:cNvPr>
          <p:cNvSpPr txBox="1"/>
          <p:nvPr/>
        </p:nvSpPr>
        <p:spPr>
          <a:xfrm>
            <a:off x="866775" y="3056291"/>
            <a:ext cx="10009245" cy="1569660"/>
          </a:xfrm>
          <a:prstGeom prst="rect">
            <a:avLst/>
          </a:prstGeom>
          <a:noFill/>
        </p:spPr>
        <p:txBody>
          <a:bodyPr wrap="square">
            <a:spAutoFit/>
          </a:bodyPr>
          <a:lstStyle/>
          <a:p>
            <a:pPr marL="0" marR="0" lvl="0" indent="0" algn="ctr" defTabSz="1027116" rtl="1" eaLnBrk="1" fontAlgn="auto" latinLnBrk="0" hangingPunct="1">
              <a:lnSpc>
                <a:spcPct val="200000"/>
              </a:lnSpc>
              <a:spcBef>
                <a:spcPts val="0"/>
              </a:spcBef>
              <a:spcAft>
                <a:spcPts val="1200"/>
              </a:spcAft>
              <a:buClrTx/>
              <a:buSzTx/>
              <a:buFontTx/>
              <a:buNone/>
              <a:tabLst/>
              <a:defRPr/>
            </a:pP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הנגשת</a:t>
            </a:r>
            <a:r>
              <a:rPr kumimoji="0" lang="he-IL" sz="2400" b="1" i="0" u="none" strike="noStrike" kern="1200" cap="none" spc="-75" normalizeH="0" baseline="0" noProof="0" dirty="0">
                <a:ln>
                  <a:noFill/>
                </a:ln>
                <a:solidFill>
                  <a:srgbClr val="389D80"/>
                </a:solidFill>
                <a:effectLst/>
                <a:uLnTx/>
                <a:uFillTx/>
                <a:latin typeface="Segoe UI" panose="020B0502040204020203" pitchFamily="34" charset="0"/>
                <a:ea typeface="Open Sans Light" panose="020F0502020204030204" pitchFamily="34" charset="0"/>
                <a:cs typeface="Segoe UI" panose="020B0502040204020203" pitchFamily="34" charset="0"/>
              </a:rPr>
              <a:t> מדדים עסקיים </a:t>
            </a: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המשקפים את ההתנהלות והשירותים הניתנים, </a:t>
            </a:r>
            <a:r>
              <a:rPr kumimoji="0" lang="en-US"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
            </a:r>
            <a:br>
              <a:rPr kumimoji="0" lang="en-US"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br>
            <a:r>
              <a:rPr kumimoji="0" lang="he-IL" sz="2400" b="1" i="0" u="none" strike="noStrike" kern="1200" cap="none" spc="-75" normalizeH="0" baseline="0" noProof="0" dirty="0">
                <a:ln>
                  <a:noFill/>
                </a:ln>
                <a:solidFill>
                  <a:srgbClr val="389D80"/>
                </a:solidFill>
                <a:effectLst/>
                <a:uLnTx/>
                <a:uFillTx/>
                <a:latin typeface="Segoe UI" panose="020B0502040204020203" pitchFamily="34" charset="0"/>
                <a:ea typeface="Open Sans Light" panose="020F0502020204030204" pitchFamily="34" charset="0"/>
                <a:cs typeface="Segoe UI" panose="020B0502040204020203" pitchFamily="34" charset="0"/>
              </a:rPr>
              <a:t>ומיקוד </a:t>
            </a: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תשומת הלב הניהולית במקומות בהם קיים פער הדורש מיקוד פעולות</a:t>
            </a:r>
          </a:p>
        </p:txBody>
      </p:sp>
      <p:cxnSp>
        <p:nvCxnSpPr>
          <p:cNvPr id="6" name="Straight Connector 5">
            <a:extLst>
              <a:ext uri="{FF2B5EF4-FFF2-40B4-BE49-F238E27FC236}">
                <a16:creationId xmlns:a16="http://schemas.microsoft.com/office/drawing/2014/main" id="{E0E80522-E4D3-E136-0D23-E5BBAE3274B5}"/>
              </a:ext>
            </a:extLst>
          </p:cNvPr>
          <p:cNvCxnSpPr/>
          <p:nvPr/>
        </p:nvCxnSpPr>
        <p:spPr>
          <a:xfrm>
            <a:off x="866775" y="2809821"/>
            <a:ext cx="1055370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מלבן 2">
            <a:extLst>
              <a:ext uri="{FF2B5EF4-FFF2-40B4-BE49-F238E27FC236}">
                <a16:creationId xmlns:a16="http://schemas.microsoft.com/office/drawing/2014/main" id="{1600E812-6C3F-F7F0-9CA1-CCF4851B1BF8}"/>
              </a:ext>
            </a:extLst>
          </p:cNvPr>
          <p:cNvSpPr/>
          <p:nvPr/>
        </p:nvSpPr>
        <p:spPr>
          <a:xfrm>
            <a:off x="4701641" y="1007188"/>
            <a:ext cx="2788713" cy="584775"/>
          </a:xfrm>
          <a:prstGeom prst="rect">
            <a:avLst/>
          </a:prstGeom>
          <a:noFill/>
          <a:ln>
            <a:noFill/>
          </a:ln>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w="0"/>
                <a:gradFill>
                  <a:gsLst>
                    <a:gs pos="0">
                      <a:srgbClr val="95E89D"/>
                    </a:gs>
                    <a:gs pos="75000">
                      <a:srgbClr val="389D80"/>
                    </a:gs>
                    <a:gs pos="100000">
                      <a:srgbClr val="3E8F80"/>
                    </a:gs>
                  </a:gsLst>
                  <a:lin ang="8100000" scaled="0"/>
                </a:gradFill>
                <a:effectLst/>
                <a:uLnTx/>
                <a:uFillTx/>
                <a:latin typeface="Open Sans Hebrew"/>
                <a:ea typeface="+mn-ea"/>
              </a:rPr>
              <a:t>Gap Analyzer</a:t>
            </a:r>
            <a:endParaRPr kumimoji="0" lang="he-IL" sz="3200" b="1" i="0" u="none" strike="noStrike" kern="1200" cap="none" spc="0" normalizeH="0" baseline="0" noProof="0">
              <a:ln w="0"/>
              <a:gradFill>
                <a:gsLst>
                  <a:gs pos="0">
                    <a:srgbClr val="95E89D"/>
                  </a:gs>
                  <a:gs pos="75000">
                    <a:srgbClr val="389D80"/>
                  </a:gs>
                  <a:gs pos="100000">
                    <a:srgbClr val="3E8F80"/>
                  </a:gs>
                </a:gsLst>
                <a:lin ang="8100000" scaled="0"/>
              </a:gradFill>
              <a:effectLst/>
              <a:uLnTx/>
              <a:uFillTx/>
              <a:latin typeface="Open Sans Hebrew"/>
              <a:ea typeface="+mn-ea"/>
            </a:endParaRPr>
          </a:p>
        </p:txBody>
      </p:sp>
    </p:spTree>
    <p:extLst>
      <p:ext uri="{BB962C8B-B14F-4D97-AF65-F5344CB8AC3E}">
        <p14:creationId xmlns:p14="http://schemas.microsoft.com/office/powerpoint/2010/main" val="2604759635"/>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רכיבים מרכזיים בפתרון</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grpSp>
        <p:nvGrpSpPr>
          <p:cNvPr id="37" name="קבוצה 36">
            <a:extLst>
              <a:ext uri="{FF2B5EF4-FFF2-40B4-BE49-F238E27FC236}">
                <a16:creationId xmlns:a16="http://schemas.microsoft.com/office/drawing/2014/main" id="{38A70C6C-1988-74D6-1B93-D9AF27354C20}"/>
              </a:ext>
            </a:extLst>
          </p:cNvPr>
          <p:cNvGrpSpPr/>
          <p:nvPr/>
        </p:nvGrpSpPr>
        <p:grpSpPr>
          <a:xfrm>
            <a:off x="9246400" y="1672163"/>
            <a:ext cx="2560320" cy="3822192"/>
            <a:chOff x="9047225" y="1672163"/>
            <a:chExt cx="2560320" cy="3822192"/>
          </a:xfrm>
        </p:grpSpPr>
        <p:sp>
          <p:nvSpPr>
            <p:cNvPr id="20" name="Rectangle: Rounded Corners 2">
              <a:extLst>
                <a:ext uri="{FF2B5EF4-FFF2-40B4-BE49-F238E27FC236}">
                  <a16:creationId xmlns:a16="http://schemas.microsoft.com/office/drawing/2014/main" id="{E67EDF60-AB2C-5B1C-208C-C57FA8184E2F}"/>
                </a:ext>
              </a:extLst>
            </p:cNvPr>
            <p:cNvSpPr/>
            <p:nvPr/>
          </p:nvSpPr>
          <p:spPr bwMode="gray">
            <a:xfrm>
              <a:off x="9047225"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0" name="תיבת טקסט 9">
              <a:extLst>
                <a:ext uri="{FF2B5EF4-FFF2-40B4-BE49-F238E27FC236}">
                  <a16:creationId xmlns:a16="http://schemas.microsoft.com/office/drawing/2014/main" id="{E22A8397-E7E2-25D4-25AE-2B6F81328A06}"/>
                </a:ext>
              </a:extLst>
            </p:cNvPr>
            <p:cNvSpPr txBox="1"/>
            <p:nvPr/>
          </p:nvSpPr>
          <p:spPr>
            <a:xfrm>
              <a:off x="9248355" y="2568876"/>
              <a:ext cx="2228850" cy="1969770"/>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ממשק להגדרה עסקית של דרך חישוב המדד</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מגשר בין האנליסטים במשרד לבין הגורמים העסקיים בהליך הפיתוח</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מאפשר לפתח מדדים עסקיים יחד עם גורמים מחוץ למשרד</a:t>
              </a:r>
            </a:p>
          </p:txBody>
        </p:sp>
        <p:sp>
          <p:nvSpPr>
            <p:cNvPr id="13" name="תיבת טקסט 12">
              <a:extLst>
                <a:ext uri="{FF2B5EF4-FFF2-40B4-BE49-F238E27FC236}">
                  <a16:creationId xmlns:a16="http://schemas.microsoft.com/office/drawing/2014/main" id="{B5D92938-C4B6-C3F1-7F0E-AD31F60FE5DB}"/>
                </a:ext>
              </a:extLst>
            </p:cNvPr>
            <p:cNvSpPr txBox="1"/>
            <p:nvPr/>
          </p:nvSpPr>
          <p:spPr>
            <a:xfrm>
              <a:off x="9047225" y="1953230"/>
              <a:ext cx="2560320"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he-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ממשק לניהול מדדים</a:t>
              </a:r>
              <a:endParaRPr kumimoji="0" lang="en-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cxnSp>
          <p:nvCxnSpPr>
            <p:cNvPr id="15" name="מחבר ישר 14">
              <a:extLst>
                <a:ext uri="{FF2B5EF4-FFF2-40B4-BE49-F238E27FC236}">
                  <a16:creationId xmlns:a16="http://schemas.microsoft.com/office/drawing/2014/main" id="{8DFD78FF-51AF-76FE-2D8E-D4A46E7E39D6}"/>
                </a:ext>
              </a:extLst>
            </p:cNvPr>
            <p:cNvCxnSpPr/>
            <p:nvPr/>
          </p:nvCxnSpPr>
          <p:spPr>
            <a:xfrm>
              <a:off x="9785102" y="3137888"/>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0AF13A57-5853-90DB-FF94-B95A36C5D589}"/>
                </a:ext>
              </a:extLst>
            </p:cNvPr>
            <p:cNvCxnSpPr/>
            <p:nvPr/>
          </p:nvCxnSpPr>
          <p:spPr>
            <a:xfrm>
              <a:off x="9785102" y="4001488"/>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 name="Group 65">
              <a:extLst>
                <a:ext uri="{FF2B5EF4-FFF2-40B4-BE49-F238E27FC236}">
                  <a16:creationId xmlns:a16="http://schemas.microsoft.com/office/drawing/2014/main" id="{42B9834F-3ABB-DECD-EDB6-0504719E3885}"/>
                </a:ext>
              </a:extLst>
            </p:cNvPr>
            <p:cNvGrpSpPr>
              <a:grpSpLocks noChangeAspect="1"/>
            </p:cNvGrpSpPr>
            <p:nvPr/>
          </p:nvGrpSpPr>
          <p:grpSpPr>
            <a:xfrm>
              <a:off x="10257499" y="4874905"/>
              <a:ext cx="277253" cy="454329"/>
              <a:chOff x="8146512" y="3656719"/>
              <a:chExt cx="482495" cy="790654"/>
            </a:xfrm>
            <a:gradFill>
              <a:gsLst>
                <a:gs pos="22000">
                  <a:schemeClr val="accent1"/>
                </a:gs>
                <a:gs pos="75000">
                  <a:schemeClr val="accent4"/>
                </a:gs>
                <a:gs pos="100000">
                  <a:schemeClr val="accent5"/>
                </a:gs>
              </a:gsLst>
              <a:lin ang="8100000" scaled="0"/>
            </a:gradFill>
          </p:grpSpPr>
          <p:sp>
            <p:nvSpPr>
              <p:cNvPr id="4" name="Free-form: Shape 63">
                <a:extLst>
                  <a:ext uri="{FF2B5EF4-FFF2-40B4-BE49-F238E27FC236}">
                    <a16:creationId xmlns:a16="http://schemas.microsoft.com/office/drawing/2014/main" id="{DEAD3A7F-71E3-AF49-3FCC-5B09584FEC8A}"/>
                  </a:ext>
                </a:extLst>
              </p:cNvPr>
              <p:cNvSpPr/>
              <p:nvPr/>
            </p:nvSpPr>
            <p:spPr>
              <a:xfrm>
                <a:off x="8181331" y="3656719"/>
                <a:ext cx="257201" cy="235507"/>
              </a:xfrm>
              <a:custGeom>
                <a:avLst/>
                <a:gdLst>
                  <a:gd name="connsiteX0" fmla="*/ 57147 w 257201"/>
                  <a:gd name="connsiteY0" fmla="*/ 235508 h 235507"/>
                  <a:gd name="connsiteX1" fmla="*/ 57147 w 257201"/>
                  <a:gd name="connsiteY1" fmla="*/ 183997 h 235507"/>
                  <a:gd name="connsiteX2" fmla="*/ 73030 w 257201"/>
                  <a:gd name="connsiteY2" fmla="*/ 57018 h 235507"/>
                  <a:gd name="connsiteX3" fmla="*/ 200010 w 257201"/>
                  <a:gd name="connsiteY3" fmla="*/ 72901 h 235507"/>
                  <a:gd name="connsiteX4" fmla="*/ 200479 w 257201"/>
                  <a:gd name="connsiteY4" fmla="*/ 183387 h 235507"/>
                  <a:gd name="connsiteX5" fmla="*/ 200479 w 257201"/>
                  <a:gd name="connsiteY5" fmla="*/ 235222 h 235507"/>
                  <a:gd name="connsiteX6" fmla="*/ 235222 w 257201"/>
                  <a:gd name="connsiteY6" fmla="*/ 56722 h 235507"/>
                  <a:gd name="connsiteX7" fmla="*/ 56721 w 257201"/>
                  <a:gd name="connsiteY7" fmla="*/ 21979 h 235507"/>
                  <a:gd name="connsiteX8" fmla="*/ 21979 w 257201"/>
                  <a:gd name="connsiteY8" fmla="*/ 200480 h 235507"/>
                  <a:gd name="connsiteX9" fmla="*/ 57147 w 257201"/>
                  <a:gd name="connsiteY9" fmla="*/ 235508 h 2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01" h="235507">
                    <a:moveTo>
                      <a:pt x="57147" y="235508"/>
                    </a:moveTo>
                    <a:lnTo>
                      <a:pt x="57147" y="183997"/>
                    </a:lnTo>
                    <a:cubicBezTo>
                      <a:pt x="26469" y="144546"/>
                      <a:pt x="33580" y="87696"/>
                      <a:pt x="73030" y="57018"/>
                    </a:cubicBezTo>
                    <a:cubicBezTo>
                      <a:pt x="112481" y="26339"/>
                      <a:pt x="169331" y="33450"/>
                      <a:pt x="200010" y="72901"/>
                    </a:cubicBezTo>
                    <a:cubicBezTo>
                      <a:pt x="225242" y="105348"/>
                      <a:pt x="225435" y="150726"/>
                      <a:pt x="200479" y="183387"/>
                    </a:cubicBezTo>
                    <a:lnTo>
                      <a:pt x="200479" y="235222"/>
                    </a:lnTo>
                    <a:cubicBezTo>
                      <a:pt x="259365" y="195525"/>
                      <a:pt x="274920" y="115607"/>
                      <a:pt x="235222" y="56722"/>
                    </a:cubicBezTo>
                    <a:cubicBezTo>
                      <a:pt x="195524" y="-2164"/>
                      <a:pt x="115607" y="-17719"/>
                      <a:pt x="56721" y="21979"/>
                    </a:cubicBezTo>
                    <a:cubicBezTo>
                      <a:pt x="-2164" y="61677"/>
                      <a:pt x="-17718" y="141594"/>
                      <a:pt x="21979" y="200480"/>
                    </a:cubicBezTo>
                    <a:cubicBezTo>
                      <a:pt x="31315" y="214329"/>
                      <a:pt x="43261" y="226227"/>
                      <a:pt x="57147" y="2355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Free-form: Shape 64">
                <a:extLst>
                  <a:ext uri="{FF2B5EF4-FFF2-40B4-BE49-F238E27FC236}">
                    <a16:creationId xmlns:a16="http://schemas.microsoft.com/office/drawing/2014/main" id="{A8183644-A2BC-6493-624E-C1D5F6A888D5}"/>
                  </a:ext>
                </a:extLst>
              </p:cNvPr>
              <p:cNvSpPr/>
              <p:nvPr/>
            </p:nvSpPr>
            <p:spPr>
              <a:xfrm>
                <a:off x="8146512" y="3742523"/>
                <a:ext cx="482495" cy="704850"/>
              </a:xfrm>
              <a:custGeom>
                <a:avLst/>
                <a:gdLst>
                  <a:gd name="connsiteX0" fmla="*/ 120545 w 482495"/>
                  <a:gd name="connsiteY0" fmla="*/ 43091 h 704850"/>
                  <a:gd name="connsiteX1" fmla="*/ 120545 w 482495"/>
                  <a:gd name="connsiteY1" fmla="*/ 449723 h 704850"/>
                  <a:gd name="connsiteX2" fmla="*/ 120440 w 482495"/>
                  <a:gd name="connsiteY2" fmla="*/ 449723 h 704850"/>
                  <a:gd name="connsiteX3" fmla="*/ 85045 w 482495"/>
                  <a:gd name="connsiteY3" fmla="*/ 290513 h 704850"/>
                  <a:gd name="connsiteX4" fmla="*/ 33232 w 482495"/>
                  <a:gd name="connsiteY4" fmla="*/ 258433 h 704850"/>
                  <a:gd name="connsiteX5" fmla="*/ 921 w 482495"/>
                  <a:gd name="connsiteY5" fmla="*/ 309201 h 704850"/>
                  <a:gd name="connsiteX6" fmla="*/ 52632 w 482495"/>
                  <a:gd name="connsiteY6" fmla="*/ 541839 h 704850"/>
                  <a:gd name="connsiteX7" fmla="*/ 68424 w 482495"/>
                  <a:gd name="connsiteY7" fmla="*/ 566604 h 704850"/>
                  <a:gd name="connsiteX8" fmla="*/ 163674 w 482495"/>
                  <a:gd name="connsiteY8" fmla="*/ 639851 h 704850"/>
                  <a:gd name="connsiteX9" fmla="*/ 163674 w 482495"/>
                  <a:gd name="connsiteY9" fmla="*/ 704850 h 704850"/>
                  <a:gd name="connsiteX10" fmla="*/ 413553 w 482495"/>
                  <a:gd name="connsiteY10" fmla="*/ 704850 h 704850"/>
                  <a:gd name="connsiteX11" fmla="*/ 413553 w 482495"/>
                  <a:gd name="connsiteY11" fmla="*/ 661759 h 704850"/>
                  <a:gd name="connsiteX12" fmla="*/ 482495 w 482495"/>
                  <a:gd name="connsiteY12" fmla="*/ 480784 h 704850"/>
                  <a:gd name="connsiteX13" fmla="*/ 482495 w 482495"/>
                  <a:gd name="connsiteY13" fmla="*/ 325660 h 704850"/>
                  <a:gd name="connsiteX14" fmla="*/ 430903 w 482495"/>
                  <a:gd name="connsiteY14" fmla="*/ 273963 h 704850"/>
                  <a:gd name="connsiteX15" fmla="*/ 396075 w 482495"/>
                  <a:gd name="connsiteY15" fmla="*/ 287426 h 704850"/>
                  <a:gd name="connsiteX16" fmla="*/ 396313 w 482495"/>
                  <a:gd name="connsiteY16" fmla="*/ 282578 h 704850"/>
                  <a:gd name="connsiteX17" fmla="*/ 344672 w 482495"/>
                  <a:gd name="connsiteY17" fmla="*/ 230873 h 704850"/>
                  <a:gd name="connsiteX18" fmla="*/ 308826 w 482495"/>
                  <a:gd name="connsiteY18" fmla="*/ 245297 h 704850"/>
                  <a:gd name="connsiteX19" fmla="*/ 247037 w 482495"/>
                  <a:gd name="connsiteY19" fmla="*/ 206254 h 704850"/>
                  <a:gd name="connsiteX20" fmla="*/ 206727 w 482495"/>
                  <a:gd name="connsiteY20" fmla="*/ 256727 h 704850"/>
                  <a:gd name="connsiteX21" fmla="*/ 206727 w 482495"/>
                  <a:gd name="connsiteY21" fmla="*/ 43091 h 704850"/>
                  <a:gd name="connsiteX22" fmla="*/ 163636 w 482495"/>
                  <a:gd name="connsiteY22" fmla="*/ 0 h 704850"/>
                  <a:gd name="connsiteX23" fmla="*/ 120545 w 482495"/>
                  <a:gd name="connsiteY23" fmla="*/ 43091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495" h="704850">
                    <a:moveTo>
                      <a:pt x="120545" y="43091"/>
                    </a:moveTo>
                    <a:lnTo>
                      <a:pt x="120545" y="449723"/>
                    </a:lnTo>
                    <a:lnTo>
                      <a:pt x="120440" y="449723"/>
                    </a:lnTo>
                    <a:lnTo>
                      <a:pt x="85045" y="290513"/>
                    </a:lnTo>
                    <a:cubicBezTo>
                      <a:pt x="79596" y="267346"/>
                      <a:pt x="56399" y="252984"/>
                      <a:pt x="33232" y="258433"/>
                    </a:cubicBezTo>
                    <a:cubicBezTo>
                      <a:pt x="10472" y="263786"/>
                      <a:pt x="-3866" y="286314"/>
                      <a:pt x="921" y="309201"/>
                    </a:cubicBezTo>
                    <a:lnTo>
                      <a:pt x="52632" y="541839"/>
                    </a:lnTo>
                    <a:cubicBezTo>
                      <a:pt x="54831" y="551690"/>
                      <a:pt x="60420" y="560455"/>
                      <a:pt x="68424" y="566604"/>
                    </a:cubicBezTo>
                    <a:lnTo>
                      <a:pt x="163674" y="639851"/>
                    </a:lnTo>
                    <a:lnTo>
                      <a:pt x="163674" y="704850"/>
                    </a:lnTo>
                    <a:lnTo>
                      <a:pt x="413553" y="704850"/>
                    </a:lnTo>
                    <a:lnTo>
                      <a:pt x="413553" y="661759"/>
                    </a:lnTo>
                    <a:cubicBezTo>
                      <a:pt x="413553" y="600713"/>
                      <a:pt x="482495" y="596036"/>
                      <a:pt x="482495" y="480784"/>
                    </a:cubicBezTo>
                    <a:lnTo>
                      <a:pt x="482495" y="325660"/>
                    </a:lnTo>
                    <a:cubicBezTo>
                      <a:pt x="482524" y="297137"/>
                      <a:pt x="459426" y="273991"/>
                      <a:pt x="430903" y="273963"/>
                    </a:cubicBezTo>
                    <a:cubicBezTo>
                      <a:pt x="418020" y="273950"/>
                      <a:pt x="405599" y="278752"/>
                      <a:pt x="396075" y="287426"/>
                    </a:cubicBezTo>
                    <a:cubicBezTo>
                      <a:pt x="396218" y="285826"/>
                      <a:pt x="396313" y="284216"/>
                      <a:pt x="396313" y="282578"/>
                    </a:cubicBezTo>
                    <a:cubicBezTo>
                      <a:pt x="396331" y="254040"/>
                      <a:pt x="373210" y="230891"/>
                      <a:pt x="344672" y="230873"/>
                    </a:cubicBezTo>
                    <a:cubicBezTo>
                      <a:pt x="331308" y="230865"/>
                      <a:pt x="318459" y="236034"/>
                      <a:pt x="308826" y="245297"/>
                    </a:cubicBezTo>
                    <a:cubicBezTo>
                      <a:pt x="302545" y="217454"/>
                      <a:pt x="274882" y="199974"/>
                      <a:pt x="247037" y="206254"/>
                    </a:cubicBezTo>
                    <a:cubicBezTo>
                      <a:pt x="223446" y="211576"/>
                      <a:pt x="206701" y="232544"/>
                      <a:pt x="206727" y="256727"/>
                    </a:cubicBezTo>
                    <a:lnTo>
                      <a:pt x="206727" y="43091"/>
                    </a:lnTo>
                    <a:cubicBezTo>
                      <a:pt x="206727" y="19293"/>
                      <a:pt x="187434" y="0"/>
                      <a:pt x="163636" y="0"/>
                    </a:cubicBezTo>
                    <a:cubicBezTo>
                      <a:pt x="139838" y="0"/>
                      <a:pt x="120545" y="19293"/>
                      <a:pt x="120545" y="430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nvGrpSpPr>
          <p:cNvPr id="40" name="קבוצה 39">
            <a:extLst>
              <a:ext uri="{FF2B5EF4-FFF2-40B4-BE49-F238E27FC236}">
                <a16:creationId xmlns:a16="http://schemas.microsoft.com/office/drawing/2014/main" id="{870A36DE-5F99-6B00-2351-56F45D2455C3}"/>
              </a:ext>
            </a:extLst>
          </p:cNvPr>
          <p:cNvGrpSpPr/>
          <p:nvPr/>
        </p:nvGrpSpPr>
        <p:grpSpPr>
          <a:xfrm>
            <a:off x="424222" y="1672163"/>
            <a:ext cx="2560322" cy="3822192"/>
            <a:chOff x="876890" y="1672163"/>
            <a:chExt cx="2560322" cy="3822192"/>
          </a:xfrm>
        </p:grpSpPr>
        <p:sp>
          <p:nvSpPr>
            <p:cNvPr id="34" name="Rectangle: Rounded Corners 2">
              <a:extLst>
                <a:ext uri="{FF2B5EF4-FFF2-40B4-BE49-F238E27FC236}">
                  <a16:creationId xmlns:a16="http://schemas.microsoft.com/office/drawing/2014/main" id="{6C612BA1-2DB0-BB53-25FD-A106A0649EDB}"/>
                </a:ext>
              </a:extLst>
            </p:cNvPr>
            <p:cNvSpPr/>
            <p:nvPr/>
          </p:nvSpPr>
          <p:spPr bwMode="gray">
            <a:xfrm>
              <a:off x="876891"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36" name="תיבת טקסט 35">
              <a:extLst>
                <a:ext uri="{FF2B5EF4-FFF2-40B4-BE49-F238E27FC236}">
                  <a16:creationId xmlns:a16="http://schemas.microsoft.com/office/drawing/2014/main" id="{230ADFE3-A64E-1F42-9BF2-E9516568A499}"/>
                </a:ext>
              </a:extLst>
            </p:cNvPr>
            <p:cNvSpPr txBox="1"/>
            <p:nvPr/>
          </p:nvSpPr>
          <p:spPr>
            <a:xfrm>
              <a:off x="876890" y="1925086"/>
              <a:ext cx="2560322" cy="327013"/>
            </a:xfrm>
            <a:prstGeom prst="rect">
              <a:avLst/>
            </a:prstGeom>
            <a:noFill/>
          </p:spPr>
          <p:txBody>
            <a:bodyPr wrap="square">
              <a:spAutoFit/>
            </a:bodyPr>
            <a:lstStyle/>
            <a:p>
              <a:pPr marL="0" marR="0" lvl="0" indent="0" algn="ctr" defTabSz="914400" rtl="1" eaLnBrk="1" fontAlgn="auto" latinLnBrk="0" hangingPunct="1">
                <a:lnSpc>
                  <a:spcPct val="106000"/>
                </a:lnSpc>
                <a:spcBef>
                  <a:spcPts val="0"/>
                </a:spcBef>
                <a:spcAft>
                  <a:spcPts val="0"/>
                </a:spcAft>
                <a:buClrTx/>
                <a:buSzTx/>
                <a:buFont typeface="Wingdings 2" pitchFamily="18" charset="2"/>
                <a:buNone/>
                <a:tabLst/>
                <a:defRPr/>
              </a:pPr>
              <a:r>
                <a:rPr kumimoji="0" lang="en-US"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Data Explorer</a:t>
              </a:r>
              <a:r>
                <a:rPr kumimoji="0" lang="he-IL"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 + דוח רשות</a:t>
              </a:r>
              <a:endParaRPr kumimoji="0" lang="en-IL"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9" name="תיבת טקסט 18">
              <a:extLst>
                <a:ext uri="{FF2B5EF4-FFF2-40B4-BE49-F238E27FC236}">
                  <a16:creationId xmlns:a16="http://schemas.microsoft.com/office/drawing/2014/main" id="{E89096E9-CE99-DEB7-EE54-CDEAF4DFBAB0}"/>
                </a:ext>
              </a:extLst>
            </p:cNvPr>
            <p:cNvSpPr txBox="1"/>
            <p:nvPr/>
          </p:nvSpPr>
          <p:spPr>
            <a:xfrm>
              <a:off x="1044904" y="2575083"/>
              <a:ext cx="2231136" cy="1308050"/>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תחקור מדדים בעולמות תוכן מגוונים במסך אחד, תוך מעבר בין המדדים השונים</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דו"ח רשותי ממוקד לגורמי מקצוע</a:t>
              </a:r>
            </a:p>
          </p:txBody>
        </p:sp>
        <p:cxnSp>
          <p:nvCxnSpPr>
            <p:cNvPr id="43" name="מחבר ישר 42">
              <a:extLst>
                <a:ext uri="{FF2B5EF4-FFF2-40B4-BE49-F238E27FC236}">
                  <a16:creationId xmlns:a16="http://schemas.microsoft.com/office/drawing/2014/main" id="{028A8F5A-7719-1723-9E18-F7ED8899ED80}"/>
                </a:ext>
              </a:extLst>
            </p:cNvPr>
            <p:cNvCxnSpPr/>
            <p:nvPr/>
          </p:nvCxnSpPr>
          <p:spPr>
            <a:xfrm>
              <a:off x="1549447" y="3311920"/>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7" name="Group 127">
              <a:extLst>
                <a:ext uri="{FF2B5EF4-FFF2-40B4-BE49-F238E27FC236}">
                  <a16:creationId xmlns:a16="http://schemas.microsoft.com/office/drawing/2014/main" id="{FDA5C80F-DA3A-1037-1A19-A292AA22A74B}"/>
                </a:ext>
              </a:extLst>
            </p:cNvPr>
            <p:cNvGrpSpPr>
              <a:grpSpLocks noChangeAspect="1"/>
            </p:cNvGrpSpPr>
            <p:nvPr/>
          </p:nvGrpSpPr>
          <p:grpSpPr>
            <a:xfrm>
              <a:off x="1843936" y="4792268"/>
              <a:ext cx="626230" cy="518570"/>
              <a:chOff x="3890503" y="3312473"/>
              <a:chExt cx="849285" cy="721892"/>
            </a:xfrm>
            <a:gradFill>
              <a:gsLst>
                <a:gs pos="22000">
                  <a:schemeClr val="accent1"/>
                </a:gs>
                <a:gs pos="83000">
                  <a:schemeClr val="accent4"/>
                </a:gs>
                <a:gs pos="100000">
                  <a:schemeClr val="accent5"/>
                </a:gs>
              </a:gsLst>
              <a:lin ang="8100000" scaled="0"/>
            </a:gradFill>
          </p:grpSpPr>
          <p:sp>
            <p:nvSpPr>
              <p:cNvPr id="9" name="Graphic 120" descr="Monitor with solid fill">
                <a:extLst>
                  <a:ext uri="{FF2B5EF4-FFF2-40B4-BE49-F238E27FC236}">
                    <a16:creationId xmlns:a16="http://schemas.microsoft.com/office/drawing/2014/main" id="{DFD2308E-83BA-2906-D5D4-6EF7C5D23E20}"/>
                  </a:ext>
                </a:extLst>
              </p:cNvPr>
              <p:cNvSpPr/>
              <p:nvPr/>
            </p:nvSpPr>
            <p:spPr>
              <a:xfrm>
                <a:off x="3890503" y="3312473"/>
                <a:ext cx="849285" cy="721892"/>
              </a:xfrm>
              <a:custGeom>
                <a:avLst/>
                <a:gdLst>
                  <a:gd name="connsiteX0" fmla="*/ 785589 w 849285"/>
                  <a:gd name="connsiteY0" fmla="*/ 530803 h 721892"/>
                  <a:gd name="connsiteX1" fmla="*/ 63696 w 849285"/>
                  <a:gd name="connsiteY1" fmla="*/ 530803 h 721892"/>
                  <a:gd name="connsiteX2" fmla="*/ 63696 w 849285"/>
                  <a:gd name="connsiteY2" fmla="*/ 63696 h 721892"/>
                  <a:gd name="connsiteX3" fmla="*/ 785589 w 849285"/>
                  <a:gd name="connsiteY3" fmla="*/ 63696 h 721892"/>
                  <a:gd name="connsiteX4" fmla="*/ 785589 w 849285"/>
                  <a:gd name="connsiteY4" fmla="*/ 530803 h 721892"/>
                  <a:gd name="connsiteX5" fmla="*/ 806821 w 849285"/>
                  <a:gd name="connsiteY5" fmla="*/ 0 h 721892"/>
                  <a:gd name="connsiteX6" fmla="*/ 42464 w 849285"/>
                  <a:gd name="connsiteY6" fmla="*/ 0 h 721892"/>
                  <a:gd name="connsiteX7" fmla="*/ 0 w 849285"/>
                  <a:gd name="connsiteY7" fmla="*/ 42464 h 721892"/>
                  <a:gd name="connsiteX8" fmla="*/ 0 w 849285"/>
                  <a:gd name="connsiteY8" fmla="*/ 552035 h 721892"/>
                  <a:gd name="connsiteX9" fmla="*/ 42464 w 849285"/>
                  <a:gd name="connsiteY9" fmla="*/ 594500 h 721892"/>
                  <a:gd name="connsiteX10" fmla="*/ 339714 w 849285"/>
                  <a:gd name="connsiteY10" fmla="*/ 594500 h 721892"/>
                  <a:gd name="connsiteX11" fmla="*/ 339714 w 849285"/>
                  <a:gd name="connsiteY11" fmla="*/ 658196 h 721892"/>
                  <a:gd name="connsiteX12" fmla="*/ 233553 w 849285"/>
                  <a:gd name="connsiteY12" fmla="*/ 658196 h 721892"/>
                  <a:gd name="connsiteX13" fmla="*/ 233553 w 849285"/>
                  <a:gd name="connsiteY13" fmla="*/ 721892 h 721892"/>
                  <a:gd name="connsiteX14" fmla="*/ 615732 w 849285"/>
                  <a:gd name="connsiteY14" fmla="*/ 721892 h 721892"/>
                  <a:gd name="connsiteX15" fmla="*/ 615732 w 849285"/>
                  <a:gd name="connsiteY15" fmla="*/ 658196 h 721892"/>
                  <a:gd name="connsiteX16" fmla="*/ 509571 w 849285"/>
                  <a:gd name="connsiteY16" fmla="*/ 658196 h 721892"/>
                  <a:gd name="connsiteX17" fmla="*/ 509571 w 849285"/>
                  <a:gd name="connsiteY17" fmla="*/ 594500 h 721892"/>
                  <a:gd name="connsiteX18" fmla="*/ 806821 w 849285"/>
                  <a:gd name="connsiteY18" fmla="*/ 594500 h 721892"/>
                  <a:gd name="connsiteX19" fmla="*/ 849285 w 849285"/>
                  <a:gd name="connsiteY19" fmla="*/ 552035 h 721892"/>
                  <a:gd name="connsiteX20" fmla="*/ 849285 w 849285"/>
                  <a:gd name="connsiteY20" fmla="*/ 42464 h 721892"/>
                  <a:gd name="connsiteX21" fmla="*/ 806821 w 849285"/>
                  <a:gd name="connsiteY21" fmla="*/ 0 h 72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9285" h="721892">
                    <a:moveTo>
                      <a:pt x="785589" y="530803"/>
                    </a:moveTo>
                    <a:lnTo>
                      <a:pt x="63696" y="530803"/>
                    </a:lnTo>
                    <a:lnTo>
                      <a:pt x="63696" y="63696"/>
                    </a:lnTo>
                    <a:lnTo>
                      <a:pt x="785589" y="63696"/>
                    </a:lnTo>
                    <a:lnTo>
                      <a:pt x="785589" y="530803"/>
                    </a:lnTo>
                    <a:close/>
                    <a:moveTo>
                      <a:pt x="806821" y="0"/>
                    </a:moveTo>
                    <a:lnTo>
                      <a:pt x="42464" y="0"/>
                    </a:lnTo>
                    <a:cubicBezTo>
                      <a:pt x="19109" y="0"/>
                      <a:pt x="0" y="19109"/>
                      <a:pt x="0" y="42464"/>
                    </a:cubicBezTo>
                    <a:lnTo>
                      <a:pt x="0" y="552035"/>
                    </a:lnTo>
                    <a:cubicBezTo>
                      <a:pt x="0" y="575391"/>
                      <a:pt x="19109" y="594500"/>
                      <a:pt x="42464" y="594500"/>
                    </a:cubicBezTo>
                    <a:lnTo>
                      <a:pt x="339714" y="594500"/>
                    </a:lnTo>
                    <a:lnTo>
                      <a:pt x="339714" y="658196"/>
                    </a:lnTo>
                    <a:lnTo>
                      <a:pt x="233553" y="658196"/>
                    </a:lnTo>
                    <a:lnTo>
                      <a:pt x="233553" y="721892"/>
                    </a:lnTo>
                    <a:lnTo>
                      <a:pt x="615732" y="721892"/>
                    </a:lnTo>
                    <a:lnTo>
                      <a:pt x="615732" y="658196"/>
                    </a:lnTo>
                    <a:lnTo>
                      <a:pt x="509571" y="658196"/>
                    </a:lnTo>
                    <a:lnTo>
                      <a:pt x="509571" y="594500"/>
                    </a:lnTo>
                    <a:lnTo>
                      <a:pt x="806821" y="594500"/>
                    </a:lnTo>
                    <a:cubicBezTo>
                      <a:pt x="830176" y="594500"/>
                      <a:pt x="849285" y="575391"/>
                      <a:pt x="849285" y="552035"/>
                    </a:cubicBezTo>
                    <a:lnTo>
                      <a:pt x="849285" y="42464"/>
                    </a:lnTo>
                    <a:cubicBezTo>
                      <a:pt x="849285" y="19109"/>
                      <a:pt x="830176" y="0"/>
                      <a:pt x="806821" y="0"/>
                    </a:cubicBezTo>
                    <a:close/>
                  </a:path>
                </a:pathLst>
              </a:custGeom>
              <a:grp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nvGrpSpPr>
              <p:cNvPr id="12" name="Group 121">
                <a:extLst>
                  <a:ext uri="{FF2B5EF4-FFF2-40B4-BE49-F238E27FC236}">
                    <a16:creationId xmlns:a16="http://schemas.microsoft.com/office/drawing/2014/main" id="{19C3B3E2-1CFD-1B9C-90D3-B33927D0F6A3}"/>
                  </a:ext>
                </a:extLst>
              </p:cNvPr>
              <p:cNvGrpSpPr/>
              <p:nvPr/>
            </p:nvGrpSpPr>
            <p:grpSpPr>
              <a:xfrm>
                <a:off x="4091309" y="3410751"/>
                <a:ext cx="467981" cy="385045"/>
                <a:chOff x="3022003" y="3466298"/>
                <a:chExt cx="533400" cy="533400"/>
              </a:xfrm>
              <a:grpFill/>
            </p:grpSpPr>
            <p:sp>
              <p:nvSpPr>
                <p:cNvPr id="14" name="Rectangle: Rounded Corners 122">
                  <a:extLst>
                    <a:ext uri="{FF2B5EF4-FFF2-40B4-BE49-F238E27FC236}">
                      <a16:creationId xmlns:a16="http://schemas.microsoft.com/office/drawing/2014/main" id="{91591474-8B42-C667-669C-E3F99EDBA1F8}"/>
                    </a:ext>
                  </a:extLst>
                </p:cNvPr>
                <p:cNvSpPr/>
                <p:nvPr/>
              </p:nvSpPr>
              <p:spPr>
                <a:xfrm>
                  <a:off x="302200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1" name="Rectangle: Rounded Corners 123">
                  <a:extLst>
                    <a:ext uri="{FF2B5EF4-FFF2-40B4-BE49-F238E27FC236}">
                      <a16:creationId xmlns:a16="http://schemas.microsoft.com/office/drawing/2014/main" id="{A99D53D2-FA8A-9F49-8F53-3C6B826EBCE7}"/>
                    </a:ext>
                  </a:extLst>
                </p:cNvPr>
                <p:cNvSpPr/>
                <p:nvPr/>
              </p:nvSpPr>
              <p:spPr>
                <a:xfrm>
                  <a:off x="3164878" y="3466298"/>
                  <a:ext cx="104775" cy="53340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2" name="Rectangle: Rounded Corners 124">
                  <a:extLst>
                    <a:ext uri="{FF2B5EF4-FFF2-40B4-BE49-F238E27FC236}">
                      <a16:creationId xmlns:a16="http://schemas.microsoft.com/office/drawing/2014/main" id="{475CB64A-4A21-66D3-F6B1-0F2EDCB8F1ED}"/>
                    </a:ext>
                  </a:extLst>
                </p:cNvPr>
                <p:cNvSpPr/>
                <p:nvPr/>
              </p:nvSpPr>
              <p:spPr>
                <a:xfrm>
                  <a:off x="330775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3" name="Rectangle: Rounded Corners 125">
                  <a:extLst>
                    <a:ext uri="{FF2B5EF4-FFF2-40B4-BE49-F238E27FC236}">
                      <a16:creationId xmlns:a16="http://schemas.microsoft.com/office/drawing/2014/main" id="{295C5BA7-05C5-1B84-B9E7-A5070241BF00}"/>
                    </a:ext>
                  </a:extLst>
                </p:cNvPr>
                <p:cNvSpPr/>
                <p:nvPr/>
              </p:nvSpPr>
              <p:spPr>
                <a:xfrm>
                  <a:off x="3450628" y="3828248"/>
                  <a:ext cx="104775" cy="17145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grpSp>
        <p:nvGrpSpPr>
          <p:cNvPr id="38" name="קבוצה 37">
            <a:extLst>
              <a:ext uri="{FF2B5EF4-FFF2-40B4-BE49-F238E27FC236}">
                <a16:creationId xmlns:a16="http://schemas.microsoft.com/office/drawing/2014/main" id="{3FFA6A41-C1F3-0246-66C0-E08B771C94D7}"/>
              </a:ext>
            </a:extLst>
          </p:cNvPr>
          <p:cNvGrpSpPr/>
          <p:nvPr/>
        </p:nvGrpSpPr>
        <p:grpSpPr>
          <a:xfrm>
            <a:off x="6305674" y="1672163"/>
            <a:ext cx="2560321" cy="3822192"/>
            <a:chOff x="6323780" y="1672163"/>
            <a:chExt cx="2560321" cy="3822192"/>
          </a:xfrm>
        </p:grpSpPr>
        <p:sp>
          <p:nvSpPr>
            <p:cNvPr id="8" name="Rectangle: Rounded Corners 2">
              <a:extLst>
                <a:ext uri="{FF2B5EF4-FFF2-40B4-BE49-F238E27FC236}">
                  <a16:creationId xmlns:a16="http://schemas.microsoft.com/office/drawing/2014/main" id="{B5505B28-57C5-36F0-7FEF-5B53D87441D1}"/>
                </a:ext>
              </a:extLst>
            </p:cNvPr>
            <p:cNvSpPr/>
            <p:nvPr/>
          </p:nvSpPr>
          <p:spPr bwMode="gray">
            <a:xfrm>
              <a:off x="6323781"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1" name="תיבת טקסט 10">
              <a:extLst>
                <a:ext uri="{FF2B5EF4-FFF2-40B4-BE49-F238E27FC236}">
                  <a16:creationId xmlns:a16="http://schemas.microsoft.com/office/drawing/2014/main" id="{2E4C3C5F-E587-AB02-FBB1-2EFBD018DC80}"/>
                </a:ext>
              </a:extLst>
            </p:cNvPr>
            <p:cNvSpPr txBox="1"/>
            <p:nvPr/>
          </p:nvSpPr>
          <p:spPr>
            <a:xfrm>
              <a:off x="6323780" y="1953230"/>
              <a:ext cx="2560321"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התראות ופערים</a:t>
              </a:r>
              <a:endParaRPr kumimoji="0" lang="en-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7" name="תיבת טקסט 16">
              <a:extLst>
                <a:ext uri="{FF2B5EF4-FFF2-40B4-BE49-F238E27FC236}">
                  <a16:creationId xmlns:a16="http://schemas.microsoft.com/office/drawing/2014/main" id="{184FB2E6-1554-C629-6193-EFF1E31D82D4}"/>
                </a:ext>
              </a:extLst>
            </p:cNvPr>
            <p:cNvSpPr txBox="1"/>
            <p:nvPr/>
          </p:nvSpPr>
          <p:spPr>
            <a:xfrm>
              <a:off x="6473375" y="2568607"/>
              <a:ext cx="2231136" cy="1954381"/>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הנגשת מדדים עסקיים המשקפים התנהלות תקינה, ואשר פער בהם ביחס לקבוצת הייחוס, מייצג בעיה הדורשת בירור </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מיקוד תשומת הלב הניהולית במקומות בהם קיימים פערים ובעיות.</a:t>
              </a:r>
            </a:p>
          </p:txBody>
        </p:sp>
        <p:cxnSp>
          <p:nvCxnSpPr>
            <p:cNvPr id="42" name="מחבר ישר 41">
              <a:extLst>
                <a:ext uri="{FF2B5EF4-FFF2-40B4-BE49-F238E27FC236}">
                  <a16:creationId xmlns:a16="http://schemas.microsoft.com/office/drawing/2014/main" id="{0FE14E85-620E-640F-E522-75A99CEFD9FA}"/>
                </a:ext>
              </a:extLst>
            </p:cNvPr>
            <p:cNvCxnSpPr>
              <a:cxnSpLocks/>
            </p:cNvCxnSpPr>
            <p:nvPr/>
          </p:nvCxnSpPr>
          <p:spPr>
            <a:xfrm>
              <a:off x="6999675" y="3789386"/>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72" name="קבוצה 71">
              <a:extLst>
                <a:ext uri="{FF2B5EF4-FFF2-40B4-BE49-F238E27FC236}">
                  <a16:creationId xmlns:a16="http://schemas.microsoft.com/office/drawing/2014/main" id="{1128F73F-543D-DBDA-37E0-0525D54D3D7F}"/>
                </a:ext>
              </a:extLst>
            </p:cNvPr>
            <p:cNvGrpSpPr/>
            <p:nvPr/>
          </p:nvGrpSpPr>
          <p:grpSpPr>
            <a:xfrm>
              <a:off x="7439880" y="4859253"/>
              <a:ext cx="479834" cy="454163"/>
              <a:chOff x="6192645" y="5588918"/>
              <a:chExt cx="751881" cy="752474"/>
            </a:xfrm>
          </p:grpSpPr>
          <p:sp>
            <p:nvSpPr>
              <p:cNvPr id="65" name="גרפיקה 63" descr="זכוכית מגדלת עם מילוי מלא">
                <a:extLst>
                  <a:ext uri="{FF2B5EF4-FFF2-40B4-BE49-F238E27FC236}">
                    <a16:creationId xmlns:a16="http://schemas.microsoft.com/office/drawing/2014/main" id="{F834A437-B288-EC6E-D5CA-4B4DF5D3AB88}"/>
                  </a:ext>
                </a:extLst>
              </p:cNvPr>
              <p:cNvSpPr/>
              <p:nvPr/>
            </p:nvSpPr>
            <p:spPr>
              <a:xfrm>
                <a:off x="6192645" y="5588918"/>
                <a:ext cx="751881" cy="752474"/>
              </a:xfrm>
              <a:custGeom>
                <a:avLst/>
                <a:gdLst>
                  <a:gd name="connsiteX0" fmla="*/ 732473 w 751881"/>
                  <a:gd name="connsiteY0" fmla="*/ 638175 h 752474"/>
                  <a:gd name="connsiteX1" fmla="*/ 613410 w 751881"/>
                  <a:gd name="connsiteY1" fmla="*/ 519112 h 752474"/>
                  <a:gd name="connsiteX2" fmla="*/ 554355 w 751881"/>
                  <a:gd name="connsiteY2" fmla="*/ 501015 h 752474"/>
                  <a:gd name="connsiteX3" fmla="*/ 512445 w 751881"/>
                  <a:gd name="connsiteY3" fmla="*/ 459105 h 752474"/>
                  <a:gd name="connsiteX4" fmla="*/ 571500 w 751881"/>
                  <a:gd name="connsiteY4" fmla="*/ 285750 h 752474"/>
                  <a:gd name="connsiteX5" fmla="*/ 285750 w 751881"/>
                  <a:gd name="connsiteY5" fmla="*/ 0 h 752474"/>
                  <a:gd name="connsiteX6" fmla="*/ 0 w 751881"/>
                  <a:gd name="connsiteY6" fmla="*/ 285750 h 752474"/>
                  <a:gd name="connsiteX7" fmla="*/ 285750 w 751881"/>
                  <a:gd name="connsiteY7" fmla="*/ 571500 h 752474"/>
                  <a:gd name="connsiteX8" fmla="*/ 459105 w 751881"/>
                  <a:gd name="connsiteY8" fmla="*/ 512445 h 752474"/>
                  <a:gd name="connsiteX9" fmla="*/ 501015 w 751881"/>
                  <a:gd name="connsiteY9" fmla="*/ 554355 h 752474"/>
                  <a:gd name="connsiteX10" fmla="*/ 519112 w 751881"/>
                  <a:gd name="connsiteY10" fmla="*/ 613410 h 752474"/>
                  <a:gd name="connsiteX11" fmla="*/ 638175 w 751881"/>
                  <a:gd name="connsiteY11" fmla="*/ 732473 h 752474"/>
                  <a:gd name="connsiteX12" fmla="*/ 685800 w 751881"/>
                  <a:gd name="connsiteY12" fmla="*/ 752475 h 752474"/>
                  <a:gd name="connsiteX13" fmla="*/ 733425 w 751881"/>
                  <a:gd name="connsiteY13" fmla="*/ 732473 h 752474"/>
                  <a:gd name="connsiteX14" fmla="*/ 732473 w 751881"/>
                  <a:gd name="connsiteY14" fmla="*/ 638175 h 752474"/>
                  <a:gd name="connsiteX15" fmla="*/ 284798 w 751881"/>
                  <a:gd name="connsiteY15" fmla="*/ 513398 h 752474"/>
                  <a:gd name="connsiteX16" fmla="*/ 56197 w 751881"/>
                  <a:gd name="connsiteY16" fmla="*/ 284798 h 752474"/>
                  <a:gd name="connsiteX17" fmla="*/ 284798 w 751881"/>
                  <a:gd name="connsiteY17" fmla="*/ 56197 h 752474"/>
                  <a:gd name="connsiteX18" fmla="*/ 513398 w 751881"/>
                  <a:gd name="connsiteY18" fmla="*/ 284798 h 752474"/>
                  <a:gd name="connsiteX19" fmla="*/ 284798 w 751881"/>
                  <a:gd name="connsiteY19" fmla="*/ 513398 h 75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1881" h="752474">
                    <a:moveTo>
                      <a:pt x="732473" y="638175"/>
                    </a:moveTo>
                    <a:lnTo>
                      <a:pt x="613410" y="519112"/>
                    </a:lnTo>
                    <a:cubicBezTo>
                      <a:pt x="597218" y="502920"/>
                      <a:pt x="575310" y="497205"/>
                      <a:pt x="554355" y="501015"/>
                    </a:cubicBezTo>
                    <a:lnTo>
                      <a:pt x="512445" y="459105"/>
                    </a:lnTo>
                    <a:cubicBezTo>
                      <a:pt x="549593" y="411480"/>
                      <a:pt x="571500" y="350520"/>
                      <a:pt x="571500" y="285750"/>
                    </a:cubicBezTo>
                    <a:cubicBezTo>
                      <a:pt x="571500" y="128588"/>
                      <a:pt x="442912" y="0"/>
                      <a:pt x="285750" y="0"/>
                    </a:cubicBezTo>
                    <a:cubicBezTo>
                      <a:pt x="128588" y="0"/>
                      <a:pt x="0" y="128588"/>
                      <a:pt x="0" y="285750"/>
                    </a:cubicBezTo>
                    <a:cubicBezTo>
                      <a:pt x="0" y="442912"/>
                      <a:pt x="128588" y="571500"/>
                      <a:pt x="285750" y="571500"/>
                    </a:cubicBezTo>
                    <a:cubicBezTo>
                      <a:pt x="350520" y="571500"/>
                      <a:pt x="410528" y="549593"/>
                      <a:pt x="459105" y="512445"/>
                    </a:cubicBezTo>
                    <a:lnTo>
                      <a:pt x="501015" y="554355"/>
                    </a:lnTo>
                    <a:cubicBezTo>
                      <a:pt x="497205" y="575310"/>
                      <a:pt x="502920" y="597218"/>
                      <a:pt x="519112" y="613410"/>
                    </a:cubicBezTo>
                    <a:lnTo>
                      <a:pt x="638175" y="732473"/>
                    </a:lnTo>
                    <a:cubicBezTo>
                      <a:pt x="651510" y="745808"/>
                      <a:pt x="668655" y="752475"/>
                      <a:pt x="685800" y="752475"/>
                    </a:cubicBezTo>
                    <a:cubicBezTo>
                      <a:pt x="702945" y="752475"/>
                      <a:pt x="720090" y="745808"/>
                      <a:pt x="733425" y="732473"/>
                    </a:cubicBezTo>
                    <a:cubicBezTo>
                      <a:pt x="758190" y="705802"/>
                      <a:pt x="758190" y="663893"/>
                      <a:pt x="732473" y="638175"/>
                    </a:cubicBezTo>
                    <a:close/>
                    <a:moveTo>
                      <a:pt x="284798" y="513398"/>
                    </a:moveTo>
                    <a:cubicBezTo>
                      <a:pt x="159067" y="513398"/>
                      <a:pt x="56197" y="410528"/>
                      <a:pt x="56197" y="284798"/>
                    </a:cubicBezTo>
                    <a:cubicBezTo>
                      <a:pt x="56197" y="159067"/>
                      <a:pt x="159067" y="56197"/>
                      <a:pt x="284798" y="56197"/>
                    </a:cubicBezTo>
                    <a:cubicBezTo>
                      <a:pt x="410528" y="56197"/>
                      <a:pt x="513398" y="159067"/>
                      <a:pt x="513398" y="284798"/>
                    </a:cubicBezTo>
                    <a:cubicBezTo>
                      <a:pt x="513398" y="410528"/>
                      <a:pt x="410528" y="513398"/>
                      <a:pt x="284798" y="513398"/>
                    </a:cubicBez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nvGrpSpPr>
              <p:cNvPr id="66" name="קבוצה 65">
                <a:extLst>
                  <a:ext uri="{FF2B5EF4-FFF2-40B4-BE49-F238E27FC236}">
                    <a16:creationId xmlns:a16="http://schemas.microsoft.com/office/drawing/2014/main" id="{02132F0A-F5F6-8756-B0E8-0ED02F4BBFE0}"/>
                  </a:ext>
                </a:extLst>
              </p:cNvPr>
              <p:cNvGrpSpPr/>
              <p:nvPr/>
            </p:nvGrpSpPr>
            <p:grpSpPr>
              <a:xfrm>
                <a:off x="6345201" y="5764809"/>
                <a:ext cx="246100" cy="226416"/>
                <a:chOff x="6353837" y="5437053"/>
                <a:chExt cx="657225" cy="670656"/>
              </a:xfrm>
            </p:grpSpPr>
            <p:sp>
              <p:nvSpPr>
                <p:cNvPr id="67" name="צורה חופשית: צורה 66">
                  <a:extLst>
                    <a:ext uri="{FF2B5EF4-FFF2-40B4-BE49-F238E27FC236}">
                      <a16:creationId xmlns:a16="http://schemas.microsoft.com/office/drawing/2014/main" id="{9D9B06CB-CF79-B5EB-E8EC-40276A92C464}"/>
                    </a:ext>
                  </a:extLst>
                </p:cNvPr>
                <p:cNvSpPr/>
                <p:nvPr/>
              </p:nvSpPr>
              <p:spPr>
                <a:xfrm flipH="1">
                  <a:off x="6353837" y="5440959"/>
                  <a:ext cx="657225" cy="666750"/>
                </a:xfrm>
                <a:custGeom>
                  <a:avLst/>
                  <a:gdLst>
                    <a:gd name="connsiteX0" fmla="*/ 600075 w 657225"/>
                    <a:gd name="connsiteY0" fmla="*/ 609600 h 666750"/>
                    <a:gd name="connsiteX1" fmla="*/ 0 w 657225"/>
                    <a:gd name="connsiteY1" fmla="*/ 609600 h 666750"/>
                    <a:gd name="connsiteX2" fmla="*/ 0 w 657225"/>
                    <a:gd name="connsiteY2" fmla="*/ 666750 h 666750"/>
                    <a:gd name="connsiteX3" fmla="*/ 657225 w 657225"/>
                    <a:gd name="connsiteY3" fmla="*/ 666750 h 666750"/>
                    <a:gd name="connsiteX4" fmla="*/ 657225 w 657225"/>
                    <a:gd name="connsiteY4" fmla="*/ 0 h 666750"/>
                    <a:gd name="connsiteX5" fmla="*/ 600075 w 657225"/>
                    <a:gd name="connsiteY5" fmla="*/ 0 h 666750"/>
                    <a:gd name="connsiteX6" fmla="*/ 600075 w 657225"/>
                    <a:gd name="connsiteY6" fmla="*/ 60960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600075" y="609600"/>
                      </a:moveTo>
                      <a:lnTo>
                        <a:pt x="0" y="609600"/>
                      </a:lnTo>
                      <a:lnTo>
                        <a:pt x="0" y="666750"/>
                      </a:lnTo>
                      <a:lnTo>
                        <a:pt x="657225" y="666750"/>
                      </a:lnTo>
                      <a:lnTo>
                        <a:pt x="657225" y="0"/>
                      </a:lnTo>
                      <a:lnTo>
                        <a:pt x="600075" y="0"/>
                      </a:lnTo>
                      <a:lnTo>
                        <a:pt x="600075" y="60960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68" name="צורה חופשית: צורה 67">
                  <a:extLst>
                    <a:ext uri="{FF2B5EF4-FFF2-40B4-BE49-F238E27FC236}">
                      <a16:creationId xmlns:a16="http://schemas.microsoft.com/office/drawing/2014/main" id="{6FAD90C5-0E06-4C8F-4076-310AF38B43A7}"/>
                    </a:ext>
                  </a:extLst>
                </p:cNvPr>
                <p:cNvSpPr/>
                <p:nvPr/>
              </p:nvSpPr>
              <p:spPr>
                <a:xfrm flipH="1">
                  <a:off x="6468137" y="5440959"/>
                  <a:ext cx="142875" cy="552450"/>
                </a:xfrm>
                <a:custGeom>
                  <a:avLst/>
                  <a:gdLst>
                    <a:gd name="connsiteX0" fmla="*/ 0 w 142875"/>
                    <a:gd name="connsiteY0" fmla="*/ 0 h 552450"/>
                    <a:gd name="connsiteX1" fmla="*/ 142875 w 142875"/>
                    <a:gd name="connsiteY1" fmla="*/ 0 h 552450"/>
                    <a:gd name="connsiteX2" fmla="*/ 142875 w 142875"/>
                    <a:gd name="connsiteY2" fmla="*/ 552450 h 552450"/>
                    <a:gd name="connsiteX3" fmla="*/ 0 w 142875"/>
                    <a:gd name="connsiteY3" fmla="*/ 552450 h 552450"/>
                  </a:gdLst>
                  <a:ahLst/>
                  <a:cxnLst>
                    <a:cxn ang="0">
                      <a:pos x="connsiteX0" y="connsiteY0"/>
                    </a:cxn>
                    <a:cxn ang="0">
                      <a:pos x="connsiteX1" y="connsiteY1"/>
                    </a:cxn>
                    <a:cxn ang="0">
                      <a:pos x="connsiteX2" y="connsiteY2"/>
                    </a:cxn>
                    <a:cxn ang="0">
                      <a:pos x="connsiteX3" y="connsiteY3"/>
                    </a:cxn>
                  </a:cxnLst>
                  <a:rect l="l" t="t" r="r" b="b"/>
                  <a:pathLst>
                    <a:path w="142875" h="552450">
                      <a:moveTo>
                        <a:pt x="0" y="0"/>
                      </a:moveTo>
                      <a:lnTo>
                        <a:pt x="142875" y="0"/>
                      </a:lnTo>
                      <a:lnTo>
                        <a:pt x="142875" y="552450"/>
                      </a:lnTo>
                      <a:lnTo>
                        <a:pt x="0" y="55245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69" name="צורה חופשית: צורה 68">
                  <a:extLst>
                    <a:ext uri="{FF2B5EF4-FFF2-40B4-BE49-F238E27FC236}">
                      <a16:creationId xmlns:a16="http://schemas.microsoft.com/office/drawing/2014/main" id="{206999D6-82CC-ABE0-98AF-9B2EC95AB434}"/>
                    </a:ext>
                  </a:extLst>
                </p:cNvPr>
                <p:cNvSpPr/>
                <p:nvPr/>
              </p:nvSpPr>
              <p:spPr>
                <a:xfrm flipH="1">
                  <a:off x="6668162" y="5631459"/>
                  <a:ext cx="142875" cy="361950"/>
                </a:xfrm>
                <a:custGeom>
                  <a:avLst/>
                  <a:gdLst>
                    <a:gd name="connsiteX0" fmla="*/ 0 w 142875"/>
                    <a:gd name="connsiteY0" fmla="*/ 0 h 361950"/>
                    <a:gd name="connsiteX1" fmla="*/ 142875 w 142875"/>
                    <a:gd name="connsiteY1" fmla="*/ 0 h 361950"/>
                    <a:gd name="connsiteX2" fmla="*/ 142875 w 142875"/>
                    <a:gd name="connsiteY2" fmla="*/ 361950 h 361950"/>
                    <a:gd name="connsiteX3" fmla="*/ 0 w 142875"/>
                    <a:gd name="connsiteY3" fmla="*/ 361950 h 361950"/>
                  </a:gdLst>
                  <a:ahLst/>
                  <a:cxnLst>
                    <a:cxn ang="0">
                      <a:pos x="connsiteX0" y="connsiteY0"/>
                    </a:cxn>
                    <a:cxn ang="0">
                      <a:pos x="connsiteX1" y="connsiteY1"/>
                    </a:cxn>
                    <a:cxn ang="0">
                      <a:pos x="connsiteX2" y="connsiteY2"/>
                    </a:cxn>
                    <a:cxn ang="0">
                      <a:pos x="connsiteX3" y="connsiteY3"/>
                    </a:cxn>
                  </a:cxnLst>
                  <a:rect l="l" t="t" r="r" b="b"/>
                  <a:pathLst>
                    <a:path w="142875" h="361950">
                      <a:moveTo>
                        <a:pt x="0" y="0"/>
                      </a:moveTo>
                      <a:lnTo>
                        <a:pt x="142875" y="0"/>
                      </a:lnTo>
                      <a:lnTo>
                        <a:pt x="142875" y="361950"/>
                      </a:lnTo>
                      <a:lnTo>
                        <a:pt x="0" y="36195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0" name="צורה חופשית: צורה 69">
                  <a:extLst>
                    <a:ext uri="{FF2B5EF4-FFF2-40B4-BE49-F238E27FC236}">
                      <a16:creationId xmlns:a16="http://schemas.microsoft.com/office/drawing/2014/main" id="{C03E0771-5CB4-F67E-CE0E-1DB7CAFDEE3C}"/>
                    </a:ext>
                  </a:extLst>
                </p:cNvPr>
                <p:cNvSpPr/>
                <p:nvPr/>
              </p:nvSpPr>
              <p:spPr>
                <a:xfrm flipH="1">
                  <a:off x="6868187" y="5802909"/>
                  <a:ext cx="142875" cy="190500"/>
                </a:xfrm>
                <a:custGeom>
                  <a:avLst/>
                  <a:gdLst>
                    <a:gd name="connsiteX0" fmla="*/ 0 w 142875"/>
                    <a:gd name="connsiteY0" fmla="*/ 0 h 190500"/>
                    <a:gd name="connsiteX1" fmla="*/ 142875 w 142875"/>
                    <a:gd name="connsiteY1" fmla="*/ 0 h 190500"/>
                    <a:gd name="connsiteX2" fmla="*/ 142875 w 142875"/>
                    <a:gd name="connsiteY2" fmla="*/ 190500 h 190500"/>
                    <a:gd name="connsiteX3" fmla="*/ 0 w 142875"/>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142875" h="190500">
                      <a:moveTo>
                        <a:pt x="0" y="0"/>
                      </a:moveTo>
                      <a:lnTo>
                        <a:pt x="142875" y="0"/>
                      </a:lnTo>
                      <a:lnTo>
                        <a:pt x="142875" y="190500"/>
                      </a:lnTo>
                      <a:lnTo>
                        <a:pt x="0" y="19050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1" name="צורה חופשית: צורה 70">
                  <a:extLst>
                    <a:ext uri="{FF2B5EF4-FFF2-40B4-BE49-F238E27FC236}">
                      <a16:creationId xmlns:a16="http://schemas.microsoft.com/office/drawing/2014/main" id="{E89B817A-8C9F-09FB-2D63-AEF54D5FF00F}"/>
                    </a:ext>
                  </a:extLst>
                </p:cNvPr>
                <p:cNvSpPr/>
                <p:nvPr/>
              </p:nvSpPr>
              <p:spPr>
                <a:xfrm flipH="1">
                  <a:off x="6692832" y="5437053"/>
                  <a:ext cx="308705" cy="308705"/>
                </a:xfrm>
                <a:custGeom>
                  <a:avLst/>
                  <a:gdLst>
                    <a:gd name="connsiteX0" fmla="*/ 0 w 308705"/>
                    <a:gd name="connsiteY0" fmla="*/ 177832 h 308705"/>
                    <a:gd name="connsiteX1" fmla="*/ 0 w 308705"/>
                    <a:gd name="connsiteY1" fmla="*/ 308705 h 308705"/>
                    <a:gd name="connsiteX2" fmla="*/ 130874 w 308705"/>
                    <a:gd name="connsiteY2" fmla="*/ 308705 h 308705"/>
                    <a:gd name="connsiteX3" fmla="*/ 78867 w 308705"/>
                    <a:gd name="connsiteY3" fmla="*/ 256699 h 308705"/>
                    <a:gd name="connsiteX4" fmla="*/ 308705 w 308705"/>
                    <a:gd name="connsiteY4" fmla="*/ 26860 h 308705"/>
                    <a:gd name="connsiteX5" fmla="*/ 281845 w 308705"/>
                    <a:gd name="connsiteY5" fmla="*/ 0 h 308705"/>
                    <a:gd name="connsiteX6" fmla="*/ 52006 w 308705"/>
                    <a:gd name="connsiteY6" fmla="*/ 229838 h 308705"/>
                    <a:gd name="connsiteX7" fmla="*/ 0 w 308705"/>
                    <a:gd name="connsiteY7" fmla="*/ 177832 h 30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705" h="308705">
                      <a:moveTo>
                        <a:pt x="0" y="177832"/>
                      </a:moveTo>
                      <a:lnTo>
                        <a:pt x="0" y="308705"/>
                      </a:lnTo>
                      <a:lnTo>
                        <a:pt x="130874" y="308705"/>
                      </a:lnTo>
                      <a:lnTo>
                        <a:pt x="78867" y="256699"/>
                      </a:lnTo>
                      <a:lnTo>
                        <a:pt x="308705" y="26860"/>
                      </a:lnTo>
                      <a:lnTo>
                        <a:pt x="281845" y="0"/>
                      </a:lnTo>
                      <a:lnTo>
                        <a:pt x="52006" y="229838"/>
                      </a:lnTo>
                      <a:lnTo>
                        <a:pt x="0" y="177832"/>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grpSp>
        <p:nvGrpSpPr>
          <p:cNvPr id="39" name="קבוצה 38">
            <a:extLst>
              <a:ext uri="{FF2B5EF4-FFF2-40B4-BE49-F238E27FC236}">
                <a16:creationId xmlns:a16="http://schemas.microsoft.com/office/drawing/2014/main" id="{2EF4C54A-396E-7DCD-DBDE-1FD02A8A41A9}"/>
              </a:ext>
            </a:extLst>
          </p:cNvPr>
          <p:cNvGrpSpPr/>
          <p:nvPr/>
        </p:nvGrpSpPr>
        <p:grpSpPr>
          <a:xfrm>
            <a:off x="3364949" y="1672163"/>
            <a:ext cx="2560320" cy="3822192"/>
            <a:chOff x="3600336" y="1672163"/>
            <a:chExt cx="2560320" cy="3822192"/>
          </a:xfrm>
        </p:grpSpPr>
        <p:sp>
          <p:nvSpPr>
            <p:cNvPr id="25" name="Rectangle: Rounded Corners 2">
              <a:extLst>
                <a:ext uri="{FF2B5EF4-FFF2-40B4-BE49-F238E27FC236}">
                  <a16:creationId xmlns:a16="http://schemas.microsoft.com/office/drawing/2014/main" id="{D1D44744-D3C2-0B6E-1F4C-AB2BE33C22B6}"/>
                </a:ext>
              </a:extLst>
            </p:cNvPr>
            <p:cNvSpPr/>
            <p:nvPr/>
          </p:nvSpPr>
          <p:spPr bwMode="gray">
            <a:xfrm>
              <a:off x="3600336"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27" name="תיבת טקסט 26">
              <a:extLst>
                <a:ext uri="{FF2B5EF4-FFF2-40B4-BE49-F238E27FC236}">
                  <a16:creationId xmlns:a16="http://schemas.microsoft.com/office/drawing/2014/main" id="{D21CDD26-4117-2582-5C72-C665C4FCB596}"/>
                </a:ext>
              </a:extLst>
            </p:cNvPr>
            <p:cNvSpPr txBox="1"/>
            <p:nvPr/>
          </p:nvSpPr>
          <p:spPr>
            <a:xfrm>
              <a:off x="3640806" y="1953230"/>
              <a:ext cx="2360509"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he-IL" sz="16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rPr>
                <a:t>ניתוח לגורמים</a:t>
              </a:r>
              <a:endParaRPr kumimoji="0" lang="en-IL" sz="16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8" name="תיבת טקסט 17">
              <a:extLst>
                <a:ext uri="{FF2B5EF4-FFF2-40B4-BE49-F238E27FC236}">
                  <a16:creationId xmlns:a16="http://schemas.microsoft.com/office/drawing/2014/main" id="{CA498395-428E-DF27-2B7A-9F2F04E4F5BC}"/>
                </a:ext>
              </a:extLst>
            </p:cNvPr>
            <p:cNvSpPr txBox="1"/>
            <p:nvPr/>
          </p:nvSpPr>
          <p:spPr>
            <a:xfrm>
              <a:off x="3781402" y="2568607"/>
              <a:ext cx="2231136" cy="1877437"/>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ניתוח מהמאקרו – </a:t>
              </a:r>
              <a:r>
                <a:rPr kumimoji="0" lang="he-IL" sz="11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שיקוף מצב, מגמה, השוואות ביחס לעולם, לישראל ולרשויות דומות. מה הבעיות והפערים</a:t>
              </a: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 </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ניתוח למיקרו – היכן הבעיה ומדוע </a:t>
              </a:r>
              <a:r>
                <a:rPr kumimoji="0" lang="he-IL" sz="11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(באיזה רשות / אזור סטטיסטי ובאיזו קבוצת אוכלוסייה).</a:t>
              </a: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a:p>
              <a:pPr marL="0" marR="0" lvl="0" indent="0" algn="ctr" defTabSz="914400" rtl="1" eaLnBrk="1" fontAlgn="auto" latinLnBrk="0" hangingPunct="1">
                <a:lnSpc>
                  <a:spcPct val="100000"/>
                </a:lnSpc>
                <a:spcBef>
                  <a:spcPts val="600"/>
                </a:spcBef>
                <a:spcAft>
                  <a:spcPts val="1200"/>
                </a:spcAft>
                <a:buClrTx/>
                <a:buSzPct val="100000"/>
                <a:buFontTx/>
                <a:buNone/>
                <a:tabLst/>
                <a:defRPr/>
              </a:pP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p:txBody>
        </p:sp>
        <p:grpSp>
          <p:nvGrpSpPr>
            <p:cNvPr id="49" name="Graphic 23" descr="Decision chart outline">
              <a:extLst>
                <a:ext uri="{FF2B5EF4-FFF2-40B4-BE49-F238E27FC236}">
                  <a16:creationId xmlns:a16="http://schemas.microsoft.com/office/drawing/2014/main" id="{3EE078E8-8880-14E2-C51F-28E1B0E86A2A}"/>
                </a:ext>
              </a:extLst>
            </p:cNvPr>
            <p:cNvGrpSpPr/>
            <p:nvPr/>
          </p:nvGrpSpPr>
          <p:grpSpPr>
            <a:xfrm>
              <a:off x="4580282" y="4727228"/>
              <a:ext cx="481555" cy="591386"/>
              <a:chOff x="6034030" y="5742781"/>
              <a:chExt cx="784225" cy="846137"/>
            </a:xfrm>
            <a:gradFill>
              <a:gsLst>
                <a:gs pos="22000">
                  <a:schemeClr val="accent1"/>
                </a:gs>
                <a:gs pos="75000">
                  <a:schemeClr val="accent4"/>
                </a:gs>
                <a:gs pos="100000">
                  <a:schemeClr val="accent5"/>
                </a:gs>
              </a:gsLst>
              <a:lin ang="8100000" scaled="0"/>
            </a:gradFill>
          </p:grpSpPr>
          <p:sp>
            <p:nvSpPr>
              <p:cNvPr id="50" name="צורה חופשית: צורה 49">
                <a:extLst>
                  <a:ext uri="{FF2B5EF4-FFF2-40B4-BE49-F238E27FC236}">
                    <a16:creationId xmlns:a16="http://schemas.microsoft.com/office/drawing/2014/main" id="{F6D30FEA-CDAD-1969-0114-0578D479073F}"/>
                  </a:ext>
                </a:extLst>
              </p:cNvPr>
              <p:cNvSpPr/>
              <p:nvPr/>
            </p:nvSpPr>
            <p:spPr>
              <a:xfrm>
                <a:off x="6034030" y="6444456"/>
                <a:ext cx="288925" cy="144462"/>
              </a:xfrm>
              <a:custGeom>
                <a:avLst/>
                <a:gdLst>
                  <a:gd name="connsiteX0" fmla="*/ 0 w 288925"/>
                  <a:gd name="connsiteY0" fmla="*/ 144463 h 144462"/>
                  <a:gd name="connsiteX1" fmla="*/ 288925 w 288925"/>
                  <a:gd name="connsiteY1" fmla="*/ 144463 h 144462"/>
                  <a:gd name="connsiteX2" fmla="*/ 288925 w 288925"/>
                  <a:gd name="connsiteY2" fmla="*/ 0 h 144462"/>
                  <a:gd name="connsiteX3" fmla="*/ 0 w 288925"/>
                  <a:gd name="connsiteY3" fmla="*/ 0 h 144462"/>
                  <a:gd name="connsiteX4" fmla="*/ 20638 w 288925"/>
                  <a:gd name="connsiteY4" fmla="*/ 20638 h 144462"/>
                  <a:gd name="connsiteX5" fmla="*/ 268288 w 288925"/>
                  <a:gd name="connsiteY5" fmla="*/ 20638 h 144462"/>
                  <a:gd name="connsiteX6" fmla="*/ 268288 w 288925"/>
                  <a:gd name="connsiteY6" fmla="*/ 123825 h 144462"/>
                  <a:gd name="connsiteX7" fmla="*/ 20638 w 288925"/>
                  <a:gd name="connsiteY7" fmla="*/ 123825 h 14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25" h="144462">
                    <a:moveTo>
                      <a:pt x="0" y="144463"/>
                    </a:moveTo>
                    <a:lnTo>
                      <a:pt x="288925" y="144463"/>
                    </a:lnTo>
                    <a:lnTo>
                      <a:pt x="288925" y="0"/>
                    </a:lnTo>
                    <a:lnTo>
                      <a:pt x="0" y="0"/>
                    </a:lnTo>
                    <a:close/>
                    <a:moveTo>
                      <a:pt x="20638" y="20638"/>
                    </a:moveTo>
                    <a:lnTo>
                      <a:pt x="268288" y="20638"/>
                    </a:lnTo>
                    <a:lnTo>
                      <a:pt x="268288" y="123825"/>
                    </a:lnTo>
                    <a:lnTo>
                      <a:pt x="20638" y="123825"/>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1" name="צורה חופשית: צורה 50">
                <a:extLst>
                  <a:ext uri="{FF2B5EF4-FFF2-40B4-BE49-F238E27FC236}">
                    <a16:creationId xmlns:a16="http://schemas.microsoft.com/office/drawing/2014/main" id="{96018293-D616-EBB1-3E4F-F21B6C945F38}"/>
                  </a:ext>
                </a:extLst>
              </p:cNvPr>
              <p:cNvSpPr/>
              <p:nvPr/>
            </p:nvSpPr>
            <p:spPr>
              <a:xfrm>
                <a:off x="6529330" y="6444456"/>
                <a:ext cx="288925" cy="144462"/>
              </a:xfrm>
              <a:custGeom>
                <a:avLst/>
                <a:gdLst>
                  <a:gd name="connsiteX0" fmla="*/ 0 w 288925"/>
                  <a:gd name="connsiteY0" fmla="*/ 0 h 144462"/>
                  <a:gd name="connsiteX1" fmla="*/ 0 w 288925"/>
                  <a:gd name="connsiteY1" fmla="*/ 144463 h 144462"/>
                  <a:gd name="connsiteX2" fmla="*/ 288925 w 288925"/>
                  <a:gd name="connsiteY2" fmla="*/ 144463 h 144462"/>
                  <a:gd name="connsiteX3" fmla="*/ 288925 w 288925"/>
                  <a:gd name="connsiteY3" fmla="*/ 0 h 144462"/>
                  <a:gd name="connsiteX4" fmla="*/ 268288 w 288925"/>
                  <a:gd name="connsiteY4" fmla="*/ 123825 h 144462"/>
                  <a:gd name="connsiteX5" fmla="*/ 20638 w 288925"/>
                  <a:gd name="connsiteY5" fmla="*/ 123825 h 144462"/>
                  <a:gd name="connsiteX6" fmla="*/ 20638 w 288925"/>
                  <a:gd name="connsiteY6" fmla="*/ 20638 h 144462"/>
                  <a:gd name="connsiteX7" fmla="*/ 268288 w 288925"/>
                  <a:gd name="connsiteY7" fmla="*/ 20638 h 14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25" h="144462">
                    <a:moveTo>
                      <a:pt x="0" y="0"/>
                    </a:moveTo>
                    <a:lnTo>
                      <a:pt x="0" y="144463"/>
                    </a:lnTo>
                    <a:lnTo>
                      <a:pt x="288925" y="144463"/>
                    </a:lnTo>
                    <a:lnTo>
                      <a:pt x="288925" y="0"/>
                    </a:lnTo>
                    <a:close/>
                    <a:moveTo>
                      <a:pt x="268288" y="123825"/>
                    </a:moveTo>
                    <a:lnTo>
                      <a:pt x="20638" y="123825"/>
                    </a:lnTo>
                    <a:lnTo>
                      <a:pt x="20638" y="20638"/>
                    </a:lnTo>
                    <a:lnTo>
                      <a:pt x="268288" y="20638"/>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2" name="צורה חופשית: צורה 51">
                <a:extLst>
                  <a:ext uri="{FF2B5EF4-FFF2-40B4-BE49-F238E27FC236}">
                    <a16:creationId xmlns:a16="http://schemas.microsoft.com/office/drawing/2014/main" id="{81BBFE91-9F85-C734-E650-ED6F5EED6217}"/>
                  </a:ext>
                </a:extLst>
              </p:cNvPr>
              <p:cNvSpPr/>
              <p:nvPr/>
            </p:nvSpPr>
            <p:spPr>
              <a:xfrm>
                <a:off x="6106388" y="6089346"/>
                <a:ext cx="639509" cy="334469"/>
              </a:xfrm>
              <a:custGeom>
                <a:avLst/>
                <a:gdLst>
                  <a:gd name="connsiteX0" fmla="*/ 416895 w 639509"/>
                  <a:gd name="connsiteY0" fmla="*/ 117778 h 334469"/>
                  <a:gd name="connsiteX1" fmla="*/ 557086 w 639509"/>
                  <a:gd name="connsiteY1" fmla="*/ 117778 h 334469"/>
                  <a:gd name="connsiteX2" fmla="*/ 557086 w 639509"/>
                  <a:gd name="connsiteY2" fmla="*/ 298996 h 334469"/>
                  <a:gd name="connsiteX3" fmla="*/ 556910 w 639509"/>
                  <a:gd name="connsiteY3" fmla="*/ 299068 h 334469"/>
                  <a:gd name="connsiteX4" fmla="*/ 512787 w 639509"/>
                  <a:gd name="connsiteY4" fmla="*/ 254945 h 334469"/>
                  <a:gd name="connsiteX5" fmla="*/ 498197 w 639509"/>
                  <a:gd name="connsiteY5" fmla="*/ 255199 h 334469"/>
                  <a:gd name="connsiteX6" fmla="*/ 498197 w 639509"/>
                  <a:gd name="connsiteY6" fmla="*/ 269536 h 334469"/>
                  <a:gd name="connsiteX7" fmla="*/ 560109 w 639509"/>
                  <a:gd name="connsiteY7" fmla="*/ 331449 h 334469"/>
                  <a:gd name="connsiteX8" fmla="*/ 574700 w 639509"/>
                  <a:gd name="connsiteY8" fmla="*/ 331449 h 334469"/>
                  <a:gd name="connsiteX9" fmla="*/ 636612 w 639509"/>
                  <a:gd name="connsiteY9" fmla="*/ 269536 h 334469"/>
                  <a:gd name="connsiteX10" fmla="*/ 636359 w 639509"/>
                  <a:gd name="connsiteY10" fmla="*/ 254945 h 334469"/>
                  <a:gd name="connsiteX11" fmla="*/ 622022 w 639509"/>
                  <a:gd name="connsiteY11" fmla="*/ 254945 h 334469"/>
                  <a:gd name="connsiteX12" fmla="*/ 577899 w 639509"/>
                  <a:gd name="connsiteY12" fmla="*/ 299068 h 334469"/>
                  <a:gd name="connsiteX13" fmla="*/ 577723 w 639509"/>
                  <a:gd name="connsiteY13" fmla="*/ 298996 h 334469"/>
                  <a:gd name="connsiteX14" fmla="*/ 577723 w 639509"/>
                  <a:gd name="connsiteY14" fmla="*/ 97141 h 334469"/>
                  <a:gd name="connsiteX15" fmla="*/ 416895 w 639509"/>
                  <a:gd name="connsiteY15" fmla="*/ 97141 h 334469"/>
                  <a:gd name="connsiteX16" fmla="*/ 319755 w 639509"/>
                  <a:gd name="connsiteY16" fmla="*/ 0 h 334469"/>
                  <a:gd name="connsiteX17" fmla="*/ 222614 w 639509"/>
                  <a:gd name="connsiteY17" fmla="*/ 97141 h 334469"/>
                  <a:gd name="connsiteX18" fmla="*/ 61786 w 639509"/>
                  <a:gd name="connsiteY18" fmla="*/ 97141 h 334469"/>
                  <a:gd name="connsiteX19" fmla="*/ 61786 w 639509"/>
                  <a:gd name="connsiteY19" fmla="*/ 298996 h 334469"/>
                  <a:gd name="connsiteX20" fmla="*/ 61610 w 639509"/>
                  <a:gd name="connsiteY20" fmla="*/ 299068 h 334469"/>
                  <a:gd name="connsiteX21" fmla="*/ 17487 w 639509"/>
                  <a:gd name="connsiteY21" fmla="*/ 254945 h 334469"/>
                  <a:gd name="connsiteX22" fmla="*/ 2897 w 639509"/>
                  <a:gd name="connsiteY22" fmla="*/ 255199 h 334469"/>
                  <a:gd name="connsiteX23" fmla="*/ 2897 w 639509"/>
                  <a:gd name="connsiteY23" fmla="*/ 269536 h 334469"/>
                  <a:gd name="connsiteX24" fmla="*/ 64809 w 639509"/>
                  <a:gd name="connsiteY24" fmla="*/ 331449 h 334469"/>
                  <a:gd name="connsiteX25" fmla="*/ 79400 w 639509"/>
                  <a:gd name="connsiteY25" fmla="*/ 331449 h 334469"/>
                  <a:gd name="connsiteX26" fmla="*/ 141312 w 639509"/>
                  <a:gd name="connsiteY26" fmla="*/ 269536 h 334469"/>
                  <a:gd name="connsiteX27" fmla="*/ 141566 w 639509"/>
                  <a:gd name="connsiteY27" fmla="*/ 254945 h 334469"/>
                  <a:gd name="connsiteX28" fmla="*/ 126976 w 639509"/>
                  <a:gd name="connsiteY28" fmla="*/ 254692 h 334469"/>
                  <a:gd name="connsiteX29" fmla="*/ 126722 w 639509"/>
                  <a:gd name="connsiteY29" fmla="*/ 254945 h 334469"/>
                  <a:gd name="connsiteX30" fmla="*/ 82599 w 639509"/>
                  <a:gd name="connsiteY30" fmla="*/ 299068 h 334469"/>
                  <a:gd name="connsiteX31" fmla="*/ 82423 w 639509"/>
                  <a:gd name="connsiteY31" fmla="*/ 298996 h 334469"/>
                  <a:gd name="connsiteX32" fmla="*/ 82423 w 639509"/>
                  <a:gd name="connsiteY32" fmla="*/ 117778 h 334469"/>
                  <a:gd name="connsiteX33" fmla="*/ 222614 w 639509"/>
                  <a:gd name="connsiteY33" fmla="*/ 117778 h 334469"/>
                  <a:gd name="connsiteX34" fmla="*/ 319755 w 639509"/>
                  <a:gd name="connsiteY34" fmla="*/ 214919 h 334469"/>
                  <a:gd name="connsiteX35" fmla="*/ 319755 w 639509"/>
                  <a:gd name="connsiteY35" fmla="*/ 29181 h 334469"/>
                  <a:gd name="connsiteX36" fmla="*/ 398033 w 639509"/>
                  <a:gd name="connsiteY36" fmla="*/ 107459 h 334469"/>
                  <a:gd name="connsiteX37" fmla="*/ 319755 w 639509"/>
                  <a:gd name="connsiteY37" fmla="*/ 185738 h 334469"/>
                  <a:gd name="connsiteX38" fmla="*/ 241477 w 639509"/>
                  <a:gd name="connsiteY38" fmla="*/ 107459 h 3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39509" h="334469">
                    <a:moveTo>
                      <a:pt x="416895" y="117778"/>
                    </a:moveTo>
                    <a:lnTo>
                      <a:pt x="557086" y="117778"/>
                    </a:lnTo>
                    <a:lnTo>
                      <a:pt x="557086" y="298996"/>
                    </a:lnTo>
                    <a:cubicBezTo>
                      <a:pt x="557086" y="299130"/>
                      <a:pt x="557003" y="299161"/>
                      <a:pt x="556910" y="299068"/>
                    </a:cubicBezTo>
                    <a:lnTo>
                      <a:pt x="512787" y="254945"/>
                    </a:lnTo>
                    <a:cubicBezTo>
                      <a:pt x="508688" y="250986"/>
                      <a:pt x="502156" y="251100"/>
                      <a:pt x="498197" y="255199"/>
                    </a:cubicBezTo>
                    <a:cubicBezTo>
                      <a:pt x="494334" y="259198"/>
                      <a:pt x="494334" y="265538"/>
                      <a:pt x="498197" y="269536"/>
                    </a:cubicBezTo>
                    <a:lnTo>
                      <a:pt x="560109" y="331449"/>
                    </a:lnTo>
                    <a:cubicBezTo>
                      <a:pt x="564139" y="335477"/>
                      <a:pt x="570670" y="335477"/>
                      <a:pt x="574700" y="331449"/>
                    </a:cubicBezTo>
                    <a:lnTo>
                      <a:pt x="636612" y="269536"/>
                    </a:lnTo>
                    <a:cubicBezTo>
                      <a:pt x="640572" y="265436"/>
                      <a:pt x="640458" y="258905"/>
                      <a:pt x="636359" y="254945"/>
                    </a:cubicBezTo>
                    <a:cubicBezTo>
                      <a:pt x="632360" y="251083"/>
                      <a:pt x="626020" y="251083"/>
                      <a:pt x="622022" y="254945"/>
                    </a:cubicBezTo>
                    <a:lnTo>
                      <a:pt x="577899" y="299068"/>
                    </a:lnTo>
                    <a:cubicBezTo>
                      <a:pt x="577806" y="299161"/>
                      <a:pt x="577723" y="299130"/>
                      <a:pt x="577723" y="298996"/>
                    </a:cubicBezTo>
                    <a:lnTo>
                      <a:pt x="577723" y="97141"/>
                    </a:lnTo>
                    <a:lnTo>
                      <a:pt x="416895" y="97141"/>
                    </a:lnTo>
                    <a:lnTo>
                      <a:pt x="319755" y="0"/>
                    </a:lnTo>
                    <a:lnTo>
                      <a:pt x="222614" y="97141"/>
                    </a:lnTo>
                    <a:lnTo>
                      <a:pt x="61786" y="97141"/>
                    </a:lnTo>
                    <a:lnTo>
                      <a:pt x="61786" y="298996"/>
                    </a:lnTo>
                    <a:cubicBezTo>
                      <a:pt x="61786" y="299130"/>
                      <a:pt x="61703" y="299161"/>
                      <a:pt x="61610" y="299068"/>
                    </a:cubicBezTo>
                    <a:lnTo>
                      <a:pt x="17487" y="254945"/>
                    </a:lnTo>
                    <a:cubicBezTo>
                      <a:pt x="13388" y="250986"/>
                      <a:pt x="6856" y="251100"/>
                      <a:pt x="2897" y="255199"/>
                    </a:cubicBezTo>
                    <a:cubicBezTo>
                      <a:pt x="-966" y="259198"/>
                      <a:pt x="-966" y="265538"/>
                      <a:pt x="2897" y="269536"/>
                    </a:cubicBezTo>
                    <a:lnTo>
                      <a:pt x="64809" y="331449"/>
                    </a:lnTo>
                    <a:cubicBezTo>
                      <a:pt x="68839" y="335477"/>
                      <a:pt x="75370" y="335477"/>
                      <a:pt x="79400" y="331449"/>
                    </a:cubicBezTo>
                    <a:lnTo>
                      <a:pt x="141312" y="269536"/>
                    </a:lnTo>
                    <a:cubicBezTo>
                      <a:pt x="145412" y="265577"/>
                      <a:pt x="145526" y="259045"/>
                      <a:pt x="141566" y="254945"/>
                    </a:cubicBezTo>
                    <a:cubicBezTo>
                      <a:pt x="137607" y="250846"/>
                      <a:pt x="131074" y="250732"/>
                      <a:pt x="126976" y="254692"/>
                    </a:cubicBezTo>
                    <a:cubicBezTo>
                      <a:pt x="126889" y="254775"/>
                      <a:pt x="126805" y="254860"/>
                      <a:pt x="126722" y="254945"/>
                    </a:cubicBezTo>
                    <a:lnTo>
                      <a:pt x="82599" y="299068"/>
                    </a:lnTo>
                    <a:cubicBezTo>
                      <a:pt x="82506" y="299161"/>
                      <a:pt x="82423" y="299130"/>
                      <a:pt x="82423" y="298996"/>
                    </a:cubicBezTo>
                    <a:lnTo>
                      <a:pt x="82423" y="117778"/>
                    </a:lnTo>
                    <a:lnTo>
                      <a:pt x="222614" y="117778"/>
                    </a:lnTo>
                    <a:lnTo>
                      <a:pt x="319755" y="214919"/>
                    </a:lnTo>
                    <a:close/>
                    <a:moveTo>
                      <a:pt x="319755" y="29181"/>
                    </a:moveTo>
                    <a:lnTo>
                      <a:pt x="398033" y="107459"/>
                    </a:lnTo>
                    <a:lnTo>
                      <a:pt x="319755" y="185738"/>
                    </a:lnTo>
                    <a:lnTo>
                      <a:pt x="241477" y="107459"/>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3" name="צורה חופשית: צורה 52">
                <a:extLst>
                  <a:ext uri="{FF2B5EF4-FFF2-40B4-BE49-F238E27FC236}">
                    <a16:creationId xmlns:a16="http://schemas.microsoft.com/office/drawing/2014/main" id="{F06882E2-08B4-2BBC-0F94-35C03B05D94C}"/>
                  </a:ext>
                </a:extLst>
              </p:cNvPr>
              <p:cNvSpPr/>
              <p:nvPr/>
            </p:nvSpPr>
            <p:spPr>
              <a:xfrm>
                <a:off x="6281680" y="5742781"/>
                <a:ext cx="288925" cy="325812"/>
              </a:xfrm>
              <a:custGeom>
                <a:avLst/>
                <a:gdLst>
                  <a:gd name="connsiteX0" fmla="*/ 134144 w 288925"/>
                  <a:gd name="connsiteY0" fmla="*/ 290339 h 325812"/>
                  <a:gd name="connsiteX1" fmla="*/ 133968 w 288925"/>
                  <a:gd name="connsiteY1" fmla="*/ 290411 h 325812"/>
                  <a:gd name="connsiteX2" fmla="*/ 89845 w 288925"/>
                  <a:gd name="connsiteY2" fmla="*/ 246288 h 325812"/>
                  <a:gd name="connsiteX3" fmla="*/ 75255 w 288925"/>
                  <a:gd name="connsiteY3" fmla="*/ 246034 h 325812"/>
                  <a:gd name="connsiteX4" fmla="*/ 75001 w 288925"/>
                  <a:gd name="connsiteY4" fmla="*/ 260625 h 325812"/>
                  <a:gd name="connsiteX5" fmla="*/ 75255 w 288925"/>
                  <a:gd name="connsiteY5" fmla="*/ 260879 h 325812"/>
                  <a:gd name="connsiteX6" fmla="*/ 137167 w 288925"/>
                  <a:gd name="connsiteY6" fmla="*/ 322791 h 325812"/>
                  <a:gd name="connsiteX7" fmla="*/ 151758 w 288925"/>
                  <a:gd name="connsiteY7" fmla="*/ 322791 h 325812"/>
                  <a:gd name="connsiteX8" fmla="*/ 213670 w 288925"/>
                  <a:gd name="connsiteY8" fmla="*/ 260879 h 325812"/>
                  <a:gd name="connsiteX9" fmla="*/ 213924 w 288925"/>
                  <a:gd name="connsiteY9" fmla="*/ 246288 h 325812"/>
                  <a:gd name="connsiteX10" fmla="*/ 199333 w 288925"/>
                  <a:gd name="connsiteY10" fmla="*/ 246034 h 325812"/>
                  <a:gd name="connsiteX11" fmla="*/ 199080 w 288925"/>
                  <a:gd name="connsiteY11" fmla="*/ 246288 h 325812"/>
                  <a:gd name="connsiteX12" fmla="*/ 154957 w 288925"/>
                  <a:gd name="connsiteY12" fmla="*/ 290411 h 325812"/>
                  <a:gd name="connsiteX13" fmla="*/ 154781 w 288925"/>
                  <a:gd name="connsiteY13" fmla="*/ 290339 h 325812"/>
                  <a:gd name="connsiteX14" fmla="*/ 154781 w 288925"/>
                  <a:gd name="connsiteY14" fmla="*/ 144463 h 325812"/>
                  <a:gd name="connsiteX15" fmla="*/ 288925 w 288925"/>
                  <a:gd name="connsiteY15" fmla="*/ 144463 h 325812"/>
                  <a:gd name="connsiteX16" fmla="*/ 288925 w 288925"/>
                  <a:gd name="connsiteY16" fmla="*/ 0 h 325812"/>
                  <a:gd name="connsiteX17" fmla="*/ 0 w 288925"/>
                  <a:gd name="connsiteY17" fmla="*/ 0 h 325812"/>
                  <a:gd name="connsiteX18" fmla="*/ 0 w 288925"/>
                  <a:gd name="connsiteY18" fmla="*/ 144463 h 325812"/>
                  <a:gd name="connsiteX19" fmla="*/ 134144 w 288925"/>
                  <a:gd name="connsiteY19" fmla="*/ 144463 h 325812"/>
                  <a:gd name="connsiteX20" fmla="*/ 20638 w 288925"/>
                  <a:gd name="connsiteY20" fmla="*/ 20638 h 325812"/>
                  <a:gd name="connsiteX21" fmla="*/ 268288 w 288925"/>
                  <a:gd name="connsiteY21" fmla="*/ 20638 h 325812"/>
                  <a:gd name="connsiteX22" fmla="*/ 268288 w 288925"/>
                  <a:gd name="connsiteY22" fmla="*/ 123825 h 325812"/>
                  <a:gd name="connsiteX23" fmla="*/ 20638 w 288925"/>
                  <a:gd name="connsiteY23" fmla="*/ 123825 h 325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8925" h="325812">
                    <a:moveTo>
                      <a:pt x="134144" y="290339"/>
                    </a:moveTo>
                    <a:cubicBezTo>
                      <a:pt x="134144" y="290473"/>
                      <a:pt x="134061" y="290504"/>
                      <a:pt x="133968" y="290411"/>
                    </a:cubicBezTo>
                    <a:lnTo>
                      <a:pt x="89845" y="246288"/>
                    </a:lnTo>
                    <a:cubicBezTo>
                      <a:pt x="85886" y="242188"/>
                      <a:pt x="79354" y="242075"/>
                      <a:pt x="75255" y="246034"/>
                    </a:cubicBezTo>
                    <a:cubicBezTo>
                      <a:pt x="71155" y="249993"/>
                      <a:pt x="71042" y="256526"/>
                      <a:pt x="75001" y="260625"/>
                    </a:cubicBezTo>
                    <a:cubicBezTo>
                      <a:pt x="75084" y="260711"/>
                      <a:pt x="75169" y="260796"/>
                      <a:pt x="75255" y="260879"/>
                    </a:cubicBezTo>
                    <a:lnTo>
                      <a:pt x="137167" y="322791"/>
                    </a:lnTo>
                    <a:cubicBezTo>
                      <a:pt x="141197" y="326820"/>
                      <a:pt x="147728" y="326820"/>
                      <a:pt x="151758" y="322791"/>
                    </a:cubicBezTo>
                    <a:lnTo>
                      <a:pt x="213670" y="260879"/>
                    </a:lnTo>
                    <a:cubicBezTo>
                      <a:pt x="217770" y="256919"/>
                      <a:pt x="217884" y="250388"/>
                      <a:pt x="213924" y="246288"/>
                    </a:cubicBezTo>
                    <a:cubicBezTo>
                      <a:pt x="209965" y="242189"/>
                      <a:pt x="203432" y="242075"/>
                      <a:pt x="199333" y="246034"/>
                    </a:cubicBezTo>
                    <a:cubicBezTo>
                      <a:pt x="199247" y="246118"/>
                      <a:pt x="199162" y="246202"/>
                      <a:pt x="199080" y="246288"/>
                    </a:cubicBezTo>
                    <a:lnTo>
                      <a:pt x="154957" y="290411"/>
                    </a:lnTo>
                    <a:cubicBezTo>
                      <a:pt x="154864" y="290504"/>
                      <a:pt x="154781" y="290473"/>
                      <a:pt x="154781" y="290339"/>
                    </a:cubicBezTo>
                    <a:lnTo>
                      <a:pt x="154781" y="144463"/>
                    </a:lnTo>
                    <a:lnTo>
                      <a:pt x="288925" y="144463"/>
                    </a:lnTo>
                    <a:lnTo>
                      <a:pt x="288925" y="0"/>
                    </a:lnTo>
                    <a:lnTo>
                      <a:pt x="0" y="0"/>
                    </a:lnTo>
                    <a:lnTo>
                      <a:pt x="0" y="144463"/>
                    </a:lnTo>
                    <a:lnTo>
                      <a:pt x="134144" y="144463"/>
                    </a:lnTo>
                    <a:close/>
                    <a:moveTo>
                      <a:pt x="20638" y="20638"/>
                    </a:moveTo>
                    <a:lnTo>
                      <a:pt x="268288" y="20638"/>
                    </a:lnTo>
                    <a:lnTo>
                      <a:pt x="268288" y="123825"/>
                    </a:lnTo>
                    <a:lnTo>
                      <a:pt x="20638" y="123825"/>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cxnSp>
          <p:nvCxnSpPr>
            <p:cNvPr id="35" name="מחבר ישר 34">
              <a:extLst>
                <a:ext uri="{FF2B5EF4-FFF2-40B4-BE49-F238E27FC236}">
                  <a16:creationId xmlns:a16="http://schemas.microsoft.com/office/drawing/2014/main" id="{5A96EF2E-E132-81EC-89FB-D9E150580479}"/>
                </a:ext>
              </a:extLst>
            </p:cNvPr>
            <p:cNvCxnSpPr>
              <a:cxnSpLocks/>
            </p:cNvCxnSpPr>
            <p:nvPr/>
          </p:nvCxnSpPr>
          <p:spPr>
            <a:xfrm>
              <a:off x="4265421" y="3303690"/>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1790499"/>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המחשת תפישת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F444C195-9A22-0A3B-EC2C-FCBF9178C882}"/>
              </a:ext>
            </a:extLst>
          </p:cNvPr>
          <p:cNvGrpSpPr/>
          <p:nvPr/>
        </p:nvGrpSpPr>
        <p:grpSpPr>
          <a:xfrm>
            <a:off x="2601087" y="1155749"/>
            <a:ext cx="6419088" cy="5178391"/>
            <a:chOff x="2686812" y="1155749"/>
            <a:chExt cx="6419088" cy="5178391"/>
          </a:xfrm>
        </p:grpSpPr>
        <p:pic>
          <p:nvPicPr>
            <p:cNvPr id="6" name="Picture 5">
              <a:extLst>
                <a:ext uri="{FF2B5EF4-FFF2-40B4-BE49-F238E27FC236}">
                  <a16:creationId xmlns:a16="http://schemas.microsoft.com/office/drawing/2014/main" id="{04754C83-A30B-064F-1FB9-ED88E103E4DC}"/>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10" name="Picture 9">
              <a:extLst>
                <a:ext uri="{FF2B5EF4-FFF2-40B4-BE49-F238E27FC236}">
                  <a16:creationId xmlns:a16="http://schemas.microsoft.com/office/drawing/2014/main" id="{81E91039-4280-A73B-7A37-45FBB67538D1}"/>
                </a:ext>
              </a:extLst>
            </p:cNvPr>
            <p:cNvPicPr>
              <a:picLocks noChangeAspect="1"/>
            </p:cNvPicPr>
            <p:nvPr/>
          </p:nvPicPr>
          <p:blipFill>
            <a:blip r:embed="rId4"/>
            <a:stretch>
              <a:fillRect/>
            </a:stretch>
          </p:blipFill>
          <p:spPr>
            <a:xfrm>
              <a:off x="2829855" y="1409700"/>
              <a:ext cx="6130196" cy="3324225"/>
            </a:xfrm>
            <a:prstGeom prst="rect">
              <a:avLst/>
            </a:prstGeom>
          </p:spPr>
        </p:pic>
      </p:grpSp>
    </p:spTree>
    <p:extLst>
      <p:ext uri="{BB962C8B-B14F-4D97-AF65-F5344CB8AC3E}">
        <p14:creationId xmlns:p14="http://schemas.microsoft.com/office/powerpoint/2010/main" val="1195950467"/>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BF9296D3-4792-864C-C552-C8E9E739822E}"/>
              </a:ext>
            </a:extLst>
          </p:cNvPr>
          <p:cNvGrpSpPr/>
          <p:nvPr/>
        </p:nvGrpSpPr>
        <p:grpSpPr>
          <a:xfrm>
            <a:off x="2625597" y="1169517"/>
            <a:ext cx="6419088" cy="5178391"/>
            <a:chOff x="2686812" y="1155749"/>
            <a:chExt cx="6419088" cy="5178391"/>
          </a:xfrm>
        </p:grpSpPr>
        <p:pic>
          <p:nvPicPr>
            <p:cNvPr id="42" name="Picture 41">
              <a:extLst>
                <a:ext uri="{FF2B5EF4-FFF2-40B4-BE49-F238E27FC236}">
                  <a16:creationId xmlns:a16="http://schemas.microsoft.com/office/drawing/2014/main" id="{BB651AAD-CA2A-E070-C357-AA2219448540}"/>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43" name="Picture 42">
              <a:extLst>
                <a:ext uri="{FF2B5EF4-FFF2-40B4-BE49-F238E27FC236}">
                  <a16:creationId xmlns:a16="http://schemas.microsoft.com/office/drawing/2014/main" id="{5C5E9F49-73D3-EC1B-D14B-889972D36C00}"/>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829855" y="1409700"/>
              <a:ext cx="6130196" cy="3324225"/>
            </a:xfrm>
            <a:prstGeom prst="rect">
              <a:avLst/>
            </a:prstGeom>
          </p:spPr>
        </p:pic>
      </p:grpSp>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המחשת תפישת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sp>
        <p:nvSpPr>
          <p:cNvPr id="4" name="Oval 3">
            <a:extLst>
              <a:ext uri="{FF2B5EF4-FFF2-40B4-BE49-F238E27FC236}">
                <a16:creationId xmlns:a16="http://schemas.microsoft.com/office/drawing/2014/main" id="{F1C66E4F-884C-EDC5-170C-0D3104F02675}"/>
              </a:ext>
            </a:extLst>
          </p:cNvPr>
          <p:cNvSpPr/>
          <p:nvPr/>
        </p:nvSpPr>
        <p:spPr bwMode="gray">
          <a:xfrm>
            <a:off x="2825545" y="2511630"/>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Oval 4">
            <a:extLst>
              <a:ext uri="{FF2B5EF4-FFF2-40B4-BE49-F238E27FC236}">
                <a16:creationId xmlns:a16="http://schemas.microsoft.com/office/drawing/2014/main" id="{560C8785-1AD9-73FC-296D-178168C335F5}"/>
              </a:ext>
            </a:extLst>
          </p:cNvPr>
          <p:cNvSpPr/>
          <p:nvPr/>
        </p:nvSpPr>
        <p:spPr bwMode="gray">
          <a:xfrm>
            <a:off x="4446396" y="3624214"/>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2CD7BCA5-6E55-B7F0-9D18-DBAB1EBF483D}"/>
              </a:ext>
            </a:extLst>
          </p:cNvPr>
          <p:cNvSpPr/>
          <p:nvPr/>
        </p:nvSpPr>
        <p:spPr bwMode="gray">
          <a:xfrm>
            <a:off x="8425076" y="28393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61B271FD-F79C-0419-9B6D-87E8527E376B}"/>
              </a:ext>
            </a:extLst>
          </p:cNvPr>
          <p:cNvSpPr/>
          <p:nvPr/>
        </p:nvSpPr>
        <p:spPr bwMode="gray">
          <a:xfrm>
            <a:off x="6947326" y="40858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9" name="Straight Connector 8">
            <a:extLst>
              <a:ext uri="{FF2B5EF4-FFF2-40B4-BE49-F238E27FC236}">
                <a16:creationId xmlns:a16="http://schemas.microsoft.com/office/drawing/2014/main" id="{7174F323-7CDE-992D-85B7-07B6D25838BB}"/>
              </a:ext>
            </a:extLst>
          </p:cNvPr>
          <p:cNvCxnSpPr>
            <a:cxnSpLocks/>
          </p:cNvCxnSpPr>
          <p:nvPr/>
        </p:nvCxnSpPr>
        <p:spPr>
          <a:xfrm>
            <a:off x="8543157" y="2991019"/>
            <a:ext cx="205939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E4376E5-040F-3C51-B56B-B96CE5DE0A67}"/>
              </a:ext>
            </a:extLst>
          </p:cNvPr>
          <p:cNvCxnSpPr>
            <a:cxnSpLocks/>
          </p:cNvCxnSpPr>
          <p:nvPr/>
        </p:nvCxnSpPr>
        <p:spPr>
          <a:xfrm>
            <a:off x="7065407" y="4237517"/>
            <a:ext cx="353714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482B2B-309E-1CA9-ED37-22C7F707B444}"/>
              </a:ext>
            </a:extLst>
          </p:cNvPr>
          <p:cNvCxnSpPr>
            <a:cxnSpLocks/>
          </p:cNvCxnSpPr>
          <p:nvPr/>
        </p:nvCxnSpPr>
        <p:spPr>
          <a:xfrm flipH="1">
            <a:off x="1497821" y="3787134"/>
            <a:ext cx="3066656"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A532C4-DCA6-8CEF-E439-0CAD05FAE5ED}"/>
              </a:ext>
            </a:extLst>
          </p:cNvPr>
          <p:cNvCxnSpPr>
            <a:cxnSpLocks/>
          </p:cNvCxnSpPr>
          <p:nvPr/>
        </p:nvCxnSpPr>
        <p:spPr>
          <a:xfrm flipH="1">
            <a:off x="1548309" y="2646500"/>
            <a:ext cx="1395317"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EA70406E-A987-F8C9-3120-CC930FA63BFB}"/>
              </a:ext>
            </a:extLst>
          </p:cNvPr>
          <p:cNvGrpSpPr>
            <a:grpSpLocks noChangeAspect="1"/>
          </p:cNvGrpSpPr>
          <p:nvPr/>
        </p:nvGrpSpPr>
        <p:grpSpPr>
          <a:xfrm>
            <a:off x="605126" y="3575361"/>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26" name="Free-form: Shape 25">
              <a:extLst>
                <a:ext uri="{FF2B5EF4-FFF2-40B4-BE49-F238E27FC236}">
                  <a16:creationId xmlns:a16="http://schemas.microsoft.com/office/drawing/2014/main" id="{89F6EC44-8282-36BA-8CFD-7B8855C36998}"/>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7" name="Free-form: Shape 26">
              <a:extLst>
                <a:ext uri="{FF2B5EF4-FFF2-40B4-BE49-F238E27FC236}">
                  <a16:creationId xmlns:a16="http://schemas.microsoft.com/office/drawing/2014/main" id="{1E6B3947-A9CC-8062-68C8-10DC42DF76CB}"/>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8" name="Free-form: Shape 27">
              <a:extLst>
                <a:ext uri="{FF2B5EF4-FFF2-40B4-BE49-F238E27FC236}">
                  <a16:creationId xmlns:a16="http://schemas.microsoft.com/office/drawing/2014/main" id="{EDE46E59-56D1-7925-A2F8-2723170846D0}"/>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29" name="Group 28">
            <a:extLst>
              <a:ext uri="{FF2B5EF4-FFF2-40B4-BE49-F238E27FC236}">
                <a16:creationId xmlns:a16="http://schemas.microsoft.com/office/drawing/2014/main" id="{F494A58C-AB6C-1B0B-FEC3-2393BD4E9DEE}"/>
              </a:ext>
            </a:extLst>
          </p:cNvPr>
          <p:cNvGrpSpPr>
            <a:grpSpLocks noChangeAspect="1"/>
          </p:cNvGrpSpPr>
          <p:nvPr/>
        </p:nvGrpSpPr>
        <p:grpSpPr>
          <a:xfrm>
            <a:off x="10896168" y="2757314"/>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30" name="Free-form: Shape 29">
              <a:extLst>
                <a:ext uri="{FF2B5EF4-FFF2-40B4-BE49-F238E27FC236}">
                  <a16:creationId xmlns:a16="http://schemas.microsoft.com/office/drawing/2014/main" id="{3BFE7FB7-41B9-D1A0-1C84-B1028EBAD98B}"/>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1" name="Free-form: Shape 30">
              <a:extLst>
                <a:ext uri="{FF2B5EF4-FFF2-40B4-BE49-F238E27FC236}">
                  <a16:creationId xmlns:a16="http://schemas.microsoft.com/office/drawing/2014/main" id="{FD415795-7597-C11F-5CDA-E1C8C7ED4556}"/>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2" name="Free-form: Shape 31">
              <a:extLst>
                <a:ext uri="{FF2B5EF4-FFF2-40B4-BE49-F238E27FC236}">
                  <a16:creationId xmlns:a16="http://schemas.microsoft.com/office/drawing/2014/main" id="{9A655C6C-E120-E0C4-CD6D-6151B4EB9B8B}"/>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3" name="Group 32">
            <a:extLst>
              <a:ext uri="{FF2B5EF4-FFF2-40B4-BE49-F238E27FC236}">
                <a16:creationId xmlns:a16="http://schemas.microsoft.com/office/drawing/2014/main" id="{B74DB517-D983-723C-B50D-08D03FD8C049}"/>
              </a:ext>
            </a:extLst>
          </p:cNvPr>
          <p:cNvGrpSpPr>
            <a:grpSpLocks noChangeAspect="1"/>
          </p:cNvGrpSpPr>
          <p:nvPr/>
        </p:nvGrpSpPr>
        <p:grpSpPr>
          <a:xfrm>
            <a:off x="10896166" y="3965594"/>
            <a:ext cx="695810" cy="390245"/>
            <a:chOff x="6134932" y="3909433"/>
            <a:chExt cx="838203" cy="470106"/>
          </a:xfrm>
          <a:gradFill>
            <a:gsLst>
              <a:gs pos="81000">
                <a:schemeClr val="accent4"/>
              </a:gs>
              <a:gs pos="100000">
                <a:schemeClr val="accent5"/>
              </a:gs>
              <a:gs pos="14000">
                <a:schemeClr val="accent1"/>
              </a:gs>
            </a:gsLst>
            <a:lin ang="8100000" scaled="1"/>
          </a:gradFill>
        </p:grpSpPr>
        <p:sp>
          <p:nvSpPr>
            <p:cNvPr id="34" name="Free-form: Shape 33">
              <a:extLst>
                <a:ext uri="{FF2B5EF4-FFF2-40B4-BE49-F238E27FC236}">
                  <a16:creationId xmlns:a16="http://schemas.microsoft.com/office/drawing/2014/main" id="{6D9132F3-31B4-46AF-0B86-24294A230F38}"/>
                </a:ext>
              </a:extLst>
            </p:cNvPr>
            <p:cNvSpPr/>
            <p:nvPr/>
          </p:nvSpPr>
          <p:spPr>
            <a:xfrm>
              <a:off x="6303528" y="3909433"/>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5" name="Free-form: Shape 34">
              <a:extLst>
                <a:ext uri="{FF2B5EF4-FFF2-40B4-BE49-F238E27FC236}">
                  <a16:creationId xmlns:a16="http://schemas.microsoft.com/office/drawing/2014/main" id="{13AC896D-111A-0422-199F-DE924115B75E}"/>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6" name="Free-form: Shape 35">
              <a:extLst>
                <a:ext uri="{FF2B5EF4-FFF2-40B4-BE49-F238E27FC236}">
                  <a16:creationId xmlns:a16="http://schemas.microsoft.com/office/drawing/2014/main" id="{42376762-24C5-7EB7-CC4F-D6A680A9FA47}"/>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7" name="Group 36">
            <a:extLst>
              <a:ext uri="{FF2B5EF4-FFF2-40B4-BE49-F238E27FC236}">
                <a16:creationId xmlns:a16="http://schemas.microsoft.com/office/drawing/2014/main" id="{89B41797-9B2B-0377-8B57-5B8DFFAE375F}"/>
              </a:ext>
            </a:extLst>
          </p:cNvPr>
          <p:cNvGrpSpPr>
            <a:grpSpLocks noChangeAspect="1"/>
          </p:cNvGrpSpPr>
          <p:nvPr/>
        </p:nvGrpSpPr>
        <p:grpSpPr>
          <a:xfrm>
            <a:off x="571498" y="2368984"/>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38" name="Free-form: Shape 37">
              <a:extLst>
                <a:ext uri="{FF2B5EF4-FFF2-40B4-BE49-F238E27FC236}">
                  <a16:creationId xmlns:a16="http://schemas.microsoft.com/office/drawing/2014/main" id="{34FD79E7-4F72-7CAB-B12C-CA1FFD42A12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9" name="Free-form: Shape 38">
              <a:extLst>
                <a:ext uri="{FF2B5EF4-FFF2-40B4-BE49-F238E27FC236}">
                  <a16:creationId xmlns:a16="http://schemas.microsoft.com/office/drawing/2014/main" id="{9476D5BB-A875-E238-9107-042930051457}"/>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40" name="Free-form: Shape 39">
              <a:extLst>
                <a:ext uri="{FF2B5EF4-FFF2-40B4-BE49-F238E27FC236}">
                  <a16:creationId xmlns:a16="http://schemas.microsoft.com/office/drawing/2014/main" id="{BFBC7C19-5EFE-131A-79C5-56B63503BF95}"/>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sp>
        <p:nvSpPr>
          <p:cNvPr id="3" name="מלבן 2">
            <a:extLst>
              <a:ext uri="{FF2B5EF4-FFF2-40B4-BE49-F238E27FC236}">
                <a16:creationId xmlns:a16="http://schemas.microsoft.com/office/drawing/2014/main" id="{AF54DC75-8F2F-0B49-C4E0-24BAC1DED7C3}"/>
              </a:ext>
            </a:extLst>
          </p:cNvPr>
          <p:cNvSpPr/>
          <p:nvPr/>
        </p:nvSpPr>
        <p:spPr bwMode="gray">
          <a:xfrm>
            <a:off x="3040428" y="2570363"/>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6" name="מלבן 15">
            <a:extLst>
              <a:ext uri="{FF2B5EF4-FFF2-40B4-BE49-F238E27FC236}">
                <a16:creationId xmlns:a16="http://schemas.microsoft.com/office/drawing/2014/main" id="{03233046-CB26-F0E1-213B-DA25E1AF0BD0}"/>
              </a:ext>
            </a:extLst>
          </p:cNvPr>
          <p:cNvSpPr/>
          <p:nvPr/>
        </p:nvSpPr>
        <p:spPr bwMode="gray">
          <a:xfrm>
            <a:off x="4192314" y="3469546"/>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7" name="מלבן 16">
            <a:extLst>
              <a:ext uri="{FF2B5EF4-FFF2-40B4-BE49-F238E27FC236}">
                <a16:creationId xmlns:a16="http://schemas.microsoft.com/office/drawing/2014/main" id="{52F3B567-0D11-D7DB-6823-7945CBFDA2C2}"/>
              </a:ext>
            </a:extLst>
          </p:cNvPr>
          <p:cNvSpPr/>
          <p:nvPr/>
        </p:nvSpPr>
        <p:spPr bwMode="gray">
          <a:xfrm>
            <a:off x="6521324" y="3857559"/>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9" name="מלבן 18">
            <a:extLst>
              <a:ext uri="{FF2B5EF4-FFF2-40B4-BE49-F238E27FC236}">
                <a16:creationId xmlns:a16="http://schemas.microsoft.com/office/drawing/2014/main" id="{605ABE37-5D54-A796-0906-236F12A83BE4}"/>
              </a:ext>
            </a:extLst>
          </p:cNvPr>
          <p:cNvSpPr/>
          <p:nvPr/>
        </p:nvSpPr>
        <p:spPr bwMode="gray">
          <a:xfrm>
            <a:off x="7773248" y="2972145"/>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441210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BF9296D3-4792-864C-C552-C8E9E739822E}"/>
              </a:ext>
            </a:extLst>
          </p:cNvPr>
          <p:cNvGrpSpPr/>
          <p:nvPr/>
        </p:nvGrpSpPr>
        <p:grpSpPr>
          <a:xfrm>
            <a:off x="2625597" y="1169517"/>
            <a:ext cx="6419088" cy="5178391"/>
            <a:chOff x="2686812" y="1155749"/>
            <a:chExt cx="6419088" cy="5178391"/>
          </a:xfrm>
        </p:grpSpPr>
        <p:pic>
          <p:nvPicPr>
            <p:cNvPr id="42" name="Picture 41">
              <a:extLst>
                <a:ext uri="{FF2B5EF4-FFF2-40B4-BE49-F238E27FC236}">
                  <a16:creationId xmlns:a16="http://schemas.microsoft.com/office/drawing/2014/main" id="{BB651AAD-CA2A-E070-C357-AA2219448540}"/>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43" name="Picture 42">
              <a:extLst>
                <a:ext uri="{FF2B5EF4-FFF2-40B4-BE49-F238E27FC236}">
                  <a16:creationId xmlns:a16="http://schemas.microsoft.com/office/drawing/2014/main" id="{5C5E9F49-73D3-EC1B-D14B-889972D36C00}"/>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829855" y="1409700"/>
              <a:ext cx="6130196" cy="3324225"/>
            </a:xfrm>
            <a:prstGeom prst="rect">
              <a:avLst/>
            </a:prstGeom>
          </p:spPr>
        </p:pic>
      </p:grpSp>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635079" y="330691"/>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100000"/>
              </a:lnSpc>
              <a:spcBef>
                <a:spcPts val="600"/>
              </a:spcBef>
              <a:spcAft>
                <a:spcPts val="0"/>
              </a:spcAft>
              <a:buClrTx/>
              <a:buSzPct val="100000"/>
              <a:buFontTx/>
              <a:buNone/>
              <a:tabLst/>
              <a:defRPr/>
            </a:pPr>
            <a:endParaRPr kumimoji="0" lang="he-IL" sz="2400" b="0" i="0" u="none" strike="noStrike" kern="1200" cap="none" spc="0" normalizeH="0" baseline="0" noProof="0">
              <a:ln>
                <a:noFill/>
              </a:ln>
              <a:solidFill>
                <a:srgbClr val="313131"/>
              </a:solidFill>
              <a:effectLst/>
              <a:uLnTx/>
              <a:uFillTx/>
              <a:latin typeface="Segoe UI" panose="020B0502040204020203" pitchFamily="34" charset="0"/>
              <a:ea typeface="+mj-ea"/>
              <a:cs typeface="Segoe UI" panose="020B0502040204020203" pitchFamily="34" charset="0"/>
            </a:endParaRPr>
          </a:p>
        </p:txBody>
      </p:sp>
      <p:sp>
        <p:nvSpPr>
          <p:cNvPr id="4" name="Oval 3">
            <a:extLst>
              <a:ext uri="{FF2B5EF4-FFF2-40B4-BE49-F238E27FC236}">
                <a16:creationId xmlns:a16="http://schemas.microsoft.com/office/drawing/2014/main" id="{F1C66E4F-884C-EDC5-170C-0D3104F02675}"/>
              </a:ext>
            </a:extLst>
          </p:cNvPr>
          <p:cNvSpPr/>
          <p:nvPr/>
        </p:nvSpPr>
        <p:spPr bwMode="gray">
          <a:xfrm>
            <a:off x="2825545" y="2511630"/>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Oval 4">
            <a:extLst>
              <a:ext uri="{FF2B5EF4-FFF2-40B4-BE49-F238E27FC236}">
                <a16:creationId xmlns:a16="http://schemas.microsoft.com/office/drawing/2014/main" id="{560C8785-1AD9-73FC-296D-178168C335F5}"/>
              </a:ext>
            </a:extLst>
          </p:cNvPr>
          <p:cNvSpPr/>
          <p:nvPr/>
        </p:nvSpPr>
        <p:spPr bwMode="gray">
          <a:xfrm>
            <a:off x="4446396" y="3624214"/>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2CD7BCA5-6E55-B7F0-9D18-DBAB1EBF483D}"/>
              </a:ext>
            </a:extLst>
          </p:cNvPr>
          <p:cNvSpPr/>
          <p:nvPr/>
        </p:nvSpPr>
        <p:spPr bwMode="gray">
          <a:xfrm>
            <a:off x="8425076" y="28393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61B271FD-F79C-0419-9B6D-87E8527E376B}"/>
              </a:ext>
            </a:extLst>
          </p:cNvPr>
          <p:cNvSpPr/>
          <p:nvPr/>
        </p:nvSpPr>
        <p:spPr bwMode="gray">
          <a:xfrm>
            <a:off x="6947326" y="40858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9" name="Straight Connector 8">
            <a:extLst>
              <a:ext uri="{FF2B5EF4-FFF2-40B4-BE49-F238E27FC236}">
                <a16:creationId xmlns:a16="http://schemas.microsoft.com/office/drawing/2014/main" id="{7174F323-7CDE-992D-85B7-07B6D25838BB}"/>
              </a:ext>
            </a:extLst>
          </p:cNvPr>
          <p:cNvCxnSpPr>
            <a:cxnSpLocks/>
          </p:cNvCxnSpPr>
          <p:nvPr/>
        </p:nvCxnSpPr>
        <p:spPr>
          <a:xfrm>
            <a:off x="8543157" y="2991019"/>
            <a:ext cx="205939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E4376E5-040F-3C51-B56B-B96CE5DE0A67}"/>
              </a:ext>
            </a:extLst>
          </p:cNvPr>
          <p:cNvCxnSpPr>
            <a:cxnSpLocks/>
          </p:cNvCxnSpPr>
          <p:nvPr/>
        </p:nvCxnSpPr>
        <p:spPr>
          <a:xfrm>
            <a:off x="7065407" y="4237517"/>
            <a:ext cx="353714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482B2B-309E-1CA9-ED37-22C7F707B444}"/>
              </a:ext>
            </a:extLst>
          </p:cNvPr>
          <p:cNvCxnSpPr>
            <a:cxnSpLocks/>
          </p:cNvCxnSpPr>
          <p:nvPr/>
        </p:nvCxnSpPr>
        <p:spPr>
          <a:xfrm flipH="1">
            <a:off x="1497821" y="3787134"/>
            <a:ext cx="3066656"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A532C4-DCA6-8CEF-E439-0CAD05FAE5ED}"/>
              </a:ext>
            </a:extLst>
          </p:cNvPr>
          <p:cNvCxnSpPr>
            <a:cxnSpLocks/>
          </p:cNvCxnSpPr>
          <p:nvPr/>
        </p:nvCxnSpPr>
        <p:spPr>
          <a:xfrm flipH="1">
            <a:off x="1548309" y="2646500"/>
            <a:ext cx="1395317"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EA70406E-A987-F8C9-3120-CC930FA63BFB}"/>
              </a:ext>
            </a:extLst>
          </p:cNvPr>
          <p:cNvGrpSpPr>
            <a:grpSpLocks noChangeAspect="1"/>
          </p:cNvGrpSpPr>
          <p:nvPr/>
        </p:nvGrpSpPr>
        <p:grpSpPr>
          <a:xfrm>
            <a:off x="605126" y="3575361"/>
            <a:ext cx="695808" cy="390241"/>
            <a:chOff x="6134932" y="3909438"/>
            <a:chExt cx="838200" cy="470101"/>
          </a:xfrm>
          <a:solidFill>
            <a:srgbClr val="43B02A"/>
          </a:solidFill>
        </p:grpSpPr>
        <p:sp>
          <p:nvSpPr>
            <p:cNvPr id="26" name="Free-form: Shape 25">
              <a:extLst>
                <a:ext uri="{FF2B5EF4-FFF2-40B4-BE49-F238E27FC236}">
                  <a16:creationId xmlns:a16="http://schemas.microsoft.com/office/drawing/2014/main" id="{89F6EC44-8282-36BA-8CFD-7B8855C36998}"/>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7" name="Free-form: Shape 26">
              <a:extLst>
                <a:ext uri="{FF2B5EF4-FFF2-40B4-BE49-F238E27FC236}">
                  <a16:creationId xmlns:a16="http://schemas.microsoft.com/office/drawing/2014/main" id="{1E6B3947-A9CC-8062-68C8-10DC42DF76CB}"/>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8" name="Free-form: Shape 27">
              <a:extLst>
                <a:ext uri="{FF2B5EF4-FFF2-40B4-BE49-F238E27FC236}">
                  <a16:creationId xmlns:a16="http://schemas.microsoft.com/office/drawing/2014/main" id="{EDE46E59-56D1-7925-A2F8-2723170846D0}"/>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29" name="Group 28">
            <a:extLst>
              <a:ext uri="{FF2B5EF4-FFF2-40B4-BE49-F238E27FC236}">
                <a16:creationId xmlns:a16="http://schemas.microsoft.com/office/drawing/2014/main" id="{F494A58C-AB6C-1B0B-FEC3-2393BD4E9DEE}"/>
              </a:ext>
            </a:extLst>
          </p:cNvPr>
          <p:cNvGrpSpPr>
            <a:grpSpLocks noChangeAspect="1"/>
          </p:cNvGrpSpPr>
          <p:nvPr/>
        </p:nvGrpSpPr>
        <p:grpSpPr>
          <a:xfrm>
            <a:off x="10896168" y="2757314"/>
            <a:ext cx="695808" cy="390241"/>
            <a:chOff x="6134932" y="3909438"/>
            <a:chExt cx="838200" cy="470101"/>
          </a:xfrm>
          <a:gradFill>
            <a:gsLst>
              <a:gs pos="0">
                <a:srgbClr val="CB5439"/>
              </a:gs>
              <a:gs pos="100000">
                <a:srgbClr val="D82835"/>
              </a:gs>
            </a:gsLst>
            <a:lin ang="8100000" scaled="1"/>
          </a:gradFill>
        </p:grpSpPr>
        <p:sp>
          <p:nvSpPr>
            <p:cNvPr id="30" name="Free-form: Shape 29">
              <a:extLst>
                <a:ext uri="{FF2B5EF4-FFF2-40B4-BE49-F238E27FC236}">
                  <a16:creationId xmlns:a16="http://schemas.microsoft.com/office/drawing/2014/main" id="{3BFE7FB7-41B9-D1A0-1C84-B1028EBAD98B}"/>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1" name="Free-form: Shape 30">
              <a:extLst>
                <a:ext uri="{FF2B5EF4-FFF2-40B4-BE49-F238E27FC236}">
                  <a16:creationId xmlns:a16="http://schemas.microsoft.com/office/drawing/2014/main" id="{FD415795-7597-C11F-5CDA-E1C8C7ED4556}"/>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2" name="Free-form: Shape 31">
              <a:extLst>
                <a:ext uri="{FF2B5EF4-FFF2-40B4-BE49-F238E27FC236}">
                  <a16:creationId xmlns:a16="http://schemas.microsoft.com/office/drawing/2014/main" id="{9A655C6C-E120-E0C4-CD6D-6151B4EB9B8B}"/>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3" name="Group 32">
            <a:extLst>
              <a:ext uri="{FF2B5EF4-FFF2-40B4-BE49-F238E27FC236}">
                <a16:creationId xmlns:a16="http://schemas.microsoft.com/office/drawing/2014/main" id="{B74DB517-D983-723C-B50D-08D03FD8C049}"/>
              </a:ext>
            </a:extLst>
          </p:cNvPr>
          <p:cNvGrpSpPr>
            <a:grpSpLocks noChangeAspect="1"/>
          </p:cNvGrpSpPr>
          <p:nvPr/>
        </p:nvGrpSpPr>
        <p:grpSpPr>
          <a:xfrm>
            <a:off x="10896166" y="3965594"/>
            <a:ext cx="695810" cy="390245"/>
            <a:chOff x="6134932" y="3909433"/>
            <a:chExt cx="838203" cy="470106"/>
          </a:xfrm>
          <a:solidFill>
            <a:srgbClr val="FFCD00"/>
          </a:solidFill>
        </p:grpSpPr>
        <p:sp>
          <p:nvSpPr>
            <p:cNvPr id="34" name="Free-form: Shape 33">
              <a:extLst>
                <a:ext uri="{FF2B5EF4-FFF2-40B4-BE49-F238E27FC236}">
                  <a16:creationId xmlns:a16="http://schemas.microsoft.com/office/drawing/2014/main" id="{6D9132F3-31B4-46AF-0B86-24294A230F38}"/>
                </a:ext>
              </a:extLst>
            </p:cNvPr>
            <p:cNvSpPr/>
            <p:nvPr/>
          </p:nvSpPr>
          <p:spPr>
            <a:xfrm>
              <a:off x="6303528" y="3909433"/>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5" name="Free-form: Shape 34">
              <a:extLst>
                <a:ext uri="{FF2B5EF4-FFF2-40B4-BE49-F238E27FC236}">
                  <a16:creationId xmlns:a16="http://schemas.microsoft.com/office/drawing/2014/main" id="{13AC896D-111A-0422-199F-DE924115B75E}"/>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6" name="Free-form: Shape 35">
              <a:extLst>
                <a:ext uri="{FF2B5EF4-FFF2-40B4-BE49-F238E27FC236}">
                  <a16:creationId xmlns:a16="http://schemas.microsoft.com/office/drawing/2014/main" id="{42376762-24C5-7EB7-CC4F-D6A680A9FA47}"/>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7" name="Group 36">
            <a:extLst>
              <a:ext uri="{FF2B5EF4-FFF2-40B4-BE49-F238E27FC236}">
                <a16:creationId xmlns:a16="http://schemas.microsoft.com/office/drawing/2014/main" id="{89B41797-9B2B-0377-8B57-5B8DFFAE375F}"/>
              </a:ext>
            </a:extLst>
          </p:cNvPr>
          <p:cNvGrpSpPr>
            <a:grpSpLocks noChangeAspect="1"/>
          </p:cNvGrpSpPr>
          <p:nvPr/>
        </p:nvGrpSpPr>
        <p:grpSpPr>
          <a:xfrm>
            <a:off x="571498" y="2368984"/>
            <a:ext cx="695808" cy="390241"/>
            <a:chOff x="6134932" y="3909438"/>
            <a:chExt cx="838200" cy="470101"/>
          </a:xfrm>
          <a:solidFill>
            <a:srgbClr val="C00000"/>
          </a:solidFill>
        </p:grpSpPr>
        <p:sp>
          <p:nvSpPr>
            <p:cNvPr id="38" name="Free-form: Shape 37">
              <a:extLst>
                <a:ext uri="{FF2B5EF4-FFF2-40B4-BE49-F238E27FC236}">
                  <a16:creationId xmlns:a16="http://schemas.microsoft.com/office/drawing/2014/main" id="{34FD79E7-4F72-7CAB-B12C-CA1FFD42A12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9" name="Free-form: Shape 38">
              <a:extLst>
                <a:ext uri="{FF2B5EF4-FFF2-40B4-BE49-F238E27FC236}">
                  <a16:creationId xmlns:a16="http://schemas.microsoft.com/office/drawing/2014/main" id="{9476D5BB-A875-E238-9107-042930051457}"/>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40" name="Free-form: Shape 39">
              <a:extLst>
                <a:ext uri="{FF2B5EF4-FFF2-40B4-BE49-F238E27FC236}">
                  <a16:creationId xmlns:a16="http://schemas.microsoft.com/office/drawing/2014/main" id="{BFBC7C19-5EFE-131A-79C5-56B63503BF95}"/>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sp>
        <p:nvSpPr>
          <p:cNvPr id="3" name="מלבן 2">
            <a:extLst>
              <a:ext uri="{FF2B5EF4-FFF2-40B4-BE49-F238E27FC236}">
                <a16:creationId xmlns:a16="http://schemas.microsoft.com/office/drawing/2014/main" id="{AF54DC75-8F2F-0B49-C4E0-24BAC1DED7C3}"/>
              </a:ext>
            </a:extLst>
          </p:cNvPr>
          <p:cNvSpPr/>
          <p:nvPr/>
        </p:nvSpPr>
        <p:spPr bwMode="gray">
          <a:xfrm>
            <a:off x="3040428" y="2570363"/>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6" name="מלבן 15">
            <a:extLst>
              <a:ext uri="{FF2B5EF4-FFF2-40B4-BE49-F238E27FC236}">
                <a16:creationId xmlns:a16="http://schemas.microsoft.com/office/drawing/2014/main" id="{03233046-CB26-F0E1-213B-DA25E1AF0BD0}"/>
              </a:ext>
            </a:extLst>
          </p:cNvPr>
          <p:cNvSpPr/>
          <p:nvPr/>
        </p:nvSpPr>
        <p:spPr bwMode="gray">
          <a:xfrm>
            <a:off x="4192314" y="3469546"/>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7" name="מלבן 16">
            <a:extLst>
              <a:ext uri="{FF2B5EF4-FFF2-40B4-BE49-F238E27FC236}">
                <a16:creationId xmlns:a16="http://schemas.microsoft.com/office/drawing/2014/main" id="{52F3B567-0D11-D7DB-6823-7945CBFDA2C2}"/>
              </a:ext>
            </a:extLst>
          </p:cNvPr>
          <p:cNvSpPr/>
          <p:nvPr/>
        </p:nvSpPr>
        <p:spPr bwMode="gray">
          <a:xfrm>
            <a:off x="6521324" y="3857559"/>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9" name="מלבן 18">
            <a:extLst>
              <a:ext uri="{FF2B5EF4-FFF2-40B4-BE49-F238E27FC236}">
                <a16:creationId xmlns:a16="http://schemas.microsoft.com/office/drawing/2014/main" id="{605ABE37-5D54-A796-0906-236F12A83BE4}"/>
              </a:ext>
            </a:extLst>
          </p:cNvPr>
          <p:cNvSpPr/>
          <p:nvPr/>
        </p:nvSpPr>
        <p:spPr bwMode="gray">
          <a:xfrm>
            <a:off x="7773248" y="2972145"/>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 name="כותרת 1">
            <a:extLst>
              <a:ext uri="{FF2B5EF4-FFF2-40B4-BE49-F238E27FC236}">
                <a16:creationId xmlns:a16="http://schemas.microsoft.com/office/drawing/2014/main" id="{5235AC62-8989-CC41-22A7-3D861612D2DC}"/>
              </a:ext>
            </a:extLst>
          </p:cNvPr>
          <p:cNvSpPr txBox="1">
            <a:spLocks/>
          </p:cNvSpPr>
          <p:nvPr/>
        </p:nvSpPr>
        <p:spPr>
          <a:xfrm flipH="1">
            <a:off x="787025" y="2837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dirty="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הנגשת פרטי מידע שנאספים ע"י </a:t>
            </a:r>
            <a:r>
              <a:rPr kumimoji="0" lang="he-IL" sz="2800" b="0" i="0" u="none" strike="noStrike" kern="1200" cap="none" spc="-75" normalizeH="0" baseline="0" noProof="0" dirty="0" err="1">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המינהל</a:t>
            </a:r>
            <a:r>
              <a:rPr kumimoji="0" lang="he-IL" sz="2800" b="0" i="0" u="none" strike="noStrike" kern="1200" cap="none" spc="-75" normalizeH="0" baseline="0" noProof="0" dirty="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 באופן של מדדים עסקיים אינדוקטיביים, המאפשרים לאבחן את מצב הישות הנמדדת</a:t>
            </a:r>
          </a:p>
        </p:txBody>
      </p:sp>
    </p:spTree>
    <p:extLst>
      <p:ext uri="{BB962C8B-B14F-4D97-AF65-F5344CB8AC3E}">
        <p14:creationId xmlns:p14="http://schemas.microsoft.com/office/powerpoint/2010/main" val="1762530578"/>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err="1">
                <a:ln>
                  <a:noFill/>
                </a:ln>
                <a:solidFill>
                  <a:srgbClr val="000000"/>
                </a:solidFill>
                <a:effectLst/>
                <a:uLnTx/>
                <a:uFillTx/>
                <a:latin typeface="Segoe UI" panose="020B0502040204020203" pitchFamily="34" charset="0"/>
                <a:ea typeface="Bebas Neue" charset="0"/>
                <a:cs typeface="Segoe UI" panose="020B0502040204020203" pitchFamily="34" charset="0"/>
              </a:rPr>
              <a:t>שילוביות</a:t>
            </a: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 ושותפות במקורות הנתונים וביצירת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endParaRPr>
          </a:p>
        </p:txBody>
      </p:sp>
      <p:sp>
        <p:nvSpPr>
          <p:cNvPr id="6" name="Oval 5">
            <a:extLst>
              <a:ext uri="{FF2B5EF4-FFF2-40B4-BE49-F238E27FC236}">
                <a16:creationId xmlns:a16="http://schemas.microsoft.com/office/drawing/2014/main" id="{F65061AB-2FC8-F839-0F8D-775C3DE1FBEA}"/>
              </a:ext>
            </a:extLst>
          </p:cNvPr>
          <p:cNvSpPr/>
          <p:nvPr/>
        </p:nvSpPr>
        <p:spPr bwMode="gray">
          <a:xfrm>
            <a:off x="236214" y="711167"/>
            <a:ext cx="5400000" cy="5400000"/>
          </a:xfrm>
          <a:prstGeom prst="ellipse">
            <a:avLst/>
          </a:prstGeom>
          <a:solidFill>
            <a:schemeClr val="accent4">
              <a:lumMod val="40000"/>
              <a:lumOff val="60000"/>
            </a:schemeClr>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C4B7337A-AE62-88D4-05BF-983A98F5292B}"/>
              </a:ext>
            </a:extLst>
          </p:cNvPr>
          <p:cNvSpPr/>
          <p:nvPr/>
        </p:nvSpPr>
        <p:spPr bwMode="gray">
          <a:xfrm>
            <a:off x="1124170" y="1599123"/>
            <a:ext cx="3600000" cy="3600000"/>
          </a:xfrm>
          <a:prstGeom prst="ellipse">
            <a:avLst/>
          </a:prstGeom>
          <a:solidFill>
            <a:schemeClr val="accent4">
              <a:lumMod val="60000"/>
              <a:lumOff val="40000"/>
            </a:schemeClr>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58F1C3B3-6F1A-78F5-EA54-F416E024C770}"/>
              </a:ext>
            </a:extLst>
          </p:cNvPr>
          <p:cNvSpPr/>
          <p:nvPr/>
        </p:nvSpPr>
        <p:spPr bwMode="gray">
          <a:xfrm>
            <a:off x="2039205" y="2511167"/>
            <a:ext cx="1800000" cy="180000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16" name="Rectangle 15">
            <a:extLst>
              <a:ext uri="{FF2B5EF4-FFF2-40B4-BE49-F238E27FC236}">
                <a16:creationId xmlns:a16="http://schemas.microsoft.com/office/drawing/2014/main" id="{EB648317-9931-B5A1-342E-A126C42B918A}"/>
              </a:ext>
            </a:extLst>
          </p:cNvPr>
          <p:cNvSpPr/>
          <p:nvPr/>
        </p:nvSpPr>
        <p:spPr>
          <a:xfrm>
            <a:off x="6745684" y="965134"/>
            <a:ext cx="5210102" cy="369332"/>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נתונים פנימיים של המשרד </a:t>
            </a:r>
            <a:r>
              <a:rPr kumimoji="0" lang="he-IL" sz="1800" b="1" i="0" u="none" strike="noStrike" kern="1200" cap="none" spc="0" normalizeH="0" baseline="0" noProof="0" err="1">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והמינהל</a:t>
            </a:r>
            <a:endParaRPr kumimoji="0" lang="he-IL" sz="1800" b="1" i="0" u="none" strike="noStrike" kern="1200" cap="none" spc="0" normalizeH="0" baseline="0" noProof="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17" name="Rectangle 2">
            <a:extLst>
              <a:ext uri="{FF2B5EF4-FFF2-40B4-BE49-F238E27FC236}">
                <a16:creationId xmlns:a16="http://schemas.microsoft.com/office/drawing/2014/main" id="{6273B2B6-1111-5E51-7214-4AD54A5218DD}"/>
              </a:ext>
            </a:extLst>
          </p:cNvPr>
          <p:cNvSpPr>
            <a:spLocks noChangeArrowheads="1"/>
          </p:cNvSpPr>
          <p:nvPr/>
        </p:nvSpPr>
        <p:spPr bwMode="auto">
          <a:xfrm>
            <a:off x="7026933" y="1334466"/>
            <a:ext cx="4840453" cy="135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נתוני יסוד</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מערכת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מס"ר</a:t>
            </a:r>
            <a:endPar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BI</a:t>
            </a: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 תקצוב</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מערכת נתיב</a:t>
            </a:r>
          </a:p>
        </p:txBody>
      </p:sp>
      <p:sp>
        <p:nvSpPr>
          <p:cNvPr id="18" name="Rectangle 17">
            <a:extLst>
              <a:ext uri="{FF2B5EF4-FFF2-40B4-BE49-F238E27FC236}">
                <a16:creationId xmlns:a16="http://schemas.microsoft.com/office/drawing/2014/main" id="{7E846274-22E7-912A-3864-7DCDCC6C5C80}"/>
              </a:ext>
            </a:extLst>
          </p:cNvPr>
          <p:cNvSpPr/>
          <p:nvPr/>
        </p:nvSpPr>
        <p:spPr>
          <a:xfrm>
            <a:off x="6657284" y="2716062"/>
            <a:ext cx="5210102" cy="369332"/>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נתוני שותפים</a:t>
            </a:r>
            <a:endParaRPr kumimoji="0" lang="he-IL" sz="1800" b="1" i="0" u="none" strike="noStrike" kern="1200" cap="none" spc="0" normalizeH="0" baseline="0" noProof="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19" name="Rectangle 2">
            <a:extLst>
              <a:ext uri="{FF2B5EF4-FFF2-40B4-BE49-F238E27FC236}">
                <a16:creationId xmlns:a16="http://schemas.microsoft.com/office/drawing/2014/main" id="{1C6671AD-A83F-2E54-D1E9-9CD7177E29B6}"/>
              </a:ext>
            </a:extLst>
          </p:cNvPr>
          <p:cNvSpPr>
            <a:spLocks noChangeArrowheads="1"/>
          </p:cNvSpPr>
          <p:nvPr/>
        </p:nvSpPr>
        <p:spPr bwMode="auto">
          <a:xfrm>
            <a:off x="7053974" y="3037848"/>
            <a:ext cx="4840453" cy="1991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כספת נצורה – ביטוח לאומי</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נתונים חברתיים-כלכליים ברמת רשות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וא"ס</a:t>
            </a: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 –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למ"ס</a:t>
            </a:r>
            <a:endPar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נתונים דמוגרפיים – רשות האוכלוסין</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שנתון סטטיסטי בני 65+ –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ברוקדייל</a:t>
            </a:r>
            <a:endPar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המועצה הלאומית לכלכלה</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הרשות לניצולי שואה</a:t>
            </a:r>
          </a:p>
        </p:txBody>
      </p:sp>
      <p:sp>
        <p:nvSpPr>
          <p:cNvPr id="20" name="Rectangle 19">
            <a:extLst>
              <a:ext uri="{FF2B5EF4-FFF2-40B4-BE49-F238E27FC236}">
                <a16:creationId xmlns:a16="http://schemas.microsoft.com/office/drawing/2014/main" id="{EF877B1A-5AD1-74F6-D4A5-250BD4266F76}"/>
              </a:ext>
            </a:extLst>
          </p:cNvPr>
          <p:cNvSpPr/>
          <p:nvPr/>
        </p:nvSpPr>
        <p:spPr>
          <a:xfrm>
            <a:off x="6475106" y="4804304"/>
            <a:ext cx="5210102"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מעטפת להגדרת מדדים</a:t>
            </a:r>
            <a:endParaRPr kumimoji="0" lang="he-IL" sz="1800" b="1" i="0" u="none" strike="noStrike" kern="1200" cap="none" spc="0" normalizeH="0" baseline="0" noProof="0" dirty="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21" name="Rectangle 2">
            <a:extLst>
              <a:ext uri="{FF2B5EF4-FFF2-40B4-BE49-F238E27FC236}">
                <a16:creationId xmlns:a16="http://schemas.microsoft.com/office/drawing/2014/main" id="{F3039BEA-0612-93C5-FFA7-EC5C8D16D3E4}"/>
              </a:ext>
            </a:extLst>
          </p:cNvPr>
          <p:cNvSpPr>
            <a:spLocks noChangeArrowheads="1"/>
          </p:cNvSpPr>
          <p:nvPr/>
        </p:nvSpPr>
        <p:spPr bwMode="auto">
          <a:xfrm>
            <a:off x="6925437" y="5329174"/>
            <a:ext cx="4840453" cy="704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מדדי הזדקנות מיטבית – משרד רוה"מ, ג'וינט</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מדדי סיכון, שייכות ותפקוד – משרד הרווחה,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למ"ס</a:t>
            </a: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 ואקדמיה</a:t>
            </a:r>
          </a:p>
        </p:txBody>
      </p:sp>
      <p:cxnSp>
        <p:nvCxnSpPr>
          <p:cNvPr id="22" name="Straight Connector 21">
            <a:extLst>
              <a:ext uri="{FF2B5EF4-FFF2-40B4-BE49-F238E27FC236}">
                <a16:creationId xmlns:a16="http://schemas.microsoft.com/office/drawing/2014/main" id="{055AD5E7-0815-DA4B-F76E-7FCFE8E132F2}"/>
              </a:ext>
            </a:extLst>
          </p:cNvPr>
          <p:cNvCxnSpPr>
            <a:cxnSpLocks/>
          </p:cNvCxnSpPr>
          <p:nvPr/>
        </p:nvCxnSpPr>
        <p:spPr>
          <a:xfrm flipV="1">
            <a:off x="4406900" y="1377133"/>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6030E34-74A6-05AF-F00E-E86B51C728C4}"/>
              </a:ext>
            </a:extLst>
          </p:cNvPr>
          <p:cNvCxnSpPr>
            <a:cxnSpLocks/>
          </p:cNvCxnSpPr>
          <p:nvPr/>
        </p:nvCxnSpPr>
        <p:spPr>
          <a:xfrm flipV="1">
            <a:off x="2992866" y="1377133"/>
            <a:ext cx="1413774" cy="185269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230303DB-158B-D46B-3B2E-8BFB0566286F}"/>
              </a:ext>
            </a:extLst>
          </p:cNvPr>
          <p:cNvSpPr/>
          <p:nvPr/>
        </p:nvSpPr>
        <p:spPr bwMode="gray">
          <a:xfrm>
            <a:off x="2919836" y="3211993"/>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27" name="Straight Connector 26">
            <a:extLst>
              <a:ext uri="{FF2B5EF4-FFF2-40B4-BE49-F238E27FC236}">
                <a16:creationId xmlns:a16="http://schemas.microsoft.com/office/drawing/2014/main" id="{529622CB-87C7-3663-8B6D-010EE55CCD18}"/>
              </a:ext>
            </a:extLst>
          </p:cNvPr>
          <p:cNvCxnSpPr>
            <a:cxnSpLocks/>
          </p:cNvCxnSpPr>
          <p:nvPr/>
        </p:nvCxnSpPr>
        <p:spPr>
          <a:xfrm flipV="1">
            <a:off x="4439998" y="3107221"/>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F9F3B4B4-E3D4-8ACF-0FF3-790B1CDCEFAD}"/>
              </a:ext>
            </a:extLst>
          </p:cNvPr>
          <p:cNvSpPr/>
          <p:nvPr/>
        </p:nvSpPr>
        <p:spPr bwMode="gray">
          <a:xfrm>
            <a:off x="4330802" y="3045439"/>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29" name="Straight Connector 28">
            <a:extLst>
              <a:ext uri="{FF2B5EF4-FFF2-40B4-BE49-F238E27FC236}">
                <a16:creationId xmlns:a16="http://schemas.microsoft.com/office/drawing/2014/main" id="{F6E6FE18-A29B-0F8B-48DB-A36E0C7BAA56}"/>
              </a:ext>
            </a:extLst>
          </p:cNvPr>
          <p:cNvCxnSpPr>
            <a:cxnSpLocks/>
          </p:cNvCxnSpPr>
          <p:nvPr/>
        </p:nvCxnSpPr>
        <p:spPr>
          <a:xfrm flipV="1">
            <a:off x="4392584" y="5063077"/>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C4A671DE-7352-98BB-FD3C-F2A08577CF5C}"/>
              </a:ext>
            </a:extLst>
          </p:cNvPr>
          <p:cNvSpPr/>
          <p:nvPr/>
        </p:nvSpPr>
        <p:spPr bwMode="gray">
          <a:xfrm>
            <a:off x="4316434" y="4997921"/>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884509277"/>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83E2A1B2-8B41-460E-873D-AF30A573CBA8}"/>
              </a:ext>
            </a:extLst>
          </p:cNvPr>
          <p:cNvSpPr/>
          <p:nvPr/>
        </p:nvSpPr>
        <p:spPr>
          <a:xfrm>
            <a:off x="0" y="0"/>
            <a:ext cx="469392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Rectangle 1">
            <a:extLst>
              <a:ext uri="{FF2B5EF4-FFF2-40B4-BE49-F238E27FC236}">
                <a16:creationId xmlns:a16="http://schemas.microsoft.com/office/drawing/2014/main" id="{E2250C32-98A7-4EAA-8F45-22B5C541C4E4}"/>
              </a:ext>
            </a:extLst>
          </p:cNvPr>
          <p:cNvSpPr/>
          <p:nvPr/>
        </p:nvSpPr>
        <p:spPr>
          <a:xfrm>
            <a:off x="5757966" y="823695"/>
            <a:ext cx="5960961" cy="890115"/>
          </a:xfrm>
          <a:prstGeom prst="rect">
            <a:avLst/>
          </a:prstGeom>
        </p:spPr>
        <p:txBody>
          <a:bodyPr wrap="square">
            <a:spAutoFit/>
          </a:body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Gap Analyzer</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מערכת לניהול מדדים ופערים לאורך שלבי תאוריית השינוי</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 name="Group 2">
            <a:extLst>
              <a:ext uri="{FF2B5EF4-FFF2-40B4-BE49-F238E27FC236}">
                <a16:creationId xmlns:a16="http://schemas.microsoft.com/office/drawing/2014/main" id="{0DDD68A1-56D1-41CE-A894-501B0CB9164B}"/>
              </a:ext>
            </a:extLst>
          </p:cNvPr>
          <p:cNvGrpSpPr>
            <a:grpSpLocks noChangeAspect="1"/>
          </p:cNvGrpSpPr>
          <p:nvPr/>
        </p:nvGrpSpPr>
        <p:grpSpPr>
          <a:xfrm>
            <a:off x="3163882" y="5337955"/>
            <a:ext cx="378160" cy="619682"/>
            <a:chOff x="8146508" y="3656719"/>
            <a:chExt cx="482495" cy="790654"/>
          </a:xfrm>
          <a:gradFill>
            <a:gsLst>
              <a:gs pos="22000">
                <a:schemeClr val="accent1"/>
              </a:gs>
              <a:gs pos="75000">
                <a:schemeClr val="accent4"/>
              </a:gs>
              <a:gs pos="100000">
                <a:schemeClr val="accent5"/>
              </a:gs>
            </a:gsLst>
            <a:lin ang="8100000" scaled="0"/>
          </a:gradFill>
        </p:grpSpPr>
        <p:sp>
          <p:nvSpPr>
            <p:cNvPr id="4" name="Free-form: Shape 63">
              <a:extLst>
                <a:ext uri="{FF2B5EF4-FFF2-40B4-BE49-F238E27FC236}">
                  <a16:creationId xmlns:a16="http://schemas.microsoft.com/office/drawing/2014/main" id="{6A76DA1B-C632-4A53-82F4-DB9FFC6F967B}"/>
                </a:ext>
              </a:extLst>
            </p:cNvPr>
            <p:cNvSpPr/>
            <p:nvPr/>
          </p:nvSpPr>
          <p:spPr>
            <a:xfrm>
              <a:off x="8181331" y="3656719"/>
              <a:ext cx="257201" cy="235507"/>
            </a:xfrm>
            <a:custGeom>
              <a:avLst/>
              <a:gdLst>
                <a:gd name="connsiteX0" fmla="*/ 57147 w 257201"/>
                <a:gd name="connsiteY0" fmla="*/ 235508 h 235507"/>
                <a:gd name="connsiteX1" fmla="*/ 57147 w 257201"/>
                <a:gd name="connsiteY1" fmla="*/ 183997 h 235507"/>
                <a:gd name="connsiteX2" fmla="*/ 73030 w 257201"/>
                <a:gd name="connsiteY2" fmla="*/ 57018 h 235507"/>
                <a:gd name="connsiteX3" fmla="*/ 200010 w 257201"/>
                <a:gd name="connsiteY3" fmla="*/ 72901 h 235507"/>
                <a:gd name="connsiteX4" fmla="*/ 200479 w 257201"/>
                <a:gd name="connsiteY4" fmla="*/ 183387 h 235507"/>
                <a:gd name="connsiteX5" fmla="*/ 200479 w 257201"/>
                <a:gd name="connsiteY5" fmla="*/ 235222 h 235507"/>
                <a:gd name="connsiteX6" fmla="*/ 235222 w 257201"/>
                <a:gd name="connsiteY6" fmla="*/ 56722 h 235507"/>
                <a:gd name="connsiteX7" fmla="*/ 56721 w 257201"/>
                <a:gd name="connsiteY7" fmla="*/ 21979 h 235507"/>
                <a:gd name="connsiteX8" fmla="*/ 21979 w 257201"/>
                <a:gd name="connsiteY8" fmla="*/ 200480 h 235507"/>
                <a:gd name="connsiteX9" fmla="*/ 57147 w 257201"/>
                <a:gd name="connsiteY9" fmla="*/ 235508 h 2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01" h="235507">
                  <a:moveTo>
                    <a:pt x="57147" y="235508"/>
                  </a:moveTo>
                  <a:lnTo>
                    <a:pt x="57147" y="183997"/>
                  </a:lnTo>
                  <a:cubicBezTo>
                    <a:pt x="26469" y="144546"/>
                    <a:pt x="33580" y="87696"/>
                    <a:pt x="73030" y="57018"/>
                  </a:cubicBezTo>
                  <a:cubicBezTo>
                    <a:pt x="112481" y="26339"/>
                    <a:pt x="169331" y="33450"/>
                    <a:pt x="200010" y="72901"/>
                  </a:cubicBezTo>
                  <a:cubicBezTo>
                    <a:pt x="225242" y="105348"/>
                    <a:pt x="225435" y="150726"/>
                    <a:pt x="200479" y="183387"/>
                  </a:cubicBezTo>
                  <a:lnTo>
                    <a:pt x="200479" y="235222"/>
                  </a:lnTo>
                  <a:cubicBezTo>
                    <a:pt x="259365" y="195525"/>
                    <a:pt x="274920" y="115607"/>
                    <a:pt x="235222" y="56722"/>
                  </a:cubicBezTo>
                  <a:cubicBezTo>
                    <a:pt x="195524" y="-2164"/>
                    <a:pt x="115607" y="-17719"/>
                    <a:pt x="56721" y="21979"/>
                  </a:cubicBezTo>
                  <a:cubicBezTo>
                    <a:pt x="-2164" y="61677"/>
                    <a:pt x="-17718" y="141594"/>
                    <a:pt x="21979" y="200480"/>
                  </a:cubicBezTo>
                  <a:cubicBezTo>
                    <a:pt x="31315" y="214329"/>
                    <a:pt x="43261" y="226227"/>
                    <a:pt x="57147" y="2355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 name="Free-form: Shape 64">
              <a:extLst>
                <a:ext uri="{FF2B5EF4-FFF2-40B4-BE49-F238E27FC236}">
                  <a16:creationId xmlns:a16="http://schemas.microsoft.com/office/drawing/2014/main" id="{227A031A-FE87-41FB-8A16-649F073B6FCA}"/>
                </a:ext>
              </a:extLst>
            </p:cNvPr>
            <p:cNvSpPr/>
            <p:nvPr/>
          </p:nvSpPr>
          <p:spPr>
            <a:xfrm>
              <a:off x="8146508" y="3742523"/>
              <a:ext cx="482495" cy="704850"/>
            </a:xfrm>
            <a:custGeom>
              <a:avLst/>
              <a:gdLst>
                <a:gd name="connsiteX0" fmla="*/ 120545 w 482495"/>
                <a:gd name="connsiteY0" fmla="*/ 43091 h 704850"/>
                <a:gd name="connsiteX1" fmla="*/ 120545 w 482495"/>
                <a:gd name="connsiteY1" fmla="*/ 449723 h 704850"/>
                <a:gd name="connsiteX2" fmla="*/ 120440 w 482495"/>
                <a:gd name="connsiteY2" fmla="*/ 449723 h 704850"/>
                <a:gd name="connsiteX3" fmla="*/ 85045 w 482495"/>
                <a:gd name="connsiteY3" fmla="*/ 290513 h 704850"/>
                <a:gd name="connsiteX4" fmla="*/ 33232 w 482495"/>
                <a:gd name="connsiteY4" fmla="*/ 258433 h 704850"/>
                <a:gd name="connsiteX5" fmla="*/ 921 w 482495"/>
                <a:gd name="connsiteY5" fmla="*/ 309201 h 704850"/>
                <a:gd name="connsiteX6" fmla="*/ 52632 w 482495"/>
                <a:gd name="connsiteY6" fmla="*/ 541839 h 704850"/>
                <a:gd name="connsiteX7" fmla="*/ 68424 w 482495"/>
                <a:gd name="connsiteY7" fmla="*/ 566604 h 704850"/>
                <a:gd name="connsiteX8" fmla="*/ 163674 w 482495"/>
                <a:gd name="connsiteY8" fmla="*/ 639851 h 704850"/>
                <a:gd name="connsiteX9" fmla="*/ 163674 w 482495"/>
                <a:gd name="connsiteY9" fmla="*/ 704850 h 704850"/>
                <a:gd name="connsiteX10" fmla="*/ 413553 w 482495"/>
                <a:gd name="connsiteY10" fmla="*/ 704850 h 704850"/>
                <a:gd name="connsiteX11" fmla="*/ 413553 w 482495"/>
                <a:gd name="connsiteY11" fmla="*/ 661759 h 704850"/>
                <a:gd name="connsiteX12" fmla="*/ 482495 w 482495"/>
                <a:gd name="connsiteY12" fmla="*/ 480784 h 704850"/>
                <a:gd name="connsiteX13" fmla="*/ 482495 w 482495"/>
                <a:gd name="connsiteY13" fmla="*/ 325660 h 704850"/>
                <a:gd name="connsiteX14" fmla="*/ 430903 w 482495"/>
                <a:gd name="connsiteY14" fmla="*/ 273963 h 704850"/>
                <a:gd name="connsiteX15" fmla="*/ 396075 w 482495"/>
                <a:gd name="connsiteY15" fmla="*/ 287426 h 704850"/>
                <a:gd name="connsiteX16" fmla="*/ 396313 w 482495"/>
                <a:gd name="connsiteY16" fmla="*/ 282578 h 704850"/>
                <a:gd name="connsiteX17" fmla="*/ 344672 w 482495"/>
                <a:gd name="connsiteY17" fmla="*/ 230873 h 704850"/>
                <a:gd name="connsiteX18" fmla="*/ 308826 w 482495"/>
                <a:gd name="connsiteY18" fmla="*/ 245297 h 704850"/>
                <a:gd name="connsiteX19" fmla="*/ 247037 w 482495"/>
                <a:gd name="connsiteY19" fmla="*/ 206254 h 704850"/>
                <a:gd name="connsiteX20" fmla="*/ 206727 w 482495"/>
                <a:gd name="connsiteY20" fmla="*/ 256727 h 704850"/>
                <a:gd name="connsiteX21" fmla="*/ 206727 w 482495"/>
                <a:gd name="connsiteY21" fmla="*/ 43091 h 704850"/>
                <a:gd name="connsiteX22" fmla="*/ 163636 w 482495"/>
                <a:gd name="connsiteY22" fmla="*/ 0 h 704850"/>
                <a:gd name="connsiteX23" fmla="*/ 120545 w 482495"/>
                <a:gd name="connsiteY23" fmla="*/ 43091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495" h="704850">
                  <a:moveTo>
                    <a:pt x="120545" y="43091"/>
                  </a:moveTo>
                  <a:lnTo>
                    <a:pt x="120545" y="449723"/>
                  </a:lnTo>
                  <a:lnTo>
                    <a:pt x="120440" y="449723"/>
                  </a:lnTo>
                  <a:lnTo>
                    <a:pt x="85045" y="290513"/>
                  </a:lnTo>
                  <a:cubicBezTo>
                    <a:pt x="79596" y="267346"/>
                    <a:pt x="56399" y="252984"/>
                    <a:pt x="33232" y="258433"/>
                  </a:cubicBezTo>
                  <a:cubicBezTo>
                    <a:pt x="10472" y="263786"/>
                    <a:pt x="-3866" y="286314"/>
                    <a:pt x="921" y="309201"/>
                  </a:cubicBezTo>
                  <a:lnTo>
                    <a:pt x="52632" y="541839"/>
                  </a:lnTo>
                  <a:cubicBezTo>
                    <a:pt x="54831" y="551690"/>
                    <a:pt x="60420" y="560455"/>
                    <a:pt x="68424" y="566604"/>
                  </a:cubicBezTo>
                  <a:lnTo>
                    <a:pt x="163674" y="639851"/>
                  </a:lnTo>
                  <a:lnTo>
                    <a:pt x="163674" y="704850"/>
                  </a:lnTo>
                  <a:lnTo>
                    <a:pt x="413553" y="704850"/>
                  </a:lnTo>
                  <a:lnTo>
                    <a:pt x="413553" y="661759"/>
                  </a:lnTo>
                  <a:cubicBezTo>
                    <a:pt x="413553" y="600713"/>
                    <a:pt x="482495" y="596036"/>
                    <a:pt x="482495" y="480784"/>
                  </a:cubicBezTo>
                  <a:lnTo>
                    <a:pt x="482495" y="325660"/>
                  </a:lnTo>
                  <a:cubicBezTo>
                    <a:pt x="482524" y="297137"/>
                    <a:pt x="459426" y="273991"/>
                    <a:pt x="430903" y="273963"/>
                  </a:cubicBezTo>
                  <a:cubicBezTo>
                    <a:pt x="418020" y="273950"/>
                    <a:pt x="405599" y="278752"/>
                    <a:pt x="396075" y="287426"/>
                  </a:cubicBezTo>
                  <a:cubicBezTo>
                    <a:pt x="396218" y="285826"/>
                    <a:pt x="396313" y="284216"/>
                    <a:pt x="396313" y="282578"/>
                  </a:cubicBezTo>
                  <a:cubicBezTo>
                    <a:pt x="396331" y="254040"/>
                    <a:pt x="373210" y="230891"/>
                    <a:pt x="344672" y="230873"/>
                  </a:cubicBezTo>
                  <a:cubicBezTo>
                    <a:pt x="331308" y="230865"/>
                    <a:pt x="318459" y="236034"/>
                    <a:pt x="308826" y="245297"/>
                  </a:cubicBezTo>
                  <a:cubicBezTo>
                    <a:pt x="302545" y="217454"/>
                    <a:pt x="274882" y="199974"/>
                    <a:pt x="247037" y="206254"/>
                  </a:cubicBezTo>
                  <a:cubicBezTo>
                    <a:pt x="223446" y="211576"/>
                    <a:pt x="206701" y="232544"/>
                    <a:pt x="206727" y="256727"/>
                  </a:cubicBezTo>
                  <a:lnTo>
                    <a:pt x="206727" y="43091"/>
                  </a:lnTo>
                  <a:cubicBezTo>
                    <a:pt x="206727" y="19293"/>
                    <a:pt x="187434" y="0"/>
                    <a:pt x="163636" y="0"/>
                  </a:cubicBezTo>
                  <a:cubicBezTo>
                    <a:pt x="139838" y="0"/>
                    <a:pt x="120545" y="19293"/>
                    <a:pt x="120545" y="430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pSp>
      <p:grpSp>
        <p:nvGrpSpPr>
          <p:cNvPr id="6" name="Group 5">
            <a:extLst>
              <a:ext uri="{FF2B5EF4-FFF2-40B4-BE49-F238E27FC236}">
                <a16:creationId xmlns:a16="http://schemas.microsoft.com/office/drawing/2014/main" id="{41BEE509-E03E-4927-8C30-9F519458897B}"/>
              </a:ext>
            </a:extLst>
          </p:cNvPr>
          <p:cNvGrpSpPr>
            <a:grpSpLocks noChangeAspect="1"/>
          </p:cNvGrpSpPr>
          <p:nvPr/>
        </p:nvGrpSpPr>
        <p:grpSpPr>
          <a:xfrm>
            <a:off x="1313647" y="1965113"/>
            <a:ext cx="560536" cy="546885"/>
            <a:chOff x="3907929" y="3593728"/>
            <a:chExt cx="700436" cy="631082"/>
          </a:xfrm>
          <a:gradFill>
            <a:gsLst>
              <a:gs pos="22000">
                <a:schemeClr val="accent1"/>
              </a:gs>
              <a:gs pos="75000">
                <a:schemeClr val="accent4"/>
              </a:gs>
              <a:gs pos="100000">
                <a:schemeClr val="accent5"/>
              </a:gs>
            </a:gsLst>
            <a:lin ang="8100000" scaled="0"/>
          </a:gradFill>
        </p:grpSpPr>
        <p:sp>
          <p:nvSpPr>
            <p:cNvPr id="7" name="Free-form: Shape 53">
              <a:extLst>
                <a:ext uri="{FF2B5EF4-FFF2-40B4-BE49-F238E27FC236}">
                  <a16:creationId xmlns:a16="http://schemas.microsoft.com/office/drawing/2014/main" id="{77E8C6F2-5C29-4ED9-BBAD-C3854B60558F}"/>
                </a:ext>
              </a:extLst>
            </p:cNvPr>
            <p:cNvSpPr/>
            <p:nvPr/>
          </p:nvSpPr>
          <p:spPr>
            <a:xfrm>
              <a:off x="3907929" y="3593728"/>
              <a:ext cx="350251" cy="631082"/>
            </a:xfrm>
            <a:custGeom>
              <a:avLst/>
              <a:gdLst>
                <a:gd name="connsiteX0" fmla="*/ 300387 w 350251"/>
                <a:gd name="connsiteY0" fmla="*/ 521640 h 631082"/>
                <a:gd name="connsiteX1" fmla="*/ 319437 w 350251"/>
                <a:gd name="connsiteY1" fmla="*/ 489731 h 631082"/>
                <a:gd name="connsiteX2" fmla="*/ 319437 w 350251"/>
                <a:gd name="connsiteY2" fmla="*/ 486588 h 631082"/>
                <a:gd name="connsiteX3" fmla="*/ 290862 w 350251"/>
                <a:gd name="connsiteY3" fmla="*/ 450965 h 631082"/>
                <a:gd name="connsiteX4" fmla="*/ 290862 w 350251"/>
                <a:gd name="connsiteY4" fmla="*/ 412007 h 631082"/>
                <a:gd name="connsiteX5" fmla="*/ 305625 w 350251"/>
                <a:gd name="connsiteY5" fmla="*/ 313328 h 631082"/>
                <a:gd name="connsiteX6" fmla="*/ 219900 w 350251"/>
                <a:gd name="connsiteY6" fmla="*/ 238843 h 631082"/>
                <a:gd name="connsiteX7" fmla="*/ 200850 w 350251"/>
                <a:gd name="connsiteY7" fmla="*/ 216554 h 631082"/>
                <a:gd name="connsiteX8" fmla="*/ 231521 w 350251"/>
                <a:gd name="connsiteY8" fmla="*/ 222746 h 631082"/>
                <a:gd name="connsiteX9" fmla="*/ 267430 w 350251"/>
                <a:gd name="connsiteY9" fmla="*/ 237319 h 631082"/>
                <a:gd name="connsiteX10" fmla="*/ 314007 w 350251"/>
                <a:gd name="connsiteY10" fmla="*/ 235985 h 631082"/>
                <a:gd name="connsiteX11" fmla="*/ 348583 w 350251"/>
                <a:gd name="connsiteY11" fmla="*/ 166643 h 631082"/>
                <a:gd name="connsiteX12" fmla="*/ 275241 w 350251"/>
                <a:gd name="connsiteY12" fmla="*/ 103493 h 631082"/>
                <a:gd name="connsiteX13" fmla="*/ 272669 w 350251"/>
                <a:gd name="connsiteY13" fmla="*/ 85490 h 631082"/>
                <a:gd name="connsiteX14" fmla="*/ 212280 w 350251"/>
                <a:gd name="connsiteY14" fmla="*/ 41485 h 631082"/>
                <a:gd name="connsiteX15" fmla="*/ 208375 w 350251"/>
                <a:gd name="connsiteY15" fmla="*/ 3385 h 631082"/>
                <a:gd name="connsiteX16" fmla="*/ 30639 w 350251"/>
                <a:gd name="connsiteY16" fmla="*/ 96920 h 631082"/>
                <a:gd name="connsiteX17" fmla="*/ 27972 w 350251"/>
                <a:gd name="connsiteY17" fmla="*/ 315995 h 631082"/>
                <a:gd name="connsiteX18" fmla="*/ 61881 w 350251"/>
                <a:gd name="connsiteY18" fmla="*/ 401720 h 631082"/>
                <a:gd name="connsiteX19" fmla="*/ 61881 w 350251"/>
                <a:gd name="connsiteY19" fmla="*/ 450965 h 631082"/>
                <a:gd name="connsiteX20" fmla="*/ 33306 w 350251"/>
                <a:gd name="connsiteY20" fmla="*/ 486588 h 631082"/>
                <a:gd name="connsiteX21" fmla="*/ 33306 w 350251"/>
                <a:gd name="connsiteY21" fmla="*/ 489731 h 631082"/>
                <a:gd name="connsiteX22" fmla="*/ 52356 w 350251"/>
                <a:gd name="connsiteY22" fmla="*/ 521640 h 631082"/>
                <a:gd name="connsiteX23" fmla="*/ 52356 w 350251"/>
                <a:gd name="connsiteY23" fmla="*/ 554882 h 631082"/>
                <a:gd name="connsiteX24" fmla="*/ 14256 w 350251"/>
                <a:gd name="connsiteY24" fmla="*/ 554882 h 631082"/>
                <a:gd name="connsiteX25" fmla="*/ 14256 w 350251"/>
                <a:gd name="connsiteY25" fmla="*/ 631082 h 631082"/>
                <a:gd name="connsiteX26" fmla="*/ 338106 w 350251"/>
                <a:gd name="connsiteY26" fmla="*/ 631082 h 631082"/>
                <a:gd name="connsiteX27" fmla="*/ 338106 w 350251"/>
                <a:gd name="connsiteY27" fmla="*/ 554882 h 631082"/>
                <a:gd name="connsiteX28" fmla="*/ 300006 w 350251"/>
                <a:gd name="connsiteY28" fmla="*/ 554882 h 6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0251" h="631082">
                  <a:moveTo>
                    <a:pt x="300387" y="521640"/>
                  </a:moveTo>
                  <a:cubicBezTo>
                    <a:pt x="312040" y="515232"/>
                    <a:pt x="319325" y="503030"/>
                    <a:pt x="319437" y="489731"/>
                  </a:cubicBezTo>
                  <a:lnTo>
                    <a:pt x="319437" y="486588"/>
                  </a:lnTo>
                  <a:cubicBezTo>
                    <a:pt x="319335" y="469520"/>
                    <a:pt x="307501" y="454767"/>
                    <a:pt x="290862" y="450965"/>
                  </a:cubicBezTo>
                  <a:lnTo>
                    <a:pt x="290862" y="412007"/>
                  </a:lnTo>
                  <a:cubicBezTo>
                    <a:pt x="315184" y="385078"/>
                    <a:pt x="321001" y="346196"/>
                    <a:pt x="305625" y="313328"/>
                  </a:cubicBezTo>
                  <a:cubicBezTo>
                    <a:pt x="294005" y="286849"/>
                    <a:pt x="239427" y="249606"/>
                    <a:pt x="219900" y="238843"/>
                  </a:cubicBezTo>
                  <a:cubicBezTo>
                    <a:pt x="211091" y="233929"/>
                    <a:pt x="204332" y="226022"/>
                    <a:pt x="200850" y="216554"/>
                  </a:cubicBezTo>
                  <a:cubicBezTo>
                    <a:pt x="209715" y="222914"/>
                    <a:pt x="220882" y="225169"/>
                    <a:pt x="231521" y="222746"/>
                  </a:cubicBezTo>
                  <a:cubicBezTo>
                    <a:pt x="248571" y="216554"/>
                    <a:pt x="263334" y="232271"/>
                    <a:pt x="267430" y="237319"/>
                  </a:cubicBezTo>
                  <a:cubicBezTo>
                    <a:pt x="278003" y="249035"/>
                    <a:pt x="296958" y="243224"/>
                    <a:pt x="314007" y="235985"/>
                  </a:cubicBezTo>
                  <a:cubicBezTo>
                    <a:pt x="340825" y="224316"/>
                    <a:pt x="355401" y="195084"/>
                    <a:pt x="348583" y="166643"/>
                  </a:cubicBezTo>
                  <a:cubicBezTo>
                    <a:pt x="348107" y="152070"/>
                    <a:pt x="275241" y="103493"/>
                    <a:pt x="275241" y="103493"/>
                  </a:cubicBezTo>
                  <a:lnTo>
                    <a:pt x="272669" y="85490"/>
                  </a:lnTo>
                  <a:cubicBezTo>
                    <a:pt x="272669" y="82347"/>
                    <a:pt x="261429" y="49867"/>
                    <a:pt x="212280" y="41485"/>
                  </a:cubicBezTo>
                  <a:cubicBezTo>
                    <a:pt x="212280" y="41485"/>
                    <a:pt x="221139" y="9671"/>
                    <a:pt x="208375" y="3385"/>
                  </a:cubicBezTo>
                  <a:cubicBezTo>
                    <a:pt x="181705" y="-8902"/>
                    <a:pt x="84550" y="10052"/>
                    <a:pt x="30639" y="96920"/>
                  </a:cubicBezTo>
                  <a:cubicBezTo>
                    <a:pt x="-9271" y="161214"/>
                    <a:pt x="-10224" y="239033"/>
                    <a:pt x="27972" y="315995"/>
                  </a:cubicBezTo>
                  <a:cubicBezTo>
                    <a:pt x="37497" y="335045"/>
                    <a:pt x="61881" y="373145"/>
                    <a:pt x="61881" y="401720"/>
                  </a:cubicBezTo>
                  <a:lnTo>
                    <a:pt x="61881" y="450965"/>
                  </a:lnTo>
                  <a:cubicBezTo>
                    <a:pt x="45241" y="454767"/>
                    <a:pt x="33408" y="469520"/>
                    <a:pt x="33306" y="486588"/>
                  </a:cubicBezTo>
                  <a:lnTo>
                    <a:pt x="33306" y="489731"/>
                  </a:lnTo>
                  <a:cubicBezTo>
                    <a:pt x="33417" y="503030"/>
                    <a:pt x="40702" y="515232"/>
                    <a:pt x="52356" y="521640"/>
                  </a:cubicBezTo>
                  <a:lnTo>
                    <a:pt x="52356" y="554882"/>
                  </a:lnTo>
                  <a:lnTo>
                    <a:pt x="14256" y="554882"/>
                  </a:lnTo>
                  <a:lnTo>
                    <a:pt x="14256" y="631082"/>
                  </a:lnTo>
                  <a:lnTo>
                    <a:pt x="338106" y="631082"/>
                  </a:lnTo>
                  <a:lnTo>
                    <a:pt x="338106" y="554882"/>
                  </a:lnTo>
                  <a:lnTo>
                    <a:pt x="300006" y="55488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 name="Free-form: Shape 54">
              <a:extLst>
                <a:ext uri="{FF2B5EF4-FFF2-40B4-BE49-F238E27FC236}">
                  <a16:creationId xmlns:a16="http://schemas.microsoft.com/office/drawing/2014/main" id="{FA561AAB-6C1B-49EF-BD07-FBD22DA155EC}"/>
                </a:ext>
              </a:extLst>
            </p:cNvPr>
            <p:cNvSpPr/>
            <p:nvPr/>
          </p:nvSpPr>
          <p:spPr>
            <a:xfrm>
              <a:off x="4284515" y="3843810"/>
              <a:ext cx="323850" cy="381000"/>
            </a:xfrm>
            <a:custGeom>
              <a:avLst/>
              <a:gdLst>
                <a:gd name="connsiteX0" fmla="*/ 285750 w 323850"/>
                <a:gd name="connsiteY0" fmla="*/ 304800 h 381000"/>
                <a:gd name="connsiteX1" fmla="*/ 285750 w 323850"/>
                <a:gd name="connsiteY1" fmla="*/ 271558 h 381000"/>
                <a:gd name="connsiteX2" fmla="*/ 304800 w 323850"/>
                <a:gd name="connsiteY2" fmla="*/ 239649 h 381000"/>
                <a:gd name="connsiteX3" fmla="*/ 304800 w 323850"/>
                <a:gd name="connsiteY3" fmla="*/ 236506 h 381000"/>
                <a:gd name="connsiteX4" fmla="*/ 268319 w 323850"/>
                <a:gd name="connsiteY4" fmla="*/ 200025 h 381000"/>
                <a:gd name="connsiteX5" fmla="*/ 257651 w 323850"/>
                <a:gd name="connsiteY5" fmla="*/ 200025 h 381000"/>
                <a:gd name="connsiteX6" fmla="*/ 247079 w 323850"/>
                <a:gd name="connsiteY6" fmla="*/ 0 h 381000"/>
                <a:gd name="connsiteX7" fmla="*/ 76772 w 323850"/>
                <a:gd name="connsiteY7" fmla="*/ 0 h 381000"/>
                <a:gd name="connsiteX8" fmla="*/ 66199 w 323850"/>
                <a:gd name="connsiteY8" fmla="*/ 200025 h 381000"/>
                <a:gd name="connsiteX9" fmla="*/ 55531 w 323850"/>
                <a:gd name="connsiteY9" fmla="*/ 200025 h 381000"/>
                <a:gd name="connsiteX10" fmla="*/ 19050 w 323850"/>
                <a:gd name="connsiteY10" fmla="*/ 236506 h 381000"/>
                <a:gd name="connsiteX11" fmla="*/ 19050 w 323850"/>
                <a:gd name="connsiteY11" fmla="*/ 239649 h 381000"/>
                <a:gd name="connsiteX12" fmla="*/ 38100 w 323850"/>
                <a:gd name="connsiteY12" fmla="*/ 271558 h 381000"/>
                <a:gd name="connsiteX13" fmla="*/ 38100 w 323850"/>
                <a:gd name="connsiteY13" fmla="*/ 304800 h 381000"/>
                <a:gd name="connsiteX14" fmla="*/ 0 w 323850"/>
                <a:gd name="connsiteY14" fmla="*/ 304800 h 381000"/>
                <a:gd name="connsiteX15" fmla="*/ 0 w 323850"/>
                <a:gd name="connsiteY15" fmla="*/ 381000 h 381000"/>
                <a:gd name="connsiteX16" fmla="*/ 323850 w 323850"/>
                <a:gd name="connsiteY16" fmla="*/ 381000 h 381000"/>
                <a:gd name="connsiteX17" fmla="*/ 323850 w 323850"/>
                <a:gd name="connsiteY17" fmla="*/ 3048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3850" h="381000">
                  <a:moveTo>
                    <a:pt x="285750" y="304800"/>
                  </a:moveTo>
                  <a:lnTo>
                    <a:pt x="285750" y="271558"/>
                  </a:lnTo>
                  <a:cubicBezTo>
                    <a:pt x="297404" y="265149"/>
                    <a:pt x="304689" y="252948"/>
                    <a:pt x="304800" y="239649"/>
                  </a:cubicBezTo>
                  <a:lnTo>
                    <a:pt x="304800" y="236506"/>
                  </a:lnTo>
                  <a:cubicBezTo>
                    <a:pt x="304748" y="216379"/>
                    <a:pt x="288446" y="200077"/>
                    <a:pt x="268319" y="200025"/>
                  </a:cubicBezTo>
                  <a:lnTo>
                    <a:pt x="257651" y="200025"/>
                  </a:lnTo>
                  <a:lnTo>
                    <a:pt x="247079" y="0"/>
                  </a:lnTo>
                  <a:lnTo>
                    <a:pt x="76772" y="0"/>
                  </a:lnTo>
                  <a:lnTo>
                    <a:pt x="66199" y="200025"/>
                  </a:lnTo>
                  <a:lnTo>
                    <a:pt x="55531" y="200025"/>
                  </a:lnTo>
                  <a:cubicBezTo>
                    <a:pt x="35404" y="200077"/>
                    <a:pt x="19102" y="216379"/>
                    <a:pt x="19050" y="236506"/>
                  </a:cubicBezTo>
                  <a:lnTo>
                    <a:pt x="19050" y="239649"/>
                  </a:lnTo>
                  <a:cubicBezTo>
                    <a:pt x="19161" y="252948"/>
                    <a:pt x="26446" y="265149"/>
                    <a:pt x="38100" y="271558"/>
                  </a:cubicBezTo>
                  <a:lnTo>
                    <a:pt x="38100" y="304800"/>
                  </a:lnTo>
                  <a:lnTo>
                    <a:pt x="0" y="304800"/>
                  </a:lnTo>
                  <a:lnTo>
                    <a:pt x="0" y="381000"/>
                  </a:lnTo>
                  <a:lnTo>
                    <a:pt x="323850" y="381000"/>
                  </a:lnTo>
                  <a:lnTo>
                    <a:pt x="323850" y="3048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Free-form: Shape 55">
              <a:extLst>
                <a:ext uri="{FF2B5EF4-FFF2-40B4-BE49-F238E27FC236}">
                  <a16:creationId xmlns:a16="http://schemas.microsoft.com/office/drawing/2014/main" id="{DDA49FCD-38D5-48FB-940A-B47B5F65EDA4}"/>
                </a:ext>
              </a:extLst>
            </p:cNvPr>
            <p:cNvSpPr/>
            <p:nvPr/>
          </p:nvSpPr>
          <p:spPr>
            <a:xfrm>
              <a:off x="4332140" y="3767610"/>
              <a:ext cx="228600" cy="57150"/>
            </a:xfrm>
            <a:custGeom>
              <a:avLst/>
              <a:gdLst>
                <a:gd name="connsiteX0" fmla="*/ 200025 w 228600"/>
                <a:gd name="connsiteY0" fmla="*/ 0 h 57150"/>
                <a:gd name="connsiteX1" fmla="*/ 228600 w 228600"/>
                <a:gd name="connsiteY1" fmla="*/ 28575 h 57150"/>
                <a:gd name="connsiteX2" fmla="*/ 228600 w 228600"/>
                <a:gd name="connsiteY2" fmla="*/ 28575 h 57150"/>
                <a:gd name="connsiteX3" fmla="*/ 200025 w 228600"/>
                <a:gd name="connsiteY3" fmla="*/ 57150 h 57150"/>
                <a:gd name="connsiteX4" fmla="*/ 28575 w 228600"/>
                <a:gd name="connsiteY4" fmla="*/ 57150 h 57150"/>
                <a:gd name="connsiteX5" fmla="*/ 0 w 228600"/>
                <a:gd name="connsiteY5" fmla="*/ 28575 h 57150"/>
                <a:gd name="connsiteX6" fmla="*/ 0 w 228600"/>
                <a:gd name="connsiteY6" fmla="*/ 28575 h 57150"/>
                <a:gd name="connsiteX7" fmla="*/ 28575 w 22860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600" h="57150">
                  <a:moveTo>
                    <a:pt x="200025" y="0"/>
                  </a:moveTo>
                  <a:cubicBezTo>
                    <a:pt x="215807" y="0"/>
                    <a:pt x="228600" y="12793"/>
                    <a:pt x="228600" y="28575"/>
                  </a:cubicBezTo>
                  <a:lnTo>
                    <a:pt x="228600" y="28575"/>
                  </a:lnTo>
                  <a:cubicBezTo>
                    <a:pt x="228600" y="44357"/>
                    <a:pt x="215807" y="57150"/>
                    <a:pt x="200025" y="57150"/>
                  </a:cubicBezTo>
                  <a:lnTo>
                    <a:pt x="28575" y="57150"/>
                  </a:lnTo>
                  <a:cubicBezTo>
                    <a:pt x="12793" y="57150"/>
                    <a:pt x="0" y="44357"/>
                    <a:pt x="0" y="28575"/>
                  </a:cubicBezTo>
                  <a:lnTo>
                    <a:pt x="0" y="28575"/>
                  </a:lnTo>
                  <a:cubicBezTo>
                    <a:pt x="0" y="12793"/>
                    <a:pt x="12793" y="0"/>
                    <a:pt x="2857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Free-form: Shape 56">
              <a:extLst>
                <a:ext uri="{FF2B5EF4-FFF2-40B4-BE49-F238E27FC236}">
                  <a16:creationId xmlns:a16="http://schemas.microsoft.com/office/drawing/2014/main" id="{6428421D-C575-4623-BD95-0243BA15231D}"/>
                </a:ext>
              </a:extLst>
            </p:cNvPr>
            <p:cNvSpPr/>
            <p:nvPr/>
          </p:nvSpPr>
          <p:spPr>
            <a:xfrm>
              <a:off x="4332140" y="3605685"/>
              <a:ext cx="228600" cy="142875"/>
            </a:xfrm>
            <a:custGeom>
              <a:avLst/>
              <a:gdLst>
                <a:gd name="connsiteX0" fmla="*/ 228600 w 228600"/>
                <a:gd name="connsiteY0" fmla="*/ 0 h 142875"/>
                <a:gd name="connsiteX1" fmla="*/ 180975 w 228600"/>
                <a:gd name="connsiteY1" fmla="*/ 0 h 142875"/>
                <a:gd name="connsiteX2" fmla="*/ 180975 w 228600"/>
                <a:gd name="connsiteY2" fmla="*/ 38100 h 142875"/>
                <a:gd name="connsiteX3" fmla="*/ 161925 w 228600"/>
                <a:gd name="connsiteY3" fmla="*/ 38100 h 142875"/>
                <a:gd name="connsiteX4" fmla="*/ 161925 w 228600"/>
                <a:gd name="connsiteY4" fmla="*/ 0 h 142875"/>
                <a:gd name="connsiteX5" fmla="*/ 66675 w 228600"/>
                <a:gd name="connsiteY5" fmla="*/ 0 h 142875"/>
                <a:gd name="connsiteX6" fmla="*/ 66675 w 228600"/>
                <a:gd name="connsiteY6" fmla="*/ 38100 h 142875"/>
                <a:gd name="connsiteX7" fmla="*/ 47625 w 228600"/>
                <a:gd name="connsiteY7" fmla="*/ 38100 h 142875"/>
                <a:gd name="connsiteX8" fmla="*/ 47625 w 228600"/>
                <a:gd name="connsiteY8" fmla="*/ 0 h 142875"/>
                <a:gd name="connsiteX9" fmla="*/ 0 w 228600"/>
                <a:gd name="connsiteY9" fmla="*/ 0 h 142875"/>
                <a:gd name="connsiteX10" fmla="*/ 0 w 228600"/>
                <a:gd name="connsiteY10" fmla="*/ 114300 h 142875"/>
                <a:gd name="connsiteX11" fmla="*/ 22193 w 228600"/>
                <a:gd name="connsiteY11" fmla="*/ 114300 h 142875"/>
                <a:gd name="connsiteX12" fmla="*/ 26956 w 228600"/>
                <a:gd name="connsiteY12" fmla="*/ 142875 h 142875"/>
                <a:gd name="connsiteX13" fmla="*/ 114300 w 228600"/>
                <a:gd name="connsiteY13" fmla="*/ 142875 h 142875"/>
                <a:gd name="connsiteX14" fmla="*/ 201644 w 228600"/>
                <a:gd name="connsiteY14" fmla="*/ 142875 h 142875"/>
                <a:gd name="connsiteX15" fmla="*/ 206407 w 228600"/>
                <a:gd name="connsiteY15" fmla="*/ 114300 h 142875"/>
                <a:gd name="connsiteX16" fmla="*/ 228600 w 228600"/>
                <a:gd name="connsiteY16" fmla="*/ 114300 h 142875"/>
                <a:gd name="connsiteX17" fmla="*/ 228600 w 228600"/>
                <a:gd name="connsiteY17"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142875">
                  <a:moveTo>
                    <a:pt x="228600" y="0"/>
                  </a:moveTo>
                  <a:lnTo>
                    <a:pt x="180975" y="0"/>
                  </a:lnTo>
                  <a:lnTo>
                    <a:pt x="180975" y="38100"/>
                  </a:lnTo>
                  <a:lnTo>
                    <a:pt x="161925" y="38100"/>
                  </a:lnTo>
                  <a:lnTo>
                    <a:pt x="161925" y="0"/>
                  </a:lnTo>
                  <a:lnTo>
                    <a:pt x="66675" y="0"/>
                  </a:lnTo>
                  <a:lnTo>
                    <a:pt x="66675" y="38100"/>
                  </a:lnTo>
                  <a:lnTo>
                    <a:pt x="47625" y="38100"/>
                  </a:lnTo>
                  <a:lnTo>
                    <a:pt x="47625" y="0"/>
                  </a:lnTo>
                  <a:lnTo>
                    <a:pt x="0" y="0"/>
                  </a:lnTo>
                  <a:lnTo>
                    <a:pt x="0" y="114300"/>
                  </a:lnTo>
                  <a:lnTo>
                    <a:pt x="22193" y="114300"/>
                  </a:lnTo>
                  <a:lnTo>
                    <a:pt x="26956" y="142875"/>
                  </a:lnTo>
                  <a:lnTo>
                    <a:pt x="114300" y="142875"/>
                  </a:lnTo>
                  <a:lnTo>
                    <a:pt x="201644" y="142875"/>
                  </a:lnTo>
                  <a:lnTo>
                    <a:pt x="206407" y="114300"/>
                  </a:lnTo>
                  <a:lnTo>
                    <a:pt x="228600" y="114300"/>
                  </a:lnTo>
                  <a:lnTo>
                    <a:pt x="2286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11" name="Group 10">
            <a:extLst>
              <a:ext uri="{FF2B5EF4-FFF2-40B4-BE49-F238E27FC236}">
                <a16:creationId xmlns:a16="http://schemas.microsoft.com/office/drawing/2014/main" id="{5096260F-BF04-4C16-AD43-990F9F6245EE}"/>
              </a:ext>
            </a:extLst>
          </p:cNvPr>
          <p:cNvGrpSpPr>
            <a:grpSpLocks noChangeAspect="1"/>
          </p:cNvGrpSpPr>
          <p:nvPr/>
        </p:nvGrpSpPr>
        <p:grpSpPr>
          <a:xfrm>
            <a:off x="2905646" y="965148"/>
            <a:ext cx="894633" cy="501751"/>
            <a:chOff x="6134932" y="3909438"/>
            <a:chExt cx="838200" cy="470101"/>
          </a:xfrm>
          <a:gradFill>
            <a:gsLst>
              <a:gs pos="81000">
                <a:schemeClr val="accent4"/>
              </a:gs>
              <a:gs pos="100000">
                <a:schemeClr val="accent5"/>
              </a:gs>
              <a:gs pos="14000">
                <a:schemeClr val="accent1"/>
              </a:gs>
            </a:gsLst>
            <a:lin ang="8100000" scaled="1"/>
          </a:gradFill>
        </p:grpSpPr>
        <p:sp>
          <p:nvSpPr>
            <p:cNvPr id="12" name="Free-form: Shape 58">
              <a:extLst>
                <a:ext uri="{FF2B5EF4-FFF2-40B4-BE49-F238E27FC236}">
                  <a16:creationId xmlns:a16="http://schemas.microsoft.com/office/drawing/2014/main" id="{3E2D19B9-6C8F-4451-B91F-3D91BA7C35F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 name="Free-form: Shape 59">
              <a:extLst>
                <a:ext uri="{FF2B5EF4-FFF2-40B4-BE49-F238E27FC236}">
                  <a16:creationId xmlns:a16="http://schemas.microsoft.com/office/drawing/2014/main" id="{DFE420F5-0AF3-4F7D-B268-2BFD5D600E3A}"/>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Free-form: Shape 60">
              <a:extLst>
                <a:ext uri="{FF2B5EF4-FFF2-40B4-BE49-F238E27FC236}">
                  <a16:creationId xmlns:a16="http://schemas.microsoft.com/office/drawing/2014/main" id="{5F0F4276-72A5-4E42-87DD-9126BB391DC6}"/>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15" name="Graphic 67" descr="Database with solid fill">
            <a:extLst>
              <a:ext uri="{FF2B5EF4-FFF2-40B4-BE49-F238E27FC236}">
                <a16:creationId xmlns:a16="http://schemas.microsoft.com/office/drawing/2014/main" id="{69C0DA33-ECF8-4D86-9F7A-42CDC84E07DB}"/>
              </a:ext>
            </a:extLst>
          </p:cNvPr>
          <p:cNvGrpSpPr>
            <a:grpSpLocks noChangeAspect="1"/>
          </p:cNvGrpSpPr>
          <p:nvPr/>
        </p:nvGrpSpPr>
        <p:grpSpPr>
          <a:xfrm>
            <a:off x="1353396" y="4186903"/>
            <a:ext cx="481038" cy="652837"/>
            <a:chOff x="5876275" y="3752048"/>
            <a:chExt cx="533400" cy="723900"/>
          </a:xfrm>
          <a:gradFill>
            <a:gsLst>
              <a:gs pos="22000">
                <a:schemeClr val="accent1"/>
              </a:gs>
              <a:gs pos="75000">
                <a:schemeClr val="accent4"/>
              </a:gs>
              <a:gs pos="100000">
                <a:schemeClr val="accent5"/>
              </a:gs>
            </a:gsLst>
            <a:lin ang="8100000" scaled="0"/>
          </a:gradFill>
        </p:grpSpPr>
        <p:sp>
          <p:nvSpPr>
            <p:cNvPr id="16" name="Free-form: Shape 69">
              <a:extLst>
                <a:ext uri="{FF2B5EF4-FFF2-40B4-BE49-F238E27FC236}">
                  <a16:creationId xmlns:a16="http://schemas.microsoft.com/office/drawing/2014/main" id="{B69079CD-4860-4A1A-83F8-0CC90E1F88FE}"/>
                </a:ext>
              </a:extLst>
            </p:cNvPr>
            <p:cNvSpPr/>
            <p:nvPr/>
          </p:nvSpPr>
          <p:spPr>
            <a:xfrm>
              <a:off x="5876275" y="3752048"/>
              <a:ext cx="533400" cy="152400"/>
            </a:xfrm>
            <a:custGeom>
              <a:avLst/>
              <a:gdLst>
                <a:gd name="connsiteX0" fmla="*/ 533400 w 533400"/>
                <a:gd name="connsiteY0" fmla="*/ 76200 h 152400"/>
                <a:gd name="connsiteX1" fmla="*/ 266700 w 533400"/>
                <a:gd name="connsiteY1" fmla="*/ 152400 h 152400"/>
                <a:gd name="connsiteX2" fmla="*/ 0 w 533400"/>
                <a:gd name="connsiteY2" fmla="*/ 76200 h 152400"/>
                <a:gd name="connsiteX3" fmla="*/ 266700 w 533400"/>
                <a:gd name="connsiteY3" fmla="*/ 0 h 152400"/>
                <a:gd name="connsiteX4" fmla="*/ 533400 w 533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152400">
                  <a:moveTo>
                    <a:pt x="533400" y="76200"/>
                  </a:moveTo>
                  <a:cubicBezTo>
                    <a:pt x="533400" y="118284"/>
                    <a:pt x="413994" y="152400"/>
                    <a:pt x="266700" y="152400"/>
                  </a:cubicBezTo>
                  <a:cubicBezTo>
                    <a:pt x="119406" y="152400"/>
                    <a:pt x="0" y="118284"/>
                    <a:pt x="0" y="76200"/>
                  </a:cubicBezTo>
                  <a:cubicBezTo>
                    <a:pt x="0" y="34116"/>
                    <a:pt x="119406" y="0"/>
                    <a:pt x="266700" y="0"/>
                  </a:cubicBezTo>
                  <a:cubicBezTo>
                    <a:pt x="413994" y="0"/>
                    <a:pt x="533400" y="34116"/>
                    <a:pt x="5334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Free-form: Shape 70">
              <a:extLst>
                <a:ext uri="{FF2B5EF4-FFF2-40B4-BE49-F238E27FC236}">
                  <a16:creationId xmlns:a16="http://schemas.microsoft.com/office/drawing/2014/main" id="{1910F2F2-7BA3-4A04-ADE2-9E41AEB99F0A}"/>
                </a:ext>
              </a:extLst>
            </p:cNvPr>
            <p:cNvSpPr/>
            <p:nvPr/>
          </p:nvSpPr>
          <p:spPr>
            <a:xfrm>
              <a:off x="5876275" y="38663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Free-form: Shape 71">
              <a:extLst>
                <a:ext uri="{FF2B5EF4-FFF2-40B4-BE49-F238E27FC236}">
                  <a16:creationId xmlns:a16="http://schemas.microsoft.com/office/drawing/2014/main" id="{9EBC574B-B433-48B2-9EFD-8C3F4A837232}"/>
                </a:ext>
              </a:extLst>
            </p:cNvPr>
            <p:cNvSpPr/>
            <p:nvPr/>
          </p:nvSpPr>
          <p:spPr>
            <a:xfrm>
              <a:off x="5876275" y="40568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9" name="Free-form: Shape 72">
              <a:extLst>
                <a:ext uri="{FF2B5EF4-FFF2-40B4-BE49-F238E27FC236}">
                  <a16:creationId xmlns:a16="http://schemas.microsoft.com/office/drawing/2014/main" id="{55C1EC23-FDAA-4811-BE38-B6BC639F86DD}"/>
                </a:ext>
              </a:extLst>
            </p:cNvPr>
            <p:cNvSpPr/>
            <p:nvPr/>
          </p:nvSpPr>
          <p:spPr>
            <a:xfrm>
              <a:off x="5876275" y="42473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20" name="Group 19">
            <a:extLst>
              <a:ext uri="{FF2B5EF4-FFF2-40B4-BE49-F238E27FC236}">
                <a16:creationId xmlns:a16="http://schemas.microsoft.com/office/drawing/2014/main" id="{936F51A7-490B-43A7-90C2-108455B83C2C}"/>
              </a:ext>
            </a:extLst>
          </p:cNvPr>
          <p:cNvGrpSpPr>
            <a:grpSpLocks noChangeAspect="1"/>
          </p:cNvGrpSpPr>
          <p:nvPr/>
        </p:nvGrpSpPr>
        <p:grpSpPr>
          <a:xfrm>
            <a:off x="2943294" y="3010212"/>
            <a:ext cx="819336" cy="678477"/>
            <a:chOff x="3890503" y="3312473"/>
            <a:chExt cx="849285" cy="721892"/>
          </a:xfrm>
          <a:gradFill>
            <a:gsLst>
              <a:gs pos="22000">
                <a:schemeClr val="accent1"/>
              </a:gs>
              <a:gs pos="83000">
                <a:schemeClr val="accent4"/>
              </a:gs>
              <a:gs pos="100000">
                <a:schemeClr val="accent5"/>
              </a:gs>
            </a:gsLst>
            <a:lin ang="8100000" scaled="0"/>
          </a:gradFill>
        </p:grpSpPr>
        <p:sp>
          <p:nvSpPr>
            <p:cNvPr id="21" name="Graphic 120" descr="Monitor with solid fill">
              <a:extLst>
                <a:ext uri="{FF2B5EF4-FFF2-40B4-BE49-F238E27FC236}">
                  <a16:creationId xmlns:a16="http://schemas.microsoft.com/office/drawing/2014/main" id="{B51596D6-2B14-4F5F-A98D-29295679AFCF}"/>
                </a:ext>
              </a:extLst>
            </p:cNvPr>
            <p:cNvSpPr/>
            <p:nvPr/>
          </p:nvSpPr>
          <p:spPr>
            <a:xfrm>
              <a:off x="3890503" y="3312473"/>
              <a:ext cx="849285" cy="721892"/>
            </a:xfrm>
            <a:custGeom>
              <a:avLst/>
              <a:gdLst>
                <a:gd name="connsiteX0" fmla="*/ 785589 w 849285"/>
                <a:gd name="connsiteY0" fmla="*/ 530803 h 721892"/>
                <a:gd name="connsiteX1" fmla="*/ 63696 w 849285"/>
                <a:gd name="connsiteY1" fmla="*/ 530803 h 721892"/>
                <a:gd name="connsiteX2" fmla="*/ 63696 w 849285"/>
                <a:gd name="connsiteY2" fmla="*/ 63696 h 721892"/>
                <a:gd name="connsiteX3" fmla="*/ 785589 w 849285"/>
                <a:gd name="connsiteY3" fmla="*/ 63696 h 721892"/>
                <a:gd name="connsiteX4" fmla="*/ 785589 w 849285"/>
                <a:gd name="connsiteY4" fmla="*/ 530803 h 721892"/>
                <a:gd name="connsiteX5" fmla="*/ 806821 w 849285"/>
                <a:gd name="connsiteY5" fmla="*/ 0 h 721892"/>
                <a:gd name="connsiteX6" fmla="*/ 42464 w 849285"/>
                <a:gd name="connsiteY6" fmla="*/ 0 h 721892"/>
                <a:gd name="connsiteX7" fmla="*/ 0 w 849285"/>
                <a:gd name="connsiteY7" fmla="*/ 42464 h 721892"/>
                <a:gd name="connsiteX8" fmla="*/ 0 w 849285"/>
                <a:gd name="connsiteY8" fmla="*/ 552035 h 721892"/>
                <a:gd name="connsiteX9" fmla="*/ 42464 w 849285"/>
                <a:gd name="connsiteY9" fmla="*/ 594500 h 721892"/>
                <a:gd name="connsiteX10" fmla="*/ 339714 w 849285"/>
                <a:gd name="connsiteY10" fmla="*/ 594500 h 721892"/>
                <a:gd name="connsiteX11" fmla="*/ 339714 w 849285"/>
                <a:gd name="connsiteY11" fmla="*/ 658196 h 721892"/>
                <a:gd name="connsiteX12" fmla="*/ 233553 w 849285"/>
                <a:gd name="connsiteY12" fmla="*/ 658196 h 721892"/>
                <a:gd name="connsiteX13" fmla="*/ 233553 w 849285"/>
                <a:gd name="connsiteY13" fmla="*/ 721892 h 721892"/>
                <a:gd name="connsiteX14" fmla="*/ 615732 w 849285"/>
                <a:gd name="connsiteY14" fmla="*/ 721892 h 721892"/>
                <a:gd name="connsiteX15" fmla="*/ 615732 w 849285"/>
                <a:gd name="connsiteY15" fmla="*/ 658196 h 721892"/>
                <a:gd name="connsiteX16" fmla="*/ 509571 w 849285"/>
                <a:gd name="connsiteY16" fmla="*/ 658196 h 721892"/>
                <a:gd name="connsiteX17" fmla="*/ 509571 w 849285"/>
                <a:gd name="connsiteY17" fmla="*/ 594500 h 721892"/>
                <a:gd name="connsiteX18" fmla="*/ 806821 w 849285"/>
                <a:gd name="connsiteY18" fmla="*/ 594500 h 721892"/>
                <a:gd name="connsiteX19" fmla="*/ 849285 w 849285"/>
                <a:gd name="connsiteY19" fmla="*/ 552035 h 721892"/>
                <a:gd name="connsiteX20" fmla="*/ 849285 w 849285"/>
                <a:gd name="connsiteY20" fmla="*/ 42464 h 721892"/>
                <a:gd name="connsiteX21" fmla="*/ 806821 w 849285"/>
                <a:gd name="connsiteY21" fmla="*/ 0 h 72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9285" h="721892">
                  <a:moveTo>
                    <a:pt x="785589" y="530803"/>
                  </a:moveTo>
                  <a:lnTo>
                    <a:pt x="63696" y="530803"/>
                  </a:lnTo>
                  <a:lnTo>
                    <a:pt x="63696" y="63696"/>
                  </a:lnTo>
                  <a:lnTo>
                    <a:pt x="785589" y="63696"/>
                  </a:lnTo>
                  <a:lnTo>
                    <a:pt x="785589" y="530803"/>
                  </a:lnTo>
                  <a:close/>
                  <a:moveTo>
                    <a:pt x="806821" y="0"/>
                  </a:moveTo>
                  <a:lnTo>
                    <a:pt x="42464" y="0"/>
                  </a:lnTo>
                  <a:cubicBezTo>
                    <a:pt x="19109" y="0"/>
                    <a:pt x="0" y="19109"/>
                    <a:pt x="0" y="42464"/>
                  </a:cubicBezTo>
                  <a:lnTo>
                    <a:pt x="0" y="552035"/>
                  </a:lnTo>
                  <a:cubicBezTo>
                    <a:pt x="0" y="575391"/>
                    <a:pt x="19109" y="594500"/>
                    <a:pt x="42464" y="594500"/>
                  </a:cubicBezTo>
                  <a:lnTo>
                    <a:pt x="339714" y="594500"/>
                  </a:lnTo>
                  <a:lnTo>
                    <a:pt x="339714" y="658196"/>
                  </a:lnTo>
                  <a:lnTo>
                    <a:pt x="233553" y="658196"/>
                  </a:lnTo>
                  <a:lnTo>
                    <a:pt x="233553" y="721892"/>
                  </a:lnTo>
                  <a:lnTo>
                    <a:pt x="615732" y="721892"/>
                  </a:lnTo>
                  <a:lnTo>
                    <a:pt x="615732" y="658196"/>
                  </a:lnTo>
                  <a:lnTo>
                    <a:pt x="509571" y="658196"/>
                  </a:lnTo>
                  <a:lnTo>
                    <a:pt x="509571" y="594500"/>
                  </a:lnTo>
                  <a:lnTo>
                    <a:pt x="806821" y="594500"/>
                  </a:lnTo>
                  <a:cubicBezTo>
                    <a:pt x="830176" y="594500"/>
                    <a:pt x="849285" y="575391"/>
                    <a:pt x="849285" y="552035"/>
                  </a:cubicBezTo>
                  <a:lnTo>
                    <a:pt x="849285" y="42464"/>
                  </a:lnTo>
                  <a:cubicBezTo>
                    <a:pt x="849285" y="19109"/>
                    <a:pt x="830176" y="0"/>
                    <a:pt x="806821" y="0"/>
                  </a:cubicBezTo>
                  <a:close/>
                </a:path>
              </a:pathLst>
            </a:custGeom>
            <a:grp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nvGrpSpPr>
            <p:cNvPr id="22" name="Group 21">
              <a:extLst>
                <a:ext uri="{FF2B5EF4-FFF2-40B4-BE49-F238E27FC236}">
                  <a16:creationId xmlns:a16="http://schemas.microsoft.com/office/drawing/2014/main" id="{17BC0D8E-ABAE-4FA7-A76A-BD6402CB6CA9}"/>
                </a:ext>
              </a:extLst>
            </p:cNvPr>
            <p:cNvGrpSpPr/>
            <p:nvPr/>
          </p:nvGrpSpPr>
          <p:grpSpPr>
            <a:xfrm>
              <a:off x="4091325" y="3410751"/>
              <a:ext cx="467984" cy="385045"/>
              <a:chOff x="3022003" y="3466298"/>
              <a:chExt cx="533400" cy="533400"/>
            </a:xfrm>
            <a:grpFill/>
          </p:grpSpPr>
          <p:sp>
            <p:nvSpPr>
              <p:cNvPr id="23" name="Rectangle: Rounded Corners 22">
                <a:extLst>
                  <a:ext uri="{FF2B5EF4-FFF2-40B4-BE49-F238E27FC236}">
                    <a16:creationId xmlns:a16="http://schemas.microsoft.com/office/drawing/2014/main" id="{43E21DF0-DF4D-4F6B-9FD9-CD04646D8468}"/>
                  </a:ext>
                </a:extLst>
              </p:cNvPr>
              <p:cNvSpPr/>
              <p:nvPr/>
            </p:nvSpPr>
            <p:spPr>
              <a:xfrm>
                <a:off x="302200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4" name="Rectangle: Rounded Corners 23">
                <a:extLst>
                  <a:ext uri="{FF2B5EF4-FFF2-40B4-BE49-F238E27FC236}">
                    <a16:creationId xmlns:a16="http://schemas.microsoft.com/office/drawing/2014/main" id="{AE0AD35A-515B-4BC3-8BD2-D80B982AD0AE}"/>
                  </a:ext>
                </a:extLst>
              </p:cNvPr>
              <p:cNvSpPr/>
              <p:nvPr/>
            </p:nvSpPr>
            <p:spPr>
              <a:xfrm>
                <a:off x="3164878" y="3466298"/>
                <a:ext cx="104775" cy="53340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Rectangle: Rounded Corners 24">
                <a:extLst>
                  <a:ext uri="{FF2B5EF4-FFF2-40B4-BE49-F238E27FC236}">
                    <a16:creationId xmlns:a16="http://schemas.microsoft.com/office/drawing/2014/main" id="{A8BC9919-AC22-4C66-91F8-16FED01E960B}"/>
                  </a:ext>
                </a:extLst>
              </p:cNvPr>
              <p:cNvSpPr/>
              <p:nvPr/>
            </p:nvSpPr>
            <p:spPr>
              <a:xfrm>
                <a:off x="330775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6" name="Rectangle: Rounded Corners 25">
                <a:extLst>
                  <a:ext uri="{FF2B5EF4-FFF2-40B4-BE49-F238E27FC236}">
                    <a16:creationId xmlns:a16="http://schemas.microsoft.com/office/drawing/2014/main" id="{B324C446-FD1F-4302-8422-1AD45BA637C8}"/>
                  </a:ext>
                </a:extLst>
              </p:cNvPr>
              <p:cNvSpPr/>
              <p:nvPr/>
            </p:nvSpPr>
            <p:spPr>
              <a:xfrm>
                <a:off x="3450628" y="3828248"/>
                <a:ext cx="104775" cy="17145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pSp>
      </p:grpSp>
      <p:sp>
        <p:nvSpPr>
          <p:cNvPr id="27" name="Rectangle 26">
            <a:extLst>
              <a:ext uri="{FF2B5EF4-FFF2-40B4-BE49-F238E27FC236}">
                <a16:creationId xmlns:a16="http://schemas.microsoft.com/office/drawing/2014/main" id="{F2F102AB-8767-457B-B738-EC17C8166479}"/>
              </a:ext>
            </a:extLst>
          </p:cNvPr>
          <p:cNvSpPr/>
          <p:nvPr/>
        </p:nvSpPr>
        <p:spPr>
          <a:xfrm>
            <a:off x="996526" y="2528506"/>
            <a:ext cx="1192955" cy="658770"/>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 typeface="Wingdings 2" pitchFamily="18" charset="2"/>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חיבוריות </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
            </a:r>
            <a:b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b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אסטרטגית</a:t>
            </a:r>
          </a:p>
        </p:txBody>
      </p:sp>
      <p:sp>
        <p:nvSpPr>
          <p:cNvPr id="28" name="Rectangle 27">
            <a:extLst>
              <a:ext uri="{FF2B5EF4-FFF2-40B4-BE49-F238E27FC236}">
                <a16:creationId xmlns:a16="http://schemas.microsoft.com/office/drawing/2014/main" id="{C6BE1253-9A22-4A60-8459-78676D8B1FC5}"/>
              </a:ext>
            </a:extLst>
          </p:cNvPr>
          <p:cNvSpPr/>
          <p:nvPr/>
        </p:nvSpPr>
        <p:spPr>
          <a:xfrm>
            <a:off x="2796660" y="3683312"/>
            <a:ext cx="1099980" cy="37170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מערכת </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BI</a:t>
            </a:r>
            <a:endPar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E34EA7BC-77FB-4A61-BA5B-DA61F43B1F9D}"/>
              </a:ext>
            </a:extLst>
          </p:cNvPr>
          <p:cNvSpPr/>
          <p:nvPr/>
        </p:nvSpPr>
        <p:spPr>
          <a:xfrm>
            <a:off x="930111" y="4868182"/>
            <a:ext cx="1327607" cy="658770"/>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 typeface="Wingdings 2" pitchFamily="18" charset="2"/>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בסיס נתונים</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
            </a:r>
            <a:b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b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 אחוד</a:t>
            </a:r>
          </a:p>
        </p:txBody>
      </p:sp>
      <p:sp>
        <p:nvSpPr>
          <p:cNvPr id="30" name="Rectangle 29">
            <a:extLst>
              <a:ext uri="{FF2B5EF4-FFF2-40B4-BE49-F238E27FC236}">
                <a16:creationId xmlns:a16="http://schemas.microsoft.com/office/drawing/2014/main" id="{B9DE7EFA-2A98-41C8-AF67-DF58FE191836}"/>
              </a:ext>
            </a:extLst>
          </p:cNvPr>
          <p:cNvSpPr/>
          <p:nvPr/>
        </p:nvSpPr>
        <p:spPr>
          <a:xfrm>
            <a:off x="2725515" y="5911620"/>
            <a:ext cx="1306768" cy="36516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ממשק ניהול</a:t>
            </a:r>
          </a:p>
        </p:txBody>
      </p:sp>
      <p:sp>
        <p:nvSpPr>
          <p:cNvPr id="31" name="Rectangle 30">
            <a:extLst>
              <a:ext uri="{FF2B5EF4-FFF2-40B4-BE49-F238E27FC236}">
                <a16:creationId xmlns:a16="http://schemas.microsoft.com/office/drawing/2014/main" id="{33C8ED5C-EABD-449C-8942-08D60A0E8839}"/>
              </a:ext>
            </a:extLst>
          </p:cNvPr>
          <p:cNvSpPr/>
          <p:nvPr/>
        </p:nvSpPr>
        <p:spPr>
          <a:xfrm>
            <a:off x="2999061" y="1553983"/>
            <a:ext cx="787395" cy="36516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מדדים</a:t>
            </a:r>
          </a:p>
        </p:txBody>
      </p:sp>
      <p:sp>
        <p:nvSpPr>
          <p:cNvPr id="32" name="Rectangle 31">
            <a:extLst>
              <a:ext uri="{FF2B5EF4-FFF2-40B4-BE49-F238E27FC236}">
                <a16:creationId xmlns:a16="http://schemas.microsoft.com/office/drawing/2014/main" id="{FF715817-988B-45E1-94EB-18AB14A80448}"/>
              </a:ext>
            </a:extLst>
          </p:cNvPr>
          <p:cNvSpPr/>
          <p:nvPr/>
        </p:nvSpPr>
        <p:spPr>
          <a:xfrm>
            <a:off x="4907898" y="1854665"/>
            <a:ext cx="6777854" cy="923330"/>
          </a:xfrm>
          <a:prstGeom prst="rect">
            <a:avLst/>
          </a:prstGeom>
        </p:spPr>
        <p:txBody>
          <a:bodyPr wrap="square">
            <a:spAutoFit/>
          </a:bodyPr>
          <a:lstStyle/>
          <a:p>
            <a:pPr marL="0" marR="0" lvl="0" indent="0" algn="r" defTabSz="1027116" rtl="1" eaLnBrk="1" fontAlgn="auto" latinLnBrk="0" hangingPunct="1">
              <a:lnSpc>
                <a:spcPct val="100000"/>
              </a:lnSpc>
              <a:spcBef>
                <a:spcPts val="0"/>
              </a:spcBef>
              <a:spcAft>
                <a:spcPts val="1200"/>
              </a:spcAft>
              <a:buClrTx/>
              <a:buSzTx/>
              <a:buFontTx/>
              <a:buNone/>
              <a:tabLst/>
              <a:defRPr/>
            </a:pP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פיתוח מערכת אנליטית המאפשרת </a:t>
            </a:r>
            <a:r>
              <a:rPr kumimoji="0" lang="he-IL" sz="1800" b="0" i="0" u="none" strike="noStrike" kern="1200" cap="none" spc="-75"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הגדרה, ניהול, ניתוח והנגשה של מדדים, פערים והתראות</a:t>
            </a: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בשירותים עליהם אמון </a:t>
            </a:r>
            <a:r>
              <a:rPr kumimoji="0" lang="he-IL" sz="1800" b="0" i="0" u="none" strike="noStrike" kern="1200" cap="none" spc="-75"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מינהל</a:t>
            </a: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אזרחים ותיקים, </a:t>
            </a:r>
            <a:r>
              <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r>
            <a:br>
              <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לצורך מיקוד תשומת הלב הניהולית בנושאים הדורשים טיפול לאורך יישום תאוריית השינוי</a:t>
            </a:r>
            <a:endPar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3" name="TextBox 42">
            <a:extLst>
              <a:ext uri="{FF2B5EF4-FFF2-40B4-BE49-F238E27FC236}">
                <a16:creationId xmlns:a16="http://schemas.microsoft.com/office/drawing/2014/main" id="{89A4FBEF-01C4-4D0F-B2A9-6C562DA21C4A}"/>
              </a:ext>
            </a:extLst>
          </p:cNvPr>
          <p:cNvSpPr txBox="1"/>
          <p:nvPr/>
        </p:nvSpPr>
        <p:spPr>
          <a:xfrm>
            <a:off x="1601403" y="287129"/>
            <a:ext cx="1452642"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תוצרי הפרויקט</a:t>
            </a:r>
            <a:endParaRPr kumimoji="0" lang="en-IL" sz="1800" b="1"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5" name="Rectangle 44">
            <a:extLst>
              <a:ext uri="{FF2B5EF4-FFF2-40B4-BE49-F238E27FC236}">
                <a16:creationId xmlns:a16="http://schemas.microsoft.com/office/drawing/2014/main" id="{E66479D4-98CB-464B-905F-BBE5702CAB4C}"/>
              </a:ext>
            </a:extLst>
          </p:cNvPr>
          <p:cNvSpPr/>
          <p:nvPr/>
        </p:nvSpPr>
        <p:spPr>
          <a:xfrm>
            <a:off x="6222383" y="5242440"/>
            <a:ext cx="1846269" cy="92333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5</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הרחבה </a:t>
            </a:r>
            <a:r>
              <a:rPr kumimoji="0" lang="he-IL" sz="1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למינהלים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אחרים במשרד</a:t>
            </a:r>
          </a:p>
        </p:txBody>
      </p:sp>
      <p:sp>
        <p:nvSpPr>
          <p:cNvPr id="46" name="Rectangle 45">
            <a:extLst>
              <a:ext uri="{FF2B5EF4-FFF2-40B4-BE49-F238E27FC236}">
                <a16:creationId xmlns:a16="http://schemas.microsoft.com/office/drawing/2014/main" id="{BEA268B4-574F-4F42-B96B-EC86062FB068}"/>
              </a:ext>
            </a:extLst>
          </p:cNvPr>
          <p:cNvSpPr/>
          <p:nvPr/>
        </p:nvSpPr>
        <p:spPr>
          <a:xfrm>
            <a:off x="8160459" y="5248249"/>
            <a:ext cx="2355845" cy="92333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הוספת מדדי אימפקט לאורך תאוריית השינוי</a:t>
            </a:r>
          </a:p>
        </p:txBody>
      </p:sp>
      <p:sp>
        <p:nvSpPr>
          <p:cNvPr id="47" name="Rectangle 46">
            <a:extLst>
              <a:ext uri="{FF2B5EF4-FFF2-40B4-BE49-F238E27FC236}">
                <a16:creationId xmlns:a16="http://schemas.microsoft.com/office/drawing/2014/main" id="{56B0042A-D1E5-40A6-B472-75E7DDBCC5E5}"/>
              </a:ext>
            </a:extLst>
          </p:cNvPr>
          <p:cNvSpPr/>
          <p:nvPr/>
        </p:nvSpPr>
        <p:spPr>
          <a:xfrm>
            <a:off x="9424480" y="4055066"/>
            <a:ext cx="2182008"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1</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בניית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MVP</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במינהל</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באגפי קהילה וחוץ ביתי</a:t>
            </a:r>
          </a:p>
        </p:txBody>
      </p:sp>
      <p:sp>
        <p:nvSpPr>
          <p:cNvPr id="49" name="Rectangle 48">
            <a:extLst>
              <a:ext uri="{FF2B5EF4-FFF2-40B4-BE49-F238E27FC236}">
                <a16:creationId xmlns:a16="http://schemas.microsoft.com/office/drawing/2014/main" id="{2DCA0C00-FDC1-4364-BFC9-A7C5CDE1F95C}"/>
              </a:ext>
            </a:extLst>
          </p:cNvPr>
          <p:cNvSpPr/>
          <p:nvPr/>
        </p:nvSpPr>
        <p:spPr>
          <a:xfrm>
            <a:off x="5463752" y="4055066"/>
            <a:ext cx="1676540"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3</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פיתוח והרחבה מול שותפים</a:t>
            </a:r>
          </a:p>
        </p:txBody>
      </p:sp>
      <p:sp>
        <p:nvSpPr>
          <p:cNvPr id="51" name="Rectangle 50">
            <a:extLst>
              <a:ext uri="{FF2B5EF4-FFF2-40B4-BE49-F238E27FC236}">
                <a16:creationId xmlns:a16="http://schemas.microsoft.com/office/drawing/2014/main" id="{5DAE2386-BC7C-4DAC-9A9D-CB298BA27C27}"/>
              </a:ext>
            </a:extLst>
          </p:cNvPr>
          <p:cNvSpPr/>
          <p:nvPr/>
        </p:nvSpPr>
        <p:spPr>
          <a:xfrm>
            <a:off x="6982536" y="4055066"/>
            <a:ext cx="2355845"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2</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מיפוי צרכים </a:t>
            </a:r>
            <a:r>
              <a:rPr kumimoji="0" lang="he-IL" sz="1800" b="0"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Calibri" panose="020F0502020204030204" pitchFamily="34" charset="0"/>
              </a:rPr>
              <a:t>במינהל</a:t>
            </a:r>
            <a:endPar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3" name="TextBox 52">
            <a:extLst>
              <a:ext uri="{FF2B5EF4-FFF2-40B4-BE49-F238E27FC236}">
                <a16:creationId xmlns:a16="http://schemas.microsoft.com/office/drawing/2014/main" id="{67ECE46D-F0D6-43B9-8CCE-D8AE81C67326}"/>
              </a:ext>
            </a:extLst>
          </p:cNvPr>
          <p:cNvSpPr txBox="1"/>
          <p:nvPr/>
        </p:nvSpPr>
        <p:spPr>
          <a:xfrm>
            <a:off x="9676380" y="3357903"/>
            <a:ext cx="218200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שלבים מרכזיים בפרויקט</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54" name="Group 53">
            <a:extLst>
              <a:ext uri="{FF2B5EF4-FFF2-40B4-BE49-F238E27FC236}">
                <a16:creationId xmlns:a16="http://schemas.microsoft.com/office/drawing/2014/main" id="{A6F58FF4-FE12-447C-A958-E05A45813D86}"/>
              </a:ext>
            </a:extLst>
          </p:cNvPr>
          <p:cNvGrpSpPr>
            <a:grpSpLocks noChangeAspect="1"/>
          </p:cNvGrpSpPr>
          <p:nvPr/>
        </p:nvGrpSpPr>
        <p:grpSpPr>
          <a:xfrm>
            <a:off x="7787081" y="330878"/>
            <a:ext cx="1902729" cy="213867"/>
            <a:chOff x="4313384" y="1520297"/>
            <a:chExt cx="4665515" cy="524404"/>
          </a:xfrm>
        </p:grpSpPr>
        <p:pic>
          <p:nvPicPr>
            <p:cNvPr id="55" name="Picture 54">
              <a:extLst>
                <a:ext uri="{FF2B5EF4-FFF2-40B4-BE49-F238E27FC236}">
                  <a16:creationId xmlns:a16="http://schemas.microsoft.com/office/drawing/2014/main" id="{7F74B44C-4079-45B2-8F84-BC453BC1B71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4798"/>
            <a:stretch/>
          </p:blipFill>
          <p:spPr>
            <a:xfrm>
              <a:off x="5003800" y="1520297"/>
              <a:ext cx="3975099" cy="524404"/>
            </a:xfrm>
            <a:prstGeom prst="rect">
              <a:avLst/>
            </a:prstGeom>
          </p:spPr>
        </p:pic>
        <p:grpSp>
          <p:nvGrpSpPr>
            <p:cNvPr id="56" name="Group 55">
              <a:extLst>
                <a:ext uri="{FF2B5EF4-FFF2-40B4-BE49-F238E27FC236}">
                  <a16:creationId xmlns:a16="http://schemas.microsoft.com/office/drawing/2014/main" id="{148C4683-ACB6-4389-9654-3A13C4BE625A}"/>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57" name="Rectangle: Rounded Corners 56">
                <a:extLst>
                  <a:ext uri="{FF2B5EF4-FFF2-40B4-BE49-F238E27FC236}">
                    <a16:creationId xmlns:a16="http://schemas.microsoft.com/office/drawing/2014/main" id="{33215AEA-411C-4E27-AF32-9615D85B3794}"/>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8" name="Rectangle: Rounded Corners 57">
                <a:extLst>
                  <a:ext uri="{FF2B5EF4-FFF2-40B4-BE49-F238E27FC236}">
                    <a16:creationId xmlns:a16="http://schemas.microsoft.com/office/drawing/2014/main" id="{CFD42696-26A3-466D-8C1B-60152AB31A05}"/>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9" name="Rectangle: Rounded Corners 58">
                <a:extLst>
                  <a:ext uri="{FF2B5EF4-FFF2-40B4-BE49-F238E27FC236}">
                    <a16:creationId xmlns:a16="http://schemas.microsoft.com/office/drawing/2014/main" id="{F6AE5CC4-995D-4FA2-8DB9-3F6F4D08ABB8}"/>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0" name="Rectangle: Rounded Corners 59">
                <a:extLst>
                  <a:ext uri="{FF2B5EF4-FFF2-40B4-BE49-F238E27FC236}">
                    <a16:creationId xmlns:a16="http://schemas.microsoft.com/office/drawing/2014/main" id="{650A9910-1186-4D02-BE94-E8E28E3E7B6B}"/>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1" name="Rectangle: Rounded Corners 60">
                <a:extLst>
                  <a:ext uri="{FF2B5EF4-FFF2-40B4-BE49-F238E27FC236}">
                    <a16:creationId xmlns:a16="http://schemas.microsoft.com/office/drawing/2014/main" id="{F3806033-6D33-439F-BDB7-FE5EB3D38408}"/>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sp>
        <p:nvSpPr>
          <p:cNvPr id="63" name="Freeform 78">
            <a:extLst>
              <a:ext uri="{FF2B5EF4-FFF2-40B4-BE49-F238E27FC236}">
                <a16:creationId xmlns:a16="http://schemas.microsoft.com/office/drawing/2014/main" id="{45FC6C2A-219D-4060-907E-20DC0B398E5B}"/>
              </a:ext>
            </a:extLst>
          </p:cNvPr>
          <p:cNvSpPr>
            <a:spLocks noEditPoints="1"/>
          </p:cNvSpPr>
          <p:nvPr/>
        </p:nvSpPr>
        <p:spPr bwMode="auto">
          <a:xfrm>
            <a:off x="11148004" y="3816206"/>
            <a:ext cx="193675" cy="250825"/>
          </a:xfrm>
          <a:custGeom>
            <a:avLst/>
            <a:gdLst>
              <a:gd name="T0" fmla="*/ 122 w 243"/>
              <a:gd name="T1" fmla="*/ 317 h 317"/>
              <a:gd name="T2" fmla="*/ 125 w 243"/>
              <a:gd name="T3" fmla="*/ 314 h 317"/>
              <a:gd name="T4" fmla="*/ 146 w 243"/>
              <a:gd name="T5" fmla="*/ 293 h 317"/>
              <a:gd name="T6" fmla="*/ 187 w 243"/>
              <a:gd name="T7" fmla="*/ 244 h 317"/>
              <a:gd name="T8" fmla="*/ 216 w 243"/>
              <a:gd name="T9" fmla="*/ 197 h 317"/>
              <a:gd name="T10" fmla="*/ 232 w 243"/>
              <a:gd name="T11" fmla="*/ 166 h 317"/>
              <a:gd name="T12" fmla="*/ 242 w 243"/>
              <a:gd name="T13" fmla="*/ 135 h 317"/>
              <a:gd name="T14" fmla="*/ 243 w 243"/>
              <a:gd name="T15" fmla="*/ 122 h 317"/>
              <a:gd name="T16" fmla="*/ 240 w 243"/>
              <a:gd name="T17" fmla="*/ 94 h 317"/>
              <a:gd name="T18" fmla="*/ 232 w 243"/>
              <a:gd name="T19" fmla="*/ 70 h 317"/>
              <a:gd name="T20" fmla="*/ 220 w 243"/>
              <a:gd name="T21" fmla="*/ 50 h 317"/>
              <a:gd name="T22" fmla="*/ 206 w 243"/>
              <a:gd name="T23" fmla="*/ 32 h 317"/>
              <a:gd name="T24" fmla="*/ 187 w 243"/>
              <a:gd name="T25" fmla="*/ 19 h 317"/>
              <a:gd name="T26" fmla="*/ 167 w 243"/>
              <a:gd name="T27" fmla="*/ 8 h 317"/>
              <a:gd name="T28" fmla="*/ 144 w 243"/>
              <a:gd name="T29" fmla="*/ 1 h 317"/>
              <a:gd name="T30" fmla="*/ 122 w 243"/>
              <a:gd name="T31" fmla="*/ 0 h 317"/>
              <a:gd name="T32" fmla="*/ 110 w 243"/>
              <a:gd name="T33" fmla="*/ 0 h 317"/>
              <a:gd name="T34" fmla="*/ 89 w 243"/>
              <a:gd name="T35" fmla="*/ 4 h 317"/>
              <a:gd name="T36" fmla="*/ 67 w 243"/>
              <a:gd name="T37" fmla="*/ 12 h 317"/>
              <a:gd name="T38" fmla="*/ 47 w 243"/>
              <a:gd name="T39" fmla="*/ 24 h 317"/>
              <a:gd name="T40" fmla="*/ 31 w 243"/>
              <a:gd name="T41" fmla="*/ 40 h 317"/>
              <a:gd name="T42" fmla="*/ 16 w 243"/>
              <a:gd name="T43" fmla="*/ 59 h 317"/>
              <a:gd name="T44" fmla="*/ 7 w 243"/>
              <a:gd name="T45" fmla="*/ 82 h 317"/>
              <a:gd name="T46" fmla="*/ 1 w 243"/>
              <a:gd name="T47" fmla="*/ 107 h 317"/>
              <a:gd name="T48" fmla="*/ 0 w 243"/>
              <a:gd name="T49" fmla="*/ 122 h 317"/>
              <a:gd name="T50" fmla="*/ 5 w 243"/>
              <a:gd name="T51" fmla="*/ 150 h 317"/>
              <a:gd name="T52" fmla="*/ 18 w 243"/>
              <a:gd name="T53" fmla="*/ 182 h 317"/>
              <a:gd name="T54" fmla="*/ 36 w 243"/>
              <a:gd name="T55" fmla="*/ 213 h 317"/>
              <a:gd name="T56" fmla="*/ 79 w 243"/>
              <a:gd name="T57" fmla="*/ 271 h 317"/>
              <a:gd name="T58" fmla="*/ 118 w 243"/>
              <a:gd name="T59" fmla="*/ 314 h 317"/>
              <a:gd name="T60" fmla="*/ 120 w 243"/>
              <a:gd name="T61" fmla="*/ 315 h 317"/>
              <a:gd name="T62" fmla="*/ 122 w 243"/>
              <a:gd name="T63" fmla="*/ 317 h 317"/>
              <a:gd name="T64" fmla="*/ 85 w 243"/>
              <a:gd name="T65" fmla="*/ 121 h 317"/>
              <a:gd name="T66" fmla="*/ 87 w 243"/>
              <a:gd name="T67" fmla="*/ 106 h 317"/>
              <a:gd name="T68" fmla="*/ 95 w 243"/>
              <a:gd name="T69" fmla="*/ 95 h 317"/>
              <a:gd name="T70" fmla="*/ 108 w 243"/>
              <a:gd name="T71" fmla="*/ 87 h 317"/>
              <a:gd name="T72" fmla="*/ 122 w 243"/>
              <a:gd name="T73" fmla="*/ 84 h 317"/>
              <a:gd name="T74" fmla="*/ 129 w 243"/>
              <a:gd name="T75" fmla="*/ 84 h 317"/>
              <a:gd name="T76" fmla="*/ 142 w 243"/>
              <a:gd name="T77" fmla="*/ 90 h 317"/>
              <a:gd name="T78" fmla="*/ 152 w 243"/>
              <a:gd name="T79" fmla="*/ 101 h 317"/>
              <a:gd name="T80" fmla="*/ 159 w 243"/>
              <a:gd name="T81" fmla="*/ 114 h 317"/>
              <a:gd name="T82" fmla="*/ 159 w 243"/>
              <a:gd name="T83" fmla="*/ 121 h 317"/>
              <a:gd name="T84" fmla="*/ 156 w 243"/>
              <a:gd name="T85" fmla="*/ 135 h 317"/>
              <a:gd name="T86" fmla="*/ 148 w 243"/>
              <a:gd name="T87" fmla="*/ 148 h 317"/>
              <a:gd name="T88" fmla="*/ 136 w 243"/>
              <a:gd name="T89" fmla="*/ 156 h 317"/>
              <a:gd name="T90" fmla="*/ 122 w 243"/>
              <a:gd name="T91" fmla="*/ 158 h 317"/>
              <a:gd name="T92" fmla="*/ 114 w 243"/>
              <a:gd name="T93" fmla="*/ 157 h 317"/>
              <a:gd name="T94" fmla="*/ 101 w 243"/>
              <a:gd name="T95" fmla="*/ 152 h 317"/>
              <a:gd name="T96" fmla="*/ 91 w 243"/>
              <a:gd name="T97" fmla="*/ 142 h 317"/>
              <a:gd name="T98" fmla="*/ 86 w 243"/>
              <a:gd name="T99" fmla="*/ 129 h 317"/>
              <a:gd name="T100" fmla="*/ 85 w 243"/>
              <a:gd name="T101" fmla="*/ 12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317">
                <a:moveTo>
                  <a:pt x="122" y="317"/>
                </a:moveTo>
                <a:lnTo>
                  <a:pt x="122" y="317"/>
                </a:lnTo>
                <a:lnTo>
                  <a:pt x="124" y="315"/>
                </a:lnTo>
                <a:lnTo>
                  <a:pt x="125" y="314"/>
                </a:lnTo>
                <a:lnTo>
                  <a:pt x="125" y="314"/>
                </a:lnTo>
                <a:lnTo>
                  <a:pt x="146" y="293"/>
                </a:lnTo>
                <a:lnTo>
                  <a:pt x="165" y="271"/>
                </a:lnTo>
                <a:lnTo>
                  <a:pt x="187" y="244"/>
                </a:lnTo>
                <a:lnTo>
                  <a:pt x="207" y="213"/>
                </a:lnTo>
                <a:lnTo>
                  <a:pt x="216" y="197"/>
                </a:lnTo>
                <a:lnTo>
                  <a:pt x="226" y="182"/>
                </a:lnTo>
                <a:lnTo>
                  <a:pt x="232" y="166"/>
                </a:lnTo>
                <a:lnTo>
                  <a:pt x="238" y="150"/>
                </a:lnTo>
                <a:lnTo>
                  <a:pt x="242" y="135"/>
                </a:lnTo>
                <a:lnTo>
                  <a:pt x="243" y="122"/>
                </a:lnTo>
                <a:lnTo>
                  <a:pt x="243" y="122"/>
                </a:lnTo>
                <a:lnTo>
                  <a:pt x="243" y="107"/>
                </a:lnTo>
                <a:lnTo>
                  <a:pt x="240" y="94"/>
                </a:lnTo>
                <a:lnTo>
                  <a:pt x="238" y="82"/>
                </a:lnTo>
                <a:lnTo>
                  <a:pt x="232" y="70"/>
                </a:lnTo>
                <a:lnTo>
                  <a:pt x="227" y="59"/>
                </a:lnTo>
                <a:lnTo>
                  <a:pt x="220" y="50"/>
                </a:lnTo>
                <a:lnTo>
                  <a:pt x="214" y="40"/>
                </a:lnTo>
                <a:lnTo>
                  <a:pt x="206" y="32"/>
                </a:lnTo>
                <a:lnTo>
                  <a:pt x="196" y="24"/>
                </a:lnTo>
                <a:lnTo>
                  <a:pt x="187" y="19"/>
                </a:lnTo>
                <a:lnTo>
                  <a:pt x="176" y="12"/>
                </a:lnTo>
                <a:lnTo>
                  <a:pt x="167" y="8"/>
                </a:lnTo>
                <a:lnTo>
                  <a:pt x="156" y="4"/>
                </a:lnTo>
                <a:lnTo>
                  <a:pt x="144" y="1"/>
                </a:lnTo>
                <a:lnTo>
                  <a:pt x="133" y="0"/>
                </a:lnTo>
                <a:lnTo>
                  <a:pt x="122" y="0"/>
                </a:lnTo>
                <a:lnTo>
                  <a:pt x="122" y="0"/>
                </a:lnTo>
                <a:lnTo>
                  <a:pt x="110" y="0"/>
                </a:lnTo>
                <a:lnTo>
                  <a:pt x="99" y="1"/>
                </a:lnTo>
                <a:lnTo>
                  <a:pt x="89" y="4"/>
                </a:lnTo>
                <a:lnTo>
                  <a:pt x="78" y="8"/>
                </a:lnTo>
                <a:lnTo>
                  <a:pt x="67" y="12"/>
                </a:lnTo>
                <a:lnTo>
                  <a:pt x="58" y="19"/>
                </a:lnTo>
                <a:lnTo>
                  <a:pt x="47" y="24"/>
                </a:lnTo>
                <a:lnTo>
                  <a:pt x="39" y="32"/>
                </a:lnTo>
                <a:lnTo>
                  <a:pt x="31" y="40"/>
                </a:lnTo>
                <a:lnTo>
                  <a:pt x="23" y="50"/>
                </a:lnTo>
                <a:lnTo>
                  <a:pt x="16" y="59"/>
                </a:lnTo>
                <a:lnTo>
                  <a:pt x="11" y="70"/>
                </a:lnTo>
                <a:lnTo>
                  <a:pt x="7" y="82"/>
                </a:lnTo>
                <a:lnTo>
                  <a:pt x="3" y="94"/>
                </a:lnTo>
                <a:lnTo>
                  <a:pt x="1" y="107"/>
                </a:lnTo>
                <a:lnTo>
                  <a:pt x="0" y="122"/>
                </a:lnTo>
                <a:lnTo>
                  <a:pt x="0" y="122"/>
                </a:lnTo>
                <a:lnTo>
                  <a:pt x="1" y="135"/>
                </a:lnTo>
                <a:lnTo>
                  <a:pt x="5" y="150"/>
                </a:lnTo>
                <a:lnTo>
                  <a:pt x="11" y="166"/>
                </a:lnTo>
                <a:lnTo>
                  <a:pt x="18" y="182"/>
                </a:lnTo>
                <a:lnTo>
                  <a:pt x="27" y="197"/>
                </a:lnTo>
                <a:lnTo>
                  <a:pt x="36" y="213"/>
                </a:lnTo>
                <a:lnTo>
                  <a:pt x="58" y="244"/>
                </a:lnTo>
                <a:lnTo>
                  <a:pt x="79" y="271"/>
                </a:lnTo>
                <a:lnTo>
                  <a:pt x="98" y="293"/>
                </a:lnTo>
                <a:lnTo>
                  <a:pt x="118" y="314"/>
                </a:lnTo>
                <a:lnTo>
                  <a:pt x="118" y="314"/>
                </a:lnTo>
                <a:lnTo>
                  <a:pt x="120" y="315"/>
                </a:lnTo>
                <a:lnTo>
                  <a:pt x="122" y="317"/>
                </a:lnTo>
                <a:lnTo>
                  <a:pt x="122" y="317"/>
                </a:lnTo>
                <a:close/>
                <a:moveTo>
                  <a:pt x="85" y="121"/>
                </a:moveTo>
                <a:lnTo>
                  <a:pt x="85" y="121"/>
                </a:lnTo>
                <a:lnTo>
                  <a:pt x="86" y="114"/>
                </a:lnTo>
                <a:lnTo>
                  <a:pt x="87" y="106"/>
                </a:lnTo>
                <a:lnTo>
                  <a:pt x="91" y="101"/>
                </a:lnTo>
                <a:lnTo>
                  <a:pt x="95" y="95"/>
                </a:lnTo>
                <a:lnTo>
                  <a:pt x="101" y="90"/>
                </a:lnTo>
                <a:lnTo>
                  <a:pt x="108" y="87"/>
                </a:lnTo>
                <a:lnTo>
                  <a:pt x="114" y="84"/>
                </a:lnTo>
                <a:lnTo>
                  <a:pt x="122" y="84"/>
                </a:lnTo>
                <a:lnTo>
                  <a:pt x="122" y="84"/>
                </a:lnTo>
                <a:lnTo>
                  <a:pt x="129" y="84"/>
                </a:lnTo>
                <a:lnTo>
                  <a:pt x="136" y="87"/>
                </a:lnTo>
                <a:lnTo>
                  <a:pt x="142" y="90"/>
                </a:lnTo>
                <a:lnTo>
                  <a:pt x="148" y="95"/>
                </a:lnTo>
                <a:lnTo>
                  <a:pt x="152" y="101"/>
                </a:lnTo>
                <a:lnTo>
                  <a:pt x="156" y="106"/>
                </a:lnTo>
                <a:lnTo>
                  <a:pt x="159" y="114"/>
                </a:lnTo>
                <a:lnTo>
                  <a:pt x="159" y="121"/>
                </a:lnTo>
                <a:lnTo>
                  <a:pt x="159" y="121"/>
                </a:lnTo>
                <a:lnTo>
                  <a:pt x="159" y="129"/>
                </a:lnTo>
                <a:lnTo>
                  <a:pt x="156" y="135"/>
                </a:lnTo>
                <a:lnTo>
                  <a:pt x="152" y="142"/>
                </a:lnTo>
                <a:lnTo>
                  <a:pt x="148" y="148"/>
                </a:lnTo>
                <a:lnTo>
                  <a:pt x="142" y="152"/>
                </a:lnTo>
                <a:lnTo>
                  <a:pt x="136" y="156"/>
                </a:lnTo>
                <a:lnTo>
                  <a:pt x="129" y="157"/>
                </a:lnTo>
                <a:lnTo>
                  <a:pt x="122" y="158"/>
                </a:lnTo>
                <a:lnTo>
                  <a:pt x="122" y="158"/>
                </a:lnTo>
                <a:lnTo>
                  <a:pt x="114" y="157"/>
                </a:lnTo>
                <a:lnTo>
                  <a:pt x="108" y="156"/>
                </a:lnTo>
                <a:lnTo>
                  <a:pt x="101" y="152"/>
                </a:lnTo>
                <a:lnTo>
                  <a:pt x="95" y="148"/>
                </a:lnTo>
                <a:lnTo>
                  <a:pt x="91" y="142"/>
                </a:lnTo>
                <a:lnTo>
                  <a:pt x="87" y="135"/>
                </a:lnTo>
                <a:lnTo>
                  <a:pt x="86" y="129"/>
                </a:lnTo>
                <a:lnTo>
                  <a:pt x="85" y="121"/>
                </a:lnTo>
                <a:lnTo>
                  <a:pt x="85" y="12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Picture 4" descr="fast forward&quot; Icon - Download for free – Iconduck">
            <a:extLst>
              <a:ext uri="{FF2B5EF4-FFF2-40B4-BE49-F238E27FC236}">
                <a16:creationId xmlns:a16="http://schemas.microsoft.com/office/drawing/2014/main" id="{B3ADB82E-7C90-6BEF-D93A-46D60140B2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471" y="6480925"/>
            <a:ext cx="313018" cy="317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1821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8965FBC1-2A82-108E-8B47-18FC6DCF50B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80720" y="1601500"/>
            <a:ext cx="5222240" cy="2903119"/>
          </a:xfrm>
          <a:prstGeom prst="rect">
            <a:avLst/>
          </a:prstGeom>
          <a:effectLst>
            <a:outerShdw blurRad="50800" dist="38100" dir="2700000" algn="tl" rotWithShape="0">
              <a:prstClr val="black">
                <a:alpha val="40000"/>
              </a:prstClr>
            </a:outerShdw>
          </a:effectLst>
        </p:spPr>
      </p:pic>
      <p:pic>
        <p:nvPicPr>
          <p:cNvPr id="3" name="תמונה 2">
            <a:extLst>
              <a:ext uri="{FF2B5EF4-FFF2-40B4-BE49-F238E27FC236}">
                <a16:creationId xmlns:a16="http://schemas.microsoft.com/office/drawing/2014/main" id="{0DDEDA06-D0CE-410B-BCCC-F2FF827A587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00" y="3179430"/>
            <a:ext cx="5669280" cy="3163481"/>
          </a:xfrm>
          <a:prstGeom prst="rect">
            <a:avLst/>
          </a:prstGeom>
          <a:effectLst>
            <a:outerShdw blurRad="50800" dist="38100" dir="2700000" algn="tl" rotWithShape="0">
              <a:prstClr val="black">
                <a:alpha val="40000"/>
              </a:prstClr>
            </a:outerShdw>
          </a:effectLst>
        </p:spPr>
      </p:pic>
      <p:grpSp>
        <p:nvGrpSpPr>
          <p:cNvPr id="5" name="Group 4">
            <a:extLst>
              <a:ext uri="{FF2B5EF4-FFF2-40B4-BE49-F238E27FC236}">
                <a16:creationId xmlns:a16="http://schemas.microsoft.com/office/drawing/2014/main" id="{A7121C56-1388-4841-9EC7-DDD4C1B48348}"/>
              </a:ext>
            </a:extLst>
          </p:cNvPr>
          <p:cNvGrpSpPr>
            <a:grpSpLocks noChangeAspect="1"/>
          </p:cNvGrpSpPr>
          <p:nvPr/>
        </p:nvGrpSpPr>
        <p:grpSpPr>
          <a:xfrm>
            <a:off x="9641840" y="542051"/>
            <a:ext cx="1902729" cy="213867"/>
            <a:chOff x="4313384" y="1520297"/>
            <a:chExt cx="4665515" cy="524404"/>
          </a:xfrm>
        </p:grpSpPr>
        <p:pic>
          <p:nvPicPr>
            <p:cNvPr id="6" name="Picture 5">
              <a:extLst>
                <a:ext uri="{FF2B5EF4-FFF2-40B4-BE49-F238E27FC236}">
                  <a16:creationId xmlns:a16="http://schemas.microsoft.com/office/drawing/2014/main" id="{B9C30878-9B4E-4D02-A5DC-86CA7B9E4961}"/>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l="14798"/>
            <a:stretch/>
          </p:blipFill>
          <p:spPr>
            <a:xfrm>
              <a:off x="5003800" y="1520297"/>
              <a:ext cx="3975099" cy="524404"/>
            </a:xfrm>
            <a:prstGeom prst="rect">
              <a:avLst/>
            </a:prstGeom>
          </p:spPr>
        </p:pic>
        <p:grpSp>
          <p:nvGrpSpPr>
            <p:cNvPr id="7" name="Group 6">
              <a:extLst>
                <a:ext uri="{FF2B5EF4-FFF2-40B4-BE49-F238E27FC236}">
                  <a16:creationId xmlns:a16="http://schemas.microsoft.com/office/drawing/2014/main" id="{1A6548EF-1583-4625-8B63-E73EC8B54195}"/>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8" name="Rectangle: Rounded Corners 7">
                <a:extLst>
                  <a:ext uri="{FF2B5EF4-FFF2-40B4-BE49-F238E27FC236}">
                    <a16:creationId xmlns:a16="http://schemas.microsoft.com/office/drawing/2014/main" id="{1A38BCC0-8804-4B36-BB99-B6ABDF3B1BBE}"/>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9" name="Rectangle: Rounded Corners 8">
                <a:extLst>
                  <a:ext uri="{FF2B5EF4-FFF2-40B4-BE49-F238E27FC236}">
                    <a16:creationId xmlns:a16="http://schemas.microsoft.com/office/drawing/2014/main" id="{4A7A56CB-8776-4A11-BBFC-8E67C8F479FC}"/>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0" name="Rectangle: Rounded Corners 9">
                <a:extLst>
                  <a:ext uri="{FF2B5EF4-FFF2-40B4-BE49-F238E27FC236}">
                    <a16:creationId xmlns:a16="http://schemas.microsoft.com/office/drawing/2014/main" id="{E12BF4B3-E293-4720-B01B-2FE8A7D62C8B}"/>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1" name="Rectangle: Rounded Corners 10">
                <a:extLst>
                  <a:ext uri="{FF2B5EF4-FFF2-40B4-BE49-F238E27FC236}">
                    <a16:creationId xmlns:a16="http://schemas.microsoft.com/office/drawing/2014/main" id="{E167B2BD-34C6-42EB-BE77-F96FFEC83F78}"/>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2" name="Rectangle: Rounded Corners 11">
                <a:extLst>
                  <a:ext uri="{FF2B5EF4-FFF2-40B4-BE49-F238E27FC236}">
                    <a16:creationId xmlns:a16="http://schemas.microsoft.com/office/drawing/2014/main" id="{6B94E952-462B-480B-99E7-60CEE384E920}"/>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sp>
        <p:nvSpPr>
          <p:cNvPr id="13" name="Rectangle 12">
            <a:extLst>
              <a:ext uri="{FF2B5EF4-FFF2-40B4-BE49-F238E27FC236}">
                <a16:creationId xmlns:a16="http://schemas.microsoft.com/office/drawing/2014/main" id="{92FB103E-DE3D-4D24-A7C1-3917713F4080}"/>
              </a:ext>
            </a:extLst>
          </p:cNvPr>
          <p:cNvSpPr/>
          <p:nvPr/>
        </p:nvSpPr>
        <p:spPr>
          <a:xfrm>
            <a:off x="5757966" y="823695"/>
            <a:ext cx="5960961" cy="496161"/>
          </a:xfrm>
          <a:prstGeom prst="rect">
            <a:avLst/>
          </a:prstGeom>
        </p:spPr>
        <p:txBody>
          <a:bodyPr wrap="square">
            <a:spAutoFit/>
          </a:body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Gap Analyzer </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דשבורדים לדוגמא</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2692889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יישום מדרגי: תכנון להטמעה מלאה של המערכת בכלל </a:t>
            </a:r>
            <a:r>
              <a:rPr kumimoji="0" lang="he-IL" sz="2800" b="0" i="0" u="none" strike="noStrike" kern="1200" cap="none" spc="-75" normalizeH="0" baseline="0" noProof="0" err="1">
                <a:ln>
                  <a:noFill/>
                </a:ln>
                <a:solidFill>
                  <a:srgbClr val="000000"/>
                </a:solidFill>
                <a:effectLst/>
                <a:uLnTx/>
                <a:uFillTx/>
                <a:latin typeface="Segoe UI" panose="020B0502040204020203" pitchFamily="34" charset="0"/>
                <a:ea typeface="Bebas Neue" charset="0"/>
                <a:cs typeface="Segoe UI" panose="020B0502040204020203" pitchFamily="34" charset="0"/>
              </a:rPr>
              <a:t>המינהלים</a:t>
            </a: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 במשרד </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endParaRPr>
          </a:p>
        </p:txBody>
      </p:sp>
      <p:sp>
        <p:nvSpPr>
          <p:cNvPr id="3" name="Rectangle 2">
            <a:extLst>
              <a:ext uri="{FF2B5EF4-FFF2-40B4-BE49-F238E27FC236}">
                <a16:creationId xmlns:a16="http://schemas.microsoft.com/office/drawing/2014/main" id="{36AA4D10-58F5-3062-0D31-3E98BF2BD4A1}"/>
              </a:ext>
            </a:extLst>
          </p:cNvPr>
          <p:cNvSpPr/>
          <p:nvPr/>
        </p:nvSpPr>
        <p:spPr bwMode="gray">
          <a:xfrm>
            <a:off x="10245081" y="764258"/>
            <a:ext cx="1604199" cy="47748"/>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1" name="Oval 40">
            <a:extLst>
              <a:ext uri="{FF2B5EF4-FFF2-40B4-BE49-F238E27FC236}">
                <a16:creationId xmlns:a16="http://schemas.microsoft.com/office/drawing/2014/main" id="{3F8437C4-F74B-DF2D-D2BA-E743D98C92B3}"/>
              </a:ext>
            </a:extLst>
          </p:cNvPr>
          <p:cNvSpPr/>
          <p:nvPr/>
        </p:nvSpPr>
        <p:spPr bwMode="gray">
          <a:xfrm>
            <a:off x="1743075" y="4252292"/>
            <a:ext cx="1440000" cy="144000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2" name="Oval 41">
            <a:extLst>
              <a:ext uri="{FF2B5EF4-FFF2-40B4-BE49-F238E27FC236}">
                <a16:creationId xmlns:a16="http://schemas.microsoft.com/office/drawing/2014/main" id="{11F05DA7-17E5-644D-A048-B4F5343C0886}"/>
              </a:ext>
            </a:extLst>
          </p:cNvPr>
          <p:cNvSpPr/>
          <p:nvPr/>
        </p:nvSpPr>
        <p:spPr bwMode="gray">
          <a:xfrm>
            <a:off x="3545709" y="3586237"/>
            <a:ext cx="1440000" cy="1440000"/>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3" name="Oval 42">
            <a:extLst>
              <a:ext uri="{FF2B5EF4-FFF2-40B4-BE49-F238E27FC236}">
                <a16:creationId xmlns:a16="http://schemas.microsoft.com/office/drawing/2014/main" id="{A94B415C-0908-E71A-45C6-DD35F44F6CC2}"/>
              </a:ext>
            </a:extLst>
          </p:cNvPr>
          <p:cNvSpPr/>
          <p:nvPr/>
        </p:nvSpPr>
        <p:spPr bwMode="gray">
          <a:xfrm>
            <a:off x="5348343" y="2920180"/>
            <a:ext cx="1440000" cy="1440000"/>
          </a:xfrm>
          <a:prstGeom prst="ellipse">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4" name="Oval 43">
            <a:extLst>
              <a:ext uri="{FF2B5EF4-FFF2-40B4-BE49-F238E27FC236}">
                <a16:creationId xmlns:a16="http://schemas.microsoft.com/office/drawing/2014/main" id="{F94DCBBB-F4C7-2D03-9EA9-00CF62893BB7}"/>
              </a:ext>
            </a:extLst>
          </p:cNvPr>
          <p:cNvSpPr/>
          <p:nvPr/>
        </p:nvSpPr>
        <p:spPr bwMode="gray">
          <a:xfrm>
            <a:off x="7150977" y="2254123"/>
            <a:ext cx="1440000" cy="1440000"/>
          </a:xfrm>
          <a:prstGeom prst="ellipse">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5" name="Oval 44">
            <a:extLst>
              <a:ext uri="{FF2B5EF4-FFF2-40B4-BE49-F238E27FC236}">
                <a16:creationId xmlns:a16="http://schemas.microsoft.com/office/drawing/2014/main" id="{E22FA078-C6C1-95F0-4E37-31875425D3DF}"/>
              </a:ext>
            </a:extLst>
          </p:cNvPr>
          <p:cNvSpPr/>
          <p:nvPr/>
        </p:nvSpPr>
        <p:spPr bwMode="gray">
          <a:xfrm>
            <a:off x="8953612" y="1588066"/>
            <a:ext cx="1440000" cy="1440000"/>
          </a:xfrm>
          <a:prstGeom prst="ellips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pic>
        <p:nvPicPr>
          <p:cNvPr id="47" name="Graphic 46" descr="Back with solid fill">
            <a:extLst>
              <a:ext uri="{FF2B5EF4-FFF2-40B4-BE49-F238E27FC236}">
                <a16:creationId xmlns:a16="http://schemas.microsoft.com/office/drawing/2014/main" id="{7BC8C853-E5C2-0125-3006-FEC48CAA256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2580042" y="3571837"/>
            <a:ext cx="914400" cy="914400"/>
          </a:xfrm>
          <a:prstGeom prst="rect">
            <a:avLst/>
          </a:prstGeom>
        </p:spPr>
      </p:pic>
      <p:pic>
        <p:nvPicPr>
          <p:cNvPr id="48" name="Graphic 47" descr="Back with solid fill">
            <a:extLst>
              <a:ext uri="{FF2B5EF4-FFF2-40B4-BE49-F238E27FC236}">
                <a16:creationId xmlns:a16="http://schemas.microsoft.com/office/drawing/2014/main" id="{E4D0CB69-ACFC-9706-4C5D-FDFBD4864A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4377814" y="2868638"/>
            <a:ext cx="914400" cy="914400"/>
          </a:xfrm>
          <a:prstGeom prst="rect">
            <a:avLst/>
          </a:prstGeom>
        </p:spPr>
      </p:pic>
      <p:pic>
        <p:nvPicPr>
          <p:cNvPr id="49" name="Graphic 48" descr="Back with solid fill">
            <a:extLst>
              <a:ext uri="{FF2B5EF4-FFF2-40B4-BE49-F238E27FC236}">
                <a16:creationId xmlns:a16="http://schemas.microsoft.com/office/drawing/2014/main" id="{DA50FF99-0AD2-BEE4-FC00-FCAD0D3D2237}"/>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6183714" y="2181696"/>
            <a:ext cx="914400" cy="914400"/>
          </a:xfrm>
          <a:prstGeom prst="rect">
            <a:avLst/>
          </a:prstGeom>
        </p:spPr>
      </p:pic>
      <p:pic>
        <p:nvPicPr>
          <p:cNvPr id="50" name="Graphic 49" descr="Back with solid fill">
            <a:extLst>
              <a:ext uri="{FF2B5EF4-FFF2-40B4-BE49-F238E27FC236}">
                <a16:creationId xmlns:a16="http://schemas.microsoft.com/office/drawing/2014/main" id="{691CB75E-705D-CE9D-DF90-D1CA2784449D}"/>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7993677" y="1502882"/>
            <a:ext cx="914400" cy="914400"/>
          </a:xfrm>
          <a:prstGeom prst="rect">
            <a:avLst/>
          </a:prstGeom>
        </p:spPr>
      </p:pic>
      <p:sp>
        <p:nvSpPr>
          <p:cNvPr id="52" name="TextBox 51">
            <a:extLst>
              <a:ext uri="{FF2B5EF4-FFF2-40B4-BE49-F238E27FC236}">
                <a16:creationId xmlns:a16="http://schemas.microsoft.com/office/drawing/2014/main" id="{1E2906B9-74D5-C07A-5378-37C897378AB5}"/>
              </a:ext>
            </a:extLst>
          </p:cNvPr>
          <p:cNvSpPr txBox="1"/>
          <p:nvPr/>
        </p:nvSpPr>
        <p:spPr>
          <a:xfrm>
            <a:off x="1743075" y="4378090"/>
            <a:ext cx="1407421"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שלב 1</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בניית </a:t>
            </a:r>
            <a:r>
              <a:rPr kumimoji="0" lang="en-US"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MVP</a:t>
            </a: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 </a:t>
            </a:r>
            <a:r>
              <a:rPr kumimoji="0" lang="he-IL" sz="1400" b="0" i="0" u="none" strike="noStrike" kern="1200" cap="none" spc="-75" normalizeH="0" baseline="0" noProof="0" dirty="0" err="1">
                <a:ln>
                  <a:noFill/>
                </a:ln>
                <a:solidFill>
                  <a:srgbClr val="000000"/>
                </a:solidFill>
                <a:effectLst/>
                <a:uLnTx/>
                <a:uFillTx/>
                <a:latin typeface="Segoe UI" panose="020B0502040204020203" pitchFamily="34" charset="0"/>
                <a:ea typeface="+mn-ea"/>
                <a:cs typeface="Segoe UI" panose="020B0502040204020203" pitchFamily="34" charset="0"/>
              </a:rPr>
              <a:t>במינהל</a:t>
            </a: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 במדדים שייבחרו</a:t>
            </a:r>
          </a:p>
        </p:txBody>
      </p:sp>
      <p:sp>
        <p:nvSpPr>
          <p:cNvPr id="53" name="TextBox 52">
            <a:extLst>
              <a:ext uri="{FF2B5EF4-FFF2-40B4-BE49-F238E27FC236}">
                <a16:creationId xmlns:a16="http://schemas.microsoft.com/office/drawing/2014/main" id="{FAD1DF89-6660-3B6B-1E0B-48CA884817F3}"/>
              </a:ext>
            </a:extLst>
          </p:cNvPr>
          <p:cNvSpPr txBox="1"/>
          <p:nvPr/>
        </p:nvSpPr>
        <p:spPr>
          <a:xfrm>
            <a:off x="3494442" y="3718552"/>
            <a:ext cx="1525350"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שלב 2</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בירור צרכים והרחבה למדדים נוספים </a:t>
            </a:r>
            <a:r>
              <a:rPr kumimoji="0" lang="he-IL" sz="1400" b="0" i="0" u="none" strike="noStrike" kern="1200" cap="none" spc="-75" normalizeH="0" baseline="0" noProof="0" dirty="0" err="1">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במינהל</a:t>
            </a:r>
            <a:r>
              <a:rPr kumimoji="0" lang="he-IL" sz="1400" b="0"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 </a:t>
            </a:r>
          </a:p>
        </p:txBody>
      </p:sp>
      <p:sp>
        <p:nvSpPr>
          <p:cNvPr id="54" name="TextBox 53">
            <a:extLst>
              <a:ext uri="{FF2B5EF4-FFF2-40B4-BE49-F238E27FC236}">
                <a16:creationId xmlns:a16="http://schemas.microsoft.com/office/drawing/2014/main" id="{EAC05A5B-A2D0-1BAB-5DC4-3B8ACC127CED}"/>
              </a:ext>
            </a:extLst>
          </p:cNvPr>
          <p:cNvSpPr txBox="1"/>
          <p:nvPr/>
        </p:nvSpPr>
        <p:spPr>
          <a:xfrm>
            <a:off x="5305668" y="3072970"/>
            <a:ext cx="1525350"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rPr>
              <a:t>שלב 3</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rPr>
              <a:t>הפעלה ושיפור מתמיד של הכלי </a:t>
            </a:r>
            <a:r>
              <a:rPr kumimoji="0" lang="he-IL" sz="1400" b="0" i="0" u="none" strike="noStrike" kern="1200" cap="none" spc="-75" normalizeH="0" baseline="0" noProof="0" dirty="0" err="1">
                <a:ln>
                  <a:noFill/>
                </a:ln>
                <a:solidFill>
                  <a:srgbClr val="F3F1F2"/>
                </a:solidFill>
                <a:effectLst/>
                <a:uLnTx/>
                <a:uFillTx/>
                <a:latin typeface="Segoe UI" panose="020B0502040204020203" pitchFamily="34" charset="0"/>
                <a:ea typeface="+mn-ea"/>
                <a:cs typeface="Segoe UI" panose="020B0502040204020203" pitchFamily="34" charset="0"/>
              </a:rPr>
              <a:t>במינהל</a:t>
            </a:r>
            <a:endParaRPr kumimoji="0" lang="he-IL" sz="1400" b="0"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endParaRPr>
          </a:p>
        </p:txBody>
      </p:sp>
      <p:sp>
        <p:nvSpPr>
          <p:cNvPr id="55" name="TextBox 54">
            <a:extLst>
              <a:ext uri="{FF2B5EF4-FFF2-40B4-BE49-F238E27FC236}">
                <a16:creationId xmlns:a16="http://schemas.microsoft.com/office/drawing/2014/main" id="{2D2B38B1-D7BF-D918-2FD4-0016708D642F}"/>
              </a:ext>
            </a:extLst>
          </p:cNvPr>
          <p:cNvSpPr txBox="1"/>
          <p:nvPr/>
        </p:nvSpPr>
        <p:spPr>
          <a:xfrm>
            <a:off x="7116894" y="2317244"/>
            <a:ext cx="1482675" cy="1384995"/>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שלב 4</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הוספת מדדי אימפקט ויישום לאורך תאוריית השינוי</a:t>
            </a:r>
          </a:p>
        </p:txBody>
      </p:sp>
      <p:sp>
        <p:nvSpPr>
          <p:cNvPr id="56" name="TextBox 55">
            <a:extLst>
              <a:ext uri="{FF2B5EF4-FFF2-40B4-BE49-F238E27FC236}">
                <a16:creationId xmlns:a16="http://schemas.microsoft.com/office/drawing/2014/main" id="{1E49D082-CCC1-EC95-1C51-75FCFB544D62}"/>
              </a:ext>
            </a:extLst>
          </p:cNvPr>
          <p:cNvSpPr txBox="1"/>
          <p:nvPr/>
        </p:nvSpPr>
        <p:spPr>
          <a:xfrm>
            <a:off x="8910937" y="1779630"/>
            <a:ext cx="1525350" cy="954107"/>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שלב 5</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הרחבה </a:t>
            </a:r>
            <a:r>
              <a:rPr kumimoji="0" lang="he-IL" sz="1400" b="0" i="0" u="none" strike="noStrike" kern="1200" cap="none" spc="-75" normalizeH="0" baseline="0" noProof="0" err="1">
                <a:ln>
                  <a:noFill/>
                </a:ln>
                <a:solidFill>
                  <a:srgbClr val="F3F1F2"/>
                </a:solidFill>
                <a:effectLst/>
                <a:uLnTx/>
                <a:uFillTx/>
                <a:latin typeface="Segoe UI" panose="020B0502040204020203" pitchFamily="34" charset="0"/>
                <a:ea typeface="+mn-ea"/>
                <a:cs typeface="Segoe UI" panose="020B0502040204020203" pitchFamily="34" charset="0"/>
              </a:rPr>
              <a:t>למינהלים</a:t>
            </a: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 אחרים במשרד</a:t>
            </a:r>
          </a:p>
        </p:txBody>
      </p:sp>
      <p:sp>
        <p:nvSpPr>
          <p:cNvPr id="4" name="תיבת טקסט 3">
            <a:extLst>
              <a:ext uri="{FF2B5EF4-FFF2-40B4-BE49-F238E27FC236}">
                <a16:creationId xmlns:a16="http://schemas.microsoft.com/office/drawing/2014/main" id="{07E85018-5C1C-9C44-70A1-4C450622D303}"/>
              </a:ext>
            </a:extLst>
          </p:cNvPr>
          <p:cNvSpPr txBox="1"/>
          <p:nvPr/>
        </p:nvSpPr>
        <p:spPr>
          <a:xfrm>
            <a:off x="3723717" y="5439919"/>
            <a:ext cx="1066800" cy="215444"/>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אנחנו כאן</a:t>
            </a:r>
            <a:endParaRPr kumimoji="0" lang="en-US"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p:txBody>
      </p:sp>
      <p:cxnSp>
        <p:nvCxnSpPr>
          <p:cNvPr id="6" name="מחבר חץ ישר 5">
            <a:extLst>
              <a:ext uri="{FF2B5EF4-FFF2-40B4-BE49-F238E27FC236}">
                <a16:creationId xmlns:a16="http://schemas.microsoft.com/office/drawing/2014/main" id="{07AF6AAF-B81B-F961-1202-EBE13DBB98E1}"/>
              </a:ext>
            </a:extLst>
          </p:cNvPr>
          <p:cNvCxnSpPr>
            <a:endCxn id="42" idx="4"/>
          </p:cNvCxnSpPr>
          <p:nvPr/>
        </p:nvCxnSpPr>
        <p:spPr>
          <a:xfrm flipV="1">
            <a:off x="4257117" y="5026237"/>
            <a:ext cx="8592" cy="41368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8" name="גרפיקה 7" descr="חזור עם מילוי מלא">
            <a:extLst>
              <a:ext uri="{FF2B5EF4-FFF2-40B4-BE49-F238E27FC236}">
                <a16:creationId xmlns:a16="http://schemas.microsoft.com/office/drawing/2014/main" id="{DD9554A4-5050-93A7-BD90-5A237FBB724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5909077" y="4395311"/>
            <a:ext cx="373845" cy="373845"/>
          </a:xfrm>
          <a:prstGeom prst="rect">
            <a:avLst/>
          </a:prstGeom>
        </p:spPr>
      </p:pic>
      <p:pic>
        <p:nvPicPr>
          <p:cNvPr id="9" name="גרפיקה 8" descr="חזור עם מילוי מלא">
            <a:extLst>
              <a:ext uri="{FF2B5EF4-FFF2-40B4-BE49-F238E27FC236}">
                <a16:creationId xmlns:a16="http://schemas.microsoft.com/office/drawing/2014/main" id="{13E110A0-5580-EFD5-A6B1-A4D480D9F14B}"/>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7684054" y="3718552"/>
            <a:ext cx="373845" cy="373845"/>
          </a:xfrm>
          <a:prstGeom prst="rect">
            <a:avLst/>
          </a:prstGeom>
        </p:spPr>
      </p:pic>
    </p:spTree>
    <p:extLst>
      <p:ext uri="{BB962C8B-B14F-4D97-AF65-F5344CB8AC3E}">
        <p14:creationId xmlns:p14="http://schemas.microsoft.com/office/powerpoint/2010/main" val="791151690"/>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0D08225-B96A-4E6D-B0C6-5ECBDA4496BF}"/>
              </a:ext>
            </a:extLst>
          </p:cNvPr>
          <p:cNvSpPr/>
          <p:nvPr/>
        </p:nvSpPr>
        <p:spPr>
          <a:xfrm>
            <a:off x="5554515" y="3923673"/>
            <a:ext cx="4906557" cy="1276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16" name="Picture 15">
            <a:extLst>
              <a:ext uri="{FF2B5EF4-FFF2-40B4-BE49-F238E27FC236}">
                <a16:creationId xmlns:a16="http://schemas.microsoft.com/office/drawing/2014/main" id="{B65F56E5-8268-49A8-B057-E5D4F0AEEF8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4662968" cy="6858000"/>
          </a:xfrm>
          <a:prstGeom prst="rect">
            <a:avLst/>
          </a:prstGeom>
        </p:spPr>
      </p:pic>
      <p:sp>
        <p:nvSpPr>
          <p:cNvPr id="2" name="TextBox 1">
            <a:extLst>
              <a:ext uri="{FF2B5EF4-FFF2-40B4-BE49-F238E27FC236}">
                <a16:creationId xmlns:a16="http://schemas.microsoft.com/office/drawing/2014/main" id="{BAF50545-988F-4BF9-803E-6067E29776EE}"/>
              </a:ext>
            </a:extLst>
          </p:cNvPr>
          <p:cNvSpPr txBox="1"/>
          <p:nvPr/>
        </p:nvSpPr>
        <p:spPr>
          <a:xfrm>
            <a:off x="4662968" y="406142"/>
            <a:ext cx="6842312"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צמ"מ</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דאטה – </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AI</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לאיתור הזנחה והתעללות</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357A99FC-DACD-4600-836C-8FC84CDB09B2}"/>
              </a:ext>
            </a:extLst>
          </p:cNvPr>
          <p:cNvSpPr txBox="1"/>
          <p:nvPr/>
        </p:nvSpPr>
        <p:spPr>
          <a:xfrm>
            <a:off x="5070764" y="1229360"/>
            <a:ext cx="643451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1</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שימוש בנתונים סביב מקרה בוחן נבחר של זקנים בסיכון להתעללות והזנחה, לצורך איתור, טיפול ומניעה מוקדמת של אוכלוסייה בסיכון</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 name="TextBox 11">
            <a:extLst>
              <a:ext uri="{FF2B5EF4-FFF2-40B4-BE49-F238E27FC236}">
                <a16:creationId xmlns:a16="http://schemas.microsoft.com/office/drawing/2014/main" id="{498DEB85-01A3-4F75-8F6A-F9C5405AE757}"/>
              </a:ext>
            </a:extLst>
          </p:cNvPr>
          <p:cNvSpPr txBox="1"/>
          <p:nvPr/>
        </p:nvSpPr>
        <p:spPr>
          <a:xfrm>
            <a:off x="5264727" y="1929552"/>
            <a:ext cx="6240553"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2</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יצירת תשתית עבודה ממשלתית טכנולוגית, משפטית ומתודולוגית לשימוש בנתונים לצורך זיהוי וטיפול מונע של בעיות חברתיות</a:t>
            </a:r>
          </a:p>
        </p:txBody>
      </p:sp>
      <p:sp>
        <p:nvSpPr>
          <p:cNvPr id="13" name="TextBox 12">
            <a:extLst>
              <a:ext uri="{FF2B5EF4-FFF2-40B4-BE49-F238E27FC236}">
                <a16:creationId xmlns:a16="http://schemas.microsoft.com/office/drawing/2014/main" id="{E40D020F-EEE5-43C9-97C8-D77C5236045F}"/>
              </a:ext>
            </a:extLst>
          </p:cNvPr>
          <p:cNvSpPr txBox="1"/>
          <p:nvPr/>
        </p:nvSpPr>
        <p:spPr>
          <a:xfrm>
            <a:off x="6553199" y="2704762"/>
            <a:ext cx="4997800"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האמצעי</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שימוש בטכנולוגיית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AI</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 ואלגוריתמים סטטיסטיים על נתונים של כ-22 אלף אזרחים ותיקים </a:t>
            </a:r>
          </a:p>
        </p:txBody>
      </p:sp>
      <p:sp>
        <p:nvSpPr>
          <p:cNvPr id="14" name="TextBox 13">
            <a:extLst>
              <a:ext uri="{FF2B5EF4-FFF2-40B4-BE49-F238E27FC236}">
                <a16:creationId xmlns:a16="http://schemas.microsoft.com/office/drawing/2014/main" id="{B37620F0-B78D-41A3-ABEB-7FAFC4C275F1}"/>
              </a:ext>
            </a:extLst>
          </p:cNvPr>
          <p:cNvSpPr txBox="1"/>
          <p:nvPr/>
        </p:nvSpPr>
        <p:spPr>
          <a:xfrm>
            <a:off x="4942100" y="3404954"/>
            <a:ext cx="6586039"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תוצאות ביניים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מתוך מאות משתנים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זוהו חמישה עם קורלציה גבוהה להזנחה והתעללות:</a:t>
            </a:r>
          </a:p>
        </p:txBody>
      </p:sp>
      <p:sp>
        <p:nvSpPr>
          <p:cNvPr id="17" name="Rectangle 16">
            <a:extLst>
              <a:ext uri="{FF2B5EF4-FFF2-40B4-BE49-F238E27FC236}">
                <a16:creationId xmlns:a16="http://schemas.microsoft.com/office/drawing/2014/main" id="{CE997EFC-8B4D-411C-A902-505CFE9E0B60}"/>
              </a:ext>
            </a:extLst>
          </p:cNvPr>
          <p:cNvSpPr/>
          <p:nvPr/>
        </p:nvSpPr>
        <p:spPr>
          <a:xfrm>
            <a:off x="0" y="0"/>
            <a:ext cx="4662968" cy="6858000"/>
          </a:xfrm>
          <a:prstGeom prst="rect">
            <a:avLst/>
          </a:prstGeom>
          <a:solidFill>
            <a:schemeClr val="bg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TextBox 17">
            <a:extLst>
              <a:ext uri="{FF2B5EF4-FFF2-40B4-BE49-F238E27FC236}">
                <a16:creationId xmlns:a16="http://schemas.microsoft.com/office/drawing/2014/main" id="{3B9BA150-7FB5-41FE-835A-2E4D488BB534}"/>
              </a:ext>
            </a:extLst>
          </p:cNvPr>
          <p:cNvSpPr txBox="1"/>
          <p:nvPr/>
        </p:nvSpPr>
        <p:spPr>
          <a:xfrm>
            <a:off x="8235119" y="4051285"/>
            <a:ext cx="3275680" cy="1754326"/>
          </a:xfrm>
          <a:prstGeom prst="rect">
            <a:avLst/>
          </a:prstGeom>
          <a:noFill/>
        </p:spPr>
        <p:txBody>
          <a:bodyPr wrap="square" rtlCol="0">
            <a:spAutoFit/>
          </a:bodyPr>
          <a:lstStyle/>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 נשוי</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בעל נכות</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גיל 71+</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אינו אקדמאי</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הכנסה נמוכה מ 2,375 ₪</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TextBox 13">
            <a:extLst>
              <a:ext uri="{FF2B5EF4-FFF2-40B4-BE49-F238E27FC236}">
                <a16:creationId xmlns:a16="http://schemas.microsoft.com/office/drawing/2014/main" id="{26BA7782-02C3-60EC-B1F3-17EC11122120}"/>
              </a:ext>
            </a:extLst>
          </p:cNvPr>
          <p:cNvSpPr txBox="1"/>
          <p:nvPr/>
        </p:nvSpPr>
        <p:spPr>
          <a:xfrm>
            <a:off x="6210299" y="5633858"/>
            <a:ext cx="5317840"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השלב הבא</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תיקוף הממצאים עיריית ירושלים,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פיתוח מודל התערבות ומדידה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במקביל: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פיתוח </a:t>
            </a:r>
            <a:r>
              <a:rPr kumimoji="0" lang="he-IL" sz="1800" b="0" i="0" u="none" strike="noStrike" kern="1200" cap="none" spc="0" normalizeH="0" baseline="0" noProof="0" dirty="0" err="1">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צמ"מ</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 סיכון לניתוק חברתי והתדרדרות תפקודית</a:t>
            </a:r>
            <a:endParaRPr kumimoji="0" lang="he-IL" sz="1800" b="1"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endParaRPr>
          </a:p>
        </p:txBody>
      </p:sp>
    </p:spTree>
    <p:extLst>
      <p:ext uri="{BB962C8B-B14F-4D97-AF65-F5344CB8AC3E}">
        <p14:creationId xmlns:p14="http://schemas.microsoft.com/office/powerpoint/2010/main" val="26455064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B1546BE-ED3A-4CEC-B27F-C90D888F070B}"/>
              </a:ext>
            </a:extLst>
          </p:cNvPr>
          <p:cNvSpPr/>
          <p:nvPr/>
        </p:nvSpPr>
        <p:spPr>
          <a:xfrm>
            <a:off x="0" y="5835192"/>
            <a:ext cx="12192000" cy="102280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9" name="TextBox 38">
            <a:extLst>
              <a:ext uri="{FF2B5EF4-FFF2-40B4-BE49-F238E27FC236}">
                <a16:creationId xmlns:a16="http://schemas.microsoft.com/office/drawing/2014/main" id="{9444C1FE-D509-4D9A-9FE2-55A9181D78D1}"/>
              </a:ext>
            </a:extLst>
          </p:cNvPr>
          <p:cNvSpPr txBox="1"/>
          <p:nvPr/>
        </p:nvSpPr>
        <p:spPr>
          <a:xfrm>
            <a:off x="3953355" y="85808"/>
            <a:ext cx="7695501" cy="156966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t>האזרח הוותיק במרכז- </a:t>
            </a:r>
            <a:r>
              <a:rPr kumimoji="0" lang="en-US"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t/>
            </a:r>
            <a:br>
              <a:rPr kumimoji="0" lang="en-US"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b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מהלכים להתאמת שירותים במטרה למקסם את מיצוי הזכויות ואיכות השירות</a:t>
            </a:r>
          </a:p>
        </p:txBody>
      </p:sp>
      <p:sp>
        <p:nvSpPr>
          <p:cNvPr id="41" name="TextBox 40">
            <a:extLst>
              <a:ext uri="{FF2B5EF4-FFF2-40B4-BE49-F238E27FC236}">
                <a16:creationId xmlns:a16="http://schemas.microsoft.com/office/drawing/2014/main" id="{6B1EA28F-83EB-4F1E-9718-CA2AAB2604E8}"/>
              </a:ext>
            </a:extLst>
          </p:cNvPr>
          <p:cNvSpPr txBox="1"/>
          <p:nvPr/>
        </p:nvSpPr>
        <p:spPr>
          <a:xfrm>
            <a:off x="3158634" y="2089081"/>
            <a:ext cx="4286658" cy="58477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rPr>
              <a:t>פיתוח מודל בין משרדי לטובת הסדרה ואיחוד הגדרות זכאות לשירותים ותמיכה כלל ממשלתיים</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3" name="TextBox 42">
            <a:extLst>
              <a:ext uri="{FF2B5EF4-FFF2-40B4-BE49-F238E27FC236}">
                <a16:creationId xmlns:a16="http://schemas.microsoft.com/office/drawing/2014/main" id="{C99FEF30-E6F8-43EC-9366-A9F41CFFD9C2}"/>
              </a:ext>
            </a:extLst>
          </p:cNvPr>
          <p:cNvSpPr txBox="1"/>
          <p:nvPr/>
        </p:nvSpPr>
        <p:spPr>
          <a:xfrm>
            <a:off x="2233827" y="1655468"/>
            <a:ext cx="5211465"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שינוי מודל מבחני הכנסה: איחוד וקיצור</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4" name="TextBox 43">
            <a:extLst>
              <a:ext uri="{FF2B5EF4-FFF2-40B4-BE49-F238E27FC236}">
                <a16:creationId xmlns:a16="http://schemas.microsoft.com/office/drawing/2014/main" id="{96D97C46-E6EA-4ECD-9797-2B06F07B7BBE}"/>
              </a:ext>
            </a:extLst>
          </p:cNvPr>
          <p:cNvSpPr txBox="1"/>
          <p:nvPr/>
        </p:nvSpPr>
        <p:spPr>
          <a:xfrm>
            <a:off x="3365505" y="3520452"/>
            <a:ext cx="4079787"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rPr>
              <a:t>מנגנון העברות מידע אוטומטיות בין משרדים לטובת פישוט תהליכי עבודה מול הלקוח</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5" name="TextBox 44">
            <a:extLst>
              <a:ext uri="{FF2B5EF4-FFF2-40B4-BE49-F238E27FC236}">
                <a16:creationId xmlns:a16="http://schemas.microsoft.com/office/drawing/2014/main" id="{CB5955F0-A5B9-4C91-9CD8-F285D71FE736}"/>
              </a:ext>
            </a:extLst>
          </p:cNvPr>
          <p:cNvSpPr txBox="1"/>
          <p:nvPr/>
        </p:nvSpPr>
        <p:spPr>
          <a:xfrm>
            <a:off x="2850041" y="3102428"/>
            <a:ext cx="4595251"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העברות מידע בין משרדיות </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6" name="TextBox 45">
            <a:extLst>
              <a:ext uri="{FF2B5EF4-FFF2-40B4-BE49-F238E27FC236}">
                <a16:creationId xmlns:a16="http://schemas.microsoft.com/office/drawing/2014/main" id="{BDA0B70F-8BC2-4CEE-94CF-875555D650D0}"/>
              </a:ext>
            </a:extLst>
          </p:cNvPr>
          <p:cNvSpPr txBox="1"/>
          <p:nvPr/>
        </p:nvSpPr>
        <p:spPr>
          <a:xfrm>
            <a:off x="2738430" y="4928188"/>
            <a:ext cx="4706862"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Arial" pitchFamily="34" charset="0"/>
              </a:rPr>
              <a:t>פעילות פרו אקטיבית לאור קבלת מידע לטובת דחיפת מידע וזכויות מותאמות אישית לאזרח ולמשפחתו</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7" name="TextBox 46">
            <a:extLst>
              <a:ext uri="{FF2B5EF4-FFF2-40B4-BE49-F238E27FC236}">
                <a16:creationId xmlns:a16="http://schemas.microsoft.com/office/drawing/2014/main" id="{E4AFFE54-084A-412D-8B72-F18556B70AA9}"/>
              </a:ext>
            </a:extLst>
          </p:cNvPr>
          <p:cNvSpPr txBox="1"/>
          <p:nvPr/>
        </p:nvSpPr>
        <p:spPr>
          <a:xfrm>
            <a:off x="3900341" y="4466523"/>
            <a:ext cx="3544951"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פרו אקטיביות מול האזרח </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8" name="Rectangle 47">
            <a:extLst>
              <a:ext uri="{FF2B5EF4-FFF2-40B4-BE49-F238E27FC236}">
                <a16:creationId xmlns:a16="http://schemas.microsoft.com/office/drawing/2014/main" id="{4B4EF72E-C904-4B03-BF4B-593DF37F1686}"/>
              </a:ext>
            </a:extLst>
          </p:cNvPr>
          <p:cNvSpPr/>
          <p:nvPr/>
        </p:nvSpPr>
        <p:spPr>
          <a:xfrm>
            <a:off x="7445292" y="1798571"/>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9" name="Rectangle 48">
            <a:extLst>
              <a:ext uri="{FF2B5EF4-FFF2-40B4-BE49-F238E27FC236}">
                <a16:creationId xmlns:a16="http://schemas.microsoft.com/office/drawing/2014/main" id="{59A0A797-D0BA-4055-AAE7-5A5B31BF3FEE}"/>
              </a:ext>
            </a:extLst>
          </p:cNvPr>
          <p:cNvSpPr/>
          <p:nvPr/>
        </p:nvSpPr>
        <p:spPr>
          <a:xfrm>
            <a:off x="7445292" y="3215625"/>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extLst>
              <a:ext uri="{FF2B5EF4-FFF2-40B4-BE49-F238E27FC236}">
                <a16:creationId xmlns:a16="http://schemas.microsoft.com/office/drawing/2014/main" id="{4937240A-ECD0-4F63-9F56-75077FA3DA3B}"/>
              </a:ext>
            </a:extLst>
          </p:cNvPr>
          <p:cNvSpPr/>
          <p:nvPr/>
        </p:nvSpPr>
        <p:spPr>
          <a:xfrm>
            <a:off x="7445292" y="4587164"/>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1" name="TextBox 50">
            <a:extLst>
              <a:ext uri="{FF2B5EF4-FFF2-40B4-BE49-F238E27FC236}">
                <a16:creationId xmlns:a16="http://schemas.microsoft.com/office/drawing/2014/main" id="{2FDB82EC-FF5A-4862-B449-EA76BE57DADC}"/>
              </a:ext>
            </a:extLst>
          </p:cNvPr>
          <p:cNvSpPr txBox="1"/>
          <p:nvPr/>
        </p:nvSpPr>
        <p:spPr>
          <a:xfrm>
            <a:off x="7593716" y="1941041"/>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1</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2" name="TextBox 51">
            <a:extLst>
              <a:ext uri="{FF2B5EF4-FFF2-40B4-BE49-F238E27FC236}">
                <a16:creationId xmlns:a16="http://schemas.microsoft.com/office/drawing/2014/main" id="{C2EF6F05-CC90-47EA-BE8D-8C069C3A03A6}"/>
              </a:ext>
            </a:extLst>
          </p:cNvPr>
          <p:cNvSpPr txBox="1"/>
          <p:nvPr/>
        </p:nvSpPr>
        <p:spPr>
          <a:xfrm>
            <a:off x="7593716" y="3333260"/>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2</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3" name="TextBox 52">
            <a:extLst>
              <a:ext uri="{FF2B5EF4-FFF2-40B4-BE49-F238E27FC236}">
                <a16:creationId xmlns:a16="http://schemas.microsoft.com/office/drawing/2014/main" id="{43499228-1398-4D1A-929B-6124D71F4E57}"/>
              </a:ext>
            </a:extLst>
          </p:cNvPr>
          <p:cNvSpPr txBox="1"/>
          <p:nvPr/>
        </p:nvSpPr>
        <p:spPr>
          <a:xfrm>
            <a:off x="7593716" y="4732592"/>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3</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3" descr="קובץ:Ministry of Labor, Social Affairs and Social Services ...">
            <a:extLst>
              <a:ext uri="{FF2B5EF4-FFF2-40B4-BE49-F238E27FC236}">
                <a16:creationId xmlns:a16="http://schemas.microsoft.com/office/drawing/2014/main" id="{9878E5A3-3ADC-9C6A-546D-30A17AA436F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6580" y="6084381"/>
            <a:ext cx="1923415" cy="524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מערך הדיגיטל הלאומי">
            <a:extLst>
              <a:ext uri="{FF2B5EF4-FFF2-40B4-BE49-F238E27FC236}">
                <a16:creationId xmlns:a16="http://schemas.microsoft.com/office/drawing/2014/main" id="{CBD64678-541C-A37A-EEBC-31FEB3F2DE9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166478" y="6062139"/>
            <a:ext cx="1638329" cy="56891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החלטת הממשלה לביזור">
            <a:extLst>
              <a:ext uri="{FF2B5EF4-FFF2-40B4-BE49-F238E27FC236}">
                <a16:creationId xmlns:a16="http://schemas.microsoft.com/office/drawing/2014/main" id="{0D1CE82F-6F44-8E7A-3262-469ED09872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0745" y="6080661"/>
            <a:ext cx="763960" cy="53187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ביטוח לאומי - כאן תמצאו הכל (!) על המוסד לביטוח לאומי [מעודכן ל-2023]">
            <a:extLst>
              <a:ext uri="{FF2B5EF4-FFF2-40B4-BE49-F238E27FC236}">
                <a16:creationId xmlns:a16="http://schemas.microsoft.com/office/drawing/2014/main" id="{BB08FB40-C93B-072A-1A01-07131AEC02DA}"/>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20000" contrast="55000"/>
                    </a14:imgEffect>
                  </a14:imgLayer>
                </a14:imgProps>
              </a:ext>
              <a:ext uri="{28A0092B-C50C-407E-A947-70E740481C1C}">
                <a14:useLocalDpi xmlns:a14="http://schemas.microsoft.com/office/drawing/2010/main" val="0"/>
              </a:ext>
            </a:extLst>
          </a:blip>
          <a:srcRect/>
          <a:stretch>
            <a:fillRect/>
          </a:stretch>
        </p:blipFill>
        <p:spPr bwMode="auto">
          <a:xfrm>
            <a:off x="2895544" y="5960808"/>
            <a:ext cx="1043428" cy="7715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7DAF015-507E-4FB8-B571-D9503FF59CE0}"/>
              </a:ext>
            </a:extLst>
          </p:cNvPr>
          <p:cNvPicPr>
            <a:picLocks noChangeAspect="1"/>
          </p:cNvPicPr>
          <p:nvPr/>
        </p:nvPicPr>
        <p:blipFill>
          <a:blip r:embed="rId7"/>
          <a:stretch>
            <a:fillRect/>
          </a:stretch>
        </p:blipFill>
        <p:spPr>
          <a:xfrm>
            <a:off x="8515722" y="1798571"/>
            <a:ext cx="3423618" cy="3408700"/>
          </a:xfrm>
          <a:prstGeom prst="rect">
            <a:avLst/>
          </a:prstGeom>
        </p:spPr>
      </p:pic>
    </p:spTree>
    <p:extLst>
      <p:ext uri="{BB962C8B-B14F-4D97-AF65-F5344CB8AC3E}">
        <p14:creationId xmlns:p14="http://schemas.microsoft.com/office/powerpoint/2010/main" val="6618165"/>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D4624AC-D9D7-49E6-8A24-D075925B38EB}"/>
              </a:ext>
            </a:extLst>
          </p:cNvPr>
          <p:cNvSpPr/>
          <p:nvPr/>
        </p:nvSpPr>
        <p:spPr>
          <a:xfrm>
            <a:off x="3447288" y="1487425"/>
            <a:ext cx="1856271" cy="7608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extLst>
              <a:ext uri="{FF2B5EF4-FFF2-40B4-BE49-F238E27FC236}">
                <a16:creationId xmlns:a16="http://schemas.microsoft.com/office/drawing/2014/main" id="{710DB72C-08D9-4B05-B8DD-94FA6E7F1AEF}"/>
              </a:ext>
            </a:extLst>
          </p:cNvPr>
          <p:cNvSpPr/>
          <p:nvPr/>
        </p:nvSpPr>
        <p:spPr>
          <a:xfrm>
            <a:off x="6535124" y="0"/>
            <a:ext cx="5656875" cy="6858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כותרת 2"/>
          <p:cNvSpPr>
            <a:spLocks noGrp="1"/>
          </p:cNvSpPr>
          <p:nvPr>
            <p:ph type="title"/>
          </p:nvPr>
        </p:nvSpPr>
        <p:spPr>
          <a:xfrm>
            <a:off x="6884808" y="820587"/>
            <a:ext cx="5223776" cy="4867650"/>
          </a:xfrm>
          <a:ln>
            <a:solidFill>
              <a:schemeClr val="accent5">
                <a:lumMod val="50000"/>
              </a:schemeClr>
            </a:solidFill>
          </a:ln>
        </p:spPr>
        <p:txBody>
          <a:bodyPr>
            <a:noAutofit/>
          </a:bodyPr>
          <a:lstStyle/>
          <a:p>
            <a:pPr>
              <a:lnSpc>
                <a:spcPct val="150000"/>
              </a:lnSpc>
            </a:pPr>
            <a:r>
              <a:rPr lang="he-IL" sz="3100" b="1" u="sng" dirty="0">
                <a:latin typeface="Calibri" panose="020F0502020204030204" pitchFamily="34" charset="0"/>
                <a:cs typeface="Calibri" panose="020F0502020204030204" pitchFamily="34" charset="0"/>
              </a:rPr>
              <a:t>ביזור דור 2.0 </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תפיסה הפעלה </a:t>
            </a:r>
            <a:br>
              <a:rPr lang="he-IL" sz="3200"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של האזרח במרכז עם סל אישי לבחירה המותאם לצרכיו ורצונותיו. </a:t>
            </a:r>
            <a:br>
              <a:rPr lang="he-IL" sz="3200"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
            </a:r>
            <a:br>
              <a:rPr lang="he-IL" sz="3200" dirty="0">
                <a:latin typeface="Calibri" panose="020F0502020204030204" pitchFamily="34" charset="0"/>
                <a:cs typeface="Calibri" panose="020F0502020204030204" pitchFamily="34" charset="0"/>
              </a:rPr>
            </a:br>
            <a:endParaRPr lang="he-IL" sz="3200" dirty="0">
              <a:latin typeface="Calibri" panose="020F0502020204030204" pitchFamily="34" charset="0"/>
              <a:cs typeface="Calibri" panose="020F0502020204030204" pitchFamily="34" charset="0"/>
            </a:endParaRPr>
          </a:p>
        </p:txBody>
      </p:sp>
      <p:sp>
        <p:nvSpPr>
          <p:cNvPr id="9" name="אליפסה 8">
            <a:extLst>
              <a:ext uri="{FF2B5EF4-FFF2-40B4-BE49-F238E27FC236}">
                <a16:creationId xmlns:a16="http://schemas.microsoft.com/office/drawing/2014/main" id="{C71533EF-6755-7268-6CA5-79C13828B470}"/>
              </a:ext>
            </a:extLst>
          </p:cNvPr>
          <p:cNvSpPr/>
          <p:nvPr/>
        </p:nvSpPr>
        <p:spPr>
          <a:xfrm>
            <a:off x="654906" y="1847898"/>
            <a:ext cx="4754458" cy="4719145"/>
          </a:xfrm>
          <a:prstGeom prst="ellipse">
            <a:avLst/>
          </a:prstGeom>
          <a:gradFill flip="none" rotWithShape="1">
            <a:gsLst>
              <a:gs pos="0">
                <a:schemeClr val="bg1"/>
              </a:gs>
              <a:gs pos="100000">
                <a:schemeClr val="accent5"/>
              </a:gs>
            </a:gsLst>
            <a:path path="circle">
              <a:fillToRect l="50000" t="50000" r="50000" b="50000"/>
            </a:path>
            <a:tileRect/>
          </a:gra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3">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flipH="1">
            <a:off x="2557919" y="3568638"/>
            <a:ext cx="1044682" cy="1171153"/>
          </a:xfrm>
        </p:spPr>
      </p:pic>
      <p:sp>
        <p:nvSpPr>
          <p:cNvPr id="13" name="צורה חופשית: צורה 26">
            <a:extLst>
              <a:ext uri="{FF2B5EF4-FFF2-40B4-BE49-F238E27FC236}">
                <a16:creationId xmlns:a16="http://schemas.microsoft.com/office/drawing/2014/main" id="{E3850D9D-E5FF-8C79-4C83-785EE1705BFA}"/>
              </a:ext>
            </a:extLst>
          </p:cNvPr>
          <p:cNvSpPr/>
          <p:nvPr/>
        </p:nvSpPr>
        <p:spPr>
          <a:xfrm>
            <a:off x="3378175" y="663182"/>
            <a:ext cx="2861959" cy="975020"/>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רשת מקומית – </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מעטפת קהילתית של שירותים מותאמים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לבחירת</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3525093" y="2930293"/>
            <a:ext cx="683173" cy="48610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3125943" y="2350401"/>
            <a:ext cx="0" cy="692412"/>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1674871" y="3481646"/>
            <a:ext cx="662081" cy="21982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1539105" y="4312746"/>
            <a:ext cx="713843" cy="162131"/>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2130350" y="4759803"/>
            <a:ext cx="471790" cy="404344"/>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2818403" y="4967656"/>
            <a:ext cx="134179" cy="790430"/>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3383295" y="5025559"/>
            <a:ext cx="326977" cy="543775"/>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3715214" y="3820691"/>
            <a:ext cx="700083" cy="117082"/>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3656136" y="4690501"/>
            <a:ext cx="675276" cy="400695"/>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2211109" y="2830055"/>
            <a:ext cx="377414" cy="424357"/>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873406" y="3178490"/>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מועדון חברתי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685902" y="4166326"/>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רווחה מרחוק</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1366727" y="5133511"/>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טכנולוגית עזר</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1446628" y="2295929"/>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משפחתי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2258631" y="5758086"/>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התעמלות בפארק</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4046785" y="3473963"/>
            <a:ext cx="1443858"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תזונה ובריאות</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4077584" y="5056590"/>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תעסוקה</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3765448" y="2534172"/>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התנדבות</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2602140" y="2037614"/>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פיננסי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3260146" y="5614731"/>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ניקיון</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a:off x="3791652" y="4336807"/>
            <a:ext cx="378263" cy="1708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4169915" y="4236189"/>
            <a:ext cx="1133644"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בריכה/</a:t>
            </a:r>
            <a:r>
              <a:rPr kumimoji="0" lang="he-IL" sz="16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חד"כ</a:t>
            </a:r>
            <a:endParaRPr kumimoji="0" lang="he-IL" sz="16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5" name="Picture 44">
            <a:extLst>
              <a:ext uri="{FF2B5EF4-FFF2-40B4-BE49-F238E27FC236}">
                <a16:creationId xmlns:a16="http://schemas.microsoft.com/office/drawing/2014/main" id="{17AB242B-399F-43CE-AC8B-8A2DC530E2F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463341" y="3640114"/>
            <a:ext cx="1067306" cy="916445"/>
          </a:xfrm>
          <a:prstGeom prst="rect">
            <a:avLst/>
          </a:prstGeom>
        </p:spPr>
      </p:pic>
      <p:grpSp>
        <p:nvGrpSpPr>
          <p:cNvPr id="39" name="קבוצה 38">
            <a:extLst>
              <a:ext uri="{FF2B5EF4-FFF2-40B4-BE49-F238E27FC236}">
                <a16:creationId xmlns:a16="http://schemas.microsoft.com/office/drawing/2014/main" id="{4854A275-CA06-9605-83D7-238444AB59FE}"/>
              </a:ext>
            </a:extLst>
          </p:cNvPr>
          <p:cNvGrpSpPr/>
          <p:nvPr/>
        </p:nvGrpSpPr>
        <p:grpSpPr>
          <a:xfrm>
            <a:off x="8555382" y="4366029"/>
            <a:ext cx="2346554" cy="2053583"/>
            <a:chOff x="6907546" y="322760"/>
            <a:chExt cx="2346554" cy="2053583"/>
          </a:xfrm>
        </p:grpSpPr>
        <p:grpSp>
          <p:nvGrpSpPr>
            <p:cNvPr id="4" name="קבוצה 3">
              <a:extLst>
                <a:ext uri="{FF2B5EF4-FFF2-40B4-BE49-F238E27FC236}">
                  <a16:creationId xmlns:a16="http://schemas.microsoft.com/office/drawing/2014/main" id="{E11D7ABB-2BE2-60FA-B6B4-E8940B512B03}"/>
                </a:ext>
              </a:extLst>
            </p:cNvPr>
            <p:cNvGrpSpPr/>
            <p:nvPr/>
          </p:nvGrpSpPr>
          <p:grpSpPr>
            <a:xfrm>
              <a:off x="6907546" y="1068485"/>
              <a:ext cx="1563719" cy="1307858"/>
              <a:chOff x="1670079" y="2140313"/>
              <a:chExt cx="1642835" cy="1642835"/>
            </a:xfrm>
            <a:solidFill>
              <a:srgbClr val="D8BEEC"/>
            </a:solidFill>
          </p:grpSpPr>
          <p:sp>
            <p:nvSpPr>
              <p:cNvPr id="5" name="אליפסה 4">
                <a:extLst>
                  <a:ext uri="{FF2B5EF4-FFF2-40B4-BE49-F238E27FC236}">
                    <a16:creationId xmlns:a16="http://schemas.microsoft.com/office/drawing/2014/main" id="{6D6F5AF1-EDDD-1B28-437B-D6B6B982166E}"/>
                  </a:ext>
                </a:extLst>
              </p:cNvPr>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6" name="אליפסה 4">
                <a:extLst>
                  <a:ext uri="{FF2B5EF4-FFF2-40B4-BE49-F238E27FC236}">
                    <a16:creationId xmlns:a16="http://schemas.microsoft.com/office/drawing/2014/main" id="{FEAF21F0-2446-5B4E-5AB8-423380CCB8B5}"/>
                  </a:ext>
                </a:extLst>
              </p:cNvPr>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marL="0" marR="0" lvl="0" indent="0" algn="ctr" defTabSz="1244600" rtl="1" eaLnBrk="1" fontAlgn="auto" latinLnBrk="0" hangingPunct="1">
                  <a:lnSpc>
                    <a:spcPct val="90000"/>
                  </a:lnSpc>
                  <a:spcBef>
                    <a:spcPct val="0"/>
                  </a:spcBef>
                  <a:spcAft>
                    <a:spcPct val="3500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7" name="אליפסה 6">
              <a:extLst>
                <a:ext uri="{FF2B5EF4-FFF2-40B4-BE49-F238E27FC236}">
                  <a16:creationId xmlns:a16="http://schemas.microsoft.com/office/drawing/2014/main" id="{314902DC-B6CA-CB26-FFE0-6D0BB08989C0}"/>
                </a:ext>
              </a:extLst>
            </p:cNvPr>
            <p:cNvSpPr/>
            <p:nvPr/>
          </p:nvSpPr>
          <p:spPr>
            <a:xfrm>
              <a:off x="7674102" y="881695"/>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8" name="TextBox 58">
              <a:extLst>
                <a:ext uri="{FF2B5EF4-FFF2-40B4-BE49-F238E27FC236}">
                  <a16:creationId xmlns:a16="http://schemas.microsoft.com/office/drawing/2014/main" id="{A2D9D504-6A2C-B11D-D4B4-065B28E56BA3}"/>
                </a:ext>
              </a:extLst>
            </p:cNvPr>
            <p:cNvSpPr txBox="1"/>
            <p:nvPr/>
          </p:nvSpPr>
          <p:spPr>
            <a:xfrm>
              <a:off x="7146003" y="1685980"/>
              <a:ext cx="628540" cy="523220"/>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צורך וקושי</a:t>
              </a:r>
            </a:p>
          </p:txBody>
        </p:sp>
        <p:sp>
          <p:nvSpPr>
            <p:cNvPr id="10" name="מלבן 9">
              <a:extLst>
                <a:ext uri="{FF2B5EF4-FFF2-40B4-BE49-F238E27FC236}">
                  <a16:creationId xmlns:a16="http://schemas.microsoft.com/office/drawing/2014/main" id="{2BDA196A-9F2C-BDC1-45B2-9C41D2AA4389}"/>
                </a:ext>
              </a:extLst>
            </p:cNvPr>
            <p:cNvSpPr/>
            <p:nvPr/>
          </p:nvSpPr>
          <p:spPr>
            <a:xfrm>
              <a:off x="8444856" y="1255471"/>
              <a:ext cx="713544" cy="52322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רצון ובחירה</a:t>
              </a:r>
            </a:p>
          </p:txBody>
        </p:sp>
        <p:sp>
          <p:nvSpPr>
            <p:cNvPr id="37" name="אליפסה 36">
              <a:extLst>
                <a:ext uri="{FF2B5EF4-FFF2-40B4-BE49-F238E27FC236}">
                  <a16:creationId xmlns:a16="http://schemas.microsoft.com/office/drawing/2014/main" id="{88B6102D-74E7-E890-FCE3-9652F71BE560}"/>
                </a:ext>
              </a:extLst>
            </p:cNvPr>
            <p:cNvSpPr/>
            <p:nvPr/>
          </p:nvSpPr>
          <p:spPr>
            <a:xfrm>
              <a:off x="6907546" y="322760"/>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35" name="מלבן 34">
              <a:extLst>
                <a:ext uri="{FF2B5EF4-FFF2-40B4-BE49-F238E27FC236}">
                  <a16:creationId xmlns:a16="http://schemas.microsoft.com/office/drawing/2014/main" id="{750AD64C-AA52-0F27-60CE-88E3FDCE56E6}"/>
                </a:ext>
              </a:extLst>
            </p:cNvPr>
            <p:cNvSpPr/>
            <p:nvPr/>
          </p:nvSpPr>
          <p:spPr>
            <a:xfrm>
              <a:off x="7322282" y="496793"/>
              <a:ext cx="89162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מדידה והמלצות</a:t>
              </a:r>
            </a:p>
          </p:txBody>
        </p:sp>
        <p:sp>
          <p:nvSpPr>
            <p:cNvPr id="38" name="מלבן 37">
              <a:extLst>
                <a:ext uri="{FF2B5EF4-FFF2-40B4-BE49-F238E27FC236}">
                  <a16:creationId xmlns:a16="http://schemas.microsoft.com/office/drawing/2014/main" id="{9021C85A-6004-759C-F223-636B85439A08}"/>
                </a:ext>
              </a:extLst>
            </p:cNvPr>
            <p:cNvSpPr/>
            <p:nvPr/>
          </p:nvSpPr>
          <p:spPr>
            <a:xfrm>
              <a:off x="7508563" y="1056741"/>
              <a:ext cx="965435" cy="523220"/>
            </a:xfrm>
            <a:prstGeom prst="rect">
              <a:avLst/>
            </a:prstGeom>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שירות</a:t>
              </a: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Ai</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מותאם-</a:t>
              </a:r>
            </a:p>
          </p:txBody>
        </p:sp>
      </p:grpSp>
      <p:pic>
        <p:nvPicPr>
          <p:cNvPr id="40" name="Picture 53">
            <a:extLst>
              <a:ext uri="{FF2B5EF4-FFF2-40B4-BE49-F238E27FC236}">
                <a16:creationId xmlns:a16="http://schemas.microsoft.com/office/drawing/2014/main" id="{EA320EA5-5DA2-D1A1-4BBA-C4A7E9B53BA8}"/>
              </a:ext>
            </a:extLst>
          </p:cNvPr>
          <p:cNvPicPr>
            <a:picLocks noChangeAspect="1"/>
          </p:cNvPicPr>
          <p:nvPr/>
        </p:nvPicPr>
        <p:blipFill>
          <a:blip r:embed="rId6"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a:xfrm>
            <a:off x="7408239" y="6993295"/>
            <a:ext cx="1547316" cy="1549003"/>
          </a:xfrm>
          <a:prstGeom prst="rect">
            <a:avLst/>
          </a:prstGeom>
        </p:spPr>
      </p:pic>
    </p:spTree>
    <p:extLst>
      <p:ext uri="{BB962C8B-B14F-4D97-AF65-F5344CB8AC3E}">
        <p14:creationId xmlns:p14="http://schemas.microsoft.com/office/powerpoint/2010/main" val="26268138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rrow: Chevron 122">
            <a:extLst>
              <a:ext uri="{FF2B5EF4-FFF2-40B4-BE49-F238E27FC236}">
                <a16:creationId xmlns:a16="http://schemas.microsoft.com/office/drawing/2014/main" id="{1B37767C-EB1E-9A60-E430-F17FFBFB8056}"/>
              </a:ext>
            </a:extLst>
          </p:cNvPr>
          <p:cNvSpPr/>
          <p:nvPr/>
        </p:nvSpPr>
        <p:spPr>
          <a:xfrm flipH="1">
            <a:off x="2807455" y="5835661"/>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7" name="Arrow: Chevron 26">
            <a:extLst>
              <a:ext uri="{FF2B5EF4-FFF2-40B4-BE49-F238E27FC236}">
                <a16:creationId xmlns:a16="http://schemas.microsoft.com/office/drawing/2014/main" id="{68B785F2-6959-4E2C-9FF1-78EFC74C6BB7}"/>
              </a:ext>
            </a:extLst>
          </p:cNvPr>
          <p:cNvSpPr/>
          <p:nvPr/>
        </p:nvSpPr>
        <p:spPr>
          <a:xfrm flipH="1">
            <a:off x="6096000" y="2247347"/>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 name="Rectangle 60">
            <a:extLst>
              <a:ext uri="{FF2B5EF4-FFF2-40B4-BE49-F238E27FC236}">
                <a16:creationId xmlns:a16="http://schemas.microsoft.com/office/drawing/2014/main" id="{C1766D74-00FA-42AB-A14F-CEB0311A7B9E}"/>
              </a:ext>
            </a:extLst>
          </p:cNvPr>
          <p:cNvSpPr/>
          <p:nvPr/>
        </p:nvSpPr>
        <p:spPr>
          <a:xfrm>
            <a:off x="3912881" y="464298"/>
            <a:ext cx="7608528" cy="1323439"/>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אבני דרך מרכזיות – </a:t>
            </a:r>
            <a: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לקראת ההשקה</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4" name="TextBox 63">
            <a:extLst>
              <a:ext uri="{FF2B5EF4-FFF2-40B4-BE49-F238E27FC236}">
                <a16:creationId xmlns:a16="http://schemas.microsoft.com/office/drawing/2014/main" id="{272CDD73-8568-42A3-AAD5-B5B88DF38C28}"/>
              </a:ext>
            </a:extLst>
          </p:cNvPr>
          <p:cNvSpPr txBox="1"/>
          <p:nvPr/>
        </p:nvSpPr>
        <p:spPr>
          <a:xfrm>
            <a:off x="6971691" y="2332697"/>
            <a:ext cx="4102405"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גיוס שותפים משמעותיים לדרך</a:t>
            </a:r>
          </a:p>
        </p:txBody>
      </p:sp>
      <p:grpSp>
        <p:nvGrpSpPr>
          <p:cNvPr id="11" name="Group 10">
            <a:extLst>
              <a:ext uri="{FF2B5EF4-FFF2-40B4-BE49-F238E27FC236}">
                <a16:creationId xmlns:a16="http://schemas.microsoft.com/office/drawing/2014/main" id="{905BEEE9-DDA0-41C1-96E9-D9E03AE38B9C}"/>
              </a:ext>
            </a:extLst>
          </p:cNvPr>
          <p:cNvGrpSpPr/>
          <p:nvPr/>
        </p:nvGrpSpPr>
        <p:grpSpPr>
          <a:xfrm>
            <a:off x="672844" y="3476780"/>
            <a:ext cx="1923631" cy="1524904"/>
            <a:chOff x="7187986" y="4013230"/>
            <a:chExt cx="2766619" cy="2132845"/>
          </a:xfrm>
        </p:grpSpPr>
        <p:grpSp>
          <p:nvGrpSpPr>
            <p:cNvPr id="108" name="Group 107">
              <a:extLst>
                <a:ext uri="{FF2B5EF4-FFF2-40B4-BE49-F238E27FC236}">
                  <a16:creationId xmlns:a16="http://schemas.microsoft.com/office/drawing/2014/main" id="{E95CE093-922F-495C-B2E3-943C2EECB620}"/>
                </a:ext>
              </a:extLst>
            </p:cNvPr>
            <p:cNvGrpSpPr/>
            <p:nvPr/>
          </p:nvGrpSpPr>
          <p:grpSpPr>
            <a:xfrm>
              <a:off x="7187986" y="4013230"/>
              <a:ext cx="2132948" cy="2132845"/>
              <a:chOff x="10070537" y="3323510"/>
              <a:chExt cx="4265896" cy="4265690"/>
            </a:xfrm>
          </p:grpSpPr>
          <p:sp>
            <p:nvSpPr>
              <p:cNvPr id="109" name="Freeform 13">
                <a:extLst>
                  <a:ext uri="{FF2B5EF4-FFF2-40B4-BE49-F238E27FC236}">
                    <a16:creationId xmlns:a16="http://schemas.microsoft.com/office/drawing/2014/main" id="{60FB5CE7-E095-408D-A604-1AE48AD5C0F8}"/>
                  </a:ext>
                </a:extLst>
              </p:cNvPr>
              <p:cNvSpPr>
                <a:spLocks noChangeArrowheads="1"/>
              </p:cNvSpPr>
              <p:nvPr/>
            </p:nvSpPr>
            <p:spPr bwMode="auto">
              <a:xfrm>
                <a:off x="10070537" y="3323510"/>
                <a:ext cx="4265896" cy="4265690"/>
              </a:xfrm>
              <a:custGeom>
                <a:avLst/>
                <a:gdLst>
                  <a:gd name="G0" fmla="+- 1 0 0"/>
                  <a:gd name="G1" fmla="+- 1 0 0"/>
                  <a:gd name="G2" fmla="+- 1 0 0"/>
                  <a:gd name="G3" fmla="+- 1 0 0"/>
                  <a:gd name="G4" fmla="+- 1 0 0"/>
                  <a:gd name="G5" fmla="+- 1 0 0"/>
                  <a:gd name="G6" fmla="+- 3523 0 0"/>
                  <a:gd name="G7" fmla="+- 2269 0 0"/>
                  <a:gd name="G8" fmla="+- 1016 0 0"/>
                  <a:gd name="G9" fmla="+- 1 0 0"/>
                  <a:gd name="G10" fmla="+- 1 0 0"/>
                  <a:gd name="G11" fmla="+- 1 0 0"/>
                  <a:gd name="G12" fmla="+- 1 0 0"/>
                  <a:gd name="G13" fmla="+- 1 0 0"/>
                  <a:gd name="T0" fmla="*/ 1634765 w 4540"/>
                  <a:gd name="T1" fmla="*/ 817202 h 4540"/>
                  <a:gd name="T2" fmla="*/ 1634765 w 4540"/>
                  <a:gd name="T3" fmla="*/ 817202 h 4540"/>
                  <a:gd name="T4" fmla="*/ 817563 w 4540"/>
                  <a:gd name="T5" fmla="*/ 1634765 h 4540"/>
                  <a:gd name="T6" fmla="*/ 0 w 4540"/>
                  <a:gd name="T7" fmla="*/ 817202 h 4540"/>
                  <a:gd name="T8" fmla="*/ 817563 w 4540"/>
                  <a:gd name="T9" fmla="*/ 0 h 4540"/>
                  <a:gd name="T10" fmla="*/ 1634765 w 4540"/>
                  <a:gd name="T11" fmla="*/ 817202 h 4540"/>
                </a:gdLst>
                <a:ahLst/>
                <a:cxnLst>
                  <a:cxn ang="0">
                    <a:pos x="T0" y="T1"/>
                  </a:cxn>
                  <a:cxn ang="0">
                    <a:pos x="T2" y="T3"/>
                  </a:cxn>
                  <a:cxn ang="0">
                    <a:pos x="T4" y="T5"/>
                  </a:cxn>
                  <a:cxn ang="0">
                    <a:pos x="T6" y="T7"/>
                  </a:cxn>
                  <a:cxn ang="0">
                    <a:pos x="T8" y="T9"/>
                  </a:cxn>
                  <a:cxn ang="0">
                    <a:pos x="T10" y="T11"/>
                  </a:cxn>
                </a:cxnLst>
                <a:rect l="0" t="0" r="r" b="b"/>
                <a:pathLst>
                  <a:path w="4540" h="4540">
                    <a:moveTo>
                      <a:pt x="4539" y="2269"/>
                    </a:moveTo>
                    <a:lnTo>
                      <a:pt x="4539" y="2269"/>
                    </a:lnTo>
                    <a:cubicBezTo>
                      <a:pt x="4539" y="3523"/>
                      <a:pt x="3523" y="4539"/>
                      <a:pt x="2270" y="4539"/>
                    </a:cubicBezTo>
                    <a:cubicBezTo>
                      <a:pt x="1016" y="4539"/>
                      <a:pt x="0" y="3523"/>
                      <a:pt x="0" y="2269"/>
                    </a:cubicBezTo>
                    <a:cubicBezTo>
                      <a:pt x="0" y="1016"/>
                      <a:pt x="1016" y="0"/>
                      <a:pt x="2270" y="0"/>
                    </a:cubicBezTo>
                    <a:cubicBezTo>
                      <a:pt x="3523" y="0"/>
                      <a:pt x="4539" y="1016"/>
                      <a:pt x="4539" y="2269"/>
                    </a:cubicBezTo>
                  </a:path>
                </a:pathLst>
              </a:custGeom>
              <a:solidFill>
                <a:schemeClr val="accent2"/>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0" name="Freeform 14">
                <a:extLst>
                  <a:ext uri="{FF2B5EF4-FFF2-40B4-BE49-F238E27FC236}">
                    <a16:creationId xmlns:a16="http://schemas.microsoft.com/office/drawing/2014/main" id="{6F444057-C58D-45B8-A122-B677FE7446D9}"/>
                  </a:ext>
                </a:extLst>
              </p:cNvPr>
              <p:cNvSpPr>
                <a:spLocks noChangeArrowheads="1"/>
              </p:cNvSpPr>
              <p:nvPr/>
            </p:nvSpPr>
            <p:spPr bwMode="auto">
              <a:xfrm>
                <a:off x="10542684" y="3791492"/>
                <a:ext cx="3321600" cy="3321439"/>
              </a:xfrm>
              <a:custGeom>
                <a:avLst/>
                <a:gdLst>
                  <a:gd name="G0" fmla="+- 1 0 0"/>
                  <a:gd name="G1" fmla="+- 1 0 0"/>
                  <a:gd name="G2" fmla="+- 1 0 0"/>
                  <a:gd name="G3" fmla="+- 1 0 0"/>
                  <a:gd name="G4" fmla="+- 1 0 0"/>
                  <a:gd name="G5" fmla="+- 1 0 0"/>
                  <a:gd name="G6" fmla="+- 2745 0 0"/>
                  <a:gd name="G7" fmla="+- 1768 0 0"/>
                  <a:gd name="G8" fmla="+- 792 0 0"/>
                  <a:gd name="G9" fmla="+- 1 0 0"/>
                  <a:gd name="G10" fmla="+- 1 0 0"/>
                  <a:gd name="G11" fmla="+- 1 0 0"/>
                  <a:gd name="G12" fmla="+- 1 0 0"/>
                  <a:gd name="G13" fmla="+- 1 0 0"/>
                  <a:gd name="T0" fmla="*/ 1272815 w 3538"/>
                  <a:gd name="T1" fmla="*/ 636228 h 3538"/>
                  <a:gd name="T2" fmla="*/ 1272815 w 3538"/>
                  <a:gd name="T3" fmla="*/ 636228 h 3538"/>
                  <a:gd name="T4" fmla="*/ 636588 w 3538"/>
                  <a:gd name="T5" fmla="*/ 1272815 h 3538"/>
                  <a:gd name="T6" fmla="*/ 0 w 3538"/>
                  <a:gd name="T7" fmla="*/ 636228 h 3538"/>
                  <a:gd name="T8" fmla="*/ 636588 w 3538"/>
                  <a:gd name="T9" fmla="*/ 0 h 3538"/>
                  <a:gd name="T10" fmla="*/ 1272815 w 3538"/>
                  <a:gd name="T11" fmla="*/ 636228 h 3538"/>
                </a:gdLst>
                <a:ahLst/>
                <a:cxnLst>
                  <a:cxn ang="0">
                    <a:pos x="T0" y="T1"/>
                  </a:cxn>
                  <a:cxn ang="0">
                    <a:pos x="T2" y="T3"/>
                  </a:cxn>
                  <a:cxn ang="0">
                    <a:pos x="T4" y="T5"/>
                  </a:cxn>
                  <a:cxn ang="0">
                    <a:pos x="T6" y="T7"/>
                  </a:cxn>
                  <a:cxn ang="0">
                    <a:pos x="T8" y="T9"/>
                  </a:cxn>
                  <a:cxn ang="0">
                    <a:pos x="T10" y="T11"/>
                  </a:cxn>
                </a:cxnLst>
                <a:rect l="0" t="0" r="r" b="b"/>
                <a:pathLst>
                  <a:path w="3538" h="3538">
                    <a:moveTo>
                      <a:pt x="3537" y="1768"/>
                    </a:moveTo>
                    <a:lnTo>
                      <a:pt x="3537" y="1768"/>
                    </a:lnTo>
                    <a:cubicBezTo>
                      <a:pt x="3537" y="2745"/>
                      <a:pt x="2745" y="3537"/>
                      <a:pt x="1769" y="3537"/>
                    </a:cubicBezTo>
                    <a:cubicBezTo>
                      <a:pt x="792" y="3537"/>
                      <a:pt x="0" y="2745"/>
                      <a:pt x="0" y="1768"/>
                    </a:cubicBezTo>
                    <a:cubicBezTo>
                      <a:pt x="0" y="792"/>
                      <a:pt x="792" y="0"/>
                      <a:pt x="1769" y="0"/>
                    </a:cubicBezTo>
                    <a:cubicBezTo>
                      <a:pt x="2745" y="0"/>
                      <a:pt x="3537" y="792"/>
                      <a:pt x="3537" y="1768"/>
                    </a:cubicBezTo>
                  </a:path>
                </a:pathLst>
              </a:custGeom>
              <a:solidFill>
                <a:schemeClr val="accent4"/>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1" name="Freeform 15">
                <a:extLst>
                  <a:ext uri="{FF2B5EF4-FFF2-40B4-BE49-F238E27FC236}">
                    <a16:creationId xmlns:a16="http://schemas.microsoft.com/office/drawing/2014/main" id="{9B20E5E7-BA59-437E-B757-28AB4BFFD49B}"/>
                  </a:ext>
                </a:extLst>
              </p:cNvPr>
              <p:cNvSpPr>
                <a:spLocks noChangeArrowheads="1"/>
              </p:cNvSpPr>
              <p:nvPr/>
            </p:nvSpPr>
            <p:spPr bwMode="auto">
              <a:xfrm>
                <a:off x="11010691" y="4263617"/>
                <a:ext cx="2381445" cy="2381333"/>
              </a:xfrm>
              <a:custGeom>
                <a:avLst/>
                <a:gdLst>
                  <a:gd name="G0" fmla="+- 1 0 0"/>
                  <a:gd name="G1" fmla="+- 1 0 0"/>
                  <a:gd name="G2" fmla="+- 1 0 0"/>
                  <a:gd name="G3" fmla="+- 1 0 0"/>
                  <a:gd name="G4" fmla="+- 1 0 0"/>
                  <a:gd name="G5" fmla="+- 1 0 0"/>
                  <a:gd name="G6" fmla="+- 1966 0 0"/>
                  <a:gd name="G7" fmla="+- 1267 0 0"/>
                  <a:gd name="G8" fmla="+- 566 0 0"/>
                  <a:gd name="G9" fmla="+- 1 0 0"/>
                  <a:gd name="G10" fmla="+- 1 0 0"/>
                  <a:gd name="G11" fmla="+- 1 0 0"/>
                  <a:gd name="G12" fmla="+- 1 0 0"/>
                  <a:gd name="G13" fmla="+- 1 0 0"/>
                  <a:gd name="T0" fmla="*/ 912452 w 2536"/>
                  <a:gd name="T1" fmla="*/ 456047 h 2536"/>
                  <a:gd name="T2" fmla="*/ 912452 w 2536"/>
                  <a:gd name="T3" fmla="*/ 456047 h 2536"/>
                  <a:gd name="T4" fmla="*/ 456406 w 2536"/>
                  <a:gd name="T5" fmla="*/ 912453 h 2536"/>
                  <a:gd name="T6" fmla="*/ 0 w 2536"/>
                  <a:gd name="T7" fmla="*/ 456047 h 2536"/>
                  <a:gd name="T8" fmla="*/ 456406 w 2536"/>
                  <a:gd name="T9" fmla="*/ 0 h 2536"/>
                  <a:gd name="T10" fmla="*/ 912452 w 2536"/>
                  <a:gd name="T11" fmla="*/ 456047 h 2536"/>
                </a:gdLst>
                <a:ahLst/>
                <a:cxnLst>
                  <a:cxn ang="0">
                    <a:pos x="T0" y="T1"/>
                  </a:cxn>
                  <a:cxn ang="0">
                    <a:pos x="T2" y="T3"/>
                  </a:cxn>
                  <a:cxn ang="0">
                    <a:pos x="T4" y="T5"/>
                  </a:cxn>
                  <a:cxn ang="0">
                    <a:pos x="T6" y="T7"/>
                  </a:cxn>
                  <a:cxn ang="0">
                    <a:pos x="T8" y="T9"/>
                  </a:cxn>
                  <a:cxn ang="0">
                    <a:pos x="T10" y="T11"/>
                  </a:cxn>
                </a:cxnLst>
                <a:rect l="0" t="0" r="r" b="b"/>
                <a:pathLst>
                  <a:path w="2536" h="2536">
                    <a:moveTo>
                      <a:pt x="2535" y="1267"/>
                    </a:moveTo>
                    <a:lnTo>
                      <a:pt x="2535" y="1267"/>
                    </a:lnTo>
                    <a:cubicBezTo>
                      <a:pt x="2535" y="1966"/>
                      <a:pt x="1969" y="2535"/>
                      <a:pt x="1268" y="2535"/>
                    </a:cubicBezTo>
                    <a:cubicBezTo>
                      <a:pt x="569" y="2535"/>
                      <a:pt x="0" y="1966"/>
                      <a:pt x="0" y="1267"/>
                    </a:cubicBezTo>
                    <a:cubicBezTo>
                      <a:pt x="0" y="566"/>
                      <a:pt x="569" y="0"/>
                      <a:pt x="1268" y="0"/>
                    </a:cubicBezTo>
                    <a:cubicBezTo>
                      <a:pt x="1969" y="0"/>
                      <a:pt x="2535" y="566"/>
                      <a:pt x="2535" y="1267"/>
                    </a:cubicBezTo>
                  </a:path>
                </a:pathLst>
              </a:custGeom>
              <a:solidFill>
                <a:schemeClr val="accent3"/>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2" name="Freeform 16">
                <a:extLst>
                  <a:ext uri="{FF2B5EF4-FFF2-40B4-BE49-F238E27FC236}">
                    <a16:creationId xmlns:a16="http://schemas.microsoft.com/office/drawing/2014/main" id="{D8FA723C-0786-4C35-8FF7-4A75537DB0CE}"/>
                  </a:ext>
                </a:extLst>
              </p:cNvPr>
              <p:cNvSpPr>
                <a:spLocks noChangeArrowheads="1"/>
              </p:cNvSpPr>
              <p:nvPr/>
            </p:nvSpPr>
            <p:spPr bwMode="auto">
              <a:xfrm>
                <a:off x="11482839" y="4731602"/>
                <a:ext cx="1441293" cy="1445364"/>
              </a:xfrm>
              <a:custGeom>
                <a:avLst/>
                <a:gdLst>
                  <a:gd name="G0" fmla="+- 1 0 0"/>
                  <a:gd name="G1" fmla="+- 1 0 0"/>
                  <a:gd name="G2" fmla="+- 1 0 0"/>
                  <a:gd name="G3" fmla="+- 1 0 0"/>
                  <a:gd name="G4" fmla="+- 1 0 0"/>
                  <a:gd name="G5" fmla="+- 1 0 0"/>
                  <a:gd name="G6" fmla="+- 1193 0 0"/>
                  <a:gd name="G7" fmla="+- 769 0 0"/>
                  <a:gd name="G8" fmla="+- 345 0 0"/>
                  <a:gd name="G9" fmla="+- 1 0 0"/>
                  <a:gd name="G10" fmla="+- 1 0 0"/>
                  <a:gd name="G11" fmla="+- 1 0 0"/>
                  <a:gd name="G12" fmla="+- 1 0 0"/>
                  <a:gd name="G13" fmla="+- 1 0 0"/>
                  <a:gd name="T0" fmla="*/ 552090 w 1534"/>
                  <a:gd name="T1" fmla="*/ 277199 h 1537"/>
                  <a:gd name="T2" fmla="*/ 552090 w 1534"/>
                  <a:gd name="T3" fmla="*/ 277199 h 1537"/>
                  <a:gd name="T4" fmla="*/ 276225 w 1534"/>
                  <a:gd name="T5" fmla="*/ 553677 h 1537"/>
                  <a:gd name="T6" fmla="*/ 0 w 1534"/>
                  <a:gd name="T7" fmla="*/ 277199 h 1537"/>
                  <a:gd name="T8" fmla="*/ 276225 w 1534"/>
                  <a:gd name="T9" fmla="*/ 0 h 1537"/>
                  <a:gd name="T10" fmla="*/ 552090 w 1534"/>
                  <a:gd name="T11" fmla="*/ 277199 h 1537"/>
                </a:gdLst>
                <a:ahLst/>
                <a:cxnLst>
                  <a:cxn ang="0">
                    <a:pos x="T0" y="T1"/>
                  </a:cxn>
                  <a:cxn ang="0">
                    <a:pos x="T2" y="T3"/>
                  </a:cxn>
                  <a:cxn ang="0">
                    <a:pos x="T4" y="T5"/>
                  </a:cxn>
                  <a:cxn ang="0">
                    <a:pos x="T6" y="T7"/>
                  </a:cxn>
                  <a:cxn ang="0">
                    <a:pos x="T8" y="T9"/>
                  </a:cxn>
                  <a:cxn ang="0">
                    <a:pos x="T10" y="T11"/>
                  </a:cxn>
                </a:cxnLst>
                <a:rect l="0" t="0" r="r" b="b"/>
                <a:pathLst>
                  <a:path w="1534" h="1537">
                    <a:moveTo>
                      <a:pt x="1533" y="769"/>
                    </a:moveTo>
                    <a:lnTo>
                      <a:pt x="1533" y="769"/>
                    </a:lnTo>
                    <a:cubicBezTo>
                      <a:pt x="1533" y="1193"/>
                      <a:pt x="1191" y="1536"/>
                      <a:pt x="767" y="1536"/>
                    </a:cubicBezTo>
                    <a:cubicBezTo>
                      <a:pt x="342" y="1536"/>
                      <a:pt x="0" y="1193"/>
                      <a:pt x="0" y="769"/>
                    </a:cubicBezTo>
                    <a:cubicBezTo>
                      <a:pt x="0" y="345"/>
                      <a:pt x="342" y="0"/>
                      <a:pt x="767" y="0"/>
                    </a:cubicBezTo>
                    <a:cubicBezTo>
                      <a:pt x="1191" y="0"/>
                      <a:pt x="1533" y="345"/>
                      <a:pt x="1533" y="769"/>
                    </a:cubicBezTo>
                  </a:path>
                </a:pathLst>
              </a:custGeom>
              <a:solidFill>
                <a:schemeClr val="accent1"/>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3" name="Freeform 17">
                <a:extLst>
                  <a:ext uri="{FF2B5EF4-FFF2-40B4-BE49-F238E27FC236}">
                    <a16:creationId xmlns:a16="http://schemas.microsoft.com/office/drawing/2014/main" id="{786F9E6F-0838-4EDC-B251-28313F221150}"/>
                  </a:ext>
                </a:extLst>
              </p:cNvPr>
              <p:cNvSpPr>
                <a:spLocks noChangeArrowheads="1"/>
              </p:cNvSpPr>
              <p:nvPr/>
            </p:nvSpPr>
            <p:spPr bwMode="auto">
              <a:xfrm>
                <a:off x="11950843" y="5199582"/>
                <a:ext cx="501141" cy="501117"/>
              </a:xfrm>
              <a:custGeom>
                <a:avLst/>
                <a:gdLst>
                  <a:gd name="G0" fmla="+- 1 0 0"/>
                  <a:gd name="G1" fmla="+- 1 0 0"/>
                  <a:gd name="G2" fmla="+- 1 0 0"/>
                  <a:gd name="G3" fmla="+- 1 0 0"/>
                  <a:gd name="G4" fmla="*/ 1 0 0"/>
                  <a:gd name="T0" fmla="*/ 534 256 1"/>
                  <a:gd name="T1" fmla="*/ 0 256 1"/>
                  <a:gd name="G5" fmla="+- 0 T0 T1"/>
                  <a:gd name="G6" fmla="cos G4 G5"/>
                  <a:gd name="G7" fmla="+- 1 0 0"/>
                  <a:gd name="G8" fmla="+- 415 0 0"/>
                  <a:gd name="G9" fmla="+- 268 0 0"/>
                  <a:gd name="G10" fmla="+- 121 0 0"/>
                  <a:gd name="G11" fmla="+- 1 0 0"/>
                  <a:gd name="G12" fmla="*/ 1 0 0"/>
                  <a:gd name="G13" fmla="*/ 1 0 0"/>
                  <a:gd name="G14" fmla="cos G12 G13"/>
                  <a:gd name="G15" fmla="+- 1 0 0"/>
                  <a:gd name="G16" fmla="+- 1 0 0"/>
                  <a:gd name="G17" fmla="+- 1 0 0"/>
                  <a:gd name="T2" fmla="*/ 191729 w 535"/>
                  <a:gd name="T3" fmla="*/ 96224 h 535"/>
                  <a:gd name="T4" fmla="*/ 191729 w 535"/>
                  <a:gd name="T5" fmla="*/ 96224 h 535"/>
                  <a:gd name="T6" fmla="*/ 95505 w 535"/>
                  <a:gd name="T7" fmla="*/ 191729 h 535"/>
                  <a:gd name="T8" fmla="*/ 0 w 535"/>
                  <a:gd name="T9" fmla="*/ 96224 h 535"/>
                  <a:gd name="T10" fmla="*/ 95505 w 535"/>
                  <a:gd name="T11" fmla="*/ 0 h 535"/>
                  <a:gd name="T12" fmla="*/ 191729 w 535"/>
                  <a:gd name="T13" fmla="*/ 96224 h 535"/>
                </a:gdLst>
                <a:ahLst/>
                <a:cxnLst>
                  <a:cxn ang="0">
                    <a:pos x="T2" y="T3"/>
                  </a:cxn>
                  <a:cxn ang="0">
                    <a:pos x="T4" y="T5"/>
                  </a:cxn>
                  <a:cxn ang="0">
                    <a:pos x="T6" y="T7"/>
                  </a:cxn>
                  <a:cxn ang="0">
                    <a:pos x="T8" y="T9"/>
                  </a:cxn>
                  <a:cxn ang="0">
                    <a:pos x="T10" y="T11"/>
                  </a:cxn>
                  <a:cxn ang="0">
                    <a:pos x="T12" y="T13"/>
                  </a:cxn>
                </a:cxnLst>
                <a:rect l="0" t="0" r="r" b="b"/>
                <a:pathLst>
                  <a:path w="535" h="535">
                    <a:moveTo>
                      <a:pt x="534" y="268"/>
                    </a:moveTo>
                    <a:lnTo>
                      <a:pt x="534" y="268"/>
                    </a:lnTo>
                    <a:cubicBezTo>
                      <a:pt x="534" y="415"/>
                      <a:pt x="412" y="534"/>
                      <a:pt x="266" y="534"/>
                    </a:cubicBezTo>
                    <a:cubicBezTo>
                      <a:pt x="119" y="534"/>
                      <a:pt x="0" y="415"/>
                      <a:pt x="0" y="268"/>
                    </a:cubicBezTo>
                    <a:cubicBezTo>
                      <a:pt x="0" y="121"/>
                      <a:pt x="119" y="0"/>
                      <a:pt x="266" y="0"/>
                    </a:cubicBezTo>
                    <a:cubicBezTo>
                      <a:pt x="412" y="0"/>
                      <a:pt x="534" y="121"/>
                      <a:pt x="534" y="268"/>
                    </a:cubicBezTo>
                  </a:path>
                </a:pathLst>
              </a:custGeom>
              <a:solidFill>
                <a:schemeClr val="accent3"/>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14" name="Group 113">
              <a:extLst>
                <a:ext uri="{FF2B5EF4-FFF2-40B4-BE49-F238E27FC236}">
                  <a16:creationId xmlns:a16="http://schemas.microsoft.com/office/drawing/2014/main" id="{6E3B9026-54C5-4993-9DEA-E5DA91985F00}"/>
                </a:ext>
              </a:extLst>
            </p:cNvPr>
            <p:cNvGrpSpPr/>
            <p:nvPr/>
          </p:nvGrpSpPr>
          <p:grpSpPr>
            <a:xfrm>
              <a:off x="8215113" y="4236868"/>
              <a:ext cx="1739492" cy="844855"/>
              <a:chOff x="12124791" y="3770786"/>
              <a:chExt cx="3478984" cy="1689710"/>
            </a:xfrm>
          </p:grpSpPr>
          <p:sp>
            <p:nvSpPr>
              <p:cNvPr id="115" name="Freeform 18">
                <a:extLst>
                  <a:ext uri="{FF2B5EF4-FFF2-40B4-BE49-F238E27FC236}">
                    <a16:creationId xmlns:a16="http://schemas.microsoft.com/office/drawing/2014/main" id="{9D9C9CD3-637D-427A-8AE2-651F06C9FFE3}"/>
                  </a:ext>
                </a:extLst>
              </p:cNvPr>
              <p:cNvSpPr>
                <a:spLocks noChangeArrowheads="1"/>
              </p:cNvSpPr>
              <p:nvPr/>
            </p:nvSpPr>
            <p:spPr bwMode="auto">
              <a:xfrm>
                <a:off x="12124793" y="4118666"/>
                <a:ext cx="2841169" cy="1341829"/>
              </a:xfrm>
              <a:custGeom>
                <a:avLst/>
                <a:gdLst>
                  <a:gd name="G0" fmla="+- 1 0 0"/>
                  <a:gd name="G1" fmla="+- 1 0 0"/>
                  <a:gd name="G2" fmla="+- 1 0 0"/>
                  <a:gd name="G3" fmla="+- 1429 0 0"/>
                  <a:gd name="G4" fmla="+- 1 0 0"/>
                  <a:gd name="T0" fmla="*/ 106633 w 3023"/>
                  <a:gd name="T1" fmla="*/ 407523 h 1430"/>
                  <a:gd name="T2" fmla="*/ 1067050 w 3023"/>
                  <a:gd name="T3" fmla="*/ 0 h 1430"/>
                  <a:gd name="T4" fmla="*/ 1088665 w 3023"/>
                  <a:gd name="T5" fmla="*/ 52154 h 1430"/>
                  <a:gd name="T6" fmla="*/ 0 w 3023"/>
                  <a:gd name="T7" fmla="*/ 513990 h 1430"/>
                  <a:gd name="T8" fmla="*/ 106633 w 3023"/>
                  <a:gd name="T9" fmla="*/ 407523 h 1430"/>
                </a:gdLst>
                <a:ahLst/>
                <a:cxnLst>
                  <a:cxn ang="0">
                    <a:pos x="T0" y="T1"/>
                  </a:cxn>
                  <a:cxn ang="0">
                    <a:pos x="T2" y="T3"/>
                  </a:cxn>
                  <a:cxn ang="0">
                    <a:pos x="T4" y="T5"/>
                  </a:cxn>
                  <a:cxn ang="0">
                    <a:pos x="T6" y="T7"/>
                  </a:cxn>
                  <a:cxn ang="0">
                    <a:pos x="T8" y="T9"/>
                  </a:cxn>
                </a:cxnLst>
                <a:rect l="0" t="0" r="r" b="b"/>
                <a:pathLst>
                  <a:path w="3023" h="1430">
                    <a:moveTo>
                      <a:pt x="296" y="1133"/>
                    </a:moveTo>
                    <a:lnTo>
                      <a:pt x="2962" y="0"/>
                    </a:lnTo>
                    <a:lnTo>
                      <a:pt x="3022" y="145"/>
                    </a:lnTo>
                    <a:lnTo>
                      <a:pt x="0" y="1429"/>
                    </a:lnTo>
                    <a:lnTo>
                      <a:pt x="296" y="1133"/>
                    </a:lnTo>
                  </a:path>
                </a:pathLst>
              </a:custGeom>
              <a:solidFill>
                <a:srgbClr val="515D5D"/>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6" name="Freeform 19">
                <a:extLst>
                  <a:ext uri="{FF2B5EF4-FFF2-40B4-BE49-F238E27FC236}">
                    <a16:creationId xmlns:a16="http://schemas.microsoft.com/office/drawing/2014/main" id="{E6B1B4F0-928C-42F6-92A5-7F30E9A4BC30}"/>
                  </a:ext>
                </a:extLst>
              </p:cNvPr>
              <p:cNvSpPr>
                <a:spLocks noChangeArrowheads="1"/>
              </p:cNvSpPr>
              <p:nvPr/>
            </p:nvSpPr>
            <p:spPr bwMode="auto">
              <a:xfrm>
                <a:off x="12124791" y="4255333"/>
                <a:ext cx="2899153" cy="1205163"/>
              </a:xfrm>
              <a:custGeom>
                <a:avLst/>
                <a:gdLst>
                  <a:gd name="G0" fmla="+- 1 0 0"/>
                  <a:gd name="G1" fmla="*/ 1 0 0"/>
                  <a:gd name="G2" fmla="+- 1 0 0"/>
                  <a:gd name="G3" fmla="+- 1284 0 0"/>
                  <a:gd name="G4" fmla="+- 1 0 0"/>
                  <a:gd name="T0" fmla="*/ 150879 w 3086"/>
                  <a:gd name="T1" fmla="*/ 459087 h 1285"/>
                  <a:gd name="T2" fmla="*/ 1110890 w 3086"/>
                  <a:gd name="T3" fmla="*/ 51769 h 1285"/>
                  <a:gd name="T4" fmla="*/ 1088204 w 3086"/>
                  <a:gd name="T5" fmla="*/ 0 h 1285"/>
                  <a:gd name="T6" fmla="*/ 0 w 3086"/>
                  <a:gd name="T7" fmla="*/ 461603 h 1285"/>
                  <a:gd name="T8" fmla="*/ 150879 w 3086"/>
                  <a:gd name="T9" fmla="*/ 459087 h 1285"/>
                </a:gdLst>
                <a:ahLst/>
                <a:cxnLst>
                  <a:cxn ang="0">
                    <a:pos x="T0" y="T1"/>
                  </a:cxn>
                  <a:cxn ang="0">
                    <a:pos x="T2" y="T3"/>
                  </a:cxn>
                  <a:cxn ang="0">
                    <a:pos x="T4" y="T5"/>
                  </a:cxn>
                  <a:cxn ang="0">
                    <a:pos x="T6" y="T7"/>
                  </a:cxn>
                  <a:cxn ang="0">
                    <a:pos x="T8" y="T9"/>
                  </a:cxn>
                </a:cxnLst>
                <a:rect l="0" t="0" r="r" b="b"/>
                <a:pathLst>
                  <a:path w="3086" h="1285">
                    <a:moveTo>
                      <a:pt x="419" y="1277"/>
                    </a:moveTo>
                    <a:lnTo>
                      <a:pt x="3085" y="144"/>
                    </a:lnTo>
                    <a:lnTo>
                      <a:pt x="3022" y="0"/>
                    </a:lnTo>
                    <a:lnTo>
                      <a:pt x="0" y="1284"/>
                    </a:lnTo>
                    <a:lnTo>
                      <a:pt x="419" y="1277"/>
                    </a:lnTo>
                  </a:path>
                </a:pathLst>
              </a:custGeom>
              <a:solidFill>
                <a:srgbClr val="828286"/>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7" name="Freeform 20">
                <a:extLst>
                  <a:ext uri="{FF2B5EF4-FFF2-40B4-BE49-F238E27FC236}">
                    <a16:creationId xmlns:a16="http://schemas.microsoft.com/office/drawing/2014/main" id="{38DB5A84-F52B-4772-AE64-018E553A37F0}"/>
                  </a:ext>
                </a:extLst>
              </p:cNvPr>
              <p:cNvSpPr>
                <a:spLocks noChangeArrowheads="1"/>
              </p:cNvSpPr>
              <p:nvPr/>
            </p:nvSpPr>
            <p:spPr bwMode="auto">
              <a:xfrm>
                <a:off x="12157926" y="4097957"/>
                <a:ext cx="2841169" cy="1341829"/>
              </a:xfrm>
              <a:custGeom>
                <a:avLst/>
                <a:gdLst>
                  <a:gd name="G0" fmla="+- 1 0 0"/>
                  <a:gd name="G1" fmla="+- 1 0 0"/>
                  <a:gd name="G2" fmla="+- 1 0 0"/>
                  <a:gd name="G3" fmla="+- 1429 0 0"/>
                  <a:gd name="G4" fmla="+- 1 0 0"/>
                  <a:gd name="T0" fmla="*/ 106527 w 3026"/>
                  <a:gd name="T1" fmla="*/ 407523 h 1430"/>
                  <a:gd name="T2" fmla="*/ 1066712 w 3026"/>
                  <a:gd name="T3" fmla="*/ 0 h 1430"/>
                  <a:gd name="T4" fmla="*/ 1088665 w 3026"/>
                  <a:gd name="T5" fmla="*/ 51795 h 1430"/>
                  <a:gd name="T6" fmla="*/ 0 w 3026"/>
                  <a:gd name="T7" fmla="*/ 513990 h 1430"/>
                  <a:gd name="T8" fmla="*/ 106527 w 3026"/>
                  <a:gd name="T9" fmla="*/ 407523 h 1430"/>
                </a:gdLst>
                <a:ahLst/>
                <a:cxnLst>
                  <a:cxn ang="0">
                    <a:pos x="T0" y="T1"/>
                  </a:cxn>
                  <a:cxn ang="0">
                    <a:pos x="T2" y="T3"/>
                  </a:cxn>
                  <a:cxn ang="0">
                    <a:pos x="T4" y="T5"/>
                  </a:cxn>
                  <a:cxn ang="0">
                    <a:pos x="T6" y="T7"/>
                  </a:cxn>
                  <a:cxn ang="0">
                    <a:pos x="T8" y="T9"/>
                  </a:cxn>
                </a:cxnLst>
                <a:rect l="0" t="0" r="r" b="b"/>
                <a:pathLst>
                  <a:path w="3026" h="1430">
                    <a:moveTo>
                      <a:pt x="296" y="1133"/>
                    </a:moveTo>
                    <a:lnTo>
                      <a:pt x="2964" y="0"/>
                    </a:lnTo>
                    <a:lnTo>
                      <a:pt x="3025" y="144"/>
                    </a:lnTo>
                    <a:lnTo>
                      <a:pt x="0" y="1429"/>
                    </a:lnTo>
                    <a:lnTo>
                      <a:pt x="296" y="1133"/>
                    </a:lnTo>
                  </a:path>
                </a:pathLst>
              </a:custGeom>
              <a:solidFill>
                <a:schemeClr val="bg1">
                  <a:lumMod val="65000"/>
                </a:schemeClr>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8" name="Freeform 21">
                <a:extLst>
                  <a:ext uri="{FF2B5EF4-FFF2-40B4-BE49-F238E27FC236}">
                    <a16:creationId xmlns:a16="http://schemas.microsoft.com/office/drawing/2014/main" id="{C3F10945-A4BE-42C8-AA5A-EB5352ABF0EC}"/>
                  </a:ext>
                </a:extLst>
              </p:cNvPr>
              <p:cNvSpPr>
                <a:spLocks noChangeArrowheads="1"/>
              </p:cNvSpPr>
              <p:nvPr/>
            </p:nvSpPr>
            <p:spPr bwMode="auto">
              <a:xfrm>
                <a:off x="12157924" y="4234626"/>
                <a:ext cx="2899153" cy="1209302"/>
              </a:xfrm>
              <a:custGeom>
                <a:avLst/>
                <a:gdLst>
                  <a:gd name="G0" fmla="+- 1 0 0"/>
                  <a:gd name="G1" fmla="*/ 1 0 0"/>
                  <a:gd name="G2" fmla="+- 1 0 0"/>
                  <a:gd name="G3" fmla="+- 1285 0 0"/>
                  <a:gd name="G4" fmla="+- 1 0 0"/>
                  <a:gd name="T0" fmla="*/ 151093 w 3089"/>
                  <a:gd name="T1" fmla="*/ 460666 h 1286"/>
                  <a:gd name="T2" fmla="*/ 1110890 w 3089"/>
                  <a:gd name="T3" fmla="*/ 52267 h 1286"/>
                  <a:gd name="T4" fmla="*/ 1088226 w 3089"/>
                  <a:gd name="T5" fmla="*/ 0 h 1286"/>
                  <a:gd name="T6" fmla="*/ 0 w 3089"/>
                  <a:gd name="T7" fmla="*/ 463190 h 1286"/>
                  <a:gd name="T8" fmla="*/ 151093 w 3089"/>
                  <a:gd name="T9" fmla="*/ 460666 h 1286"/>
                </a:gdLst>
                <a:ahLst/>
                <a:cxnLst>
                  <a:cxn ang="0">
                    <a:pos x="T0" y="T1"/>
                  </a:cxn>
                  <a:cxn ang="0">
                    <a:pos x="T2" y="T3"/>
                  </a:cxn>
                  <a:cxn ang="0">
                    <a:pos x="T4" y="T5"/>
                  </a:cxn>
                  <a:cxn ang="0">
                    <a:pos x="T6" y="T7"/>
                  </a:cxn>
                  <a:cxn ang="0">
                    <a:pos x="T8" y="T9"/>
                  </a:cxn>
                </a:cxnLst>
                <a:rect l="0" t="0" r="r" b="b"/>
                <a:pathLst>
                  <a:path w="3089" h="1286">
                    <a:moveTo>
                      <a:pt x="420" y="1278"/>
                    </a:moveTo>
                    <a:lnTo>
                      <a:pt x="3088" y="145"/>
                    </a:lnTo>
                    <a:lnTo>
                      <a:pt x="3025" y="0"/>
                    </a:lnTo>
                    <a:lnTo>
                      <a:pt x="0" y="1285"/>
                    </a:lnTo>
                    <a:lnTo>
                      <a:pt x="420" y="1278"/>
                    </a:lnTo>
                  </a:path>
                </a:pathLst>
              </a:custGeom>
              <a:solidFill>
                <a:schemeClr val="bg1">
                  <a:lumMod val="50000"/>
                </a:schemeClr>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9" name="Freeform 22">
                <a:extLst>
                  <a:ext uri="{FF2B5EF4-FFF2-40B4-BE49-F238E27FC236}">
                    <a16:creationId xmlns:a16="http://schemas.microsoft.com/office/drawing/2014/main" id="{ABFE276E-25F4-4020-9E0D-F06AD8BACC86}"/>
                  </a:ext>
                </a:extLst>
              </p:cNvPr>
              <p:cNvSpPr>
                <a:spLocks noChangeArrowheads="1"/>
              </p:cNvSpPr>
              <p:nvPr/>
            </p:nvSpPr>
            <p:spPr bwMode="auto">
              <a:xfrm>
                <a:off x="14560081" y="3770786"/>
                <a:ext cx="820046" cy="604652"/>
              </a:xfrm>
              <a:custGeom>
                <a:avLst/>
                <a:gdLst>
                  <a:gd name="G0" fmla="+- 643 0 0"/>
                  <a:gd name="G1" fmla="+- 643 0 0"/>
                  <a:gd name="G2" fmla="+- 643 0 0"/>
                  <a:gd name="G3" fmla="+- 1 0 0"/>
                  <a:gd name="G4" fmla="+- 1 0 0"/>
                  <a:gd name="G5" fmla="+- 1 0 0"/>
                  <a:gd name="G6" fmla="+- 1 0 0"/>
                  <a:gd name="G7" fmla="+- 1 0 0"/>
                  <a:gd name="G8" fmla="+- 1 0 0"/>
                  <a:gd name="G9" fmla="+- 1 0 0"/>
                  <a:gd name="G10" fmla="+- 1 0 0"/>
                  <a:gd name="G11" fmla="+- 643 0 0"/>
                  <a:gd name="T0" fmla="*/ 0 w 875"/>
                  <a:gd name="T1" fmla="*/ 231415 h 644"/>
                  <a:gd name="T2" fmla="*/ 0 w 875"/>
                  <a:gd name="T3" fmla="*/ 231415 h 644"/>
                  <a:gd name="T4" fmla="*/ 116390 w 875"/>
                  <a:gd name="T5" fmla="*/ 84936 h 644"/>
                  <a:gd name="T6" fmla="*/ 313966 w 875"/>
                  <a:gd name="T7" fmla="*/ 0 h 644"/>
                  <a:gd name="T8" fmla="*/ 221644 w 875"/>
                  <a:gd name="T9" fmla="*/ 137841 h 644"/>
                  <a:gd name="T10" fmla="*/ 0 w 875"/>
                  <a:gd name="T11" fmla="*/ 231415 h 644"/>
                </a:gdLst>
                <a:ahLst/>
                <a:cxnLst>
                  <a:cxn ang="0">
                    <a:pos x="T0" y="T1"/>
                  </a:cxn>
                  <a:cxn ang="0">
                    <a:pos x="T2" y="T3"/>
                  </a:cxn>
                  <a:cxn ang="0">
                    <a:pos x="T4" y="T5"/>
                  </a:cxn>
                  <a:cxn ang="0">
                    <a:pos x="T6" y="T7"/>
                  </a:cxn>
                  <a:cxn ang="0">
                    <a:pos x="T8" y="T9"/>
                  </a:cxn>
                  <a:cxn ang="0">
                    <a:pos x="T10" y="T11"/>
                  </a:cxn>
                </a:cxnLst>
                <a:rect l="0" t="0" r="r" b="b"/>
                <a:pathLst>
                  <a:path w="875" h="644">
                    <a:moveTo>
                      <a:pt x="0" y="643"/>
                    </a:moveTo>
                    <a:lnTo>
                      <a:pt x="0" y="643"/>
                    </a:lnTo>
                    <a:cubicBezTo>
                      <a:pt x="0" y="643"/>
                      <a:pt x="58" y="347"/>
                      <a:pt x="324" y="236"/>
                    </a:cubicBezTo>
                    <a:cubicBezTo>
                      <a:pt x="589" y="122"/>
                      <a:pt x="874" y="0"/>
                      <a:pt x="874" y="0"/>
                    </a:cubicBezTo>
                    <a:cubicBezTo>
                      <a:pt x="617" y="383"/>
                      <a:pt x="617" y="383"/>
                      <a:pt x="617" y="383"/>
                    </a:cubicBezTo>
                    <a:lnTo>
                      <a:pt x="0" y="643"/>
                    </a:lnTo>
                  </a:path>
                </a:pathLst>
              </a:custGeom>
              <a:solidFill>
                <a:schemeClr val="accent1">
                  <a:lumMod val="75000"/>
                </a:schemeClr>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20" name="Freeform 23">
                <a:extLst>
                  <a:ext uri="{FF2B5EF4-FFF2-40B4-BE49-F238E27FC236}">
                    <a16:creationId xmlns:a16="http://schemas.microsoft.com/office/drawing/2014/main" id="{4F042C20-07E3-4C0C-90C2-EA2422F4434C}"/>
                  </a:ext>
                </a:extLst>
              </p:cNvPr>
              <p:cNvSpPr>
                <a:spLocks noChangeArrowheads="1"/>
              </p:cNvSpPr>
              <p:nvPr/>
            </p:nvSpPr>
            <p:spPr bwMode="auto">
              <a:xfrm>
                <a:off x="14597357" y="4218063"/>
                <a:ext cx="1006418" cy="401719"/>
              </a:xfrm>
              <a:custGeom>
                <a:avLst/>
                <a:gdLst>
                  <a:gd name="G0" fmla="+- 263 0 0"/>
                  <a:gd name="G1" fmla="+- 263 0 0"/>
                  <a:gd name="G2" fmla="+- 263 0 0"/>
                  <a:gd name="G3" fmla="+- 1 0 0"/>
                  <a:gd name="G4" fmla="*/ 1 35987 45568"/>
                  <a:gd name="G5" fmla="*/ 1 35987 55552"/>
                  <a:gd name="G6" fmla="*/ G5 1 180"/>
                  <a:gd name="G7" fmla="*/ G4 1 G6"/>
                  <a:gd name="G8" fmla="+- 1 0 0"/>
                  <a:gd name="G9" fmla="+- 1 0 0"/>
                  <a:gd name="G10" fmla="+- 1 0 0"/>
                  <a:gd name="G11" fmla="+- 1 0 0"/>
                  <a:gd name="G12" fmla="+- 1 0 0"/>
                  <a:gd name="G13" fmla="+- 1 0 0"/>
                  <a:gd name="G14" fmla="+- 263 0 0"/>
                  <a:gd name="T0" fmla="*/ 0 w 1071"/>
                  <a:gd name="T1" fmla="*/ 94844 h 427"/>
                  <a:gd name="T2" fmla="*/ 0 w 1071"/>
                  <a:gd name="T3" fmla="*/ 94844 h 427"/>
                  <a:gd name="T4" fmla="*/ 187298 w 1071"/>
                  <a:gd name="T5" fmla="*/ 113236 h 427"/>
                  <a:gd name="T6" fmla="*/ 385402 w 1071"/>
                  <a:gd name="T7" fmla="*/ 28489 h 427"/>
                  <a:gd name="T8" fmla="*/ 223317 w 1071"/>
                  <a:gd name="T9" fmla="*/ 0 h 427"/>
                  <a:gd name="T10" fmla="*/ 0 w 1071"/>
                  <a:gd name="T11" fmla="*/ 94844 h 427"/>
                </a:gdLst>
                <a:ahLst/>
                <a:cxnLst>
                  <a:cxn ang="0">
                    <a:pos x="T0" y="T1"/>
                  </a:cxn>
                  <a:cxn ang="0">
                    <a:pos x="T2" y="T3"/>
                  </a:cxn>
                  <a:cxn ang="0">
                    <a:pos x="T4" y="T5"/>
                  </a:cxn>
                  <a:cxn ang="0">
                    <a:pos x="T6" y="T7"/>
                  </a:cxn>
                  <a:cxn ang="0">
                    <a:pos x="T8" y="T9"/>
                  </a:cxn>
                  <a:cxn ang="0">
                    <a:pos x="T10" y="T11"/>
                  </a:cxn>
                </a:cxnLst>
                <a:rect l="0" t="0" r="r" b="b"/>
                <a:pathLst>
                  <a:path w="1071" h="427">
                    <a:moveTo>
                      <a:pt x="0" y="263"/>
                    </a:moveTo>
                    <a:lnTo>
                      <a:pt x="0" y="263"/>
                    </a:lnTo>
                    <a:cubicBezTo>
                      <a:pt x="0" y="263"/>
                      <a:pt x="254" y="426"/>
                      <a:pt x="520" y="314"/>
                    </a:cubicBezTo>
                    <a:cubicBezTo>
                      <a:pt x="786" y="200"/>
                      <a:pt x="1070" y="79"/>
                      <a:pt x="1070" y="79"/>
                    </a:cubicBezTo>
                    <a:cubicBezTo>
                      <a:pt x="620" y="0"/>
                      <a:pt x="620" y="0"/>
                      <a:pt x="620" y="0"/>
                    </a:cubicBezTo>
                    <a:lnTo>
                      <a:pt x="0" y="263"/>
                    </a:lnTo>
                  </a:path>
                </a:pathLst>
              </a:custGeom>
              <a:solidFill>
                <a:schemeClr val="accent1"/>
              </a:solid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sp>
        <p:nvSpPr>
          <p:cNvPr id="24" name="TextBox 23">
            <a:extLst>
              <a:ext uri="{FF2B5EF4-FFF2-40B4-BE49-F238E27FC236}">
                <a16:creationId xmlns:a16="http://schemas.microsoft.com/office/drawing/2014/main" id="{5B610864-6BAA-4DDC-89B9-7E9850598C6F}"/>
              </a:ext>
            </a:extLst>
          </p:cNvPr>
          <p:cNvSpPr txBox="1"/>
          <p:nvPr/>
        </p:nvSpPr>
        <p:spPr>
          <a:xfrm>
            <a:off x="293588" y="3015908"/>
            <a:ext cx="2682145" cy="461665"/>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השקה – דצמבר 2023</a:t>
            </a:r>
            <a:endParaRPr kumimoji="0" lang="en-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1" name="Arrow: Chevron 120">
            <a:extLst>
              <a:ext uri="{FF2B5EF4-FFF2-40B4-BE49-F238E27FC236}">
                <a16:creationId xmlns:a16="http://schemas.microsoft.com/office/drawing/2014/main" id="{4FCC0093-5FC1-4603-9DD5-10E5FB9E251B}"/>
              </a:ext>
            </a:extLst>
          </p:cNvPr>
          <p:cNvSpPr/>
          <p:nvPr/>
        </p:nvSpPr>
        <p:spPr>
          <a:xfrm flipH="1">
            <a:off x="5305190" y="3159296"/>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2" name="Arrow: Chevron 121">
            <a:extLst>
              <a:ext uri="{FF2B5EF4-FFF2-40B4-BE49-F238E27FC236}">
                <a16:creationId xmlns:a16="http://schemas.microsoft.com/office/drawing/2014/main" id="{527758C0-F2F4-4E87-AD40-67F07D1DD43B}"/>
              </a:ext>
            </a:extLst>
          </p:cNvPr>
          <p:cNvSpPr/>
          <p:nvPr/>
        </p:nvSpPr>
        <p:spPr>
          <a:xfrm flipH="1">
            <a:off x="4541264" y="4094779"/>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3" name="Arrow: Chevron 122">
            <a:extLst>
              <a:ext uri="{FF2B5EF4-FFF2-40B4-BE49-F238E27FC236}">
                <a16:creationId xmlns:a16="http://schemas.microsoft.com/office/drawing/2014/main" id="{BB6CAC68-4F31-4565-AE69-274BEAB4CAEA}"/>
              </a:ext>
            </a:extLst>
          </p:cNvPr>
          <p:cNvSpPr/>
          <p:nvPr/>
        </p:nvSpPr>
        <p:spPr>
          <a:xfrm flipH="1">
            <a:off x="3538252" y="4932269"/>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7" name="TextBox 66">
            <a:extLst>
              <a:ext uri="{FF2B5EF4-FFF2-40B4-BE49-F238E27FC236}">
                <a16:creationId xmlns:a16="http://schemas.microsoft.com/office/drawing/2014/main" id="{C1EB8DA0-529E-4979-90EA-E597A731CAEF}"/>
              </a:ext>
            </a:extLst>
          </p:cNvPr>
          <p:cNvSpPr txBox="1"/>
          <p:nvPr/>
        </p:nvSpPr>
        <p:spPr>
          <a:xfrm>
            <a:off x="3136381" y="5915431"/>
            <a:ext cx="4698722"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בנייה והטמעה של כלים טכנולוגיים </a:t>
            </a:r>
          </a:p>
        </p:txBody>
      </p:sp>
      <p:sp>
        <p:nvSpPr>
          <p:cNvPr id="65" name="TextBox 64">
            <a:extLst>
              <a:ext uri="{FF2B5EF4-FFF2-40B4-BE49-F238E27FC236}">
                <a16:creationId xmlns:a16="http://schemas.microsoft.com/office/drawing/2014/main" id="{F04E27C7-744E-4D24-8F30-54BD8685B674}"/>
              </a:ext>
            </a:extLst>
          </p:cNvPr>
          <p:cNvSpPr txBox="1"/>
          <p:nvPr/>
        </p:nvSpPr>
        <p:spPr>
          <a:xfrm>
            <a:off x="5485742" y="3244707"/>
            <a:ext cx="5101076"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המשך מיפוי הצרכים והשדה הטכנולוגי</a:t>
            </a:r>
          </a:p>
        </p:txBody>
      </p:sp>
      <p:sp>
        <p:nvSpPr>
          <p:cNvPr id="66" name="TextBox 65">
            <a:extLst>
              <a:ext uri="{FF2B5EF4-FFF2-40B4-BE49-F238E27FC236}">
                <a16:creationId xmlns:a16="http://schemas.microsoft.com/office/drawing/2014/main" id="{B770ECA4-544F-4039-8F6A-B133968AF047}"/>
              </a:ext>
            </a:extLst>
          </p:cNvPr>
          <p:cNvSpPr txBox="1"/>
          <p:nvPr/>
        </p:nvSpPr>
        <p:spPr>
          <a:xfrm>
            <a:off x="5667371" y="4174549"/>
            <a:ext cx="3416320"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תכנון אסטרטגית </a:t>
            </a:r>
            <a:r>
              <a:rPr kumimoji="0" lang="he-IL" sz="2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הדיגיטל</a:t>
            </a: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65">
            <a:extLst>
              <a:ext uri="{FF2B5EF4-FFF2-40B4-BE49-F238E27FC236}">
                <a16:creationId xmlns:a16="http://schemas.microsoft.com/office/drawing/2014/main" id="{E5A948DE-9777-D55D-8548-015E321EFDFC}"/>
              </a:ext>
            </a:extLst>
          </p:cNvPr>
          <p:cNvSpPr txBox="1"/>
          <p:nvPr/>
        </p:nvSpPr>
        <p:spPr>
          <a:xfrm>
            <a:off x="4647758" y="5012039"/>
            <a:ext cx="2632452"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אישור ויציאה לדרך </a:t>
            </a:r>
          </a:p>
        </p:txBody>
      </p:sp>
      <p:pic>
        <p:nvPicPr>
          <p:cNvPr id="28" name="Picture 2" descr="סמל מדינת ישראל – ויקיפדיה">
            <a:extLst>
              <a:ext uri="{FF2B5EF4-FFF2-40B4-BE49-F238E27FC236}">
                <a16:creationId xmlns:a16="http://schemas.microsoft.com/office/drawing/2014/main" id="{FFCF4272-099B-46CA-AFC6-68EBEF8024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91703" y="601786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3" descr="קובץ:Ministry of Labor, Social Affairs and Social Services ...">
            <a:extLst>
              <a:ext uri="{FF2B5EF4-FFF2-40B4-BE49-F238E27FC236}">
                <a16:creationId xmlns:a16="http://schemas.microsoft.com/office/drawing/2014/main" id="{E78E16BB-B473-4851-8E2D-C4807D4B0F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4834" y="6040917"/>
            <a:ext cx="2136568" cy="582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2203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E5240BF-A2F3-4442-8AB3-323F36E3E4AC}"/>
              </a:ext>
            </a:extLst>
          </p:cNvPr>
          <p:cNvSpPr/>
          <p:nvPr/>
        </p:nvSpPr>
        <p:spPr>
          <a:xfrm>
            <a:off x="6491958" y="1022167"/>
            <a:ext cx="5268577" cy="1323439"/>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פרויקטים עתידיים</a:t>
            </a:r>
            <a: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ממשיכים לחלום בגדול</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Freeform 8">
            <a:extLst>
              <a:ext uri="{FF2B5EF4-FFF2-40B4-BE49-F238E27FC236}">
                <a16:creationId xmlns:a16="http://schemas.microsoft.com/office/drawing/2014/main" id="{3A02B74B-FA66-4838-B608-C564CFE431DA}"/>
              </a:ext>
            </a:extLst>
          </p:cNvPr>
          <p:cNvSpPr>
            <a:spLocks/>
          </p:cNvSpPr>
          <p:nvPr/>
        </p:nvSpPr>
        <p:spPr bwMode="auto">
          <a:xfrm>
            <a:off x="1151182" y="308912"/>
            <a:ext cx="5476875" cy="6535050"/>
          </a:xfrm>
          <a:custGeom>
            <a:avLst/>
            <a:gdLst>
              <a:gd name="T0" fmla="*/ 2339 w 3076"/>
              <a:gd name="T1" fmla="*/ 212 h 1372"/>
              <a:gd name="T2" fmla="*/ 1696 w 3076"/>
              <a:gd name="T3" fmla="*/ 69 h 1372"/>
              <a:gd name="T4" fmla="*/ 1942 w 3076"/>
              <a:gd name="T5" fmla="*/ 0 h 1372"/>
              <a:gd name="T6" fmla="*/ 1920 w 3076"/>
              <a:gd name="T7" fmla="*/ 0 h 1372"/>
              <a:gd name="T8" fmla="*/ 1567 w 3076"/>
              <a:gd name="T9" fmla="*/ 43 h 1372"/>
              <a:gd name="T10" fmla="*/ 1835 w 3076"/>
              <a:gd name="T11" fmla="*/ 196 h 1372"/>
              <a:gd name="T12" fmla="*/ 1888 w 3076"/>
              <a:gd name="T13" fmla="*/ 574 h 1372"/>
              <a:gd name="T14" fmla="*/ 0 w 3076"/>
              <a:gd name="T15" fmla="*/ 1364 h 1372"/>
              <a:gd name="T16" fmla="*/ 0 w 3076"/>
              <a:gd name="T17" fmla="*/ 1372 h 1372"/>
              <a:gd name="T18" fmla="*/ 2499 w 3076"/>
              <a:gd name="T19" fmla="*/ 1372 h 1372"/>
              <a:gd name="T20" fmla="*/ 2832 w 3076"/>
              <a:gd name="T21" fmla="*/ 944 h 1372"/>
              <a:gd name="T22" fmla="*/ 2339 w 3076"/>
              <a:gd name="T23" fmla="*/ 212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76" h="1372">
                <a:moveTo>
                  <a:pt x="2339" y="212"/>
                </a:moveTo>
                <a:cubicBezTo>
                  <a:pt x="1881" y="99"/>
                  <a:pt x="1736" y="99"/>
                  <a:pt x="1696" y="69"/>
                </a:cubicBezTo>
                <a:cubicBezTo>
                  <a:pt x="1661" y="43"/>
                  <a:pt x="1885" y="8"/>
                  <a:pt x="1942" y="0"/>
                </a:cubicBezTo>
                <a:cubicBezTo>
                  <a:pt x="1920" y="0"/>
                  <a:pt x="1920" y="0"/>
                  <a:pt x="1920" y="0"/>
                </a:cubicBezTo>
                <a:cubicBezTo>
                  <a:pt x="1861" y="4"/>
                  <a:pt x="1734" y="14"/>
                  <a:pt x="1567" y="43"/>
                </a:cubicBezTo>
                <a:cubicBezTo>
                  <a:pt x="1354" y="79"/>
                  <a:pt x="1620" y="150"/>
                  <a:pt x="1835" y="196"/>
                </a:cubicBezTo>
                <a:cubicBezTo>
                  <a:pt x="2050" y="243"/>
                  <a:pt x="2255" y="353"/>
                  <a:pt x="1888" y="574"/>
                </a:cubicBezTo>
                <a:cubicBezTo>
                  <a:pt x="996" y="1111"/>
                  <a:pt x="256" y="1307"/>
                  <a:pt x="0" y="1364"/>
                </a:cubicBezTo>
                <a:cubicBezTo>
                  <a:pt x="0" y="1372"/>
                  <a:pt x="0" y="1372"/>
                  <a:pt x="0" y="1372"/>
                </a:cubicBezTo>
                <a:cubicBezTo>
                  <a:pt x="2499" y="1372"/>
                  <a:pt x="2499" y="1372"/>
                  <a:pt x="2499" y="1372"/>
                </a:cubicBezTo>
                <a:cubicBezTo>
                  <a:pt x="2628" y="1226"/>
                  <a:pt x="2767" y="1050"/>
                  <a:pt x="2832" y="944"/>
                </a:cubicBezTo>
                <a:cubicBezTo>
                  <a:pt x="3076" y="549"/>
                  <a:pt x="2796" y="324"/>
                  <a:pt x="2339" y="212"/>
                </a:cubicBezTo>
                <a:close/>
              </a:path>
            </a:pathLst>
          </a:custGeom>
          <a:solidFill>
            <a:schemeClr val="tx1">
              <a:lumMod val="75000"/>
              <a:lumOff val="2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Freeform 9">
            <a:extLst>
              <a:ext uri="{FF2B5EF4-FFF2-40B4-BE49-F238E27FC236}">
                <a16:creationId xmlns:a16="http://schemas.microsoft.com/office/drawing/2014/main" id="{270CA89D-7007-4535-94AC-0B2A88731ACA}"/>
              </a:ext>
            </a:extLst>
          </p:cNvPr>
          <p:cNvSpPr>
            <a:spLocks/>
          </p:cNvSpPr>
          <p:nvPr/>
        </p:nvSpPr>
        <p:spPr bwMode="auto">
          <a:xfrm>
            <a:off x="3519758" y="322950"/>
            <a:ext cx="2025650" cy="6535050"/>
          </a:xfrm>
          <a:custGeom>
            <a:avLst/>
            <a:gdLst>
              <a:gd name="T0" fmla="*/ 1070 w 1138"/>
              <a:gd name="T1" fmla="*/ 369 h 1372"/>
              <a:gd name="T2" fmla="*/ 878 w 1138"/>
              <a:gd name="T3" fmla="*/ 253 h 1372"/>
              <a:gd name="T4" fmla="*/ 680 w 1138"/>
              <a:gd name="T5" fmla="*/ 193 h 1372"/>
              <a:gd name="T6" fmla="*/ 332 w 1138"/>
              <a:gd name="T7" fmla="*/ 117 h 1372"/>
              <a:gd name="T8" fmla="*/ 259 w 1138"/>
              <a:gd name="T9" fmla="*/ 98 h 1372"/>
              <a:gd name="T10" fmla="*/ 229 w 1138"/>
              <a:gd name="T11" fmla="*/ 82 h 1372"/>
              <a:gd name="T12" fmla="*/ 245 w 1138"/>
              <a:gd name="T13" fmla="*/ 61 h 1372"/>
              <a:gd name="T14" fmla="*/ 363 w 1138"/>
              <a:gd name="T15" fmla="*/ 30 h 1372"/>
              <a:gd name="T16" fmla="*/ 572 w 1138"/>
              <a:gd name="T17" fmla="*/ 0 h 1372"/>
              <a:gd name="T18" fmla="*/ 563 w 1138"/>
              <a:gd name="T19" fmla="*/ 0 h 1372"/>
              <a:gd name="T20" fmla="*/ 363 w 1138"/>
              <a:gd name="T21" fmla="*/ 27 h 1372"/>
              <a:gd name="T22" fmla="*/ 244 w 1138"/>
              <a:gd name="T23" fmla="*/ 58 h 1372"/>
              <a:gd name="T24" fmla="*/ 226 w 1138"/>
              <a:gd name="T25" fmla="*/ 84 h 1372"/>
              <a:gd name="T26" fmla="*/ 258 w 1138"/>
              <a:gd name="T27" fmla="*/ 101 h 1372"/>
              <a:gd name="T28" fmla="*/ 332 w 1138"/>
              <a:gd name="T29" fmla="*/ 120 h 1372"/>
              <a:gd name="T30" fmla="*/ 679 w 1138"/>
              <a:gd name="T31" fmla="*/ 198 h 1372"/>
              <a:gd name="T32" fmla="*/ 876 w 1138"/>
              <a:gd name="T33" fmla="*/ 258 h 1372"/>
              <a:gd name="T34" fmla="*/ 1065 w 1138"/>
              <a:gd name="T35" fmla="*/ 373 h 1372"/>
              <a:gd name="T36" fmla="*/ 1085 w 1138"/>
              <a:gd name="T37" fmla="*/ 592 h 1372"/>
              <a:gd name="T38" fmla="*/ 917 w 1138"/>
              <a:gd name="T39" fmla="*/ 780 h 1372"/>
              <a:gd name="T40" fmla="*/ 0 w 1138"/>
              <a:gd name="T41" fmla="*/ 1372 h 1372"/>
              <a:gd name="T42" fmla="*/ 66 w 1138"/>
              <a:gd name="T43" fmla="*/ 1372 h 1372"/>
              <a:gd name="T44" fmla="*/ 926 w 1138"/>
              <a:gd name="T45" fmla="*/ 786 h 1372"/>
              <a:gd name="T46" fmla="*/ 1090 w 1138"/>
              <a:gd name="T47" fmla="*/ 594 h 1372"/>
              <a:gd name="T48" fmla="*/ 1070 w 1138"/>
              <a:gd name="T49" fmla="*/ 369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38" h="1372">
                <a:moveTo>
                  <a:pt x="1070" y="369"/>
                </a:moveTo>
                <a:cubicBezTo>
                  <a:pt x="1016" y="311"/>
                  <a:pt x="945" y="280"/>
                  <a:pt x="878" y="253"/>
                </a:cubicBezTo>
                <a:cubicBezTo>
                  <a:pt x="811" y="228"/>
                  <a:pt x="744" y="209"/>
                  <a:pt x="680" y="193"/>
                </a:cubicBezTo>
                <a:cubicBezTo>
                  <a:pt x="551" y="163"/>
                  <a:pt x="435" y="139"/>
                  <a:pt x="332" y="117"/>
                </a:cubicBezTo>
                <a:cubicBezTo>
                  <a:pt x="307" y="111"/>
                  <a:pt x="282" y="105"/>
                  <a:pt x="259" y="98"/>
                </a:cubicBezTo>
                <a:cubicBezTo>
                  <a:pt x="248" y="94"/>
                  <a:pt x="236" y="90"/>
                  <a:pt x="229" y="82"/>
                </a:cubicBezTo>
                <a:cubicBezTo>
                  <a:pt x="221" y="73"/>
                  <a:pt x="237" y="65"/>
                  <a:pt x="245" y="61"/>
                </a:cubicBezTo>
                <a:cubicBezTo>
                  <a:pt x="286" y="44"/>
                  <a:pt x="327" y="37"/>
                  <a:pt x="363" y="30"/>
                </a:cubicBezTo>
                <a:cubicBezTo>
                  <a:pt x="468" y="11"/>
                  <a:pt x="540" y="3"/>
                  <a:pt x="572" y="0"/>
                </a:cubicBezTo>
                <a:cubicBezTo>
                  <a:pt x="563" y="0"/>
                  <a:pt x="563" y="0"/>
                  <a:pt x="563" y="0"/>
                </a:cubicBezTo>
                <a:cubicBezTo>
                  <a:pt x="528" y="3"/>
                  <a:pt x="459" y="11"/>
                  <a:pt x="363" y="27"/>
                </a:cubicBezTo>
                <a:cubicBezTo>
                  <a:pt x="327" y="35"/>
                  <a:pt x="286" y="41"/>
                  <a:pt x="244" y="58"/>
                </a:cubicBezTo>
                <a:cubicBezTo>
                  <a:pt x="236" y="62"/>
                  <a:pt x="216" y="70"/>
                  <a:pt x="226" y="84"/>
                </a:cubicBezTo>
                <a:cubicBezTo>
                  <a:pt x="235" y="93"/>
                  <a:pt x="247" y="97"/>
                  <a:pt x="258" y="101"/>
                </a:cubicBezTo>
                <a:cubicBezTo>
                  <a:pt x="281" y="109"/>
                  <a:pt x="306" y="115"/>
                  <a:pt x="332" y="120"/>
                </a:cubicBezTo>
                <a:cubicBezTo>
                  <a:pt x="434" y="143"/>
                  <a:pt x="551" y="168"/>
                  <a:pt x="679" y="198"/>
                </a:cubicBezTo>
                <a:cubicBezTo>
                  <a:pt x="743" y="214"/>
                  <a:pt x="809" y="233"/>
                  <a:pt x="876" y="258"/>
                </a:cubicBezTo>
                <a:cubicBezTo>
                  <a:pt x="943" y="284"/>
                  <a:pt x="1013" y="316"/>
                  <a:pt x="1065" y="373"/>
                </a:cubicBezTo>
                <a:cubicBezTo>
                  <a:pt x="1119" y="428"/>
                  <a:pt x="1132" y="522"/>
                  <a:pt x="1085" y="592"/>
                </a:cubicBezTo>
                <a:cubicBezTo>
                  <a:pt x="1043" y="662"/>
                  <a:pt x="982" y="722"/>
                  <a:pt x="917" y="780"/>
                </a:cubicBezTo>
                <a:cubicBezTo>
                  <a:pt x="660" y="998"/>
                  <a:pt x="341" y="1188"/>
                  <a:pt x="0" y="1372"/>
                </a:cubicBezTo>
                <a:cubicBezTo>
                  <a:pt x="66" y="1372"/>
                  <a:pt x="66" y="1372"/>
                  <a:pt x="66" y="1372"/>
                </a:cubicBezTo>
                <a:cubicBezTo>
                  <a:pt x="399" y="1190"/>
                  <a:pt x="672" y="1003"/>
                  <a:pt x="926" y="786"/>
                </a:cubicBezTo>
                <a:cubicBezTo>
                  <a:pt x="991" y="728"/>
                  <a:pt x="1048" y="666"/>
                  <a:pt x="1090" y="594"/>
                </a:cubicBezTo>
                <a:cubicBezTo>
                  <a:pt x="1138" y="524"/>
                  <a:pt x="1125" y="426"/>
                  <a:pt x="1070" y="369"/>
                </a:cubicBezTo>
                <a:close/>
              </a:path>
            </a:pathLst>
          </a:custGeom>
          <a:solidFill>
            <a:schemeClr val="bg1"/>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F585E673-0BC4-437A-8147-04589B99556D}"/>
              </a:ext>
            </a:extLst>
          </p:cNvPr>
          <p:cNvSpPr txBox="1"/>
          <p:nvPr/>
        </p:nvSpPr>
        <p:spPr>
          <a:xfrm>
            <a:off x="2509998" y="3294317"/>
            <a:ext cx="1007007"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תקן אמיר</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grpSp>
        <p:nvGrpSpPr>
          <p:cNvPr id="10" name="Group 9">
            <a:extLst>
              <a:ext uri="{FF2B5EF4-FFF2-40B4-BE49-F238E27FC236}">
                <a16:creationId xmlns:a16="http://schemas.microsoft.com/office/drawing/2014/main" id="{4F1D24B7-6237-41ED-A08B-E2E2B30D7228}"/>
              </a:ext>
            </a:extLst>
          </p:cNvPr>
          <p:cNvGrpSpPr/>
          <p:nvPr/>
        </p:nvGrpSpPr>
        <p:grpSpPr>
          <a:xfrm>
            <a:off x="3748267" y="4836005"/>
            <a:ext cx="383152" cy="555806"/>
            <a:chOff x="2682876" y="1790701"/>
            <a:chExt cx="514350" cy="746125"/>
          </a:xfrm>
          <a:effectLst>
            <a:outerShdw blurRad="76200" dir="18900000" sy="23000" kx="-1200000" algn="bl" rotWithShape="0">
              <a:prstClr val="black">
                <a:alpha val="20000"/>
              </a:prstClr>
            </a:outerShdw>
          </a:effectLst>
        </p:grpSpPr>
        <p:sp>
          <p:nvSpPr>
            <p:cNvPr id="11" name="Freeform 20">
              <a:extLst>
                <a:ext uri="{FF2B5EF4-FFF2-40B4-BE49-F238E27FC236}">
                  <a16:creationId xmlns:a16="http://schemas.microsoft.com/office/drawing/2014/main" id="{DC0E7E6F-9E4C-43F2-A3B4-E06A5B7B4888}"/>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21">
              <a:extLst>
                <a:ext uri="{FF2B5EF4-FFF2-40B4-BE49-F238E27FC236}">
                  <a16:creationId xmlns:a16="http://schemas.microsoft.com/office/drawing/2014/main" id="{0855F266-1ADC-4111-B477-3980F4597B7B}"/>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C51B8687-38E1-4355-B5AD-A527BFE4F48C}"/>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2" name="TextBox 21">
            <a:extLst>
              <a:ext uri="{FF2B5EF4-FFF2-40B4-BE49-F238E27FC236}">
                <a16:creationId xmlns:a16="http://schemas.microsoft.com/office/drawing/2014/main" id="{08ADAE76-4FBE-401A-8C0C-A02A73DE865A}"/>
              </a:ext>
            </a:extLst>
          </p:cNvPr>
          <p:cNvSpPr txBox="1"/>
          <p:nvPr/>
        </p:nvSpPr>
        <p:spPr>
          <a:xfrm>
            <a:off x="797450" y="4017136"/>
            <a:ext cx="236154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מיפוי השירותים ברשויות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28" name="TextBox 27">
            <a:extLst>
              <a:ext uri="{FF2B5EF4-FFF2-40B4-BE49-F238E27FC236}">
                <a16:creationId xmlns:a16="http://schemas.microsoft.com/office/drawing/2014/main" id="{FBCEAA22-8490-4B44-8435-9EA38F6680BB}"/>
              </a:ext>
            </a:extLst>
          </p:cNvPr>
          <p:cNvSpPr txBox="1"/>
          <p:nvPr/>
        </p:nvSpPr>
        <p:spPr>
          <a:xfrm>
            <a:off x="1253045" y="382083"/>
            <a:ext cx="1685078"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מנוע מיצוי זכויות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1" name="TextBox 30">
            <a:extLst>
              <a:ext uri="{FF2B5EF4-FFF2-40B4-BE49-F238E27FC236}">
                <a16:creationId xmlns:a16="http://schemas.microsoft.com/office/drawing/2014/main" id="{A2EFAF9B-3AE8-4CCE-AA7F-753340BACB4A}"/>
              </a:ext>
            </a:extLst>
          </p:cNvPr>
          <p:cNvSpPr txBox="1"/>
          <p:nvPr/>
        </p:nvSpPr>
        <p:spPr>
          <a:xfrm>
            <a:off x="1355754" y="2548742"/>
            <a:ext cx="238879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hlinkClick r:id="rId2">
                  <a:extLst>
                    <a:ext uri="{A12FA001-AC4F-418D-AE19-62706E023703}">
                      <ahyp:hlinkClr xmlns="" xmlns:ahyp="http://schemas.microsoft.com/office/drawing/2018/hyperlinkcolor" val="tx"/>
                    </a:ext>
                  </a:extLst>
                </a:hlinkClick>
              </a:rPr>
              <a:t>תיק לקוח 360 אוניברסלי</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8" name="TextBox 37">
            <a:extLst>
              <a:ext uri="{FF2B5EF4-FFF2-40B4-BE49-F238E27FC236}">
                <a16:creationId xmlns:a16="http://schemas.microsoft.com/office/drawing/2014/main" id="{20384184-6409-48B9-B8EB-33F18FC29696}"/>
              </a:ext>
            </a:extLst>
          </p:cNvPr>
          <p:cNvSpPr txBox="1"/>
          <p:nvPr/>
        </p:nvSpPr>
        <p:spPr>
          <a:xfrm>
            <a:off x="221703" y="4769744"/>
            <a:ext cx="2648482" cy="461665"/>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התנעת </a:t>
            </a:r>
            <a:r>
              <a:rPr kumimoji="0" lang="he-IL" sz="2400" b="1" i="0" u="none" strike="noStrike" kern="1200" cap="none" spc="0" normalizeH="0" baseline="0" noProof="0" dirty="0" err="1">
                <a:ln>
                  <a:noFill/>
                </a:ln>
                <a:solidFill>
                  <a:prstClr val="black"/>
                </a:solidFill>
                <a:effectLst/>
                <a:uLnTx/>
                <a:uFillTx/>
                <a:latin typeface="Calibri Light" panose="020F0302020204030204"/>
                <a:ea typeface="+mn-ea"/>
                <a:cs typeface="Times New Roman" panose="02020603050405020304" pitchFamily="18" charset="0"/>
              </a:rPr>
              <a:t>דיגיטל</a:t>
            </a: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 עד 120</a:t>
            </a:r>
            <a:endParaRPr kumimoji="0" lang="id-ID"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39" name="Straight Arrow Connector 38">
            <a:extLst>
              <a:ext uri="{FF2B5EF4-FFF2-40B4-BE49-F238E27FC236}">
                <a16:creationId xmlns:a16="http://schemas.microsoft.com/office/drawing/2014/main" id="{BE26D4A9-A209-4E49-B026-8020AAF63CF0}"/>
              </a:ext>
            </a:extLst>
          </p:cNvPr>
          <p:cNvCxnSpPr/>
          <p:nvPr/>
        </p:nvCxnSpPr>
        <p:spPr>
          <a:xfrm flipH="1">
            <a:off x="2936217" y="5083160"/>
            <a:ext cx="864000" cy="0"/>
          </a:xfrm>
          <a:prstGeom prst="straightConnector1">
            <a:avLst/>
          </a:prstGeom>
          <a:ln w="19050">
            <a:solidFill>
              <a:srgbClr val="10CF9B"/>
            </a:solidFill>
            <a:tailEnd type="ova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E5D3999-0474-48E4-BAC6-1A135AEE1F66}"/>
              </a:ext>
            </a:extLst>
          </p:cNvPr>
          <p:cNvSpPr txBox="1"/>
          <p:nvPr/>
        </p:nvSpPr>
        <p:spPr>
          <a:xfrm>
            <a:off x="1471682" y="1080063"/>
            <a:ext cx="227658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פורטל הזקנה של ישראל</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grpSp>
        <p:nvGrpSpPr>
          <p:cNvPr id="58" name="Group 57">
            <a:extLst>
              <a:ext uri="{FF2B5EF4-FFF2-40B4-BE49-F238E27FC236}">
                <a16:creationId xmlns:a16="http://schemas.microsoft.com/office/drawing/2014/main" id="{6CB10A4E-298A-429C-BB89-E9C05F88781F}"/>
              </a:ext>
            </a:extLst>
          </p:cNvPr>
          <p:cNvGrpSpPr/>
          <p:nvPr/>
        </p:nvGrpSpPr>
        <p:grpSpPr>
          <a:xfrm>
            <a:off x="3810963" y="322950"/>
            <a:ext cx="383152" cy="555806"/>
            <a:chOff x="2682876" y="1790701"/>
            <a:chExt cx="514350" cy="746125"/>
          </a:xfrm>
          <a:effectLst>
            <a:outerShdw blurRad="76200" dir="18900000" sy="23000" kx="-1200000" algn="bl" rotWithShape="0">
              <a:prstClr val="black">
                <a:alpha val="20000"/>
              </a:prstClr>
            </a:outerShdw>
          </a:effectLst>
        </p:grpSpPr>
        <p:sp>
          <p:nvSpPr>
            <p:cNvPr id="59" name="Freeform 20">
              <a:extLst>
                <a:ext uri="{FF2B5EF4-FFF2-40B4-BE49-F238E27FC236}">
                  <a16:creationId xmlns:a16="http://schemas.microsoft.com/office/drawing/2014/main" id="{C2425D3C-9578-40B6-B560-2FC9C570EE47}"/>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Freeform 21">
              <a:extLst>
                <a:ext uri="{FF2B5EF4-FFF2-40B4-BE49-F238E27FC236}">
                  <a16:creationId xmlns:a16="http://schemas.microsoft.com/office/drawing/2014/main" id="{2761D0A8-CECC-4F06-A58F-72C6E65237EB}"/>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9CA517CA-041D-4727-9911-27482F0EA448}"/>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62" name="Straight Arrow Connector 61">
            <a:extLst>
              <a:ext uri="{FF2B5EF4-FFF2-40B4-BE49-F238E27FC236}">
                <a16:creationId xmlns:a16="http://schemas.microsoft.com/office/drawing/2014/main" id="{4DEBB2C4-2D5B-4042-8B4F-0507D2A86D49}"/>
              </a:ext>
            </a:extLst>
          </p:cNvPr>
          <p:cNvCxnSpPr/>
          <p:nvPr/>
        </p:nvCxnSpPr>
        <p:spPr>
          <a:xfrm flipH="1">
            <a:off x="2972022" y="585314"/>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5BCBE274-6E3C-465B-8272-C7A029788DC9}"/>
              </a:ext>
            </a:extLst>
          </p:cNvPr>
          <p:cNvGrpSpPr/>
          <p:nvPr/>
        </p:nvGrpSpPr>
        <p:grpSpPr>
          <a:xfrm>
            <a:off x="2856305" y="5777937"/>
            <a:ext cx="383152" cy="555806"/>
            <a:chOff x="2682876" y="1790701"/>
            <a:chExt cx="514350" cy="746125"/>
          </a:xfrm>
          <a:effectLst>
            <a:outerShdw blurRad="76200" dir="18900000" sy="23000" kx="-1200000" algn="bl" rotWithShape="0">
              <a:prstClr val="black">
                <a:alpha val="20000"/>
              </a:prstClr>
            </a:outerShdw>
          </a:effectLst>
        </p:grpSpPr>
        <p:sp>
          <p:nvSpPr>
            <p:cNvPr id="64" name="Freeform 20">
              <a:extLst>
                <a:ext uri="{FF2B5EF4-FFF2-40B4-BE49-F238E27FC236}">
                  <a16:creationId xmlns:a16="http://schemas.microsoft.com/office/drawing/2014/main" id="{A4C2E52B-8815-4969-A129-756195681801}"/>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21">
              <a:extLst>
                <a:ext uri="{FF2B5EF4-FFF2-40B4-BE49-F238E27FC236}">
                  <a16:creationId xmlns:a16="http://schemas.microsoft.com/office/drawing/2014/main" id="{3763A219-0D61-4101-B45F-E95F76849278}"/>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BED8B41A-F453-4352-B777-1925FD99B9FE}"/>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7" name="TextBox 66">
            <a:extLst>
              <a:ext uri="{FF2B5EF4-FFF2-40B4-BE49-F238E27FC236}">
                <a16:creationId xmlns:a16="http://schemas.microsoft.com/office/drawing/2014/main" id="{E12B74A9-7F4B-48D1-B82E-7202803480CF}"/>
              </a:ext>
            </a:extLst>
          </p:cNvPr>
          <p:cNvSpPr txBox="1"/>
          <p:nvPr/>
        </p:nvSpPr>
        <p:spPr>
          <a:xfrm>
            <a:off x="150480" y="5711676"/>
            <a:ext cx="1827743" cy="461665"/>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רפורמת הביזור</a:t>
            </a:r>
            <a:endParaRPr kumimoji="0" lang="id-ID"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68" name="Straight Arrow Connector 67">
            <a:extLst>
              <a:ext uri="{FF2B5EF4-FFF2-40B4-BE49-F238E27FC236}">
                <a16:creationId xmlns:a16="http://schemas.microsoft.com/office/drawing/2014/main" id="{8C2D8C65-AB62-4E99-A518-06DE09BA4159}"/>
              </a:ext>
            </a:extLst>
          </p:cNvPr>
          <p:cNvCxnSpPr/>
          <p:nvPr/>
        </p:nvCxnSpPr>
        <p:spPr>
          <a:xfrm flipH="1">
            <a:off x="2044255" y="6025092"/>
            <a:ext cx="864000" cy="0"/>
          </a:xfrm>
          <a:prstGeom prst="straightConnector1">
            <a:avLst/>
          </a:prstGeom>
          <a:ln w="19050">
            <a:solidFill>
              <a:srgbClr val="10CF9B"/>
            </a:solidFill>
            <a:tailEnd type="oval"/>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2D5A8A2-DC31-443F-9135-C4903A9F3F7E}"/>
              </a:ext>
            </a:extLst>
          </p:cNvPr>
          <p:cNvCxnSpPr/>
          <p:nvPr/>
        </p:nvCxnSpPr>
        <p:spPr>
          <a:xfrm flipH="1">
            <a:off x="3820404" y="1284531"/>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52C5B146-4547-40F1-89F3-0501B1EC75B1}"/>
              </a:ext>
            </a:extLst>
          </p:cNvPr>
          <p:cNvGrpSpPr/>
          <p:nvPr/>
        </p:nvGrpSpPr>
        <p:grpSpPr>
          <a:xfrm>
            <a:off x="4621772" y="940721"/>
            <a:ext cx="383152" cy="555806"/>
            <a:chOff x="2682876" y="1790701"/>
            <a:chExt cx="514350" cy="746125"/>
          </a:xfrm>
          <a:effectLst>
            <a:outerShdw blurRad="76200" dir="18900000" sy="23000" kx="-1200000" algn="bl" rotWithShape="0">
              <a:prstClr val="black">
                <a:alpha val="20000"/>
              </a:prstClr>
            </a:outerShdw>
          </a:effectLst>
        </p:grpSpPr>
        <p:sp>
          <p:nvSpPr>
            <p:cNvPr id="76" name="Freeform 20">
              <a:extLst>
                <a:ext uri="{FF2B5EF4-FFF2-40B4-BE49-F238E27FC236}">
                  <a16:creationId xmlns:a16="http://schemas.microsoft.com/office/drawing/2014/main" id="{69B0A66E-D5D0-4089-9EE9-1609A659AF2A}"/>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21">
              <a:extLst>
                <a:ext uri="{FF2B5EF4-FFF2-40B4-BE49-F238E27FC236}">
                  <a16:creationId xmlns:a16="http://schemas.microsoft.com/office/drawing/2014/main" id="{6045755A-BF31-4A47-A98F-7DF9499C4137}"/>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Oval 77">
              <a:extLst>
                <a:ext uri="{FF2B5EF4-FFF2-40B4-BE49-F238E27FC236}">
                  <a16:creationId xmlns:a16="http://schemas.microsoft.com/office/drawing/2014/main" id="{634EF452-2BB3-4073-9A8F-D856E1337CB0}"/>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79" name="Straight Arrow Connector 78">
            <a:extLst>
              <a:ext uri="{FF2B5EF4-FFF2-40B4-BE49-F238E27FC236}">
                <a16:creationId xmlns:a16="http://schemas.microsoft.com/office/drawing/2014/main" id="{3BC44DEE-0BD0-4F98-9E79-5551ADE763AA}"/>
              </a:ext>
            </a:extLst>
          </p:cNvPr>
          <p:cNvCxnSpPr/>
          <p:nvPr/>
        </p:nvCxnSpPr>
        <p:spPr>
          <a:xfrm flipH="1">
            <a:off x="3935581" y="2752043"/>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FF35810F-AD84-4464-A7AB-CCCA71E833C1}"/>
              </a:ext>
            </a:extLst>
          </p:cNvPr>
          <p:cNvGrpSpPr/>
          <p:nvPr/>
        </p:nvGrpSpPr>
        <p:grpSpPr>
          <a:xfrm>
            <a:off x="4468024" y="3253225"/>
            <a:ext cx="383152" cy="555806"/>
            <a:chOff x="2682876" y="1790701"/>
            <a:chExt cx="514350" cy="746125"/>
          </a:xfrm>
          <a:effectLst>
            <a:outerShdw blurRad="76200" dir="18900000" sy="23000" kx="-1200000" algn="bl" rotWithShape="0">
              <a:prstClr val="black">
                <a:alpha val="20000"/>
              </a:prstClr>
            </a:outerShdw>
          </a:effectLst>
        </p:grpSpPr>
        <p:sp>
          <p:nvSpPr>
            <p:cNvPr id="81" name="Freeform 20">
              <a:extLst>
                <a:ext uri="{FF2B5EF4-FFF2-40B4-BE49-F238E27FC236}">
                  <a16:creationId xmlns:a16="http://schemas.microsoft.com/office/drawing/2014/main" id="{1D3586F2-D756-4962-A217-006EE9288640}"/>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21">
              <a:extLst>
                <a:ext uri="{FF2B5EF4-FFF2-40B4-BE49-F238E27FC236}">
                  <a16:creationId xmlns:a16="http://schemas.microsoft.com/office/drawing/2014/main" id="{5EEB199C-98A4-4657-AFF7-E5320FD792E6}"/>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val 82">
              <a:extLst>
                <a:ext uri="{FF2B5EF4-FFF2-40B4-BE49-F238E27FC236}">
                  <a16:creationId xmlns:a16="http://schemas.microsoft.com/office/drawing/2014/main" id="{E502EF9D-FB5F-46C0-8E6C-F8D1BBA0374E}"/>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84" name="Straight Arrow Connector 83">
            <a:extLst>
              <a:ext uri="{FF2B5EF4-FFF2-40B4-BE49-F238E27FC236}">
                <a16:creationId xmlns:a16="http://schemas.microsoft.com/office/drawing/2014/main" id="{37093C2A-28AF-4003-B81A-DAABACC82D24}"/>
              </a:ext>
            </a:extLst>
          </p:cNvPr>
          <p:cNvCxnSpPr/>
          <p:nvPr/>
        </p:nvCxnSpPr>
        <p:spPr>
          <a:xfrm flipH="1">
            <a:off x="3629083" y="3515589"/>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55A20DC6-197A-4983-9C78-C50FF4745BE4}"/>
              </a:ext>
            </a:extLst>
          </p:cNvPr>
          <p:cNvGrpSpPr/>
          <p:nvPr/>
        </p:nvGrpSpPr>
        <p:grpSpPr>
          <a:xfrm>
            <a:off x="4138224" y="3987238"/>
            <a:ext cx="383152" cy="555806"/>
            <a:chOff x="2682876" y="1790701"/>
            <a:chExt cx="514350" cy="746125"/>
          </a:xfrm>
          <a:effectLst>
            <a:outerShdw blurRad="76200" dir="18900000" sy="23000" kx="-1200000" algn="bl" rotWithShape="0">
              <a:prstClr val="black">
                <a:alpha val="20000"/>
              </a:prstClr>
            </a:outerShdw>
          </a:effectLst>
        </p:grpSpPr>
        <p:sp>
          <p:nvSpPr>
            <p:cNvPr id="86" name="Freeform 20">
              <a:extLst>
                <a:ext uri="{FF2B5EF4-FFF2-40B4-BE49-F238E27FC236}">
                  <a16:creationId xmlns:a16="http://schemas.microsoft.com/office/drawing/2014/main" id="{6385AA69-5D83-425B-B69A-16986C824EE9}"/>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21">
              <a:extLst>
                <a:ext uri="{FF2B5EF4-FFF2-40B4-BE49-F238E27FC236}">
                  <a16:creationId xmlns:a16="http://schemas.microsoft.com/office/drawing/2014/main" id="{430CE0D3-33D0-4199-AE7F-B43784A3D042}"/>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0CDFB2F5-152C-4DD4-8D8E-A456FED04AA3}"/>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89" name="Straight Arrow Connector 88">
            <a:extLst>
              <a:ext uri="{FF2B5EF4-FFF2-40B4-BE49-F238E27FC236}">
                <a16:creationId xmlns:a16="http://schemas.microsoft.com/office/drawing/2014/main" id="{E311D209-43F2-4B20-BCA5-241FB9F0673D}"/>
              </a:ext>
            </a:extLst>
          </p:cNvPr>
          <p:cNvCxnSpPr/>
          <p:nvPr/>
        </p:nvCxnSpPr>
        <p:spPr>
          <a:xfrm flipH="1">
            <a:off x="3299283" y="4249602"/>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69">
            <a:extLst>
              <a:ext uri="{FF2B5EF4-FFF2-40B4-BE49-F238E27FC236}">
                <a16:creationId xmlns:a16="http://schemas.microsoft.com/office/drawing/2014/main" id="{B8FA38C2-D9BC-C552-7647-08DE1CBE9D4B}"/>
              </a:ext>
            </a:extLst>
          </p:cNvPr>
          <p:cNvGrpSpPr/>
          <p:nvPr/>
        </p:nvGrpSpPr>
        <p:grpSpPr>
          <a:xfrm>
            <a:off x="4126547" y="3994257"/>
            <a:ext cx="383152" cy="555806"/>
            <a:chOff x="2682876" y="1790701"/>
            <a:chExt cx="514350" cy="746125"/>
          </a:xfrm>
          <a:effectLst>
            <a:outerShdw blurRad="76200" dir="18900000" sy="23000" kx="-1200000" algn="bl" rotWithShape="0">
              <a:prstClr val="black">
                <a:alpha val="20000"/>
              </a:prstClr>
            </a:outerShdw>
          </a:effectLst>
        </p:grpSpPr>
        <p:sp>
          <p:nvSpPr>
            <p:cNvPr id="6" name="Freeform 20">
              <a:extLst>
                <a:ext uri="{FF2B5EF4-FFF2-40B4-BE49-F238E27FC236}">
                  <a16:creationId xmlns:a16="http://schemas.microsoft.com/office/drawing/2014/main" id="{2B0D8E2F-B2F5-00D3-A615-3C6063607015}"/>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21">
              <a:extLst>
                <a:ext uri="{FF2B5EF4-FFF2-40B4-BE49-F238E27FC236}">
                  <a16:creationId xmlns:a16="http://schemas.microsoft.com/office/drawing/2014/main" id="{97BD8B2D-AED1-CE0E-6BB0-04D7A1B64360}"/>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val 72">
              <a:extLst>
                <a:ext uri="{FF2B5EF4-FFF2-40B4-BE49-F238E27FC236}">
                  <a16:creationId xmlns:a16="http://schemas.microsoft.com/office/drawing/2014/main" id="{561F29CB-B687-0582-5052-47BE8EB5B165}"/>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 name="Group 69">
            <a:extLst>
              <a:ext uri="{FF2B5EF4-FFF2-40B4-BE49-F238E27FC236}">
                <a16:creationId xmlns:a16="http://schemas.microsoft.com/office/drawing/2014/main" id="{CAA90188-D5E2-B6DC-D91C-CF04A5E292FC}"/>
              </a:ext>
            </a:extLst>
          </p:cNvPr>
          <p:cNvGrpSpPr/>
          <p:nvPr/>
        </p:nvGrpSpPr>
        <p:grpSpPr>
          <a:xfrm>
            <a:off x="4789049" y="2458332"/>
            <a:ext cx="383152" cy="555806"/>
            <a:chOff x="2682876" y="1790701"/>
            <a:chExt cx="514350" cy="746125"/>
          </a:xfrm>
          <a:effectLst>
            <a:outerShdw blurRad="76200" dir="18900000" sy="23000" kx="-1200000" algn="bl" rotWithShape="0">
              <a:prstClr val="black">
                <a:alpha val="20000"/>
              </a:prstClr>
            </a:outerShdw>
          </a:effectLst>
        </p:grpSpPr>
        <p:sp>
          <p:nvSpPr>
            <p:cNvPr id="14" name="Freeform 20">
              <a:extLst>
                <a:ext uri="{FF2B5EF4-FFF2-40B4-BE49-F238E27FC236}">
                  <a16:creationId xmlns:a16="http://schemas.microsoft.com/office/drawing/2014/main" id="{5D3270C6-4AB3-8EE6-8AE6-163B609FB076}"/>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21">
              <a:extLst>
                <a:ext uri="{FF2B5EF4-FFF2-40B4-BE49-F238E27FC236}">
                  <a16:creationId xmlns:a16="http://schemas.microsoft.com/office/drawing/2014/main" id="{D37648F6-85DE-35C2-1B90-F3F183E09109}"/>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val 72">
              <a:extLst>
                <a:ext uri="{FF2B5EF4-FFF2-40B4-BE49-F238E27FC236}">
                  <a16:creationId xmlns:a16="http://schemas.microsoft.com/office/drawing/2014/main" id="{212D2FF1-ED9D-45D2-62B5-8748AF7B3460}"/>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7" name="Group 69">
            <a:extLst>
              <a:ext uri="{FF2B5EF4-FFF2-40B4-BE49-F238E27FC236}">
                <a16:creationId xmlns:a16="http://schemas.microsoft.com/office/drawing/2014/main" id="{4307FAB8-A73B-7D5F-2375-BDA253FADCB5}"/>
              </a:ext>
            </a:extLst>
          </p:cNvPr>
          <p:cNvGrpSpPr/>
          <p:nvPr/>
        </p:nvGrpSpPr>
        <p:grpSpPr>
          <a:xfrm>
            <a:off x="4463731" y="3253678"/>
            <a:ext cx="383152" cy="555806"/>
            <a:chOff x="2682876" y="1790701"/>
            <a:chExt cx="514350" cy="746125"/>
          </a:xfrm>
          <a:effectLst>
            <a:outerShdw blurRad="76200" dir="18900000" sy="23000" kx="-1200000" algn="bl" rotWithShape="0">
              <a:prstClr val="black">
                <a:alpha val="20000"/>
              </a:prstClr>
            </a:outerShdw>
          </a:effectLst>
        </p:grpSpPr>
        <p:sp>
          <p:nvSpPr>
            <p:cNvPr id="18" name="Freeform 20">
              <a:extLst>
                <a:ext uri="{FF2B5EF4-FFF2-40B4-BE49-F238E27FC236}">
                  <a16:creationId xmlns:a16="http://schemas.microsoft.com/office/drawing/2014/main" id="{47204E95-438D-A7E4-03BA-D485DDAC9C2A}"/>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21">
              <a:extLst>
                <a:ext uri="{FF2B5EF4-FFF2-40B4-BE49-F238E27FC236}">
                  <a16:creationId xmlns:a16="http://schemas.microsoft.com/office/drawing/2014/main" id="{940BA410-8AD3-F2AF-36FC-620BCC6FC2C0}"/>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val 72">
              <a:extLst>
                <a:ext uri="{FF2B5EF4-FFF2-40B4-BE49-F238E27FC236}">
                  <a16:creationId xmlns:a16="http://schemas.microsoft.com/office/drawing/2014/main" id="{E1FB1644-A0F9-CC29-A169-93EFE0577017}"/>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55" name="Picture 2" descr="סמל מדינת ישראל – ויקיפדיה">
            <a:extLst>
              <a:ext uri="{FF2B5EF4-FFF2-40B4-BE49-F238E27FC236}">
                <a16:creationId xmlns:a16="http://schemas.microsoft.com/office/drawing/2014/main" id="{8DD23AD5-0394-4017-A37E-34C9F5D826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91703" y="601786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3" descr="קובץ:Ministry of Labor, Social Affairs and Social Services ...">
            <a:extLst>
              <a:ext uri="{FF2B5EF4-FFF2-40B4-BE49-F238E27FC236}">
                <a16:creationId xmlns:a16="http://schemas.microsoft.com/office/drawing/2014/main" id="{6B212E46-9412-462C-AB97-CA264CC311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4834" y="6040917"/>
            <a:ext cx="2136568" cy="582548"/>
          </a:xfrm>
          <a:prstGeom prst="rect">
            <a:avLst/>
          </a:prstGeom>
          <a:noFill/>
          <a:extLst>
            <a:ext uri="{909E8E84-426E-40DD-AFC4-6F175D3DCCD1}">
              <a14:hiddenFill xmlns:a14="http://schemas.microsoft.com/office/drawing/2010/main">
                <a:solidFill>
                  <a:srgbClr val="FFFFFF"/>
                </a:solidFill>
              </a14:hiddenFill>
            </a:ext>
          </a:extLst>
        </p:spPr>
      </p:pic>
      <p:sp>
        <p:nvSpPr>
          <p:cNvPr id="94" name="TextBox 93">
            <a:extLst>
              <a:ext uri="{FF2B5EF4-FFF2-40B4-BE49-F238E27FC236}">
                <a16:creationId xmlns:a16="http://schemas.microsoft.com/office/drawing/2014/main" id="{BD4BC5D3-2DC8-4276-9A29-7AE2BF5CC321}"/>
              </a:ext>
            </a:extLst>
          </p:cNvPr>
          <p:cNvSpPr txBox="1"/>
          <p:nvPr/>
        </p:nvSpPr>
        <p:spPr>
          <a:xfrm>
            <a:off x="1644988" y="1676556"/>
            <a:ext cx="2294218"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פורטל ממשלתי לרשויות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99" name="Straight Arrow Connector 98">
            <a:extLst>
              <a:ext uri="{FF2B5EF4-FFF2-40B4-BE49-F238E27FC236}">
                <a16:creationId xmlns:a16="http://schemas.microsoft.com/office/drawing/2014/main" id="{A3F0EBEB-5547-4D94-8FE4-BF2E15A280FF}"/>
              </a:ext>
            </a:extLst>
          </p:cNvPr>
          <p:cNvCxnSpPr/>
          <p:nvPr/>
        </p:nvCxnSpPr>
        <p:spPr>
          <a:xfrm flipH="1">
            <a:off x="4079494" y="1909022"/>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FD857176-EFB2-4450-BED4-C25E245AC306}"/>
              </a:ext>
            </a:extLst>
          </p:cNvPr>
          <p:cNvGrpSpPr/>
          <p:nvPr/>
        </p:nvGrpSpPr>
        <p:grpSpPr>
          <a:xfrm>
            <a:off x="4910090" y="1631119"/>
            <a:ext cx="383152" cy="555806"/>
            <a:chOff x="2682876" y="1790701"/>
            <a:chExt cx="514350" cy="746125"/>
          </a:xfrm>
          <a:effectLst>
            <a:outerShdw blurRad="76200" dir="18900000" sy="23000" kx="-1200000" algn="bl" rotWithShape="0">
              <a:prstClr val="black">
                <a:alpha val="20000"/>
              </a:prstClr>
            </a:outerShdw>
          </a:effectLst>
        </p:grpSpPr>
        <p:sp>
          <p:nvSpPr>
            <p:cNvPr id="105" name="Freeform 20">
              <a:extLst>
                <a:ext uri="{FF2B5EF4-FFF2-40B4-BE49-F238E27FC236}">
                  <a16:creationId xmlns:a16="http://schemas.microsoft.com/office/drawing/2014/main" id="{3FE48DF0-878E-453D-AECE-1636CEF82E48}"/>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Freeform 21">
              <a:extLst>
                <a:ext uri="{FF2B5EF4-FFF2-40B4-BE49-F238E27FC236}">
                  <a16:creationId xmlns:a16="http://schemas.microsoft.com/office/drawing/2014/main" id="{7B8D9A71-F784-4D26-A4CF-78342307A697}"/>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val 106">
              <a:extLst>
                <a:ext uri="{FF2B5EF4-FFF2-40B4-BE49-F238E27FC236}">
                  <a16:creationId xmlns:a16="http://schemas.microsoft.com/office/drawing/2014/main" id="{119704A9-04A0-4925-AAA7-AD2101803BB7}"/>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651027418"/>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2414098"/>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51345" y="1450384"/>
            <a:ext cx="10460608" cy="2308324"/>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תיאור הפרויקט </a:t>
            </a:r>
            <a:r>
              <a:rPr kumimoji="0" lang="he-IL" sz="16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(מה התוצר המצופה ומה נועד לייצר/לשנות):</a:t>
            </a:r>
          </a:p>
          <a:p>
            <a:pPr marL="0" marR="0" lvl="0" indent="0" algn="just" defTabSz="914400" rtl="1" eaLnBrk="1" fontAlgn="auto" latinLnBrk="0" hangingPunct="1">
              <a:lnSpc>
                <a:spcPct val="100000"/>
              </a:lnSpc>
              <a:spcBef>
                <a:spcPts val="0"/>
              </a:spcBef>
              <a:spcAft>
                <a:spcPts val="0"/>
              </a:spcAft>
              <a:buClrTx/>
              <a:buSzTx/>
              <a:buFontTx/>
              <a:buNone/>
              <a:tabLst/>
              <a:defRPr/>
            </a:pPr>
            <a:r>
              <a:rPr lang="he-IL" sz="2400" dirty="0">
                <a:solidFill>
                  <a:srgbClr val="000F36"/>
                </a:solidFill>
                <a:latin typeface="Calibri" panose="020F0502020204030204" pitchFamily="34" charset="0"/>
                <a:cs typeface="Calibri" panose="020F0502020204030204" pitchFamily="34" charset="0"/>
              </a:rPr>
              <a:t>תמונת מצב לאומית להזדקנות האוכלוסייה והשלכותיה לממשלה, לרשויות ולציבור. </a:t>
            </a:r>
            <a:r>
              <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הפרויקט מקדם העברה ושילוב דאטה בין מערכות ומשרדים </a:t>
            </a:r>
            <a:r>
              <a:rPr kumimoji="0" lang="he-IL" sz="2400" i="0" u="none" strike="noStrike" kern="1200" cap="none" spc="0" normalizeH="0" baseline="0" noProof="0" dirty="0" err="1">
                <a:ln>
                  <a:noFill/>
                </a:ln>
                <a:solidFill>
                  <a:srgbClr val="000F36"/>
                </a:solidFill>
                <a:effectLst/>
                <a:uLnTx/>
                <a:uFillTx/>
                <a:latin typeface="Calibri" panose="020F0502020204030204" pitchFamily="34" charset="0"/>
                <a:cs typeface="Calibri" panose="020F0502020204030204" pitchFamily="34" charset="0"/>
              </a:rPr>
              <a:t>והנגשתו</a:t>
            </a:r>
            <a:r>
              <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 בהתאם לשאלות המקצועיות והעסקיות של השחקנים השונים.</a:t>
            </a:r>
          </a:p>
          <a:p>
            <a:pPr marL="0" marR="0" lvl="0" indent="0" algn="just" defTabSz="914400" rtl="1" eaLnBrk="1" fontAlgn="auto" latinLnBrk="0" hangingPunct="1">
              <a:lnSpc>
                <a:spcPct val="100000"/>
              </a:lnSpc>
              <a:spcBef>
                <a:spcPts val="0"/>
              </a:spcBef>
              <a:spcAft>
                <a:spcPts val="0"/>
              </a:spcAft>
              <a:buClrTx/>
              <a:buSzTx/>
              <a:buFontTx/>
              <a:buNone/>
              <a:tabLst/>
              <a:defRPr/>
            </a:pPr>
            <a:r>
              <a:rPr lang="he-IL" sz="2400" b="1" dirty="0">
                <a:solidFill>
                  <a:srgbClr val="000F36"/>
                </a:solidFill>
                <a:latin typeface="Calibri" panose="020F0502020204030204" pitchFamily="34" charset="0"/>
                <a:cs typeface="Calibri" panose="020F0502020204030204" pitchFamily="34" charset="0"/>
              </a:rPr>
              <a:t>מבוסס על עבודת משרד הרווחה ברפורמת ביזור סמכויות והנגשת כלי דאטה ותכנון לרשויות</a:t>
            </a:r>
            <a:endParaRPr kumimoji="0" lang="he-IL" sz="2400" b="1"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8A4FBD1-409C-0293-3445-5610F0FF5FFF}"/>
              </a:ext>
            </a:extLst>
          </p:cNvPr>
          <p:cNvSpPr txBox="1"/>
          <p:nvPr/>
        </p:nvSpPr>
        <p:spPr>
          <a:xfrm>
            <a:off x="8346034" y="2510461"/>
            <a:ext cx="3459890" cy="523220"/>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rPr>
              <a:t/>
            </a:r>
            <a:br>
              <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rPr>
            </a:br>
            <a:endPar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endParaRP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1299137" y="867863"/>
            <a:ext cx="457200" cy="457200"/>
          </a:xfrm>
          <a:prstGeom prst="rect">
            <a:avLst/>
          </a:prstGeom>
        </p:spPr>
      </p:pic>
      <p:sp>
        <p:nvSpPr>
          <p:cNvPr id="8" name="TextBox 7">
            <a:extLst>
              <a:ext uri="{FF2B5EF4-FFF2-40B4-BE49-F238E27FC236}">
                <a16:creationId xmlns:a16="http://schemas.microsoft.com/office/drawing/2014/main" id="{98947069-327D-8439-7EFA-304DB808263B}"/>
              </a:ext>
            </a:extLst>
          </p:cNvPr>
          <p:cNvSpPr txBox="1"/>
          <p:nvPr/>
        </p:nvSpPr>
        <p:spPr>
          <a:xfrm>
            <a:off x="819397" y="337982"/>
            <a:ext cx="10251665" cy="461665"/>
          </a:xfrm>
          <a:prstGeom prst="rect">
            <a:avLst/>
          </a:prstGeom>
          <a:noFill/>
        </p:spPr>
        <p:txBody>
          <a:bodyPr wrap="square">
            <a:spAutoFit/>
          </a:bodyPr>
          <a:lstStyle/>
          <a:p>
            <a:pPr algn="r" rtl="1"/>
            <a:r>
              <a:rPr lang="he-IL" sz="2400" b="1" dirty="0">
                <a:solidFill>
                  <a:srgbClr val="000F36"/>
                </a:solidFill>
                <a:latin typeface="Calibri" panose="020F0502020204030204" pitchFamily="34" charset="0"/>
                <a:cs typeface="Calibri" panose="020F0502020204030204" pitchFamily="34" charset="0"/>
              </a:rPr>
              <a:t>שם הפרויקט: </a:t>
            </a:r>
            <a:r>
              <a:rPr lang="he-IL" sz="2400" dirty="0">
                <a:effectLst/>
                <a:latin typeface="Calibri" panose="020F0502020204030204" pitchFamily="34" charset="0"/>
                <a:ea typeface="Calibri" panose="020F0502020204030204" pitchFamily="34" charset="0"/>
                <a:cs typeface="Calibri" panose="020F0502020204030204" pitchFamily="34" charset="0"/>
              </a:rPr>
              <a:t>דשבורד ממשלה ורשויות ('ברק בעיניים') – רותם, אביעד, נטלי, אפרת</a:t>
            </a:r>
            <a:r>
              <a:rPr lang="he-IL" sz="2400" b="1" dirty="0">
                <a:latin typeface="Calibri" panose="020F0502020204030204" pitchFamily="34" charset="0"/>
                <a:cs typeface="Calibri" panose="020F0502020204030204" pitchFamily="34" charset="0"/>
              </a:rPr>
              <a:t> </a:t>
            </a:r>
            <a:r>
              <a:rPr lang="he-IL" sz="2400" dirty="0">
                <a:latin typeface="Calibri" panose="020F0502020204030204" pitchFamily="34" charset="0"/>
                <a:cs typeface="Calibri" panose="020F0502020204030204" pitchFamily="34" charset="0"/>
              </a:rPr>
              <a:t>וגלעד</a:t>
            </a:r>
          </a:p>
        </p:txBody>
      </p:sp>
      <p:pic>
        <p:nvPicPr>
          <p:cNvPr id="2" name="תמונה 1"/>
          <p:cNvPicPr>
            <a:picLocks noChangeAspect="1"/>
          </p:cNvPicPr>
          <p:nvPr/>
        </p:nvPicPr>
        <p:blipFill rotWithShape="1">
          <a:blip r:embed="rId5"/>
          <a:srcRect l="14412" t="11525" r="11078" b="45512"/>
          <a:stretch/>
        </p:blipFill>
        <p:spPr>
          <a:xfrm>
            <a:off x="2220144" y="3839809"/>
            <a:ext cx="8471304" cy="2747600"/>
          </a:xfrm>
          <a:prstGeom prst="rect">
            <a:avLst/>
          </a:prstGeom>
        </p:spPr>
      </p:pic>
    </p:spTree>
    <p:extLst>
      <p:ext uri="{BB962C8B-B14F-4D97-AF65-F5344CB8AC3E}">
        <p14:creationId xmlns:p14="http://schemas.microsoft.com/office/powerpoint/2010/main" val="14981996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4843350"/>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067800" y="1450384"/>
            <a:ext cx="2451847" cy="378565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1" dirty="0">
                <a:solidFill>
                  <a:srgbClr val="000F36"/>
                </a:solidFill>
                <a:latin typeface="Calibri" panose="020F0502020204030204" pitchFamily="34" charset="0"/>
                <a:cs typeface="Calibri" panose="020F0502020204030204" pitchFamily="34" charset="0"/>
              </a:rPr>
              <a:t>מערכת </a:t>
            </a:r>
            <a:r>
              <a:rPr lang="he-IL" sz="2000" b="1" dirty="0" err="1">
                <a:solidFill>
                  <a:srgbClr val="000F36"/>
                </a:solidFill>
                <a:latin typeface="Calibri" panose="020F0502020204030204" pitchFamily="34" charset="0"/>
                <a:cs typeface="Calibri" panose="020F0502020204030204" pitchFamily="34" charset="0"/>
              </a:rPr>
              <a:t>אמו"ן</a:t>
            </a:r>
            <a:r>
              <a:rPr lang="he-IL" sz="2000" b="1" dirty="0">
                <a:solidFill>
                  <a:srgbClr val="000F36"/>
                </a:solidFill>
                <a:latin typeface="Calibri" panose="020F0502020204030204" pitchFamily="34" charset="0"/>
                <a:cs typeface="Calibri" panose="020F0502020204030204" pitchFamily="34" charset="0"/>
              </a:rPr>
              <a:t> –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000" b="1" dirty="0">
                <a:solidFill>
                  <a:srgbClr val="000F36"/>
                </a:solidFill>
                <a:latin typeface="Calibri" panose="020F0502020204030204" pitchFamily="34" charset="0"/>
                <a:cs typeface="Calibri" panose="020F0502020204030204" pitchFamily="34" charset="0"/>
              </a:rPr>
              <a:t>תמונת מצב לאומית</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000" b="1"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2000" dirty="0" err="1">
                <a:solidFill>
                  <a:srgbClr val="000F36"/>
                </a:solidFill>
                <a:latin typeface="Calibri" panose="020F0502020204030204" pitchFamily="34" charset="0"/>
                <a:cs typeface="Calibri" panose="020F0502020204030204" pitchFamily="34" charset="0"/>
              </a:rPr>
              <a:t>דשבורד</a:t>
            </a:r>
            <a:r>
              <a:rPr lang="he-IL" sz="2000" dirty="0">
                <a:solidFill>
                  <a:srgbClr val="000F36"/>
                </a:solidFill>
                <a:latin typeface="Calibri" panose="020F0502020204030204" pitchFamily="34" charset="0"/>
                <a:cs typeface="Calibri" panose="020F0502020204030204" pitchFamily="34" charset="0"/>
              </a:rPr>
              <a:t> לאומי המציג מידע בנושאים לאומיים חוצי-משרדים, על מנת לתמוך בקבלת החלטות אסטרטגיות. </a:t>
            </a:r>
            <a:r>
              <a:rPr lang="he-IL" sz="2000" dirty="0" err="1">
                <a:solidFill>
                  <a:srgbClr val="000F36"/>
                </a:solidFill>
                <a:latin typeface="Calibri" panose="020F0502020204030204" pitchFamily="34" charset="0"/>
                <a:cs typeface="Calibri" panose="020F0502020204030204" pitchFamily="34" charset="0"/>
              </a:rPr>
              <a:t>אמו"ן</a:t>
            </a:r>
            <a:r>
              <a:rPr lang="he-IL" sz="2000" dirty="0">
                <a:solidFill>
                  <a:srgbClr val="000F36"/>
                </a:solidFill>
                <a:latin typeface="Calibri" panose="020F0502020204030204" pitchFamily="34" charset="0"/>
                <a:cs typeface="Calibri" panose="020F0502020204030204" pitchFamily="34" charset="0"/>
              </a:rPr>
              <a:t> הוקמה בעקבות חרבות ברזל והוחלט להרחיב אותה גם לנושאים ארוכי טווח לשיקום ולשגרה.</a:t>
            </a: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1299137" y="867863"/>
            <a:ext cx="457200" cy="457200"/>
          </a:xfrm>
          <a:prstGeom prst="rect">
            <a:avLst/>
          </a:prstGeom>
        </p:spPr>
      </p:pic>
      <p:pic>
        <p:nvPicPr>
          <p:cNvPr id="1028" name="Picture 4">
            <a:extLst>
              <a:ext uri="{FF2B5EF4-FFF2-40B4-BE49-F238E27FC236}">
                <a16:creationId xmlns:a16="http://schemas.microsoft.com/office/drawing/2014/main" id="{324AD665-145F-47BC-BFDE-8984483455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736" y="1547963"/>
            <a:ext cx="8470464" cy="4108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1283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4843350"/>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31985" y="1450384"/>
            <a:ext cx="10566700" cy="4729500"/>
          </a:xfrm>
          <a:prstGeom prst="rect">
            <a:avLst/>
          </a:prstGeom>
          <a:noFill/>
        </p:spPr>
        <p:txBody>
          <a:bodyPr wrap="square" rtlCol="1">
            <a:spAutoFit/>
          </a:bodyPr>
          <a:lstStyle/>
          <a:p>
            <a:pPr algn="r" rtl="1">
              <a:defRPr/>
            </a:pPr>
            <a:r>
              <a:rPr lang="he-IL" sz="2400" b="1" dirty="0">
                <a:solidFill>
                  <a:srgbClr val="000F36"/>
                </a:solidFill>
                <a:latin typeface="Calibri" panose="020F0502020204030204" pitchFamily="34" charset="0"/>
                <a:cs typeface="Calibri" panose="020F0502020204030204" pitchFamily="34" charset="0"/>
              </a:rPr>
              <a:t>מטרות המהלך</a:t>
            </a:r>
          </a:p>
          <a:p>
            <a:pPr algn="r" rtl="1">
              <a:defRPr/>
            </a:pPr>
            <a:r>
              <a:rPr lang="en-US" sz="2400" b="1" dirty="0">
                <a:solidFill>
                  <a:srgbClr val="000F36"/>
                </a:solidFill>
                <a:latin typeface="Calibri" panose="020F0502020204030204" pitchFamily="34" charset="0"/>
                <a:cs typeface="Calibri" panose="020F0502020204030204" pitchFamily="34" charset="0"/>
              </a:rPr>
              <a:t/>
            </a:r>
            <a:br>
              <a:rPr lang="en-US" sz="2400" b="1" dirty="0">
                <a:solidFill>
                  <a:srgbClr val="000F36"/>
                </a:solidFill>
                <a:latin typeface="Calibri" panose="020F0502020204030204" pitchFamily="34" charset="0"/>
                <a:cs typeface="Calibri" panose="020F0502020204030204" pitchFamily="34" charset="0"/>
              </a:rPr>
            </a:br>
            <a:r>
              <a:rPr lang="he-IL" sz="2400" dirty="0">
                <a:solidFill>
                  <a:srgbClr val="000F36"/>
                </a:solidFill>
                <a:latin typeface="Calibri" panose="020F0502020204030204" pitchFamily="34" charset="0"/>
                <a:cs typeface="Calibri" panose="020F0502020204030204" pitchFamily="34" charset="0"/>
              </a:rPr>
              <a:t>באמצעות יצירת תמונת מצב </a:t>
            </a:r>
            <a:r>
              <a:rPr lang="he-IL" sz="2400" dirty="0" err="1">
                <a:solidFill>
                  <a:srgbClr val="000F36"/>
                </a:solidFill>
                <a:latin typeface="Calibri" panose="020F0502020204030204" pitchFamily="34" charset="0"/>
                <a:cs typeface="Calibri" panose="020F0502020204030204" pitchFamily="34" charset="0"/>
              </a:rPr>
              <a:t>רשותית</a:t>
            </a:r>
            <a:r>
              <a:rPr lang="he-IL" sz="2400" dirty="0">
                <a:solidFill>
                  <a:srgbClr val="000F36"/>
                </a:solidFill>
                <a:latin typeface="Calibri" panose="020F0502020204030204" pitchFamily="34" charset="0"/>
                <a:cs typeface="Calibri" panose="020F0502020204030204" pitchFamily="34" charset="0"/>
              </a:rPr>
              <a:t> בתחום האזרחים הוותיקים, אנו שואפים:</a:t>
            </a:r>
            <a:r>
              <a:rPr lang="he-IL" sz="2400" b="1" dirty="0">
                <a:solidFill>
                  <a:srgbClr val="000F36"/>
                </a:solidFill>
                <a:latin typeface="Calibri" panose="020F0502020204030204" pitchFamily="34" charset="0"/>
                <a:cs typeface="Calibri" panose="020F0502020204030204" pitchFamily="34" charset="0"/>
              </a:rPr>
              <a:t> </a:t>
            </a:r>
            <a:endParaRPr lang="en-US" sz="2400" b="1" dirty="0">
              <a:solidFill>
                <a:srgbClr val="000F36"/>
              </a:solidFill>
              <a:latin typeface="Calibri" panose="020F0502020204030204" pitchFamily="34" charset="0"/>
              <a:cs typeface="Calibri" panose="020F0502020204030204" pitchFamily="34" charset="0"/>
            </a:endParaRPr>
          </a:p>
          <a:p>
            <a:pPr marR="0" lvl="0" algn="r" defTabSz="914400" rtl="1" eaLnBrk="1" fontAlgn="auto" latinLnBrk="0" hangingPunct="1">
              <a:lnSpc>
                <a:spcPct val="100000"/>
              </a:lnSpc>
              <a:spcBef>
                <a:spcPts val="0"/>
              </a:spcBef>
              <a:spcAft>
                <a:spcPts val="0"/>
              </a:spcAft>
              <a:buClrTx/>
              <a:buSzTx/>
              <a:tabLst/>
              <a:defRPr/>
            </a:pPr>
            <a:endParaRPr lang="he-IL" sz="2400" b="1" dirty="0">
              <a:solidFill>
                <a:srgbClr val="000F36"/>
              </a:solidFill>
              <a:latin typeface="Calibri" panose="020F0502020204030204" pitchFamily="34" charset="0"/>
              <a:cs typeface="Calibri" panose="020F0502020204030204" pitchFamily="34" charset="0"/>
            </a:endParaRPr>
          </a:p>
          <a:p>
            <a:pPr marL="342900" lvl="0" indent="-342900" algn="r" rtl="1">
              <a:lnSpc>
                <a:spcPct val="150000"/>
              </a:lnSpc>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לחזק את יכולות הניהול, תכנון, מעקב ובקרה של הרשויות המקומיות בנושא אזרחים ותיקים; </a:t>
            </a:r>
            <a:endParaRPr lang="en-US" sz="2400" dirty="0">
              <a:solidFill>
                <a:srgbClr val="000F36"/>
              </a:solidFill>
              <a:latin typeface="Calibri" panose="020F0502020204030204" pitchFamily="34" charset="0"/>
              <a:cs typeface="Calibri" panose="020F0502020204030204" pitchFamily="34" charset="0"/>
            </a:endParaRPr>
          </a:p>
          <a:p>
            <a:pPr marL="342900" lvl="0" indent="-342900" algn="r" rtl="1">
              <a:lnSpc>
                <a:spcPct val="150000"/>
              </a:lnSpc>
              <a:spcAft>
                <a:spcPts val="800"/>
              </a:spcAft>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לחזק את הממשקים ושיתוף המידע והפעולה בין השלטון המרכזי לבין שלטון המקומי;</a:t>
            </a:r>
          </a:p>
          <a:p>
            <a:pPr marL="342900" lvl="0" indent="-342900" algn="r" rtl="1">
              <a:lnSpc>
                <a:spcPct val="150000"/>
              </a:lnSpc>
              <a:spcAft>
                <a:spcPts val="800"/>
              </a:spcAft>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להעלות המודעות </a:t>
            </a:r>
            <a:r>
              <a:rPr lang="he-IL" sz="2400" dirty="0" err="1">
                <a:solidFill>
                  <a:srgbClr val="000F36"/>
                </a:solidFill>
                <a:latin typeface="Calibri" panose="020F0502020204030204" pitchFamily="34" charset="0"/>
                <a:cs typeface="Calibri" panose="020F0502020204030204" pitchFamily="34" charset="0"/>
              </a:rPr>
              <a:t>הרשותית</a:t>
            </a:r>
            <a:r>
              <a:rPr lang="he-IL" sz="2400" dirty="0">
                <a:solidFill>
                  <a:srgbClr val="000F36"/>
                </a:solidFill>
                <a:latin typeface="Calibri" panose="020F0502020204030204" pitchFamily="34" charset="0"/>
                <a:cs typeface="Calibri" panose="020F0502020204030204" pitchFamily="34" charset="0"/>
              </a:rPr>
              <a:t> והלאומית לאתגר ההזדקנות והשלכותיו כאתגר רוחב רשותי ולשפר את המענים הניתנים ברשות לאוכלוסייה זו.</a:t>
            </a:r>
            <a:endParaRPr lang="en-US" sz="2400"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400" b="1"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1299137" y="867863"/>
            <a:ext cx="457200" cy="457200"/>
          </a:xfrm>
          <a:prstGeom prst="rect">
            <a:avLst/>
          </a:prstGeom>
        </p:spPr>
      </p:pic>
    </p:spTree>
    <p:extLst>
      <p:ext uri="{BB962C8B-B14F-4D97-AF65-F5344CB8AC3E}">
        <p14:creationId xmlns:p14="http://schemas.microsoft.com/office/powerpoint/2010/main" val="28528878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8" name="Group 7">
            <a:extLst>
              <a:ext uri="{FF2B5EF4-FFF2-40B4-BE49-F238E27FC236}">
                <a16:creationId xmlns:a16="http://schemas.microsoft.com/office/drawing/2014/main" id="{67724A5D-8164-F303-E56E-532F11EDC747}"/>
              </a:ext>
            </a:extLst>
          </p:cNvPr>
          <p:cNvGrpSpPr/>
          <p:nvPr/>
        </p:nvGrpSpPr>
        <p:grpSpPr>
          <a:xfrm>
            <a:off x="890649" y="3740125"/>
            <a:ext cx="10873701" cy="2388455"/>
            <a:chOff x="0" y="0"/>
            <a:chExt cx="622871" cy="363661"/>
          </a:xfrm>
        </p:grpSpPr>
        <p:sp>
          <p:nvSpPr>
            <p:cNvPr id="19" name="Freeform 8">
              <a:extLst>
                <a:ext uri="{FF2B5EF4-FFF2-40B4-BE49-F238E27FC236}">
                  <a16:creationId xmlns:a16="http://schemas.microsoft.com/office/drawing/2014/main" id="{082020D8-D75C-8064-6C49-08696731D2AE}"/>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EB02"/>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20" name="TextBox 9">
              <a:extLst>
                <a:ext uri="{FF2B5EF4-FFF2-40B4-BE49-F238E27FC236}">
                  <a16:creationId xmlns:a16="http://schemas.microsoft.com/office/drawing/2014/main" id="{78B6FD03-B342-1198-5CDA-00CE9F605561}"/>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23" name="Freeform 23">
            <a:extLst>
              <a:ext uri="{FF2B5EF4-FFF2-40B4-BE49-F238E27FC236}">
                <a16:creationId xmlns:a16="http://schemas.microsoft.com/office/drawing/2014/main" id="{8CD6C2A3-DAD3-5513-FAA1-2E7F0A89215F}"/>
              </a:ext>
            </a:extLst>
          </p:cNvPr>
          <p:cNvSpPr/>
          <p:nvPr/>
        </p:nvSpPr>
        <p:spPr>
          <a:xfrm>
            <a:off x="890649" y="288207"/>
            <a:ext cx="10873701" cy="3087678"/>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24" name="TextBox 23">
            <a:extLst>
              <a:ext uri="{FF2B5EF4-FFF2-40B4-BE49-F238E27FC236}">
                <a16:creationId xmlns:a16="http://schemas.microsoft.com/office/drawing/2014/main" id="{0EF472CC-DE9C-484C-09DB-C6481BDB0834}"/>
              </a:ext>
            </a:extLst>
          </p:cNvPr>
          <p:cNvSpPr txBox="1"/>
          <p:nvPr/>
        </p:nvSpPr>
        <p:spPr>
          <a:xfrm>
            <a:off x="1380572" y="451061"/>
            <a:ext cx="9822165" cy="2862322"/>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השותפים הקיימים:</a:t>
            </a:r>
          </a:p>
          <a:p>
            <a:pPr algn="r" rtl="1"/>
            <a:r>
              <a:rPr lang="he-IL" dirty="0">
                <a:latin typeface="Calibri" panose="020F0502020204030204" pitchFamily="34" charset="0"/>
                <a:ea typeface="Calibri" panose="020F0502020204030204" pitchFamily="34" charset="0"/>
                <a:cs typeface="Calibri" panose="020F0502020204030204" pitchFamily="34" charset="0"/>
              </a:rPr>
              <a:t>מערך הדיגיטל הלאומי: רז גרסטל, אפרת אהרונוב, רותם ארנרייך.</a:t>
            </a:r>
          </a:p>
          <a:p>
            <a:pPr algn="r" rtl="1"/>
            <a:r>
              <a:rPr lang="he-IL" dirty="0">
                <a:latin typeface="Calibri" panose="020F0502020204030204" pitchFamily="34" charset="0"/>
                <a:ea typeface="Calibri" panose="020F0502020204030204" pitchFamily="34" charset="0"/>
                <a:cs typeface="Calibri" panose="020F0502020204030204" pitchFamily="34" charset="0"/>
              </a:rPr>
              <a:t>משרד הרווחה: אביעד יצחקי, לריסה, יניב שפיצר (יריב מן).</a:t>
            </a:r>
          </a:p>
          <a:p>
            <a:pPr algn="r" rtl="1"/>
            <a:r>
              <a:rPr lang="he-IL" dirty="0">
                <a:latin typeface="Calibri" panose="020F0502020204030204" pitchFamily="34" charset="0"/>
                <a:ea typeface="Calibri" panose="020F0502020204030204" pitchFamily="34" charset="0"/>
                <a:cs typeface="Calibri" panose="020F0502020204030204" pitchFamily="34" charset="0"/>
              </a:rPr>
              <a:t>ביטוח לאומי: נטלי גבאי, ורד כהן (</a:t>
            </a:r>
            <a:r>
              <a:rPr lang="he-IL" dirty="0" err="1">
                <a:latin typeface="Calibri" panose="020F0502020204030204" pitchFamily="34" charset="0"/>
                <a:ea typeface="Calibri" panose="020F0502020204030204" pitchFamily="34" charset="0"/>
                <a:cs typeface="Calibri" panose="020F0502020204030204" pitchFamily="34" charset="0"/>
              </a:rPr>
              <a:t>ירונה</a:t>
            </a:r>
            <a:r>
              <a:rPr lang="he-IL" dirty="0">
                <a:latin typeface="Calibri" panose="020F0502020204030204" pitchFamily="34" charset="0"/>
                <a:ea typeface="Calibri" panose="020F0502020204030204" pitchFamily="34" charset="0"/>
                <a:cs typeface="Calibri" panose="020F0502020204030204" pitchFamily="34" charset="0"/>
              </a:rPr>
              <a:t> שלום/אוריאל כזום).</a:t>
            </a:r>
          </a:p>
          <a:p>
            <a:pPr algn="r" rtl="1"/>
            <a:r>
              <a:rPr lang="he-IL" dirty="0" err="1">
                <a:latin typeface="Calibri" panose="020F0502020204030204" pitchFamily="34" charset="0"/>
                <a:ea typeface="Calibri" panose="020F0502020204030204" pitchFamily="34" charset="0"/>
                <a:cs typeface="Calibri" panose="020F0502020204030204" pitchFamily="34" charset="0"/>
              </a:rPr>
              <a:t>למ"ס</a:t>
            </a:r>
            <a:r>
              <a:rPr lang="he-IL" dirty="0">
                <a:latin typeface="Calibri" panose="020F0502020204030204" pitchFamily="34" charset="0"/>
                <a:ea typeface="Calibri" panose="020F0502020204030204" pitchFamily="34" charset="0"/>
                <a:cs typeface="Calibri" panose="020F0502020204030204" pitchFamily="34" charset="0"/>
              </a:rPr>
              <a:t>: עמית קרול-יגור, סופיה.</a:t>
            </a:r>
          </a:p>
          <a:p>
            <a:pPr algn="r" rtl="1"/>
            <a:r>
              <a:rPr lang="he-IL" dirty="0">
                <a:latin typeface="Calibri" panose="020F0502020204030204" pitchFamily="34" charset="0"/>
                <a:ea typeface="Calibri" panose="020F0502020204030204" pitchFamily="34" charset="0"/>
                <a:cs typeface="Calibri" panose="020F0502020204030204" pitchFamily="34" charset="0"/>
              </a:rPr>
              <a:t>ג'וינט: גלעד הדס, דפנה לוין.</a:t>
            </a:r>
          </a:p>
          <a:p>
            <a:pPr algn="r" rtl="1"/>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רשויות מקומיות?</a:t>
            </a:r>
          </a:p>
          <a:p>
            <a:pPr algn="r" rtl="1"/>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משרד הבריאות?</a:t>
            </a:r>
          </a:p>
          <a:p>
            <a:pPr algn="r" rtl="1"/>
            <a:r>
              <a:rPr lang="he-IL" dirty="0" err="1">
                <a:solidFill>
                  <a:srgbClr val="FF0000"/>
                </a:solidFill>
                <a:latin typeface="Calibri" panose="020F0502020204030204" pitchFamily="34" charset="0"/>
                <a:ea typeface="Calibri" panose="020F0502020204030204" pitchFamily="34" charset="0"/>
                <a:cs typeface="Calibri" panose="020F0502020204030204" pitchFamily="34" charset="0"/>
              </a:rPr>
              <a:t>קופו"ח</a:t>
            </a:r>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a:t>
            </a:r>
          </a:p>
          <a:p>
            <a:pPr algn="r" rtl="1"/>
            <a:r>
              <a:rPr lang="he-IL" sz="18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שוויון חברתי?</a:t>
            </a:r>
          </a:p>
        </p:txBody>
      </p:sp>
      <p:sp>
        <p:nvSpPr>
          <p:cNvPr id="27" name="TextBox 24">
            <a:extLst>
              <a:ext uri="{FF2B5EF4-FFF2-40B4-BE49-F238E27FC236}">
                <a16:creationId xmlns:a16="http://schemas.microsoft.com/office/drawing/2014/main" id="{C0877084-C878-1B35-0198-AAC30226EAF8}"/>
              </a:ext>
            </a:extLst>
          </p:cNvPr>
          <p:cNvSpPr txBox="1"/>
          <p:nvPr/>
        </p:nvSpPr>
        <p:spPr>
          <a:xfrm>
            <a:off x="4759956" y="3699435"/>
            <a:ext cx="3595543" cy="2429145"/>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nvGrpSpPr>
          <p:cNvPr id="28" name="Group 25">
            <a:extLst>
              <a:ext uri="{FF2B5EF4-FFF2-40B4-BE49-F238E27FC236}">
                <a16:creationId xmlns:a16="http://schemas.microsoft.com/office/drawing/2014/main" id="{F0312387-BFF4-79EB-C496-FDD44AA16F74}"/>
              </a:ext>
            </a:extLst>
          </p:cNvPr>
          <p:cNvGrpSpPr>
            <a:grpSpLocks noChangeAspect="1"/>
          </p:cNvGrpSpPr>
          <p:nvPr/>
        </p:nvGrpSpPr>
        <p:grpSpPr>
          <a:xfrm rot="2700000">
            <a:off x="11270826" y="722501"/>
            <a:ext cx="624280" cy="624280"/>
            <a:chOff x="0" y="0"/>
            <a:chExt cx="14400530" cy="14400530"/>
          </a:xfrm>
        </p:grpSpPr>
        <p:sp>
          <p:nvSpPr>
            <p:cNvPr id="29" name="Freeform 26">
              <a:extLst>
                <a:ext uri="{FF2B5EF4-FFF2-40B4-BE49-F238E27FC236}">
                  <a16:creationId xmlns:a16="http://schemas.microsoft.com/office/drawing/2014/main" id="{300018EC-9F8A-6949-5BE2-EA77226FB721}"/>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30" name="Graphic 29" descr="Cycle with people with solid fill">
            <a:extLst>
              <a:ext uri="{FF2B5EF4-FFF2-40B4-BE49-F238E27FC236}">
                <a16:creationId xmlns:a16="http://schemas.microsoft.com/office/drawing/2014/main" id="{51778CC9-8B3D-31CB-4479-DC430C9C730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1263904" y="732676"/>
            <a:ext cx="638124" cy="638124"/>
          </a:xfrm>
          <a:prstGeom prst="rect">
            <a:avLst/>
          </a:prstGeom>
        </p:spPr>
      </p:pic>
      <p:sp>
        <p:nvSpPr>
          <p:cNvPr id="32" name="TextBox 31">
            <a:extLst>
              <a:ext uri="{FF2B5EF4-FFF2-40B4-BE49-F238E27FC236}">
                <a16:creationId xmlns:a16="http://schemas.microsoft.com/office/drawing/2014/main" id="{359A8257-86D9-3A2F-3F23-C11821CBBB31}"/>
              </a:ext>
            </a:extLst>
          </p:cNvPr>
          <p:cNvSpPr txBox="1"/>
          <p:nvPr/>
        </p:nvSpPr>
        <p:spPr>
          <a:xfrm>
            <a:off x="1085851" y="3908009"/>
            <a:ext cx="10224178" cy="2031325"/>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סטטוס עדכני בתהליך קידום הפרויקט: </a:t>
            </a:r>
          </a:p>
          <a:p>
            <a:pPr algn="r" rtl="1"/>
            <a:r>
              <a:rPr lang="he-IL" dirty="0">
                <a:latin typeface="Calibri" panose="020F0502020204030204" pitchFamily="34" charset="0"/>
                <a:ea typeface="Calibri" panose="020F0502020204030204" pitchFamily="34" charset="0"/>
                <a:cs typeface="Calibri" panose="020F0502020204030204" pitchFamily="34" charset="0"/>
              </a:rPr>
              <a:t>לאחר פגישת התנעה בין משרד הרווחה, ביטוח לאומי ומערך </a:t>
            </a:r>
            <a:r>
              <a:rPr lang="he-IL" dirty="0" err="1">
                <a:latin typeface="Calibri" panose="020F0502020204030204" pitchFamily="34" charset="0"/>
                <a:ea typeface="Calibri" panose="020F0502020204030204" pitchFamily="34" charset="0"/>
                <a:cs typeface="Calibri" panose="020F0502020204030204" pitchFamily="34" charset="0"/>
              </a:rPr>
              <a:t>הדיגיטל</a:t>
            </a:r>
            <a:r>
              <a:rPr lang="he-IL" dirty="0">
                <a:latin typeface="Calibri" panose="020F0502020204030204" pitchFamily="34" charset="0"/>
                <a:ea typeface="Calibri" panose="020F0502020204030204" pitchFamily="34" charset="0"/>
                <a:cs typeface="Calibri" panose="020F0502020204030204" pitchFamily="34" charset="0"/>
              </a:rPr>
              <a:t>.</a:t>
            </a:r>
          </a:p>
          <a:p>
            <a:pPr algn="r" rtl="1"/>
            <a:r>
              <a:rPr lang="he-IL" dirty="0">
                <a:latin typeface="Calibri" panose="020F0502020204030204" pitchFamily="34" charset="0"/>
                <a:ea typeface="Calibri" panose="020F0502020204030204" pitchFamily="34" charset="0"/>
                <a:cs typeface="Calibri" panose="020F0502020204030204" pitchFamily="34" charset="0"/>
              </a:rPr>
              <a:t>כעת בתהליך אפיון, הנשען על עבודות קודמות של משרד הרווחה מול המשרדים והרשויות המקומיות (</a:t>
            </a:r>
            <a:r>
              <a:rPr lang="he-IL" dirty="0" err="1">
                <a:latin typeface="Calibri" panose="020F0502020204030204" pitchFamily="34" charset="0"/>
                <a:ea typeface="Calibri" panose="020F0502020204030204" pitchFamily="34" charset="0"/>
                <a:cs typeface="Calibri" panose="020F0502020204030204" pitchFamily="34" charset="0"/>
              </a:rPr>
              <a:t>דשבורד</a:t>
            </a:r>
            <a:r>
              <a:rPr lang="he-IL" dirty="0">
                <a:latin typeface="Calibri" panose="020F0502020204030204" pitchFamily="34" charset="0"/>
                <a:ea typeface="Calibri" panose="020F0502020204030204" pitchFamily="34" charset="0"/>
                <a:cs typeface="Calibri" panose="020F0502020204030204" pitchFamily="34" charset="0"/>
              </a:rPr>
              <a:t> המשרד, המכלול, </a:t>
            </a:r>
            <a:r>
              <a:rPr lang="en-US" dirty="0">
                <a:latin typeface="Calibri" panose="020F0502020204030204" pitchFamily="34" charset="0"/>
                <a:ea typeface="Calibri" panose="020F0502020204030204" pitchFamily="34" charset="0"/>
                <a:cs typeface="Calibri" panose="020F0502020204030204" pitchFamily="34" charset="0"/>
              </a:rPr>
              <a:t>gap analyzer</a:t>
            </a:r>
            <a:r>
              <a:rPr lang="he-IL" dirty="0">
                <a:latin typeface="Calibri" panose="020F0502020204030204" pitchFamily="34" charset="0"/>
                <a:ea typeface="Calibri" panose="020F0502020204030204" pitchFamily="34" charset="0"/>
                <a:cs typeface="Calibri" panose="020F0502020204030204" pitchFamily="34" charset="0"/>
              </a:rPr>
              <a:t>) ושל ג'וינט אשל (מפת המדדים להזדקנות מיטבית, </a:t>
            </a:r>
            <a:r>
              <a:rPr lang="he-IL" dirty="0" err="1">
                <a:latin typeface="Calibri" panose="020F0502020204030204" pitchFamily="34" charset="0"/>
                <a:ea typeface="Calibri" panose="020F0502020204030204" pitchFamily="34" charset="0"/>
                <a:cs typeface="Calibri" panose="020F0502020204030204" pitchFamily="34" charset="0"/>
              </a:rPr>
              <a:t>פרוייקט</a:t>
            </a:r>
            <a:r>
              <a:rPr lang="he-IL" dirty="0">
                <a:latin typeface="Calibri" panose="020F0502020204030204" pitchFamily="34" charset="0"/>
                <a:ea typeface="Calibri" panose="020F0502020204030204" pitchFamily="34" charset="0"/>
                <a:cs typeface="Calibri" panose="020F0502020204030204" pitchFamily="34" charset="0"/>
              </a:rPr>
              <a:t> "מוני 100"), ועל שאלות עסקיות הרלוונטיות לביטוח לאומי.</a:t>
            </a:r>
          </a:p>
          <a:p>
            <a:pPr algn="r" rtl="1"/>
            <a:r>
              <a:rPr lang="he-IL" sz="1800" dirty="0">
                <a:effectLst/>
                <a:latin typeface="Calibri" panose="020F0502020204030204" pitchFamily="34" charset="0"/>
                <a:ea typeface="Calibri" panose="020F0502020204030204" pitchFamily="34" charset="0"/>
                <a:cs typeface="Calibri" panose="020F0502020204030204" pitchFamily="34" charset="0"/>
              </a:rPr>
              <a:t>תוצר האפיון </a:t>
            </a:r>
            <a:r>
              <a:rPr lang="he-IL" dirty="0">
                <a:latin typeface="Calibri" panose="020F0502020204030204" pitchFamily="34" charset="0"/>
                <a:ea typeface="Calibri" panose="020F0502020204030204" pitchFamily="34" charset="0"/>
                <a:cs typeface="Calibri" panose="020F0502020204030204" pitchFamily="34" charset="0"/>
              </a:rPr>
              <a:t>יהיה </a:t>
            </a:r>
            <a:r>
              <a:rPr lang="he-IL" dirty="0" err="1">
                <a:latin typeface="Calibri" panose="020F0502020204030204" pitchFamily="34" charset="0"/>
                <a:ea typeface="Calibri" panose="020F0502020204030204" pitchFamily="34" charset="0"/>
                <a:cs typeface="Calibri" panose="020F0502020204030204" pitchFamily="34" charset="0"/>
              </a:rPr>
              <a:t>מוקאפ</a:t>
            </a:r>
            <a:r>
              <a:rPr lang="he-IL" dirty="0">
                <a:latin typeface="Calibri" panose="020F0502020204030204" pitchFamily="34" charset="0"/>
                <a:ea typeface="Calibri" panose="020F0502020204030204" pitchFamily="34" charset="0"/>
                <a:cs typeface="Calibri" panose="020F0502020204030204" pitchFamily="34" charset="0"/>
              </a:rPr>
              <a:t> </a:t>
            </a:r>
            <a:r>
              <a:rPr lang="he-IL" dirty="0" err="1">
                <a:latin typeface="Calibri" panose="020F0502020204030204" pitchFamily="34" charset="0"/>
                <a:ea typeface="Calibri" panose="020F0502020204030204" pitchFamily="34" charset="0"/>
                <a:cs typeface="Calibri" panose="020F0502020204030204" pitchFamily="34" charset="0"/>
              </a:rPr>
              <a:t>לדשבורד</a:t>
            </a:r>
            <a:r>
              <a:rPr lang="he-IL" dirty="0">
                <a:latin typeface="Calibri" panose="020F0502020204030204" pitchFamily="34" charset="0"/>
                <a:ea typeface="Calibri" panose="020F0502020204030204" pitchFamily="34" charset="0"/>
                <a:cs typeface="Calibri" panose="020F0502020204030204" pitchFamily="34" charset="0"/>
              </a:rPr>
              <a:t> רשותי (שיתוקף מול רשויות מקומיות) </a:t>
            </a:r>
            <a:r>
              <a:rPr lang="he-IL" dirty="0" err="1">
                <a:latin typeface="Calibri" panose="020F0502020204030204" pitchFamily="34" charset="0"/>
                <a:ea typeface="Calibri" panose="020F0502020204030204" pitchFamily="34" charset="0"/>
                <a:cs typeface="Calibri" panose="020F0502020204030204" pitchFamily="34" charset="0"/>
              </a:rPr>
              <a:t>ולדשבורד</a:t>
            </a:r>
            <a:r>
              <a:rPr lang="he-IL" dirty="0">
                <a:latin typeface="Calibri" panose="020F0502020204030204" pitchFamily="34" charset="0"/>
                <a:ea typeface="Calibri" panose="020F0502020204030204" pitchFamily="34" charset="0"/>
                <a:cs typeface="Calibri" panose="020F0502020204030204" pitchFamily="34" charset="0"/>
              </a:rPr>
              <a:t> לאומי (שיתוקף מול בעלי העניין בממשלה), ולאחר מכן יועבר לפיתוח במערך </a:t>
            </a:r>
            <a:r>
              <a:rPr lang="he-IL" dirty="0" err="1">
                <a:latin typeface="Calibri" panose="020F0502020204030204" pitchFamily="34" charset="0"/>
                <a:ea typeface="Calibri" panose="020F0502020204030204" pitchFamily="34" charset="0"/>
                <a:cs typeface="Calibri" panose="020F0502020204030204" pitchFamily="34" charset="0"/>
              </a:rPr>
              <a:t>הדיגיטל</a:t>
            </a:r>
            <a:r>
              <a:rPr lang="he-IL" dirty="0">
                <a:latin typeface="Calibri" panose="020F0502020204030204" pitchFamily="34" charset="0"/>
                <a:ea typeface="Calibri" panose="020F0502020204030204" pitchFamily="34" charset="0"/>
                <a:cs typeface="Calibri" panose="020F0502020204030204" pitchFamily="34" charset="0"/>
              </a:rPr>
              <a:t>.</a:t>
            </a:r>
            <a:endParaRPr lang="he-IL" sz="18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34" name="Group 10">
            <a:extLst>
              <a:ext uri="{FF2B5EF4-FFF2-40B4-BE49-F238E27FC236}">
                <a16:creationId xmlns:a16="http://schemas.microsoft.com/office/drawing/2014/main" id="{7ED72C39-220F-BD29-9066-8E62BF6DFA2C}"/>
              </a:ext>
            </a:extLst>
          </p:cNvPr>
          <p:cNvGrpSpPr>
            <a:grpSpLocks noChangeAspect="1"/>
          </p:cNvGrpSpPr>
          <p:nvPr/>
        </p:nvGrpSpPr>
        <p:grpSpPr>
          <a:xfrm rot="2700000">
            <a:off x="11252899" y="3331726"/>
            <a:ext cx="660131" cy="660131"/>
            <a:chOff x="0" y="0"/>
            <a:chExt cx="14400530" cy="14400530"/>
          </a:xfrm>
        </p:grpSpPr>
        <p:sp>
          <p:nvSpPr>
            <p:cNvPr id="35" name="Freeform 11">
              <a:extLst>
                <a:ext uri="{FF2B5EF4-FFF2-40B4-BE49-F238E27FC236}">
                  <a16:creationId xmlns:a16="http://schemas.microsoft.com/office/drawing/2014/main" id="{B4C66CEB-DB85-8B95-8C8D-B6F8A7409ACA}"/>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EB02"/>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37" name="Graphic 36" descr="3d Glasses with solid fill">
            <a:extLst>
              <a:ext uri="{FF2B5EF4-FFF2-40B4-BE49-F238E27FC236}">
                <a16:creationId xmlns:a16="http://schemas.microsoft.com/office/drawing/2014/main" id="{913130DE-5EA3-CF59-AA93-85810702052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1401582" y="3429000"/>
            <a:ext cx="457200" cy="457200"/>
          </a:xfrm>
          <a:prstGeom prst="rect">
            <a:avLst/>
          </a:prstGeom>
        </p:spPr>
      </p:pic>
      <p:sp>
        <p:nvSpPr>
          <p:cNvPr id="38" name="TextBox 37">
            <a:extLst>
              <a:ext uri="{FF2B5EF4-FFF2-40B4-BE49-F238E27FC236}">
                <a16:creationId xmlns:a16="http://schemas.microsoft.com/office/drawing/2014/main" id="{6899DFEA-174D-BC37-FDEC-69C8DB5E8609}"/>
              </a:ext>
            </a:extLst>
          </p:cNvPr>
          <p:cNvSpPr txBox="1"/>
          <p:nvPr/>
        </p:nvSpPr>
        <p:spPr>
          <a:xfrm>
            <a:off x="12332" y="6163012"/>
            <a:ext cx="11648248" cy="369332"/>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*סוג החיבור לפורום ברק: הייזום וההובלה מתפתחים במסגרת הפורום.</a:t>
            </a:r>
          </a:p>
        </p:txBody>
      </p:sp>
      <p:grpSp>
        <p:nvGrpSpPr>
          <p:cNvPr id="41" name="Group 10">
            <a:extLst>
              <a:ext uri="{FF2B5EF4-FFF2-40B4-BE49-F238E27FC236}">
                <a16:creationId xmlns:a16="http://schemas.microsoft.com/office/drawing/2014/main" id="{DEFF7C77-9E08-7C44-3ED1-51EBD5145660}"/>
              </a:ext>
            </a:extLst>
          </p:cNvPr>
          <p:cNvGrpSpPr>
            <a:grpSpLocks noChangeAspect="1"/>
          </p:cNvGrpSpPr>
          <p:nvPr/>
        </p:nvGrpSpPr>
        <p:grpSpPr>
          <a:xfrm rot="2700000">
            <a:off x="11597535" y="5890590"/>
            <a:ext cx="482255" cy="482255"/>
            <a:chOff x="0" y="0"/>
            <a:chExt cx="14400530" cy="14400530"/>
          </a:xfrm>
        </p:grpSpPr>
        <p:sp>
          <p:nvSpPr>
            <p:cNvPr id="42" name="Freeform 11">
              <a:extLst>
                <a:ext uri="{FF2B5EF4-FFF2-40B4-BE49-F238E27FC236}">
                  <a16:creationId xmlns:a16="http://schemas.microsoft.com/office/drawing/2014/main" id="{D709E4A3-1315-622A-4888-7151805BBAE0}"/>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EB02"/>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40" name="Graphic 39" descr="Good Inventory with solid fill">
            <a:extLst>
              <a:ext uri="{FF2B5EF4-FFF2-40B4-BE49-F238E27FC236}">
                <a16:creationId xmlns:a16="http://schemas.microsoft.com/office/drawing/2014/main" id="{EDBC6304-2FD2-1136-900D-50D1289E1353}"/>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1674387" y="5936212"/>
            <a:ext cx="328580" cy="328580"/>
          </a:xfrm>
          <a:prstGeom prst="rect">
            <a:avLst/>
          </a:prstGeom>
        </p:spPr>
      </p:pic>
    </p:spTree>
    <p:extLst>
      <p:ext uri="{BB962C8B-B14F-4D97-AF65-F5344CB8AC3E}">
        <p14:creationId xmlns:p14="http://schemas.microsoft.com/office/powerpoint/2010/main" val="34078160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0DB0A2-A916-4EA9-AB5E-3FF06D30A11A}"/>
              </a:ext>
            </a:extLst>
          </p:cNvPr>
          <p:cNvSpPr>
            <a:spLocks noGrp="1"/>
          </p:cNvSpPr>
          <p:nvPr>
            <p:ph type="title"/>
          </p:nvPr>
        </p:nvSpPr>
        <p:spPr/>
        <p:txBody>
          <a:bodyPr/>
          <a:lstStyle/>
          <a:p>
            <a:pPr algn="ctr"/>
            <a:endParaRPr lang="he-IL" dirty="0">
              <a:latin typeface="Assistant" pitchFamily="2" charset="-79"/>
              <a:cs typeface="Assistant" pitchFamily="2" charset="-79"/>
            </a:endParaRPr>
          </a:p>
        </p:txBody>
      </p:sp>
      <p:sp>
        <p:nvSpPr>
          <p:cNvPr id="8" name="Content Placeholder 7">
            <a:extLst>
              <a:ext uri="{FF2B5EF4-FFF2-40B4-BE49-F238E27FC236}">
                <a16:creationId xmlns:a16="http://schemas.microsoft.com/office/drawing/2014/main" id="{2C9E4F7F-75A6-40EC-AB33-7776087E5D2F}"/>
              </a:ext>
            </a:extLst>
          </p:cNvPr>
          <p:cNvSpPr>
            <a:spLocks noGrp="1"/>
          </p:cNvSpPr>
          <p:nvPr>
            <p:ph idx="1"/>
          </p:nvPr>
        </p:nvSpPr>
        <p:spPr>
          <a:xfrm>
            <a:off x="838200" y="1690688"/>
            <a:ext cx="10515600" cy="4351338"/>
          </a:xfrm>
        </p:spPr>
        <p:txBody>
          <a:bodyPr>
            <a:normAutofit fontScale="92500"/>
          </a:bodyPr>
          <a:lstStyle/>
          <a:p>
            <a:pPr algn="r" rtl="1">
              <a:lnSpc>
                <a:spcPct val="100000"/>
              </a:lnSpc>
            </a:pPr>
            <a:r>
              <a:rPr lang="he-IL" sz="2600" dirty="0">
                <a:latin typeface="Assistant" pitchFamily="2" charset="-79"/>
              </a:rPr>
              <a:t>המרשם החברתי (הפניות הדדיות) הוא תפיסה שפותחה באנגליה היוצאת מנקודת הנחה שרפואה בקהילה היא "כתובת הראשונה" עבור אזרחים ותיקים, גם עבור בעיות שמקורן בצרכים סוציאליים שתרופות או פרוצדורה רפואית לא יכולות לפתור</a:t>
            </a:r>
          </a:p>
          <a:p>
            <a:pPr algn="r" rtl="1">
              <a:lnSpc>
                <a:spcPct val="100000"/>
              </a:lnSpc>
            </a:pPr>
            <a:r>
              <a:rPr lang="he-IL" sz="2600" dirty="0">
                <a:latin typeface="Assistant" pitchFamily="2" charset="-79"/>
              </a:rPr>
              <a:t>מתוך כך, התפיסה מציעה שרופאים בקהילה יוכלו להפנות אזרחים ותיקים לשירותים קהילתיים ועל ידי כך – לספק להם פתרון הולם עבור בעיות שמתמודדים איתם</a:t>
            </a:r>
          </a:p>
          <a:p>
            <a:pPr algn="r" rtl="1">
              <a:lnSpc>
                <a:spcPct val="100000"/>
              </a:lnSpc>
            </a:pPr>
            <a:r>
              <a:rPr lang="he-IL" sz="2600" dirty="0">
                <a:latin typeface="Assistant" pitchFamily="2" charset="-79"/>
              </a:rPr>
              <a:t>בישראל הנושא נבחן בפיילוט בירושלים וכעת פועל בתור פיילוט בתל אביב</a:t>
            </a:r>
          </a:p>
          <a:p>
            <a:pPr algn="r" rtl="1">
              <a:lnSpc>
                <a:spcPct val="100000"/>
              </a:lnSpc>
            </a:pPr>
            <a:r>
              <a:rPr lang="he-IL" sz="2600" dirty="0">
                <a:latin typeface="Assistant" pitchFamily="2" charset="-79"/>
              </a:rPr>
              <a:t>החשיבה היא על מודל העבודה המשותף של רווחה, קופ"ח, </a:t>
            </a:r>
            <a:r>
              <a:rPr lang="he-IL" sz="2600" dirty="0" err="1">
                <a:latin typeface="Assistant" pitchFamily="2" charset="-79"/>
              </a:rPr>
              <a:t>בטל"א</a:t>
            </a:r>
            <a:r>
              <a:rPr lang="he-IL" sz="2600" dirty="0">
                <a:latin typeface="Assistant" pitchFamily="2" charset="-79"/>
              </a:rPr>
              <a:t> והשירותים עצמם מול צרכי הלקוחות</a:t>
            </a:r>
          </a:p>
          <a:p>
            <a:pPr algn="r" rtl="1">
              <a:lnSpc>
                <a:spcPct val="100000"/>
              </a:lnSpc>
            </a:pPr>
            <a:r>
              <a:rPr lang="he-IL" sz="2600" dirty="0">
                <a:latin typeface="Assistant" pitchFamily="2" charset="-79"/>
              </a:rPr>
              <a:t>החלוקה לקהלי יעד וצרכיהם וקיצור בירוקרטיה בין מערכות (</a:t>
            </a:r>
            <a:r>
              <a:rPr lang="he-IL" sz="2600" dirty="0" err="1">
                <a:latin typeface="Assistant" pitchFamily="2" charset="-79"/>
              </a:rPr>
              <a:t>טרנפורמציה</a:t>
            </a:r>
            <a:r>
              <a:rPr lang="he-IL" sz="2600" dirty="0">
                <a:latin typeface="Assistant" pitchFamily="2" charset="-79"/>
              </a:rPr>
              <a:t>)</a:t>
            </a:r>
          </a:p>
        </p:txBody>
      </p:sp>
      <p:sp>
        <p:nvSpPr>
          <p:cNvPr id="2" name="TextBox 1"/>
          <p:cNvSpPr txBox="1"/>
          <p:nvPr/>
        </p:nvSpPr>
        <p:spPr>
          <a:xfrm>
            <a:off x="7371542" y="801871"/>
            <a:ext cx="3982258" cy="646331"/>
          </a:xfrm>
          <a:prstGeom prst="rect">
            <a:avLst/>
          </a:prstGeom>
          <a:noFill/>
        </p:spPr>
        <p:txBody>
          <a:bodyPr wrap="square" rtlCol="1">
            <a:spAutoFit/>
          </a:bodyPr>
          <a:lstStyle/>
          <a:p>
            <a:r>
              <a:rPr lang="he-IL" sz="3600" dirty="0">
                <a:latin typeface="Assistant" pitchFamily="2" charset="-79"/>
                <a:cs typeface="Assistant" pitchFamily="2" charset="-79"/>
              </a:rPr>
              <a:t>המרשם החברתי</a:t>
            </a:r>
            <a:endParaRPr lang="he-IL"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724201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C7B30D4-F56A-44DA-AEB4-199403676859}"/>
              </a:ext>
            </a:extLst>
          </p:cNvPr>
          <p:cNvGrpSpPr/>
          <p:nvPr/>
        </p:nvGrpSpPr>
        <p:grpSpPr>
          <a:xfrm>
            <a:off x="952843" y="561975"/>
            <a:ext cx="10286315" cy="6638710"/>
            <a:chOff x="1631240" y="215901"/>
            <a:chExt cx="10286315" cy="6984784"/>
          </a:xfrm>
        </p:grpSpPr>
        <p:sp>
          <p:nvSpPr>
            <p:cNvPr id="11" name="Rectangle: Rounded Corners 10">
              <a:extLst>
                <a:ext uri="{FF2B5EF4-FFF2-40B4-BE49-F238E27FC236}">
                  <a16:creationId xmlns:a16="http://schemas.microsoft.com/office/drawing/2014/main" id="{60D472DD-6410-4339-9268-3CB896F65007}"/>
                </a:ext>
              </a:extLst>
            </p:cNvPr>
            <p:cNvSpPr/>
            <p:nvPr/>
          </p:nvSpPr>
          <p:spPr>
            <a:xfrm>
              <a:off x="1631240" y="215901"/>
              <a:ext cx="10286315" cy="6460670"/>
            </a:xfrm>
            <a:prstGeom prst="roundRect">
              <a:avLst/>
            </a:prstGeom>
            <a:gradFill>
              <a:gsLst>
                <a:gs pos="0">
                  <a:schemeClr val="bg1">
                    <a:alpha val="75000"/>
                  </a:schemeClr>
                </a:gs>
                <a:gs pos="50000">
                  <a:schemeClr val="tx2">
                    <a:lumMod val="10000"/>
                    <a:lumOff val="90000"/>
                    <a:alpha val="87000"/>
                  </a:schemeClr>
                </a:gs>
                <a:gs pos="100000">
                  <a:schemeClr val="bg2">
                    <a:lumMod val="63000"/>
                    <a:lumOff val="37000"/>
                    <a:alpha val="77000"/>
                  </a:schemeClr>
                </a:gs>
              </a:gsLst>
              <a:lin ang="0" scaled="1"/>
            </a:gradFill>
            <a:ln w="9525">
              <a:solidFill>
                <a:schemeClr val="bg1">
                  <a:alpha val="92000"/>
                </a:schemeClr>
              </a:solidFill>
            </a:ln>
            <a:effectLst>
              <a:outerShdw blurRad="482600" dist="50800" dir="5400000" algn="ctr" rotWithShape="0">
                <a:schemeClr val="bg2">
                  <a:lumMod val="2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תיבת טקסט 5">
              <a:extLst>
                <a:ext uri="{FF2B5EF4-FFF2-40B4-BE49-F238E27FC236}">
                  <a16:creationId xmlns:a16="http://schemas.microsoft.com/office/drawing/2014/main" id="{4CCDC711-627C-F516-2CB4-03FD436CA5F4}"/>
                </a:ext>
              </a:extLst>
            </p:cNvPr>
            <p:cNvSpPr txBox="1"/>
            <p:nvPr/>
          </p:nvSpPr>
          <p:spPr>
            <a:xfrm>
              <a:off x="5750817" y="886666"/>
              <a:ext cx="5446721" cy="2677656"/>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אישה בת 71, 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20%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רקע:</a:t>
              </a: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גיל: 71</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מצב משפחתי: אלמנה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מקום מגורים: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גרה בביתה עם בנה הגרוש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aphicFrame>
          <p:nvGraphicFramePr>
            <p:cNvPr id="4" name="דיאגרמה 3">
              <a:extLst>
                <a:ext uri="{FF2B5EF4-FFF2-40B4-BE49-F238E27FC236}">
                  <a16:creationId xmlns:a16="http://schemas.microsoft.com/office/drawing/2014/main" id="{8C79B7A8-EA7E-43AF-9CC4-B2EC0BF053DF}"/>
                </a:ext>
              </a:extLst>
            </p:cNvPr>
            <p:cNvGraphicFramePr/>
            <p:nvPr>
              <p:extLst/>
            </p:nvPr>
          </p:nvGraphicFramePr>
          <p:xfrm>
            <a:off x="2663664" y="4190715"/>
            <a:ext cx="5810514" cy="30099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תיבת טקסט 9">
              <a:extLst>
                <a:ext uri="{FF2B5EF4-FFF2-40B4-BE49-F238E27FC236}">
                  <a16:creationId xmlns:a16="http://schemas.microsoft.com/office/drawing/2014/main" id="{7E5247A0-2741-6994-E305-894A06B331FE}"/>
                </a:ext>
              </a:extLst>
            </p:cNvPr>
            <p:cNvSpPr txBox="1"/>
            <p:nvPr/>
          </p:nvSpPr>
          <p:spPr>
            <a:xfrm>
              <a:off x="2324099" y="886666"/>
              <a:ext cx="4826001" cy="296296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היום יום של פנינה מתאפיין במגוון אתגרים:</a:t>
              </a: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פוגע ביכולתה לחיות חיים מלאים ועצמאיים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מוביל להתדרדרות מואצת בתפקודה ובבריאותה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תלויה רבות בבנה,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מייצר רגשות אשמה מעמיס ומעמיס על הבן</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חוששת מנפילות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3" name="תיבת טקסט 12">
              <a:extLst>
                <a:ext uri="{FF2B5EF4-FFF2-40B4-BE49-F238E27FC236}">
                  <a16:creationId xmlns:a16="http://schemas.microsoft.com/office/drawing/2014/main" id="{8B38939D-9FB0-76F3-254A-62ABE3FFF063}"/>
                </a:ext>
              </a:extLst>
            </p:cNvPr>
            <p:cNvSpPr txBox="1"/>
            <p:nvPr/>
          </p:nvSpPr>
          <p:spPr>
            <a:xfrm>
              <a:off x="1795619" y="4462346"/>
              <a:ext cx="6895690" cy="3562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האם הסל שפנינה צריכה לקבל זהה </a:t>
              </a:r>
              <a:r>
                <a:rPr kumimoji="0" lang="he-IL" sz="1600" b="1" i="0" u="none" strike="noStrike" kern="1200" cap="none" spc="0" normalizeH="0" baseline="0" noProof="0" dirty="0" smtClean="0">
                  <a:ln>
                    <a:noFill/>
                  </a:ln>
                  <a:solidFill>
                    <a:srgbClr val="17406D">
                      <a:lumMod val="50000"/>
                    </a:srgbClr>
                  </a:solidFill>
                  <a:effectLst/>
                  <a:uLnTx/>
                  <a:uFillTx/>
                  <a:latin typeface="Assistant" pitchFamily="2" charset="-79"/>
                  <a:ea typeface="+mn-ea"/>
                  <a:cs typeface="Assistant" pitchFamily="2" charset="-79"/>
                </a:rPr>
                <a:t>לכ160,000 </a:t>
              </a: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זכאים אחרים ברמות הנמוכות?</a:t>
              </a:r>
            </a:p>
          </p:txBody>
        </p:sp>
      </p:grpSp>
      <p:pic>
        <p:nvPicPr>
          <p:cNvPr id="9" name="Picture 2" descr="הלם הפרישה - רותם מוצרי ספיגה">
            <a:extLst>
              <a:ext uri="{FF2B5EF4-FFF2-40B4-BE49-F238E27FC236}">
                <a16:creationId xmlns:a16="http://schemas.microsoft.com/office/drawing/2014/main" id="{AB2C3BED-B606-FB77-B8C4-5ACB9D4D3C35}"/>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colorTemperature colorTemp="5300"/>
                    </a14:imgEffect>
                  </a14:imgLayer>
                </a14:imgProps>
              </a:ext>
              <a:ext uri="{28A0092B-C50C-407E-A947-70E740481C1C}">
                <a14:useLocalDpi xmlns:a14="http://schemas.microsoft.com/office/drawing/2010/main" val="0"/>
              </a:ext>
            </a:extLst>
          </a:blip>
          <a:srcRect/>
          <a:stretch>
            <a:fillRect/>
          </a:stretch>
        </p:blipFill>
        <p:spPr bwMode="auto">
          <a:xfrm>
            <a:off x="8086876" y="3632257"/>
            <a:ext cx="2861187" cy="1609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8679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5714922" y="551239"/>
            <a:ext cx="6226843" cy="3877985"/>
          </a:xfrm>
          <a:prstGeom prst="rect">
            <a:avLst/>
          </a:prstGeom>
          <a:noFill/>
        </p:spPr>
        <p:txBody>
          <a:bodyPr wrap="square">
            <a:spAutoFit/>
          </a:bodyPr>
          <a:lstStyle/>
          <a:p>
            <a:pPr algn="r" rtl="1"/>
            <a:r>
              <a:rPr lang="he-IL" b="1" dirty="0"/>
              <a:t>פנינה, אישה בת 71, רמת סיעוד </a:t>
            </a:r>
            <a:r>
              <a:rPr lang="he-IL" sz="1200" b="1" dirty="0">
                <a:solidFill>
                  <a:prstClr val="black"/>
                </a:solidFill>
              </a:rPr>
              <a:t>(מייצגת 20% מהזקנים בישראל ברמות הנמוכות)</a:t>
            </a:r>
          </a:p>
          <a:p>
            <a:pPr algn="r" rtl="1"/>
            <a:endParaRPr lang="he-IL" b="1" dirty="0"/>
          </a:p>
          <a:p>
            <a:pPr algn="r" rtl="1"/>
            <a:r>
              <a:rPr lang="he-IL" b="1" dirty="0"/>
              <a:t>המלצות לסל שירותים:</a:t>
            </a:r>
            <a:endParaRPr lang="he-IL" dirty="0"/>
          </a:p>
          <a:p>
            <a:pPr algn="r" rtl="1">
              <a:buFont typeface="Arial" panose="020B0604020202020204" pitchFamily="34" charset="0"/>
              <a:buChar char="•"/>
            </a:pPr>
            <a:r>
              <a:rPr lang="he-IL" b="1" dirty="0"/>
              <a:t>חיבור חברתי:</a:t>
            </a:r>
            <a:r>
              <a:rPr lang="he-IL" dirty="0"/>
              <a:t> פעילויות חברתיות בקהילה, מפגשים עם חברים, קבוצות תמיכה, פעילויות פנאי.</a:t>
            </a:r>
          </a:p>
          <a:p>
            <a:pPr algn="r" rtl="1">
              <a:buFont typeface="Arial" panose="020B0604020202020204" pitchFamily="34" charset="0"/>
              <a:buChar char="•"/>
            </a:pPr>
            <a:r>
              <a:rPr lang="he-IL" b="1" dirty="0"/>
              <a:t>פיזיותרפיה:</a:t>
            </a:r>
            <a:r>
              <a:rPr lang="he-IL" dirty="0"/>
              <a:t> טיפולים לחיזוק השרירים, שיפור שיווי המשקל והתנועתיות, והפחתת הסיכון לנפילות.</a:t>
            </a:r>
          </a:p>
          <a:p>
            <a:pPr algn="r" rtl="1">
              <a:buFont typeface="Arial" panose="020B0604020202020204" pitchFamily="34" charset="0"/>
              <a:buChar char="•"/>
            </a:pPr>
            <a:r>
              <a:rPr lang="he-IL" b="1" dirty="0"/>
              <a:t>טיפול רגשי:</a:t>
            </a:r>
            <a:r>
              <a:rPr lang="he-IL" dirty="0"/>
              <a:t> סיוע להתמודדות עם קשיים רגשיים, בדידות, דיכאון, וחששות.</a:t>
            </a:r>
          </a:p>
          <a:p>
            <a:pPr algn="r" rtl="1">
              <a:buFont typeface="Arial" panose="020B0604020202020204" pitchFamily="34" charset="0"/>
              <a:buChar char="•"/>
            </a:pPr>
            <a:r>
              <a:rPr lang="he-IL" b="1" dirty="0"/>
              <a:t>הדרכה וייעוץ:</a:t>
            </a:r>
            <a:r>
              <a:rPr lang="he-IL" dirty="0"/>
              <a:t> הדרכה לבני המשפחה בנוגע לטיפול נכון בפנינה, ייעוץ בנוגע לזכויותיה והטבות המגיעות לה.</a:t>
            </a:r>
          </a:p>
          <a:p>
            <a:endParaRPr lang="he-IL" b="1" dirty="0"/>
          </a:p>
          <a:p>
            <a:endParaRPr lang="he-IL" dirty="0"/>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937064" y="4296362"/>
            <a:ext cx="8018584" cy="1200329"/>
          </a:xfrm>
          <a:prstGeom prst="rect">
            <a:avLst/>
          </a:prstGeom>
          <a:solidFill>
            <a:srgbClr val="5EC5C5"/>
          </a:solidFill>
          <a:ln>
            <a:solidFill>
              <a:srgbClr val="4472C4"/>
            </a:solidFill>
          </a:ln>
        </p:spPr>
        <p:txBody>
          <a:bodyPr wrap="square">
            <a:spAutoFit/>
          </a:bodyPr>
          <a:lstStyle/>
          <a:p>
            <a:pPr algn="r" rtl="1"/>
            <a:r>
              <a:rPr lang="he-IL" b="1" dirty="0"/>
              <a:t>דגשים חשובים:</a:t>
            </a:r>
            <a:endParaRPr lang="he-IL" dirty="0"/>
          </a:p>
          <a:p>
            <a:pPr algn="r" rtl="1">
              <a:buFont typeface="Arial" panose="020B0604020202020204" pitchFamily="34" charset="0"/>
              <a:buChar char="•"/>
            </a:pPr>
            <a:r>
              <a:rPr lang="he-IL" dirty="0"/>
              <a:t>סל השירותים המומלץ צריך להיות מותאם אישית לצרכיה הייחודיים של פנינה.</a:t>
            </a:r>
          </a:p>
          <a:p>
            <a:pPr algn="r" rtl="1">
              <a:buFont typeface="Arial" panose="020B0604020202020204" pitchFamily="34" charset="0"/>
              <a:buChar char="•"/>
            </a:pPr>
            <a:r>
              <a:rPr lang="he-IL" dirty="0"/>
              <a:t>רצוי שפנינה תהיה מעורבת בתהליך קבלת ההחלטות בנוגע לסל השירותים שיוענק לה.</a:t>
            </a:r>
          </a:p>
          <a:p>
            <a:pPr algn="r" rtl="1">
              <a:buFont typeface="Arial" panose="020B0604020202020204" pitchFamily="34" charset="0"/>
              <a:buChar char="•"/>
            </a:pPr>
            <a:r>
              <a:rPr lang="he-IL" dirty="0"/>
              <a:t>חשוב לתעד את התקדמותה של פנינה ולעדכן את סל השירותים 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36352" y="1479160"/>
            <a:ext cx="5478570" cy="1754326"/>
          </a:xfrm>
          <a:prstGeom prst="rect">
            <a:avLst/>
          </a:prstGeom>
          <a:noFill/>
        </p:spPr>
        <p:txBody>
          <a:bodyPr wrap="square">
            <a:spAutoFit/>
          </a:bodyPr>
          <a:lstStyle/>
          <a:p>
            <a:pPr algn="r" rtl="1"/>
            <a:r>
              <a:rPr lang="he-IL" b="1" dirty="0"/>
              <a:t>מטרת סל השירותים:</a:t>
            </a:r>
            <a:endParaRPr lang="he-IL" dirty="0"/>
          </a:p>
          <a:p>
            <a:pPr algn="r" rtl="1">
              <a:buFont typeface="Arial" panose="020B0604020202020204" pitchFamily="34" charset="0"/>
              <a:buChar char="•"/>
            </a:pPr>
            <a:r>
              <a:rPr lang="he-IL" dirty="0"/>
              <a:t>לשפר את איכות חייה של פנינה ולעזור לה לשמור על עצמאותה.</a:t>
            </a:r>
          </a:p>
          <a:p>
            <a:pPr algn="r" rtl="1">
              <a:buFont typeface="Arial" panose="020B0604020202020204" pitchFamily="34" charset="0"/>
              <a:buChar char="•"/>
            </a:pPr>
            <a:r>
              <a:rPr lang="he-IL" dirty="0"/>
              <a:t>להפחית את תחושת הבדידות והתלות בבן.</a:t>
            </a:r>
          </a:p>
          <a:p>
            <a:pPr algn="r" rtl="1">
              <a:buFont typeface="Arial" panose="020B0604020202020204" pitchFamily="34" charset="0"/>
              <a:buChar char="•"/>
            </a:pPr>
            <a:r>
              <a:rPr lang="he-IL" dirty="0"/>
              <a:t>לחזק את בריאותה הנפשית והפיזית.</a:t>
            </a:r>
          </a:p>
          <a:p>
            <a:pPr algn="r" rtl="1">
              <a:buFont typeface="Arial" panose="020B0604020202020204" pitchFamily="34" charset="0"/>
              <a:buChar char="•"/>
            </a:pPr>
            <a:r>
              <a:rPr lang="he-IL" dirty="0"/>
              <a:t>לאפשר לה ליהנות מחיים מלאים ומשמעותיים.</a:t>
            </a:r>
          </a:p>
        </p:txBody>
      </p:sp>
      <p:pic>
        <p:nvPicPr>
          <p:cNvPr id="5" name="Picture 2" descr="הלם הפרישה - רותם מוצרי ספיגה">
            <a:extLst>
              <a:ext uri="{FF2B5EF4-FFF2-40B4-BE49-F238E27FC236}">
                <a16:creationId xmlns:a16="http://schemas.microsoft.com/office/drawing/2014/main" id="{AB2C3BED-B606-FB77-B8C4-5ACB9D4D3C35}"/>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a:stretch>
            <a:fillRect/>
          </a:stretch>
        </p:blipFill>
        <p:spPr bwMode="auto">
          <a:xfrm>
            <a:off x="545110" y="3624515"/>
            <a:ext cx="2861187" cy="1609418"/>
          </a:xfrm>
          <a:prstGeom prst="rect">
            <a:avLst/>
          </a:prstGeom>
          <a:noFill/>
          <a:extLst>
            <a:ext uri="{909E8E84-426E-40DD-AFC4-6F175D3DCCD1}">
              <a14:hiddenFill xmlns:a14="http://schemas.microsoft.com/office/drawing/2010/main">
                <a:solidFill>
                  <a:srgbClr val="FFFFFF"/>
                </a:solidFill>
              </a14:hiddenFill>
            </a:ext>
          </a:extLst>
        </p:spPr>
      </p:pic>
      <p:sp>
        <p:nvSpPr>
          <p:cNvPr id="7" name="מלבן 6">
            <a:extLst>
              <a:ext uri="{FF2B5EF4-FFF2-40B4-BE49-F238E27FC236}">
                <a16:creationId xmlns:a16="http://schemas.microsoft.com/office/drawing/2014/main" id="{9079C5C4-FF00-B341-CD7D-5CF40746F4E6}"/>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67455870-164A-9D98-0914-8122C6F9D320}"/>
              </a:ext>
            </a:extLst>
          </p:cNvPr>
          <p:cNvSpPr txBox="1"/>
          <p:nvPr/>
        </p:nvSpPr>
        <p:spPr>
          <a:xfrm rot="16200000">
            <a:off x="-628535" y="57073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977624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5369330" y="1869042"/>
            <a:ext cx="5843515" cy="286232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פתיחת השוק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7406D">
                  <a:lumMod val="50000"/>
                </a:srgbClr>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–בחירת שירות בהתבסס על חוויות אישיות של משתמשים</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7406D">
                  <a:lumMod val="50000"/>
                </a:srgbClr>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חווית לקוח באמצעות דיגיטציה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שירות דיגיטלי ואנושי משולב לייעול תהליך ההתאמה והרכש (ארנק דיגיטלי)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7719581" y="512835"/>
            <a:ext cx="3493264" cy="584775"/>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חכם:</a:t>
            </a:r>
            <a:endParaRPr kumimoji="0" lang="en-IL" sz="32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9707304" y="1458765"/>
            <a:ext cx="1505541"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מטרות עסקיות</a:t>
            </a:r>
            <a:endParaRPr kumimoji="0" lang="en-IL" sz="1800" b="1" i="0" u="sng"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8" name="TextBox 7">
            <a:extLst>
              <a:ext uri="{FF2B5EF4-FFF2-40B4-BE49-F238E27FC236}">
                <a16:creationId xmlns:a16="http://schemas.microsoft.com/office/drawing/2014/main" id="{D8BAC86D-12FA-4F9A-BC5C-3C6BC48459F6}"/>
              </a:ext>
            </a:extLst>
          </p:cNvPr>
          <p:cNvSpPr txBox="1"/>
          <p:nvPr/>
        </p:nvSpPr>
        <p:spPr>
          <a:xfrm flipH="1">
            <a:off x="8332985" y="5153048"/>
            <a:ext cx="1418732"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חיבור של נתונים</a:t>
            </a:r>
          </a:p>
        </p:txBody>
      </p:sp>
      <p:sp>
        <p:nvSpPr>
          <p:cNvPr id="9" name="TextBox 8">
            <a:extLst>
              <a:ext uri="{FF2B5EF4-FFF2-40B4-BE49-F238E27FC236}">
                <a16:creationId xmlns:a16="http://schemas.microsoft.com/office/drawing/2014/main" id="{FC553BE5-B8DC-4041-9E1F-B7C8A7A5DEAB}"/>
              </a:ext>
            </a:extLst>
          </p:cNvPr>
          <p:cNvSpPr txBox="1"/>
          <p:nvPr/>
        </p:nvSpPr>
        <p:spPr>
          <a:xfrm flipH="1">
            <a:off x="6213225" y="5153048"/>
            <a:ext cx="1630680" cy="646986"/>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פרופילים של אזרחים ותיקים</a:t>
            </a:r>
          </a:p>
        </p:txBody>
      </p:sp>
      <p:sp>
        <p:nvSpPr>
          <p:cNvPr id="10" name="TextBox 9">
            <a:extLst>
              <a:ext uri="{FF2B5EF4-FFF2-40B4-BE49-F238E27FC236}">
                <a16:creationId xmlns:a16="http://schemas.microsoft.com/office/drawing/2014/main" id="{149044EA-4B18-45A5-8345-8FEDD4F05709}"/>
              </a:ext>
            </a:extLst>
          </p:cNvPr>
          <p:cNvSpPr txBox="1"/>
          <p:nvPr/>
        </p:nvSpPr>
        <p:spPr>
          <a:xfrm flipH="1">
            <a:off x="4084005" y="5153050"/>
            <a:ext cx="1630680"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רגולציה</a:t>
            </a:r>
            <a: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a:r>
            <a:b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b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מאפשרת</a:t>
            </a:r>
          </a:p>
        </p:txBody>
      </p:sp>
      <p:sp>
        <p:nvSpPr>
          <p:cNvPr id="11" name="TextBox 10">
            <a:extLst>
              <a:ext uri="{FF2B5EF4-FFF2-40B4-BE49-F238E27FC236}">
                <a16:creationId xmlns:a16="http://schemas.microsoft.com/office/drawing/2014/main" id="{1D53F520-CB8E-472C-A9F1-36E40213BDC8}"/>
              </a:ext>
            </a:extLst>
          </p:cNvPr>
          <p:cNvSpPr txBox="1"/>
          <p:nvPr/>
        </p:nvSpPr>
        <p:spPr>
          <a:xfrm flipH="1">
            <a:off x="1964245" y="5153049"/>
            <a:ext cx="1630680"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אקוסיסטם ומערכות</a:t>
            </a:r>
          </a:p>
        </p:txBody>
      </p:sp>
      <p:sp>
        <p:nvSpPr>
          <p:cNvPr id="15" name="TextBox 14">
            <a:extLst>
              <a:ext uri="{FF2B5EF4-FFF2-40B4-BE49-F238E27FC236}">
                <a16:creationId xmlns:a16="http://schemas.microsoft.com/office/drawing/2014/main" id="{02E2399C-2FC9-4033-8BF8-47454D304F4E}"/>
              </a:ext>
            </a:extLst>
          </p:cNvPr>
          <p:cNvSpPr txBox="1"/>
          <p:nvPr/>
        </p:nvSpPr>
        <p:spPr>
          <a:xfrm>
            <a:off x="1429397" y="1065806"/>
            <a:ext cx="978344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DBEFF9">
                    <a:lumMod val="25000"/>
                  </a:srgbClr>
                </a:solidFill>
                <a:effectLst/>
                <a:uLnTx/>
                <a:uFillTx/>
                <a:latin typeface="Assistant" pitchFamily="2" charset="-79"/>
                <a:ea typeface="+mn-ea"/>
                <a:cs typeface="Assistant" pitchFamily="2" charset="-79"/>
              </a:rPr>
              <a:t>התאמת שירותים ותוכן לאזרח הוותיק ותשלום באמצעות גמלת סיעוד במטרה לקדם את החלטת הממשלה 127</a:t>
            </a:r>
            <a:endParaRPr kumimoji="0" lang="en-IL" sz="1800" b="1" i="0" u="none" strike="noStrike" kern="1200" cap="none" spc="0" normalizeH="0" baseline="0" noProof="0" dirty="0">
              <a:ln>
                <a:noFill/>
              </a:ln>
              <a:solidFill>
                <a:srgbClr val="DBEFF9">
                  <a:lumMod val="25000"/>
                </a:srgbClr>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42130901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dirty="0">
                <a:ln>
                  <a:noFill/>
                </a:ln>
                <a:effectLst/>
                <a:uLnTx/>
                <a:uFillTx/>
                <a:latin typeface="Calibri"/>
                <a:ea typeface="+mj-ea"/>
                <a:cs typeface="Calibri"/>
              </a:rPr>
              <a:t/>
            </a:r>
            <a:br>
              <a:rPr kumimoji="0" lang="he-IL" sz="2800" b="0" i="0" u="none" strike="noStrike" kern="1200" cap="none" spc="0" normalizeH="0" baseline="0" noProof="0" dirty="0">
                <a:ln>
                  <a:noFill/>
                </a:ln>
                <a:effectLst/>
                <a:uLnTx/>
                <a:uFillTx/>
                <a:latin typeface="Calibri"/>
                <a:ea typeface="+mj-ea"/>
                <a:cs typeface="Calibri"/>
              </a:rPr>
            </a:br>
            <a:r>
              <a:rPr kumimoji="0" lang="he-IL" sz="2800" b="0" i="0" u="none" strike="noStrike" kern="1200" cap="none" spc="0" normalizeH="0" baseline="0" noProof="0" dirty="0">
                <a:ln>
                  <a:noFill/>
                </a:ln>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5">
            <a:extLst>
              <a:ext uri="{96DAC541-7B7A-43D3-8B79-37D633B846F1}">
                <asvg:svgBlip xmlns:asvg="http://schemas.microsoft.com/office/drawing/2016/SVG/main" xmlns="" r:embed="rId6"/>
              </a:ext>
            </a:extLst>
          </a:blip>
          <a:stretch>
            <a:fillRect/>
          </a:stretch>
        </p:blipFill>
        <p:spPr>
          <a:xfrm flipH="1">
            <a:off x="5301119" y="3069871"/>
            <a:ext cx="1044682" cy="1171153"/>
          </a:xfrm>
        </p:spPr>
      </p:pic>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סל אישי קהילתי–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900898" y="2580549"/>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marL="0" marR="0" lvl="0" indent="0" algn="ctr" defTabSz="1244600" rtl="1" eaLnBrk="1" fontAlgn="auto" latinLnBrk="0" hangingPunct="1">
                <a:lnSpc>
                  <a:spcPct val="90000"/>
                </a:lnSpc>
                <a:spcBef>
                  <a:spcPct val="0"/>
                </a:spcBef>
                <a:spcAft>
                  <a:spcPct val="3500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58" name="אליפסה 57"/>
          <p:cNvSpPr/>
          <p:nvPr/>
        </p:nvSpPr>
        <p:spPr>
          <a:xfrm>
            <a:off x="1667454" y="2393759"/>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b="0" i="0" u="none" strike="noStrike" kern="1200" cap="none" spc="0" normalizeH="0" baseline="0" noProof="0" dirty="0">
              <a:ln>
                <a:noFill/>
              </a:ln>
              <a:solidFill>
                <a:prstClr val="white"/>
              </a:solidFill>
              <a:effectLst/>
              <a:uLnTx/>
              <a:uFillTx/>
              <a:latin typeface="Calibri"/>
              <a:ea typeface="+mn-ea"/>
              <a:cs typeface="Calibri"/>
            </a:endParaRPr>
          </a:p>
        </p:txBody>
      </p:sp>
      <p:sp>
        <p:nvSpPr>
          <p:cNvPr id="59" name="TextBox 58"/>
          <p:cNvSpPr txBox="1"/>
          <p:nvPr/>
        </p:nvSpPr>
        <p:spPr>
          <a:xfrm>
            <a:off x="1125629" y="3136418"/>
            <a:ext cx="546097" cy="52322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צורך וקושי</a:t>
            </a:r>
          </a:p>
        </p:txBody>
      </p:sp>
      <p:sp>
        <p:nvSpPr>
          <p:cNvPr id="60" name="מלבן 59"/>
          <p:cNvSpPr/>
          <p:nvPr/>
        </p:nvSpPr>
        <p:spPr>
          <a:xfrm>
            <a:off x="2319028" y="2822592"/>
            <a:ext cx="713544" cy="52322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רצון ובחירה</a:t>
            </a:r>
          </a:p>
        </p:txBody>
      </p:sp>
      <p:sp>
        <p:nvSpPr>
          <p:cNvPr id="66" name="אליפסה 65"/>
          <p:cNvSpPr/>
          <p:nvPr/>
        </p:nvSpPr>
        <p:spPr>
          <a:xfrm>
            <a:off x="1028906" y="1914910"/>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458653" y="2640551"/>
            <a:ext cx="909995" cy="523220"/>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a:ea typeface="+mn-ea"/>
                <a:cs typeface="Calibri"/>
              </a:rPr>
              <a:t>שירות מותאם </a:t>
            </a:r>
            <a:r>
              <a:rPr kumimoji="0" lang="en-US" sz="1400" b="1" i="0" u="none" strike="noStrike" kern="1200" cap="none" spc="0" normalizeH="0" baseline="0" noProof="0" dirty="0">
                <a:ln>
                  <a:noFill/>
                </a:ln>
                <a:solidFill>
                  <a:prstClr val="black"/>
                </a:solidFill>
                <a:effectLst/>
                <a:uLnTx/>
                <a:uFillTx/>
                <a:latin typeface="Calibri"/>
                <a:ea typeface="+mn-ea"/>
                <a:cs typeface="Calibri"/>
              </a:rPr>
              <a:t>Ai</a:t>
            </a:r>
            <a:endParaRPr kumimoji="0" lang="he-IL" sz="1400" b="1" i="0" u="none" strike="noStrike" kern="1200" cap="none" spc="0" normalizeH="0" baseline="0" noProof="0" dirty="0">
              <a:ln>
                <a:noFill/>
              </a:ln>
              <a:solidFill>
                <a:prstClr val="black"/>
              </a:solidFill>
              <a:effectLst/>
              <a:uLnTx/>
              <a:uFillTx/>
              <a:latin typeface="Calibri"/>
              <a:ea typeface="+mn-ea"/>
              <a:cs typeface="Calibri"/>
            </a:endParaRPr>
          </a:p>
        </p:txBody>
      </p:sp>
      <p:pic>
        <p:nvPicPr>
          <p:cNvPr id="69" name="תמונה 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
        <p:nvSpPr>
          <p:cNvPr id="61" name="מלבן 60"/>
          <p:cNvSpPr/>
          <p:nvPr/>
        </p:nvSpPr>
        <p:spPr>
          <a:xfrm>
            <a:off x="1292053" y="2112034"/>
            <a:ext cx="891629" cy="52322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מדידה והמלצות</a:t>
            </a:r>
          </a:p>
        </p:txBody>
      </p:sp>
      <p:sp>
        <p:nvSpPr>
          <p:cNvPr id="45" name="TextBox 44"/>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סל מותאם אישית</a:t>
            </a:r>
          </a:p>
        </p:txBody>
      </p:sp>
      <p:sp>
        <p:nvSpPr>
          <p:cNvPr id="47" name="כותרת 2">
            <a:extLst>
              <a:ext uri="{FF2B5EF4-FFF2-40B4-BE49-F238E27FC236}">
                <a16:creationId xmlns:a16="http://schemas.microsoft.com/office/drawing/2014/main" id="{1D17E662-D027-44FC-A328-9A22DEBD5F62}"/>
              </a:ext>
            </a:extLst>
          </p:cNvPr>
          <p:cNvSpPr txBox="1">
            <a:spLocks/>
          </p:cNvSpPr>
          <p:nvPr/>
        </p:nvSpPr>
        <p:spPr>
          <a:xfrm>
            <a:off x="8152564" y="983567"/>
            <a:ext cx="3658436" cy="1633310"/>
          </a:xfrm>
          <a:prstGeom prst="rect">
            <a:avLst/>
          </a:prstGeom>
        </p:spPr>
        <p:txBody>
          <a:bodyPr vert="horz" lIns="91440" tIns="45720" rIns="91440" bIns="45720" rtlCol="0" anchor="t">
            <a:normAutofit fontScale="97500" lnSpcReduction="10000"/>
          </a:bodyPr>
          <a:lstStyle>
            <a:lvl1pPr algn="l" defTabSz="457200" rtl="1" eaLnBrk="1" latinLnBrk="0" hangingPunct="1">
              <a:spcBef>
                <a:spcPct val="0"/>
              </a:spcBef>
              <a:buNone/>
              <a:defRPr sz="3600" kern="1200">
                <a:solidFill>
                  <a:schemeClr val="tx1">
                    <a:lumMod val="85000"/>
                    <a:lumOff val="15000"/>
                  </a:schemeClr>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pPr algn="ctr"/>
            <a:r>
              <a:rPr lang="he-IL" dirty="0"/>
              <a:t>סל שירותים אישי</a:t>
            </a:r>
            <a:br>
              <a:rPr lang="he-IL" dirty="0"/>
            </a:br>
            <a:r>
              <a:rPr lang="he-IL" dirty="0"/>
              <a:t>מבוסס נתונים</a:t>
            </a:r>
            <a:br>
              <a:rPr lang="he-IL" dirty="0"/>
            </a:br>
            <a:r>
              <a:rPr lang="he-IL" dirty="0"/>
              <a:t>לבחירת הזקן</a:t>
            </a:r>
          </a:p>
        </p:txBody>
      </p:sp>
    </p:spTree>
    <p:extLst>
      <p:ext uri="{BB962C8B-B14F-4D97-AF65-F5344CB8AC3E}">
        <p14:creationId xmlns:p14="http://schemas.microsoft.com/office/powerpoint/2010/main" val="189595974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FEADC0-C73B-459C-A5F6-A4DDCC7A233E}"/>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9F0D15A9-12D6-4060-BFCB-5C84F03F07CE}"/>
              </a:ext>
            </a:extLst>
          </p:cNvPr>
          <p:cNvSpPr>
            <a:spLocks noGrp="1"/>
          </p:cNvSpPr>
          <p:nvPr>
            <p:ph idx="1"/>
          </p:nvPr>
        </p:nvSpPr>
        <p:spPr/>
        <p:txBody>
          <a:bodyPr/>
          <a:lstStyle/>
          <a:p>
            <a:endParaRPr lang="he-IL"/>
          </a:p>
        </p:txBody>
      </p:sp>
      <p:pic>
        <p:nvPicPr>
          <p:cNvPr id="4" name="תמונה 3">
            <a:extLst>
              <a:ext uri="{FF2B5EF4-FFF2-40B4-BE49-F238E27FC236}">
                <a16:creationId xmlns:a16="http://schemas.microsoft.com/office/drawing/2014/main" id="{4E082700-B847-4525-BB14-9B90895CBA71}"/>
              </a:ext>
            </a:extLst>
          </p:cNvPr>
          <p:cNvPicPr>
            <a:picLocks noChangeAspect="1"/>
          </p:cNvPicPr>
          <p:nvPr/>
        </p:nvPicPr>
        <p:blipFill rotWithShape="1">
          <a:blip r:embed="rId2"/>
          <a:srcRect r="2869"/>
          <a:stretch/>
        </p:blipFill>
        <p:spPr>
          <a:xfrm>
            <a:off x="174885" y="136584"/>
            <a:ext cx="11842230" cy="6854653"/>
          </a:xfrm>
          <a:prstGeom prst="rect">
            <a:avLst/>
          </a:prstGeom>
        </p:spPr>
      </p:pic>
    </p:spTree>
    <p:extLst>
      <p:ext uri="{BB962C8B-B14F-4D97-AF65-F5344CB8AC3E}">
        <p14:creationId xmlns:p14="http://schemas.microsoft.com/office/powerpoint/2010/main" val="414386447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כותרת 1">
            <a:extLst>
              <a:ext uri="{FF2B5EF4-FFF2-40B4-BE49-F238E27FC236}">
                <a16:creationId xmlns:a16="http://schemas.microsoft.com/office/drawing/2014/main" id="{E24DA376-62E1-C5AA-5A07-599F95187BFA}"/>
              </a:ext>
            </a:extLst>
          </p:cNvPr>
          <p:cNvSpPr>
            <a:spLocks noGrp="1"/>
          </p:cNvSpPr>
          <p:nvPr>
            <p:ph type="title"/>
          </p:nvPr>
        </p:nvSpPr>
        <p:spPr>
          <a:xfrm>
            <a:off x="7769645" y="220982"/>
            <a:ext cx="3638362" cy="495537"/>
          </a:xfrm>
        </p:spPr>
        <p:txBody>
          <a:bodyPr>
            <a:normAutofit fontScale="90000"/>
          </a:bodyPr>
          <a:lstStyle/>
          <a:p>
            <a:r>
              <a:rPr lang="he-IL" sz="2800" b="1" dirty="0">
                <a:solidFill>
                  <a:schemeClr val="bg1"/>
                </a:solidFill>
                <a:highlight>
                  <a:srgbClr val="008080"/>
                </a:highlight>
                <a:latin typeface="Segoe UI" panose="020B0502040204020203" pitchFamily="34" charset="0"/>
                <a:cs typeface="Segoe UI" panose="020B0502040204020203" pitchFamily="34" charset="0"/>
              </a:rPr>
              <a:t>סל מענים </a:t>
            </a:r>
            <a:r>
              <a:rPr lang="he-IL" sz="2800" b="1" dirty="0" err="1">
                <a:solidFill>
                  <a:schemeClr val="bg1"/>
                </a:solidFill>
                <a:highlight>
                  <a:srgbClr val="008080"/>
                </a:highlight>
                <a:latin typeface="Segoe UI" panose="020B0502040204020203" pitchFamily="34" charset="0"/>
                <a:cs typeface="Segoe UI" panose="020B0502040204020203" pitchFamily="34" charset="0"/>
              </a:rPr>
              <a:t>למשתתפ</a:t>
            </a:r>
            <a:r>
              <a:rPr lang="he-IL" sz="2800" b="1" dirty="0">
                <a:solidFill>
                  <a:schemeClr val="bg1"/>
                </a:solidFill>
                <a:highlight>
                  <a:srgbClr val="008080"/>
                </a:highlight>
                <a:latin typeface="Segoe UI" panose="020B0502040204020203" pitchFamily="34" charset="0"/>
                <a:cs typeface="Segoe UI" panose="020B0502040204020203" pitchFamily="34" charset="0"/>
              </a:rPr>
              <a:t>/ת</a:t>
            </a:r>
          </a:p>
        </p:txBody>
      </p:sp>
      <p:sp>
        <p:nvSpPr>
          <p:cNvPr id="10" name="אליפסה 9">
            <a:extLst>
              <a:ext uri="{FF2B5EF4-FFF2-40B4-BE49-F238E27FC236}">
                <a16:creationId xmlns:a16="http://schemas.microsoft.com/office/drawing/2014/main" id="{30CA121C-C91C-D289-99EB-0747C4D2809B}"/>
              </a:ext>
            </a:extLst>
          </p:cNvPr>
          <p:cNvSpPr/>
          <p:nvPr/>
        </p:nvSpPr>
        <p:spPr>
          <a:xfrm>
            <a:off x="2200466" y="340731"/>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מנהל לקוח</a:t>
            </a:r>
          </a:p>
        </p:txBody>
      </p:sp>
      <p:sp>
        <p:nvSpPr>
          <p:cNvPr id="27" name="אליפסה 26">
            <a:extLst>
              <a:ext uri="{FF2B5EF4-FFF2-40B4-BE49-F238E27FC236}">
                <a16:creationId xmlns:a16="http://schemas.microsoft.com/office/drawing/2014/main" id="{F2920DAB-3C21-EA92-57D4-82521091E30B}"/>
              </a:ext>
            </a:extLst>
          </p:cNvPr>
          <p:cNvSpPr/>
          <p:nvPr/>
        </p:nvSpPr>
        <p:spPr>
          <a:xfrm>
            <a:off x="3727216" y="6495400"/>
            <a:ext cx="331838" cy="33183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1" name="אליפסה 40">
            <a:extLst>
              <a:ext uri="{FF2B5EF4-FFF2-40B4-BE49-F238E27FC236}">
                <a16:creationId xmlns:a16="http://schemas.microsoft.com/office/drawing/2014/main" id="{195CCF96-7862-433A-7418-376E0BE10A78}"/>
              </a:ext>
            </a:extLst>
          </p:cNvPr>
          <p:cNvSpPr/>
          <p:nvPr/>
        </p:nvSpPr>
        <p:spPr>
          <a:xfrm>
            <a:off x="1000156" y="1771982"/>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בדיקות גופניות (מעקב למניעה)</a:t>
            </a:r>
          </a:p>
        </p:txBody>
      </p:sp>
      <p:sp>
        <p:nvSpPr>
          <p:cNvPr id="46" name="תיבת טקסט 45">
            <a:extLst>
              <a:ext uri="{FF2B5EF4-FFF2-40B4-BE49-F238E27FC236}">
                <a16:creationId xmlns:a16="http://schemas.microsoft.com/office/drawing/2014/main" id="{2D3A9246-6723-E64B-9455-BDECFA7CF9BE}"/>
              </a:ext>
            </a:extLst>
          </p:cNvPr>
          <p:cNvSpPr txBox="1"/>
          <p:nvPr/>
        </p:nvSpPr>
        <p:spPr>
          <a:xfrm>
            <a:off x="559498" y="6488668"/>
            <a:ext cx="324464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מרכיבי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“pull”</a:t>
            </a: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קבועים בתכנית</a:t>
            </a:r>
          </a:p>
        </p:txBody>
      </p:sp>
      <p:sp>
        <p:nvSpPr>
          <p:cNvPr id="55" name="אליפסה 54">
            <a:extLst>
              <a:ext uri="{FF2B5EF4-FFF2-40B4-BE49-F238E27FC236}">
                <a16:creationId xmlns:a16="http://schemas.microsoft.com/office/drawing/2014/main" id="{68715D3B-8257-9B07-0D9F-15135F57CBB9}"/>
              </a:ext>
            </a:extLst>
          </p:cNvPr>
          <p:cNvSpPr/>
          <p:nvPr/>
        </p:nvSpPr>
        <p:spPr>
          <a:xfrm>
            <a:off x="679895" y="4881639"/>
            <a:ext cx="1399585" cy="1373374"/>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לחצן מצוקה </a:t>
            </a:r>
          </a:p>
        </p:txBody>
      </p:sp>
      <p:sp>
        <p:nvSpPr>
          <p:cNvPr id="49" name="אליפסה 48">
            <a:extLst>
              <a:ext uri="{FF2B5EF4-FFF2-40B4-BE49-F238E27FC236}">
                <a16:creationId xmlns:a16="http://schemas.microsoft.com/office/drawing/2014/main" id="{86C27CBE-191B-3C60-6A9D-4544C091908A}"/>
              </a:ext>
            </a:extLst>
          </p:cNvPr>
          <p:cNvSpPr/>
          <p:nvPr/>
        </p:nvSpPr>
        <p:spPr>
          <a:xfrm>
            <a:off x="4603671" y="1743550"/>
            <a:ext cx="3006501" cy="298576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err="1">
                <a:ln>
                  <a:noFill/>
                </a:ln>
                <a:solidFill>
                  <a:prstClr val="white"/>
                </a:solidFill>
                <a:effectLst/>
                <a:uLnTx/>
                <a:uFillTx/>
                <a:latin typeface="Segoe UI" panose="020B0502040204020203" pitchFamily="34" charset="0"/>
                <a:ea typeface="+mn-ea"/>
                <a:cs typeface="Segoe UI" panose="020B0502040204020203" pitchFamily="34" charset="0"/>
              </a:rPr>
              <a:t>משתתפ</a:t>
            </a:r>
            <a:r>
              <a:rPr kumimoji="0" lang="he-IL" sz="2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/ת בתכנית</a:t>
            </a:r>
          </a:p>
        </p:txBody>
      </p:sp>
      <p:sp>
        <p:nvSpPr>
          <p:cNvPr id="69" name="אליפסה 68">
            <a:extLst>
              <a:ext uri="{FF2B5EF4-FFF2-40B4-BE49-F238E27FC236}">
                <a16:creationId xmlns:a16="http://schemas.microsoft.com/office/drawing/2014/main" id="{D82B8E85-449D-6032-E3E1-B00ABD776216}"/>
              </a:ext>
            </a:extLst>
          </p:cNvPr>
          <p:cNvSpPr/>
          <p:nvPr/>
        </p:nvSpPr>
        <p:spPr>
          <a:xfrm>
            <a:off x="1890924" y="3725219"/>
            <a:ext cx="1595860" cy="1565973"/>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פעילות גופנית </a:t>
            </a:r>
          </a:p>
        </p:txBody>
      </p:sp>
      <p:sp>
        <p:nvSpPr>
          <p:cNvPr id="72" name="אליפסה 71">
            <a:extLst>
              <a:ext uri="{FF2B5EF4-FFF2-40B4-BE49-F238E27FC236}">
                <a16:creationId xmlns:a16="http://schemas.microsoft.com/office/drawing/2014/main" id="{16970145-0B4D-7BF6-BBBE-CBF17DD4445B}"/>
              </a:ext>
            </a:extLst>
          </p:cNvPr>
          <p:cNvSpPr/>
          <p:nvPr/>
        </p:nvSpPr>
        <p:spPr>
          <a:xfrm>
            <a:off x="7899521" y="6490523"/>
            <a:ext cx="331838" cy="331838"/>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73" name="אליפסה 72">
            <a:extLst>
              <a:ext uri="{FF2B5EF4-FFF2-40B4-BE49-F238E27FC236}">
                <a16:creationId xmlns:a16="http://schemas.microsoft.com/office/drawing/2014/main" id="{7F7C7E4C-580A-A8DC-2B5C-A43A39630E4A}"/>
              </a:ext>
            </a:extLst>
          </p:cNvPr>
          <p:cNvSpPr/>
          <p:nvPr/>
        </p:nvSpPr>
        <p:spPr>
          <a:xfrm>
            <a:off x="8054942" y="3112554"/>
            <a:ext cx="1004312" cy="9544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0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התניידות</a:t>
            </a:r>
          </a:p>
        </p:txBody>
      </p:sp>
      <p:sp>
        <p:nvSpPr>
          <p:cNvPr id="74" name="תיבת טקסט 73">
            <a:extLst>
              <a:ext uri="{FF2B5EF4-FFF2-40B4-BE49-F238E27FC236}">
                <a16:creationId xmlns:a16="http://schemas.microsoft.com/office/drawing/2014/main" id="{26531C55-9AD1-874D-33C6-0C1CCC70B088}"/>
              </a:ext>
            </a:extLst>
          </p:cNvPr>
          <p:cNvSpPr txBox="1"/>
          <p:nvPr/>
        </p:nvSpPr>
        <p:spPr>
          <a:xfrm>
            <a:off x="4397134" y="6483750"/>
            <a:ext cx="352342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מרכיבי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“pull”</a:t>
            </a: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מתחלפים לבחירה</a:t>
            </a:r>
          </a:p>
        </p:txBody>
      </p:sp>
      <p:sp>
        <p:nvSpPr>
          <p:cNvPr id="75" name="אליפסה 74">
            <a:extLst>
              <a:ext uri="{FF2B5EF4-FFF2-40B4-BE49-F238E27FC236}">
                <a16:creationId xmlns:a16="http://schemas.microsoft.com/office/drawing/2014/main" id="{75566947-72F3-111D-D627-E7A5F76333CD}"/>
              </a:ext>
            </a:extLst>
          </p:cNvPr>
          <p:cNvSpPr/>
          <p:nvPr/>
        </p:nvSpPr>
        <p:spPr>
          <a:xfrm>
            <a:off x="7445179" y="941338"/>
            <a:ext cx="1513587" cy="1513587"/>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קוסמטיקה- פדיקור, מניקור, תספורת</a:t>
            </a:r>
          </a:p>
        </p:txBody>
      </p:sp>
      <p:sp>
        <p:nvSpPr>
          <p:cNvPr id="78" name="אליפסה 77">
            <a:extLst>
              <a:ext uri="{FF2B5EF4-FFF2-40B4-BE49-F238E27FC236}">
                <a16:creationId xmlns:a16="http://schemas.microsoft.com/office/drawing/2014/main" id="{0362A05F-BD92-0AD8-061C-B5C3450D18EF}"/>
              </a:ext>
            </a:extLst>
          </p:cNvPr>
          <p:cNvSpPr/>
          <p:nvPr/>
        </p:nvSpPr>
        <p:spPr>
          <a:xfrm>
            <a:off x="9588826" y="3837500"/>
            <a:ext cx="1513586" cy="13787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סל יועצים פרא רפואיים</a:t>
            </a:r>
          </a:p>
        </p:txBody>
      </p:sp>
      <p:cxnSp>
        <p:nvCxnSpPr>
          <p:cNvPr id="82" name="מחבר חץ ישר 81">
            <a:extLst>
              <a:ext uri="{FF2B5EF4-FFF2-40B4-BE49-F238E27FC236}">
                <a16:creationId xmlns:a16="http://schemas.microsoft.com/office/drawing/2014/main" id="{3455E344-A8AD-0D80-7705-47235506D829}"/>
              </a:ext>
            </a:extLst>
          </p:cNvPr>
          <p:cNvCxnSpPr>
            <a:cxnSpLocks/>
          </p:cNvCxnSpPr>
          <p:nvPr/>
        </p:nvCxnSpPr>
        <p:spPr>
          <a:xfrm flipH="1">
            <a:off x="7070156" y="4687274"/>
            <a:ext cx="544370" cy="338573"/>
          </a:xfrm>
          <a:prstGeom prst="straightConnector1">
            <a:avLst/>
          </a:prstGeom>
          <a:ln>
            <a:solidFill>
              <a:schemeClr val="accent4"/>
            </a:solidFill>
            <a:tailEnd type="triangle"/>
          </a:ln>
        </p:spPr>
        <p:style>
          <a:lnRef idx="1">
            <a:schemeClr val="accent2"/>
          </a:lnRef>
          <a:fillRef idx="0">
            <a:schemeClr val="accent2"/>
          </a:fillRef>
          <a:effectRef idx="0">
            <a:schemeClr val="accent2"/>
          </a:effectRef>
          <a:fontRef idx="minor">
            <a:schemeClr val="tx1"/>
          </a:fontRef>
        </p:style>
      </p:cxnSp>
      <p:sp>
        <p:nvSpPr>
          <p:cNvPr id="86" name="אליפסה 85">
            <a:extLst>
              <a:ext uri="{FF2B5EF4-FFF2-40B4-BE49-F238E27FC236}">
                <a16:creationId xmlns:a16="http://schemas.microsoft.com/office/drawing/2014/main" id="{67AAB3CB-4AA3-6625-3E61-DCF6FDC30500}"/>
              </a:ext>
            </a:extLst>
          </p:cNvPr>
          <p:cNvSpPr/>
          <p:nvPr/>
        </p:nvSpPr>
        <p:spPr>
          <a:xfrm>
            <a:off x="9085711" y="2430801"/>
            <a:ext cx="1140386" cy="114038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התנדבות </a:t>
            </a:r>
          </a:p>
        </p:txBody>
      </p:sp>
      <p:sp>
        <p:nvSpPr>
          <p:cNvPr id="88" name="אליפסה 87">
            <a:extLst>
              <a:ext uri="{FF2B5EF4-FFF2-40B4-BE49-F238E27FC236}">
                <a16:creationId xmlns:a16="http://schemas.microsoft.com/office/drawing/2014/main" id="{83976E15-CF98-0D8C-C300-D54B7A5AFEBD}"/>
              </a:ext>
            </a:extLst>
          </p:cNvPr>
          <p:cNvSpPr/>
          <p:nvPr/>
        </p:nvSpPr>
        <p:spPr>
          <a:xfrm>
            <a:off x="7992966" y="4508205"/>
            <a:ext cx="1595860" cy="13787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אפיקי הצלחה</a:t>
            </a:r>
          </a:p>
        </p:txBody>
      </p:sp>
      <p:sp>
        <p:nvSpPr>
          <p:cNvPr id="26" name="אליפסה 25">
            <a:extLst>
              <a:ext uri="{FF2B5EF4-FFF2-40B4-BE49-F238E27FC236}">
                <a16:creationId xmlns:a16="http://schemas.microsoft.com/office/drawing/2014/main" id="{EA023ED3-DF30-4D7A-92D1-9220256ECEEF}"/>
              </a:ext>
            </a:extLst>
          </p:cNvPr>
          <p:cNvSpPr/>
          <p:nvPr/>
        </p:nvSpPr>
        <p:spPr>
          <a:xfrm>
            <a:off x="3572852" y="4436311"/>
            <a:ext cx="1595860" cy="1565973"/>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פעילות וחברתית</a:t>
            </a:r>
          </a:p>
        </p:txBody>
      </p:sp>
      <p:sp>
        <p:nvSpPr>
          <p:cNvPr id="29" name="אליפסה 28">
            <a:extLst>
              <a:ext uri="{FF2B5EF4-FFF2-40B4-BE49-F238E27FC236}">
                <a16:creationId xmlns:a16="http://schemas.microsoft.com/office/drawing/2014/main" id="{1098AE57-4EB7-437B-9ABA-780F17A31442}"/>
              </a:ext>
            </a:extLst>
          </p:cNvPr>
          <p:cNvSpPr/>
          <p:nvPr/>
        </p:nvSpPr>
        <p:spPr>
          <a:xfrm>
            <a:off x="9743279" y="957252"/>
            <a:ext cx="1513587" cy="1513587"/>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קפה ועוגה, הופעות (סל מענים לבחירה</a:t>
            </a:r>
          </a:p>
        </p:txBody>
      </p:sp>
      <p:sp>
        <p:nvSpPr>
          <p:cNvPr id="30" name="אליפסה 29">
            <a:extLst>
              <a:ext uri="{FF2B5EF4-FFF2-40B4-BE49-F238E27FC236}">
                <a16:creationId xmlns:a16="http://schemas.microsoft.com/office/drawing/2014/main" id="{5149F084-0389-406C-B48E-BC7B3BDEEBC0}"/>
              </a:ext>
            </a:extLst>
          </p:cNvPr>
          <p:cNvSpPr/>
          <p:nvPr/>
        </p:nvSpPr>
        <p:spPr>
          <a:xfrm>
            <a:off x="10612175" y="2657030"/>
            <a:ext cx="1311794" cy="119256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אוריינות דיגיטלית</a:t>
            </a:r>
          </a:p>
        </p:txBody>
      </p:sp>
      <p:sp>
        <p:nvSpPr>
          <p:cNvPr id="3" name="אליפסה 2">
            <a:extLst>
              <a:ext uri="{FF2B5EF4-FFF2-40B4-BE49-F238E27FC236}">
                <a16:creationId xmlns:a16="http://schemas.microsoft.com/office/drawing/2014/main" id="{1C5861B4-C025-197F-92F9-E2C947CB0EB4}"/>
              </a:ext>
            </a:extLst>
          </p:cNvPr>
          <p:cNvSpPr/>
          <p:nvPr/>
        </p:nvSpPr>
        <p:spPr>
          <a:xfrm>
            <a:off x="2927311" y="1649395"/>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מאמן אישי מונחה</a:t>
            </a:r>
          </a:p>
        </p:txBody>
      </p:sp>
      <p:sp>
        <p:nvSpPr>
          <p:cNvPr id="5" name="אליפסה 4">
            <a:extLst>
              <a:ext uri="{FF2B5EF4-FFF2-40B4-BE49-F238E27FC236}">
                <a16:creationId xmlns:a16="http://schemas.microsoft.com/office/drawing/2014/main" id="{1165F221-B849-DD2C-CD01-940896782547}"/>
              </a:ext>
            </a:extLst>
          </p:cNvPr>
          <p:cNvSpPr/>
          <p:nvPr/>
        </p:nvSpPr>
        <p:spPr>
          <a:xfrm>
            <a:off x="8281425" y="6475625"/>
            <a:ext cx="331838" cy="331838"/>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7" name="אליפסה 6">
            <a:extLst>
              <a:ext uri="{FF2B5EF4-FFF2-40B4-BE49-F238E27FC236}">
                <a16:creationId xmlns:a16="http://schemas.microsoft.com/office/drawing/2014/main" id="{7B30D561-0E18-187D-244F-0F6C32DD6889}"/>
              </a:ext>
            </a:extLst>
          </p:cNvPr>
          <p:cNvSpPr/>
          <p:nvPr/>
        </p:nvSpPr>
        <p:spPr>
          <a:xfrm>
            <a:off x="10981271" y="6465472"/>
            <a:ext cx="331838" cy="331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1" name="תיבת טקסט 10">
            <a:extLst>
              <a:ext uri="{FF2B5EF4-FFF2-40B4-BE49-F238E27FC236}">
                <a16:creationId xmlns:a16="http://schemas.microsoft.com/office/drawing/2014/main" id="{83B4C694-F2B0-1D9A-C8CF-72AFE9DC6BCE}"/>
              </a:ext>
            </a:extLst>
          </p:cNvPr>
          <p:cNvSpPr txBox="1"/>
          <p:nvPr/>
        </p:nvSpPr>
        <p:spPr>
          <a:xfrm>
            <a:off x="8566028" y="6458740"/>
            <a:ext cx="324464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“push”</a:t>
            </a:r>
            <a:endPar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890135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      התאמה אישית, מדידה </a:t>
            </a:r>
            <a:r>
              <a:rPr lang="he-IL" sz="2500" b="1" dirty="0">
                <a:solidFill>
                  <a:schemeClr val="tx1"/>
                </a:solidFill>
                <a:latin typeface="Calibri" panose="020F0502020204030204" pitchFamily="34" charset="0"/>
                <a:cs typeface="Calibri" panose="020F0502020204030204" pitchFamily="34" charset="0"/>
              </a:rPr>
              <a:t>ותמרוץ שירותים </a:t>
            </a:r>
            <a:r>
              <a:rPr lang="he-IL" sz="2500" b="1" dirty="0" err="1" smtClean="0">
                <a:solidFill>
                  <a:schemeClr val="tx1"/>
                </a:solidFill>
                <a:latin typeface="Calibri" panose="020F0502020204030204" pitchFamily="34" charset="0"/>
                <a:cs typeface="Calibri" panose="020F0502020204030204" pitchFamily="34" charset="0"/>
              </a:rPr>
              <a:t>דוחקי</a:t>
            </a:r>
            <a:r>
              <a:rPr lang="he-IL" sz="2500" b="1" dirty="0" smtClean="0">
                <a:solidFill>
                  <a:schemeClr val="tx1"/>
                </a:solidFill>
                <a:latin typeface="Calibri" panose="020F0502020204030204" pitchFamily="34" charset="0"/>
                <a:cs typeface="Calibri" panose="020F0502020204030204" pitchFamily="34" charset="0"/>
              </a:rPr>
              <a:t> תלות</a:t>
            </a:r>
            <a:endParaRPr lang="he-IL" sz="2500" b="1" dirty="0">
              <a:solidFill>
                <a:schemeClr val="tx1"/>
              </a:solidFill>
              <a:latin typeface="Calibri" panose="020F0502020204030204" pitchFamily="34" charset="0"/>
              <a:cs typeface="Calibri" panose="020F0502020204030204" pitchFamily="34" charset="0"/>
            </a:endParaRP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שירותים חברתיים למקבלי גמלת סיעוד מחייב הסתכלות רחבה על כל </a:t>
            </a:r>
            <a:r>
              <a:rPr lang="he-IL" sz="2500" dirty="0" smtClean="0">
                <a:latin typeface="Calibri" panose="020F0502020204030204" pitchFamily="34" charset="0"/>
                <a:cs typeface="Calibri" panose="020F0502020204030204" pitchFamily="34" charset="0"/>
              </a:rPr>
              <a:t>360 </a:t>
            </a:r>
            <a:r>
              <a:rPr lang="he-IL" sz="2500" dirty="0">
                <a:latin typeface="Calibri" panose="020F0502020204030204" pitchFamily="34" charset="0"/>
                <a:cs typeface="Calibri" panose="020F0502020204030204" pitchFamily="34" charset="0"/>
              </a:rPr>
              <a:t>אלף מקבלי הגמלה, יכולת להציע שירותים מגוונים, התאמה ותמרוץ</a:t>
            </a:r>
          </a:p>
        </p:txBody>
      </p:sp>
      <p:grpSp>
        <p:nvGrpSpPr>
          <p:cNvPr id="7" name="קבוצה 6"/>
          <p:cNvGrpSpPr/>
          <p:nvPr/>
        </p:nvGrpSpPr>
        <p:grpSpPr>
          <a:xfrm>
            <a:off x="1224251" y="1141099"/>
            <a:ext cx="9653910" cy="2580023"/>
            <a:chOff x="1291535" y="3895066"/>
            <a:chExt cx="9653910" cy="258002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המטרה:</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latin typeface="Calibri" panose="020F0502020204030204" pitchFamily="34" charset="0"/>
                <a:cs typeface="Calibri" panose="020F0502020204030204" pitchFamily="34" charset="0"/>
              </a:rPr>
              <a:t>שת"פ והעברות מידע– </a:t>
            </a:r>
            <a:r>
              <a:rPr lang="he-IL" sz="2800" b="1" dirty="0">
                <a:latin typeface="Calibri" panose="020F0502020204030204" pitchFamily="34" charset="0"/>
                <a:cs typeface="Calibri" panose="020F0502020204030204" pitchFamily="34" charset="0"/>
              </a:rPr>
              <a:t>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אליפסה 13"/>
          <p:cNvSpPr/>
          <p:nvPr/>
        </p:nvSpPr>
        <p:spPr>
          <a:xfrm>
            <a:off x="6275476" y="205144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60965801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PP">
  <a:themeElements>
    <a:clrScheme name="Custom 2">
      <a:dk1>
        <a:srgbClr val="001021"/>
      </a:dk1>
      <a:lt1>
        <a:sysClr val="window" lastClr="FFFFFF"/>
      </a:lt1>
      <a:dk2>
        <a:srgbClr val="001E2F"/>
      </a:dk2>
      <a:lt2>
        <a:srgbClr val="F3F1F2"/>
      </a:lt2>
      <a:accent1>
        <a:srgbClr val="95E89D"/>
      </a:accent1>
      <a:accent2>
        <a:srgbClr val="6EE5DF"/>
      </a:accent2>
      <a:accent3>
        <a:srgbClr val="74EBC6"/>
      </a:accent3>
      <a:accent4>
        <a:srgbClr val="389D80"/>
      </a:accent4>
      <a:accent5>
        <a:srgbClr val="3E8F80"/>
      </a:accent5>
      <a:accent6>
        <a:srgbClr val="074E4A"/>
      </a:accent6>
      <a:hlink>
        <a:srgbClr val="8ABE9F"/>
      </a:hlink>
      <a:folHlink>
        <a:srgbClr val="C63BC1"/>
      </a:folHlink>
    </a:clrScheme>
    <a:fontScheme name="Custom 2">
      <a:majorFont>
        <a:latin typeface="Open Sans Hebrew"/>
        <a:ea typeface=""/>
        <a:cs typeface="Open Sans Hebrew"/>
      </a:majorFont>
      <a:minorFont>
        <a:latin typeface="Open Sans Hebrew"/>
        <a:ea typeface=""/>
        <a:cs typeface="Open Sans Hebrew"/>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ערכת נושא PP" id="{84F2479A-7D9B-4478-87D5-1BE6AD5050B2}" vid="{C9CE1F66-D69F-461F-8905-B97AD5DED1B9}"/>
    </a:ext>
  </a:extLst>
</a:theme>
</file>

<file path=ppt/theme/theme4.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Brookdale PP">
  <a:themeElements>
    <a:clrScheme name="brookdale NEW">
      <a:dk1>
        <a:srgbClr val="424F58"/>
      </a:dk1>
      <a:lt1>
        <a:sysClr val="window" lastClr="FFFFFF"/>
      </a:lt1>
      <a:dk2>
        <a:srgbClr val="424F58"/>
      </a:dk2>
      <a:lt2>
        <a:srgbClr val="FFFFFF"/>
      </a:lt2>
      <a:accent1>
        <a:srgbClr val="006EA0"/>
      </a:accent1>
      <a:accent2>
        <a:srgbClr val="92C83E"/>
      </a:accent2>
      <a:accent3>
        <a:srgbClr val="A82172"/>
      </a:accent3>
      <a:accent4>
        <a:srgbClr val="533187"/>
      </a:accent4>
      <a:accent5>
        <a:srgbClr val="FAA21B"/>
      </a:accent5>
      <a:accent6>
        <a:srgbClr val="FFD500"/>
      </a:accent6>
      <a:hlink>
        <a:srgbClr val="002060"/>
      </a:hlink>
      <a:folHlink>
        <a:srgbClr val="FF0000"/>
      </a:folHlink>
    </a:clrScheme>
    <a:fontScheme name="Brookdale PP Fonts">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ookdale HEB.potx" id="{31A6C8C9-7E28-4091-A30B-B7F92754AE62}" vid="{19848D88-3F6A-4220-975C-B1613D66E1A5}"/>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2859</Words>
  <Application>Microsoft Office PowerPoint</Application>
  <PresentationFormat>מסך רחב</PresentationFormat>
  <Paragraphs>414</Paragraphs>
  <Slides>51</Slides>
  <Notes>18</Notes>
  <HiddenSlides>18</HiddenSlides>
  <MMClips>0</MMClips>
  <ScaleCrop>false</ScaleCrop>
  <HeadingPairs>
    <vt:vector size="8" baseType="variant">
      <vt:variant>
        <vt:lpstr>גופנים בשימוש</vt:lpstr>
      </vt:variant>
      <vt:variant>
        <vt:i4>25</vt:i4>
      </vt:variant>
      <vt:variant>
        <vt:lpstr>ערכת נושא</vt:lpstr>
      </vt:variant>
      <vt:variant>
        <vt:i4>5</vt:i4>
      </vt:variant>
      <vt:variant>
        <vt:lpstr>שרתי OLE מוטבעים</vt:lpstr>
      </vt:variant>
      <vt:variant>
        <vt:i4>1</vt:i4>
      </vt:variant>
      <vt:variant>
        <vt:lpstr>כותרות שקופיות</vt:lpstr>
      </vt:variant>
      <vt:variant>
        <vt:i4>51</vt:i4>
      </vt:variant>
    </vt:vector>
  </HeadingPairs>
  <TitlesOfParts>
    <vt:vector size="82" baseType="lpstr">
      <vt:lpstr>맑은 고딕</vt:lpstr>
      <vt:lpstr>Arial</vt:lpstr>
      <vt:lpstr>Arial Rounded MT Bold</vt:lpstr>
      <vt:lpstr>ArialMT</vt:lpstr>
      <vt:lpstr>Assistant</vt:lpstr>
      <vt:lpstr>Assistant SemiBold</vt:lpstr>
      <vt:lpstr>Bebas Neue</vt:lpstr>
      <vt:lpstr>Calibri</vt:lpstr>
      <vt:lpstr>Calibri Light</vt:lpstr>
      <vt:lpstr>Calibri-Bold</vt:lpstr>
      <vt:lpstr>Guttman Kav</vt:lpstr>
      <vt:lpstr>Gveret Levin AlefAlefAlef</vt:lpstr>
      <vt:lpstr>Helvetica Neue</vt:lpstr>
      <vt:lpstr>Helvetica Neue Medium</vt:lpstr>
      <vt:lpstr>Open Sans</vt:lpstr>
      <vt:lpstr>Open Sans Hebrew</vt:lpstr>
      <vt:lpstr>Open Sans Light</vt:lpstr>
      <vt:lpstr>Open Sans SemiBold</vt:lpstr>
      <vt:lpstr>Segoe UI</vt:lpstr>
      <vt:lpstr>Tahoma</vt:lpstr>
      <vt:lpstr>Times New Roman</vt:lpstr>
      <vt:lpstr>Varela Round</vt:lpstr>
      <vt:lpstr>Verdana</vt:lpstr>
      <vt:lpstr>Wingdings</vt:lpstr>
      <vt:lpstr>Wingdings 2</vt:lpstr>
      <vt:lpstr>ערכת נושא Office</vt:lpstr>
      <vt:lpstr>1_ערכת נושא Office</vt:lpstr>
      <vt:lpstr>ערכת נושא PP</vt:lpstr>
      <vt:lpstr>Office Theme</vt:lpstr>
      <vt:lpstr>Brookdale PP</vt:lpstr>
      <vt:lpstr>think-cell Slide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Q42: באיזו מידה אתה באופן אישי מאמין בתהליך הביזור (כלומר שיש לו פוטנציאל לשיפור בפעולת המחלקה ו/או לאזרחים הותיקים)? (N=257)</vt:lpstr>
      <vt:lpstr>Q12: מקורות המידע בהם השתמש בתהליך התכנון (N=257)</vt:lpstr>
      <vt:lpstr>Q8: באיזו מידה אתה משתמש בדשבורד המכלול (N=257) </vt:lpstr>
      <vt:lpstr>Q9: באיזו מידה דשבורד המכלול הוא נוח וידידותי לשימוש?(N=247)</vt:lpstr>
      <vt:lpstr>פורום ברק- צוות דאטה דיגיטל: </vt:lpstr>
      <vt:lpstr>מצגת של PowerPoint‏</vt:lpstr>
      <vt:lpstr>צוות דאטה-דיגיטל- מטרות</vt:lpstr>
      <vt:lpstr>דאטה-דיגיטל- הצוות</vt:lpstr>
      <vt:lpstr>צוות דאטה-דיגיטל - מעיקרי הפעילות </vt:lpstr>
      <vt:lpstr>הצגת תפישה של מערכת אסטרטגית לניהול דאטה, פערים ומדדים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ביזור דור 2.0  תפיסה הפעלה  של האזרח במרכז עם סל אישי לבחירה המותאם לצרכיו ורצונותיו.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סל מענים למשתתפ/ת</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אביעד יצחקי</dc:creator>
  <cp:lastModifiedBy>אביעד יצחקי</cp:lastModifiedBy>
  <cp:revision>22</cp:revision>
  <dcterms:created xsi:type="dcterms:W3CDTF">2024-07-21T06:51:42Z</dcterms:created>
  <dcterms:modified xsi:type="dcterms:W3CDTF">2024-07-21T13:06:35Z</dcterms:modified>
</cp:coreProperties>
</file>