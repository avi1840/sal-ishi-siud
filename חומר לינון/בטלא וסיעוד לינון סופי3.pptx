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11.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4.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15.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6.xml" ContentType="application/vnd.openxmlformats-officedocument.presentationml.notesSlid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notesSlides/notesSlide17.xml" ContentType="application/vnd.openxmlformats-officedocument.presentationml.notesSlid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18.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rts/chart17.xml" ContentType="application/vnd.openxmlformats-officedocument.drawingml.chart+xml"/>
  <Override PartName="/ppt/charts/style17.xml" ContentType="application/vnd.ms-office.chartstyle+xml"/>
  <Override PartName="/ppt/charts/colors17.xml" ContentType="application/vnd.ms-office.chartcolorstyl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charts/chart18.xml" ContentType="application/vnd.openxmlformats-officedocument.drawingml.chart+xml"/>
  <Override PartName="/ppt/charts/style18.xml" ContentType="application/vnd.ms-office.chartstyle+xml"/>
  <Override PartName="/ppt/charts/colors18.xml" ContentType="application/vnd.ms-office.chartcolorstyl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rts/chart19.xml" ContentType="application/vnd.openxmlformats-officedocument.drawingml.chart+xml"/>
  <Override PartName="/ppt/charts/style19.xml" ContentType="application/vnd.ms-office.chartstyle+xml"/>
  <Override PartName="/ppt/charts/colors19.xml" ContentType="application/vnd.ms-office.chartcolorstyle+xml"/>
  <Override PartName="/ppt/notesSlides/notesSlide59.xml" ContentType="application/vnd.openxmlformats-officedocument.presentationml.notesSlide+xml"/>
  <Override PartName="/ppt/charts/chart20.xml" ContentType="application/vnd.openxmlformats-officedocument.drawingml.chart+xml"/>
  <Override PartName="/ppt/charts/style20.xml" ContentType="application/vnd.ms-office.chartstyle+xml"/>
  <Override PartName="/ppt/charts/colors20.xml" ContentType="application/vnd.ms-office.chartcolorstyle+xml"/>
  <Override PartName="/ppt/notesSlides/notesSlide6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5" r:id="rId2"/>
    <p:sldMasterId id="2147483671" r:id="rId3"/>
    <p:sldMasterId id="2147483690" r:id="rId4"/>
    <p:sldMasterId id="2147483708" r:id="rId5"/>
  </p:sldMasterIdLst>
  <p:notesMasterIdLst>
    <p:notesMasterId r:id="rId69"/>
  </p:notesMasterIdLst>
  <p:handoutMasterIdLst>
    <p:handoutMasterId r:id="rId70"/>
  </p:handoutMasterIdLst>
  <p:sldIdLst>
    <p:sldId id="2145706343" r:id="rId6"/>
    <p:sldId id="331" r:id="rId7"/>
    <p:sldId id="2145707128" r:id="rId8"/>
    <p:sldId id="2145707091" r:id="rId9"/>
    <p:sldId id="2145707113" r:id="rId10"/>
    <p:sldId id="338" r:id="rId11"/>
    <p:sldId id="2145707129" r:id="rId12"/>
    <p:sldId id="2145707130" r:id="rId13"/>
    <p:sldId id="2145707093" r:id="rId14"/>
    <p:sldId id="2145707119" r:id="rId15"/>
    <p:sldId id="2145707120" r:id="rId16"/>
    <p:sldId id="2145707092" r:id="rId17"/>
    <p:sldId id="2145706312" r:id="rId18"/>
    <p:sldId id="2145706331" r:id="rId19"/>
    <p:sldId id="527" r:id="rId20"/>
    <p:sldId id="2145707134" r:id="rId21"/>
    <p:sldId id="2145707135" r:id="rId22"/>
    <p:sldId id="2145706317" r:id="rId23"/>
    <p:sldId id="2145707094" r:id="rId24"/>
    <p:sldId id="2145707098" r:id="rId25"/>
    <p:sldId id="2145707150" r:id="rId26"/>
    <p:sldId id="2145707151" r:id="rId27"/>
    <p:sldId id="2145707099" r:id="rId28"/>
    <p:sldId id="2145707124" r:id="rId29"/>
    <p:sldId id="2145707146" r:id="rId30"/>
    <p:sldId id="2145707125" r:id="rId31"/>
    <p:sldId id="288" r:id="rId32"/>
    <p:sldId id="339" r:id="rId33"/>
    <p:sldId id="256" r:id="rId34"/>
    <p:sldId id="360" r:id="rId35"/>
    <p:sldId id="2145707126" r:id="rId36"/>
    <p:sldId id="298" r:id="rId37"/>
    <p:sldId id="2145707141" r:id="rId38"/>
    <p:sldId id="363" r:id="rId39"/>
    <p:sldId id="2145707103" r:id="rId40"/>
    <p:sldId id="2145707101" r:id="rId41"/>
    <p:sldId id="2145707102" r:id="rId42"/>
    <p:sldId id="342" r:id="rId43"/>
    <p:sldId id="362" r:id="rId44"/>
    <p:sldId id="2145707117" r:id="rId45"/>
    <p:sldId id="345" r:id="rId46"/>
    <p:sldId id="335" r:id="rId47"/>
    <p:sldId id="351" r:id="rId48"/>
    <p:sldId id="352" r:id="rId49"/>
    <p:sldId id="2145707136" r:id="rId50"/>
    <p:sldId id="2145707137" r:id="rId51"/>
    <p:sldId id="2145707149" r:id="rId52"/>
    <p:sldId id="2145707138" r:id="rId53"/>
    <p:sldId id="354" r:id="rId54"/>
    <p:sldId id="2145707139" r:id="rId55"/>
    <p:sldId id="2145707140" r:id="rId56"/>
    <p:sldId id="2145707145" r:id="rId57"/>
    <p:sldId id="2145707106" r:id="rId58"/>
    <p:sldId id="2145707110" r:id="rId59"/>
    <p:sldId id="2145707111" r:id="rId60"/>
    <p:sldId id="2145707096" r:id="rId61"/>
    <p:sldId id="2145707090" r:id="rId62"/>
    <p:sldId id="2145707107" r:id="rId63"/>
    <p:sldId id="2145707121" r:id="rId64"/>
    <p:sldId id="357" r:id="rId65"/>
    <p:sldId id="2145707144" r:id="rId66"/>
    <p:sldId id="2145707147" r:id="rId67"/>
    <p:sldId id="2145707148" r:id="rId6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אביעד יצחקי" initials="אי" lastIdx="1" clrIdx="0">
    <p:extLst>
      <p:ext uri="{19B8F6BF-5375-455C-9EA6-DF929625EA0E}">
        <p15:presenceInfo xmlns:p15="http://schemas.microsoft.com/office/powerpoint/2012/main" userId="S-1-5-21-641946731-1502829466-943750798-7050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C5C5"/>
    <a:srgbClr val="4472C4"/>
    <a:srgbClr val="FFC000"/>
    <a:srgbClr val="2980B9"/>
    <a:srgbClr val="F2F2F2"/>
    <a:srgbClr val="70AD47"/>
    <a:srgbClr val="063AD4"/>
    <a:srgbClr val="9DC3E6"/>
    <a:srgbClr val="ED7D31"/>
    <a:srgbClr val="5B9BD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2732" autoAdjust="0"/>
    <p:restoredTop sz="92218" autoAdjust="0"/>
  </p:normalViewPr>
  <p:slideViewPr>
    <p:cSldViewPr snapToGrid="0">
      <p:cViewPr varScale="1">
        <p:scale>
          <a:sx n="106" d="100"/>
          <a:sy n="106" d="100"/>
        </p:scale>
        <p:origin x="660" y="108"/>
      </p:cViewPr>
      <p:guideLst/>
    </p:cSldViewPr>
  </p:slideViewPr>
  <p:notesTextViewPr>
    <p:cViewPr>
      <p:scale>
        <a:sx n="1" d="1"/>
        <a:sy n="1" d="1"/>
      </p:scale>
      <p:origin x="0" y="0"/>
    </p:cViewPr>
  </p:notesTextViewPr>
  <p:notesViewPr>
    <p:cSldViewPr snapToGrid="0">
      <p:cViewPr varScale="1">
        <p:scale>
          <a:sx n="88" d="100"/>
          <a:sy n="88" d="100"/>
        </p:scale>
        <p:origin x="382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slide" Target="slides/slide58.xml"/><Relationship Id="rId68" Type="http://schemas.openxmlformats.org/officeDocument/2006/relationships/slide" Target="slides/slide63.xml"/><Relationship Id="rId7" Type="http://schemas.openxmlformats.org/officeDocument/2006/relationships/slide" Target="slides/slide2.xml"/><Relationship Id="rId71"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slide" Target="slides/slide61.xml"/><Relationship Id="rId7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61" Type="http://schemas.openxmlformats.org/officeDocument/2006/relationships/slide" Target="slides/slide56.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handoutMaster" Target="handoutMasters/handout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1506;&#1493;&#1514;&#1511;%20&#1513;&#1500;%20&#1502;&#1493;&#1513;&#1502;&#1497;%20&#1512;&#1493;&#1493;&#1495;&#1492;%20&#1489;&#1502;&#1512;&#1499;&#1494;&#1497;%20&#1492;&#1497;&#1493;&#1501;%202019-20.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_______________Microsoft_Excel.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_______________Microsoft_Excel1.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viadi\AppData\Local\Microsoft\Windows\INetCache\Content.Outlook\DE53CT70\(43146)%20&#1492;&#1513;&#1493;&#1493;&#1488;&#1514;%20&#1504;&#1514;&#1493;&#1504;&#1497;%20&#1514;&#1511;&#1510;&#1497;&#1489;%20&#1490;&#1502;&#1500;&#1488;&#1493;&#1514;%20&#1493;&#1502;&#1512;&#1499;&#1494;&#1497;%20&#1497;&#1493;&#1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9;&#1496;&#1500;&#1488;\&#1495;&#1493;&#1502;&#1512;%20&#1500;&#1497;&#1504;&#1493;&#1503;\&#1506;&#1493;&#1514;&#1511;%20&#1513;&#1500;%20&#1492;&#1510;&#1490;&#1514;%20&#1504;&#1514;&#1493;&#1504;&#1497;%20&#1505;&#1497;&#1506;&#1493;&#1491;%20&#1500;&#1502;&#1504;&#1499;&#1500;.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_______________Microsoft_Excel2.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_______________Microsoft_Excel3.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_______________Microsoft_Excel4.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_______________Microsoft_Excel5.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_______________Microsoft_Excel6.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_______________Microsoft_Excel7.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_______________Microsoft_Excel8.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_______________Microsoft_Excel9.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97;&#1495;&#1497;&#1491;&#1514;%20&#1514;&#1511;&#1510;&#1493;&#1489;\&#1505;&#1497;&#1506;&#1493;&#1491;\&#1495;&#1493;&#1511;%20&#1514;&#1508;&#1511;&#1493;&#1491;%20&#1495;&#1493;&#1489;&#1492;\&#1495;&#1493;&#1511;%20&#1514;&#1508;&#1511;&#1493;&#1491;%20&#1495;&#1493;&#1489;&#1492;%20V10.xlsx" TargetMode="External"/><Relationship Id="rId2" Type="http://schemas.microsoft.com/office/2011/relationships/chartColorStyle" Target="colors16.xml"/><Relationship Id="rId1" Type="http://schemas.microsoft.com/office/2011/relationships/chartStyle" Target="style16.xml"/></Relationships>
</file>

<file path=ppt/charts/_rels/chart17.xml.rels><?xml version="1.0" encoding="UTF-8" standalone="yes"?>
<Relationships xmlns="http://schemas.openxmlformats.org/package/2006/relationships"><Relationship Id="rId3" Type="http://schemas.openxmlformats.org/officeDocument/2006/relationships/package" Target="../embeddings/_______________Microsoft_Excel10.xlsx"/><Relationship Id="rId2" Type="http://schemas.microsoft.com/office/2011/relationships/chartColorStyle" Target="colors17.xml"/><Relationship Id="rId1" Type="http://schemas.microsoft.com/office/2011/relationships/chartStyle" Target="style17.xml"/></Relationships>
</file>

<file path=ppt/charts/_rels/chart18.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8.xml"/><Relationship Id="rId1" Type="http://schemas.microsoft.com/office/2011/relationships/chartStyle" Target="style18.xml"/></Relationships>
</file>

<file path=ppt/charts/_rels/chart19.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1506;&#1493;&#1514;&#1511;%20&#1513;&#1500;%20ROI%20&#1506;&#1500;&#1493;&#1514;%20&#1514;&#1511;&#1510;&#1497;&#1489;&#1497;&#1514;%20%20&#1500;&#1508;&#1497;%20&#1512;&#1502;&#1493;&#1514;%20&#1505;&#1497;&#1506;&#1493;&#1491;.xlsx" TargetMode="External"/><Relationship Id="rId2" Type="http://schemas.microsoft.com/office/2011/relationships/chartColorStyle" Target="colors19.xml"/><Relationship Id="rId1" Type="http://schemas.microsoft.com/office/2011/relationships/chartStyle" Target="style19.xml"/></Relationships>
</file>

<file path=ppt/charts/_rels/chart20.xml.rels><?xml version="1.0" encoding="UTF-8" standalone="yes"?>
<Relationships xmlns="http://schemas.openxmlformats.org/package/2006/relationships"><Relationship Id="rId3" Type="http://schemas.openxmlformats.org/officeDocument/2006/relationships/oleObject" Target="file:///\\molsa.gov.il\Shares\&#1488;&#1490;&#1507;%20&#1488;&#1494;&#1512;&#1495;&#1497;&#1501;%20&#1493;&#1514;&#1497;&#1511;&#1497;&#1501;\&#1488;&#1490;&#1508;&#1497;%20&#1514;&#1499;&#1504;&#1493;&#1503;%20&#1493;&#1514;&#1511;&#1510;&#1493;&#1489;\&#1488;&#1505;&#1496;&#1512;&#1496;&#1490;&#1497;&#1492;\&#1489;&#1497;&#1503;%20&#1502;&#1513;&#1512;&#1491;&#1497;\&#1488;&#1493;&#1510;&#1512;\ROI%20&#1506;&#1500;&#1493;&#1514;%20&#1514;&#1511;&#1510;&#1497;&#1489;&#1497;&#1514;%20%20&#1500;&#1508;&#1497;%20&#1512;&#1502;&#1493;&#1514;%20&#1505;&#1497;&#1506;&#1493;&#1491;.xlsx" TargetMode="External"/><Relationship Id="rId2" Type="http://schemas.microsoft.com/office/2011/relationships/chartColorStyle" Target="colors20.xml"/><Relationship Id="rId1" Type="http://schemas.microsoft.com/office/2011/relationships/chartStyle" Target="style2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r>
              <a:rPr lang="he-IL" sz="2400" b="1" dirty="0">
                <a:cs typeface="+mn-cs"/>
              </a:rPr>
              <a:t>חיזוי אחוז אזרחים ותיקים בישראל 2025-2045  </a:t>
            </a:r>
          </a:p>
          <a:p>
            <a:pPr>
              <a:defRPr/>
            </a:pPr>
            <a:r>
              <a:rPr lang="he-IL" sz="2400" b="1" dirty="0">
                <a:cs typeface="+mn-cs"/>
              </a:rPr>
              <a:t> (שנתון 2023 </a:t>
            </a:r>
            <a:r>
              <a:rPr lang="he-IL" sz="2400" b="1" dirty="0" err="1">
                <a:cs typeface="+mn-cs"/>
              </a:rPr>
              <a:t>ברוקדייל</a:t>
            </a:r>
            <a:r>
              <a:rPr lang="he-IL" sz="2400" b="1" dirty="0">
                <a:cs typeface="+mn-cs"/>
              </a:rPr>
              <a:t>)</a:t>
            </a:r>
          </a:p>
        </c:rich>
      </c:tx>
      <c:overlay val="0"/>
      <c:spPr>
        <a:noFill/>
        <a:ln>
          <a:noFill/>
        </a:ln>
        <a:effectLst/>
      </c:spPr>
      <c:txPr>
        <a:bodyPr rot="0" spcFirstLastPara="1" vertOverflow="ellipsis" vert="horz" wrap="square" anchor="ctr" anchorCtr="1"/>
        <a:lstStyle/>
        <a:p>
          <a:pPr>
            <a:defRPr sz="2128" b="0" i="0" u="none" strike="noStrike" kern="1200" cap="none" spc="50" normalizeH="0" baseline="0">
              <a:solidFill>
                <a:schemeClr val="tx1">
                  <a:lumMod val="65000"/>
                  <a:lumOff val="35000"/>
                </a:schemeClr>
              </a:solidFill>
              <a:latin typeface="+mj-lt"/>
              <a:ea typeface="+mj-ea"/>
              <a:cs typeface="+mj-cs"/>
            </a:defRPr>
          </a:pPr>
          <a:endParaRPr lang="he-IL"/>
        </a:p>
      </c:txPr>
    </c:title>
    <c:autoTitleDeleted val="0"/>
    <c:plotArea>
      <c:layout/>
      <c:barChart>
        <c:barDir val="col"/>
        <c:grouping val="clustered"/>
        <c:varyColors val="0"/>
        <c:ser>
          <c:idx val="0"/>
          <c:order val="0"/>
          <c:tx>
            <c:strRef>
              <c:f>גיליון1!$D$12</c:f>
              <c:strCache>
                <c:ptCount val="1"/>
                <c:pt idx="0">
                  <c:v>אחוז זקנים</c:v>
                </c:pt>
              </c:strCache>
            </c:strRef>
          </c:tx>
          <c:spPr>
            <a:solidFill>
              <a:srgbClr val="2980B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5875" cap="rnd">
                <a:solidFill>
                  <a:schemeClr val="accent5"/>
                </a:solidFill>
              </a:ln>
              <a:effectLst/>
            </c:spPr>
            <c:trendlineType val="linear"/>
            <c:dispRSqr val="0"/>
            <c:dispEq val="0"/>
          </c:trendline>
          <c:cat>
            <c:numRef>
              <c:f>גיליון1!$C$13:$C$33</c:f>
              <c:numCache>
                <c:formatCode>General</c:formatCode>
                <c:ptCount val="21"/>
                <c:pt idx="0">
                  <c:v>2025</c:v>
                </c:pt>
                <c:pt idx="1">
                  <c:v>2026</c:v>
                </c:pt>
                <c:pt idx="2">
                  <c:v>2027</c:v>
                </c:pt>
                <c:pt idx="3">
                  <c:v>2028</c:v>
                </c:pt>
                <c:pt idx="4">
                  <c:v>2029</c:v>
                </c:pt>
                <c:pt idx="5">
                  <c:v>2030</c:v>
                </c:pt>
                <c:pt idx="6">
                  <c:v>2031</c:v>
                </c:pt>
                <c:pt idx="7">
                  <c:v>2032</c:v>
                </c:pt>
                <c:pt idx="8">
                  <c:v>2033</c:v>
                </c:pt>
                <c:pt idx="9">
                  <c:v>2034</c:v>
                </c:pt>
                <c:pt idx="10">
                  <c:v>2035</c:v>
                </c:pt>
                <c:pt idx="11">
                  <c:v>2036</c:v>
                </c:pt>
                <c:pt idx="12">
                  <c:v>2037</c:v>
                </c:pt>
                <c:pt idx="13">
                  <c:v>2038</c:v>
                </c:pt>
                <c:pt idx="14">
                  <c:v>2039</c:v>
                </c:pt>
                <c:pt idx="15">
                  <c:v>2040</c:v>
                </c:pt>
                <c:pt idx="16">
                  <c:v>2041</c:v>
                </c:pt>
                <c:pt idx="17">
                  <c:v>2042</c:v>
                </c:pt>
                <c:pt idx="18">
                  <c:v>2043</c:v>
                </c:pt>
                <c:pt idx="19">
                  <c:v>2044</c:v>
                </c:pt>
                <c:pt idx="20">
                  <c:v>2045</c:v>
                </c:pt>
              </c:numCache>
            </c:numRef>
          </c:cat>
          <c:val>
            <c:numRef>
              <c:f>גיליון1!$D$13:$D$33</c:f>
              <c:numCache>
                <c:formatCode>0.0%</c:formatCode>
                <c:ptCount val="21"/>
                <c:pt idx="0">
                  <c:v>0.128</c:v>
                </c:pt>
                <c:pt idx="1">
                  <c:v>0.129</c:v>
                </c:pt>
                <c:pt idx="2">
                  <c:v>0.13</c:v>
                </c:pt>
                <c:pt idx="3">
                  <c:v>0.13100000000000001</c:v>
                </c:pt>
                <c:pt idx="4">
                  <c:v>0.13200000000000001</c:v>
                </c:pt>
                <c:pt idx="5">
                  <c:v>0.13300000000000001</c:v>
                </c:pt>
                <c:pt idx="6">
                  <c:v>0.13400000000000001</c:v>
                </c:pt>
                <c:pt idx="7">
                  <c:v>0.13500000000000001</c:v>
                </c:pt>
                <c:pt idx="8">
                  <c:v>0.13600000000000001</c:v>
                </c:pt>
                <c:pt idx="9">
                  <c:v>0.13700000000000001</c:v>
                </c:pt>
                <c:pt idx="10">
                  <c:v>0.13800000000000001</c:v>
                </c:pt>
                <c:pt idx="11">
                  <c:v>0.13900000000000001</c:v>
                </c:pt>
                <c:pt idx="12">
                  <c:v>0.14000000000000001</c:v>
                </c:pt>
                <c:pt idx="13">
                  <c:v>0.14100000000000001</c:v>
                </c:pt>
                <c:pt idx="14">
                  <c:v>0.14200000000000002</c:v>
                </c:pt>
                <c:pt idx="15">
                  <c:v>0.14300000000000002</c:v>
                </c:pt>
                <c:pt idx="16">
                  <c:v>0.14400000000000002</c:v>
                </c:pt>
                <c:pt idx="17">
                  <c:v>0.14500000000000002</c:v>
                </c:pt>
                <c:pt idx="18">
                  <c:v>0.14599999999999999</c:v>
                </c:pt>
                <c:pt idx="19">
                  <c:v>0.14699999999999999</c:v>
                </c:pt>
                <c:pt idx="20">
                  <c:v>0.14799999999999999</c:v>
                </c:pt>
              </c:numCache>
            </c:numRef>
          </c:val>
          <c:extLst>
            <c:ext xmlns:c16="http://schemas.microsoft.com/office/drawing/2014/chart" uri="{C3380CC4-5D6E-409C-BE32-E72D297353CC}">
              <c16:uniqueId val="{00000000-C3EA-40F7-B148-C0E0BD13A585}"/>
            </c:ext>
          </c:extLst>
        </c:ser>
        <c:dLbls>
          <c:dLblPos val="outEnd"/>
          <c:showLegendKey val="0"/>
          <c:showVal val="1"/>
          <c:showCatName val="0"/>
          <c:showSerName val="0"/>
          <c:showPercent val="0"/>
          <c:showBubbleSize val="0"/>
        </c:dLbls>
        <c:gapWidth val="80"/>
        <c:overlap val="25"/>
        <c:axId val="517736920"/>
        <c:axId val="517731344"/>
      </c:barChart>
      <c:catAx>
        <c:axId val="517736920"/>
        <c:scaling>
          <c:orientation val="minMax"/>
        </c:scaling>
        <c:delete val="0"/>
        <c:axPos val="b"/>
        <c:numFmt formatCode="General" sourceLinked="1"/>
        <c:majorTickMark val="none"/>
        <c:minorTickMark val="none"/>
        <c:tickLblPos val="nextTo"/>
        <c:spPr>
          <a:noFill/>
          <a:ln w="1587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cap="none" spc="20" normalizeH="0" baseline="0">
                <a:solidFill>
                  <a:schemeClr val="tx1">
                    <a:lumMod val="65000"/>
                    <a:lumOff val="35000"/>
                  </a:schemeClr>
                </a:solidFill>
                <a:latin typeface="+mn-lt"/>
                <a:ea typeface="+mn-ea"/>
                <a:cs typeface="+mn-cs"/>
              </a:defRPr>
            </a:pPr>
            <a:endParaRPr lang="he-IL"/>
          </a:p>
        </c:txPr>
        <c:crossAx val="517731344"/>
        <c:crosses val="autoZero"/>
        <c:auto val="1"/>
        <c:lblAlgn val="ctr"/>
        <c:lblOffset val="100"/>
        <c:noMultiLvlLbl val="0"/>
      </c:catAx>
      <c:valAx>
        <c:axId val="51773134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spc="20" baseline="0">
                <a:solidFill>
                  <a:schemeClr val="tx1">
                    <a:lumMod val="65000"/>
                    <a:lumOff val="35000"/>
                  </a:schemeClr>
                </a:solidFill>
                <a:latin typeface="+mn-lt"/>
                <a:ea typeface="+mn-ea"/>
                <a:cs typeface="+mn-cs"/>
              </a:defRPr>
            </a:pPr>
            <a:endParaRPr lang="he-IL"/>
          </a:p>
        </c:txPr>
        <c:crossAx val="51773692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aseline="0" dirty="0">
                <a:solidFill>
                  <a:schemeClr val="accent3"/>
                </a:solidFill>
              </a:rPr>
              <a:t>שיעור זכאי גמלת סיעוד</a:t>
            </a:r>
            <a:r>
              <a:rPr lang="he-IL" baseline="0" dirty="0"/>
              <a:t> גדל פי 5.5</a:t>
            </a:r>
            <a:endParaRPr lang="en-US" dirty="0"/>
          </a:p>
        </c:rich>
      </c:tx>
      <c:layout>
        <c:manualLayout>
          <c:xMode val="edge"/>
          <c:yMode val="edge"/>
          <c:x val="0.27483952991452992"/>
          <c:y val="1.763888888888888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2"/>
          <c:order val="0"/>
          <c:tx>
            <c:strRef>
              <c:f>Sheet1!$C$1</c:f>
              <c:strCache>
                <c:ptCount val="1"/>
                <c:pt idx="0">
                  <c:v>שיעור הזכאים </c:v>
                </c:pt>
              </c:strCache>
            </c:strRef>
          </c:tx>
          <c:spPr>
            <a:ln w="12700" cap="flat" cmpd="sng" algn="ctr">
              <a:solidFill>
                <a:schemeClr val="dk1">
                  <a:shade val="50000"/>
                </a:schemeClr>
              </a:solidFill>
              <a:prstDash val="solid"/>
              <a:miter lim="800000"/>
            </a:ln>
            <a:effectLst/>
          </c:spPr>
          <c:marker>
            <c:symbol val="none"/>
          </c:marker>
          <c:dPt>
            <c:idx val="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0-FE80-4CD3-977E-2EBB2AD43250}"/>
              </c:ext>
            </c:extLst>
          </c:dPt>
          <c:dPt>
            <c:idx val="6"/>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2-FE80-4CD3-977E-2EBB2AD43250}"/>
              </c:ext>
            </c:extLst>
          </c:dPt>
          <c:dPt>
            <c:idx val="7"/>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4-FE80-4CD3-977E-2EBB2AD43250}"/>
              </c:ext>
            </c:extLst>
          </c:dPt>
          <c:dPt>
            <c:idx val="8"/>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6-FE80-4CD3-977E-2EBB2AD43250}"/>
              </c:ext>
            </c:extLst>
          </c:dPt>
          <c:dPt>
            <c:idx val="9"/>
            <c:marker>
              <c:symbol val="none"/>
            </c:marker>
            <c:bubble3D val="0"/>
            <c:spPr>
              <a:ln w="12700" cap="flat" cmpd="sng" algn="ctr">
                <a:solidFill>
                  <a:schemeClr val="dk1">
                    <a:shade val="50000"/>
                  </a:schemeClr>
                </a:solidFill>
                <a:prstDash val="solid"/>
                <a:miter lim="800000"/>
              </a:ln>
              <a:effectLst/>
            </c:spPr>
            <c:extLst>
              <c:ext xmlns:c16="http://schemas.microsoft.com/office/drawing/2014/chart" uri="{C3380CC4-5D6E-409C-BE32-E72D297353CC}">
                <c16:uniqueId val="{00000008-FE80-4CD3-977E-2EBB2AD43250}"/>
              </c:ext>
            </c:extLst>
          </c:dPt>
          <c:dPt>
            <c:idx val="28"/>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9-FE80-4CD3-977E-2EBB2AD43250}"/>
              </c:ext>
            </c:extLst>
          </c:dPt>
          <c:dPt>
            <c:idx val="29"/>
            <c:marker>
              <c:symbol val="none"/>
            </c:marker>
            <c:bubble3D val="0"/>
            <c:extLst>
              <c:ext xmlns:c16="http://schemas.microsoft.com/office/drawing/2014/chart" uri="{C3380CC4-5D6E-409C-BE32-E72D297353CC}">
                <c16:uniqueId val="{0000000A-FE80-4CD3-977E-2EBB2AD43250}"/>
              </c:ext>
            </c:extLst>
          </c:dPt>
          <c:dPt>
            <c:idx val="30"/>
            <c:marker>
              <c:symbol val="circle"/>
              <c:size val="7"/>
              <c:spPr>
                <a:solidFill>
                  <a:schemeClr val="dk1"/>
                </a:solidFill>
                <a:ln w="12700" cap="flat" cmpd="sng" algn="ctr">
                  <a:solidFill>
                    <a:schemeClr val="dk1">
                      <a:shade val="50000"/>
                    </a:schemeClr>
                  </a:solidFill>
                  <a:prstDash val="solid"/>
                  <a:miter lim="800000"/>
                </a:ln>
                <a:effectLst/>
              </c:spPr>
            </c:marker>
            <c:bubble3D val="0"/>
            <c:extLst>
              <c:ext xmlns:c16="http://schemas.microsoft.com/office/drawing/2014/chart" uri="{C3380CC4-5D6E-409C-BE32-E72D297353CC}">
                <c16:uniqueId val="{0000000B-FE80-4CD3-977E-2EBB2AD43250}"/>
              </c:ext>
            </c:extLst>
          </c:dPt>
          <c:dLbls>
            <c:dLbl>
              <c:idx val="0"/>
              <c:layout>
                <c:manualLayout>
                  <c:x val="-3.4518592307139009E-2"/>
                  <c:y val="-4.4669708489664665E-2"/>
                </c:manualLayout>
              </c:layout>
              <c:tx>
                <c:rich>
                  <a:bodyPr/>
                  <a:lstStyle/>
                  <a:p>
                    <a:fld id="{4C65B224-6C72-41B8-A31F-7CE73B83FEC7}"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FE80-4CD3-977E-2EBB2AD43250}"/>
                </c:ext>
              </c:extLst>
            </c:dLbl>
            <c:dLbl>
              <c:idx val="28"/>
              <c:layout>
                <c:manualLayout>
                  <c:x val="-5.4565384615384516E-2"/>
                  <c:y val="3.732106481481471E-2"/>
                </c:manualLayout>
              </c:layout>
              <c:tx>
                <c:rich>
                  <a:bodyPr/>
                  <a:lstStyle/>
                  <a:p>
                    <a:fld id="{87D127B6-8B27-4EC1-AD25-15754C05657B}" type="VALUE">
                      <a:rPr lang="en-US">
                        <a:solidFill>
                          <a:schemeClr val="accent3"/>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FE80-4CD3-977E-2EBB2AD43250}"/>
                </c:ext>
              </c:extLst>
            </c:dLbl>
            <c:dLbl>
              <c:idx val="30"/>
              <c:layout>
                <c:manualLayout>
                  <c:x val="0"/>
                  <c:y val="-8.8064426425342693E-2"/>
                </c:manualLayout>
              </c:layout>
              <c:tx>
                <c:rich>
                  <a:bodyPr/>
                  <a:lstStyle/>
                  <a:p>
                    <a:r>
                      <a:rPr lang="en-US" sz="1400" b="1" dirty="0">
                        <a:solidFill>
                          <a:schemeClr val="tx1"/>
                        </a:solidFill>
                      </a:rPr>
                      <a:t>29.3%</a:t>
                    </a:r>
                  </a:p>
                </c:rich>
              </c:tx>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FE80-4CD3-977E-2EBB2AD4325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Sheet1!$A$2:$A$34</c:f>
              <c:numCache>
                <c:formatCode>General</c:formatCode>
                <c:ptCount val="33"/>
                <c:pt idx="0">
                  <c:v>1990</c:v>
                </c:pt>
                <c:pt idx="10">
                  <c:v>2000</c:v>
                </c:pt>
                <c:pt idx="20">
                  <c:v>2010</c:v>
                </c:pt>
                <c:pt idx="30">
                  <c:v>2020</c:v>
                </c:pt>
                <c:pt idx="31">
                  <c:v>2020</c:v>
                </c:pt>
              </c:numCache>
            </c:numRef>
          </c:cat>
          <c:val>
            <c:numRef>
              <c:f>Sheet1!$C$2:$C$34</c:f>
              <c:numCache>
                <c:formatCode>0.0</c:formatCode>
                <c:ptCount val="33"/>
                <c:pt idx="0">
                  <c:v>5.457125960969841</c:v>
                </c:pt>
                <c:pt idx="1">
                  <c:v>5.7662456525718468</c:v>
                </c:pt>
                <c:pt idx="2">
                  <c:v>6.6165176223040509</c:v>
                </c:pt>
                <c:pt idx="3">
                  <c:v>7.7731363559178135</c:v>
                </c:pt>
                <c:pt idx="4">
                  <c:v>8.5848309975267938</c:v>
                </c:pt>
                <c:pt idx="5">
                  <c:v>9.4588141025641033</c:v>
                </c:pt>
                <c:pt idx="6">
                  <c:v>10.289211100717182</c:v>
                </c:pt>
                <c:pt idx="7">
                  <c:v>10.733402031503019</c:v>
                </c:pt>
                <c:pt idx="8">
                  <c:v>11.632456518614346</c:v>
                </c:pt>
                <c:pt idx="9" formatCode="_-* #,##0.0_-;\-* #,##0.0_-;_-* &quot;-&quot;??_-;_-@_-">
                  <c:v>12.392495784148398</c:v>
                </c:pt>
                <c:pt idx="10" formatCode="_-* #,##0.0_-;\-* #,##0.0_-;_-* &quot;-&quot;??_-;_-@_-">
                  <c:v>13.1402497598463</c:v>
                </c:pt>
                <c:pt idx="11" formatCode="_-* #,##0.0_-;\-* #,##0.0_-;_-* &quot;-&quot;??_-;_-@_-">
                  <c:v>14.155003357958362</c:v>
                </c:pt>
                <c:pt idx="12" formatCode="_-* #,##0.0_-;\-* #,##0.0_-;_-* &quot;-&quot;??_-;_-@_-">
                  <c:v>14.806753726421318</c:v>
                </c:pt>
                <c:pt idx="13" formatCode="_-* #,##0.0_-;\-* #,##0.0_-;_-* &quot;-&quot;??_-;_-@_-">
                  <c:v>14.690538081622043</c:v>
                </c:pt>
                <c:pt idx="14" formatCode="_-* #,##0.0_-;\-* #,##0.0_-;_-* &quot;-&quot;??_-;_-@_-">
                  <c:v>14.530233153984115</c:v>
                </c:pt>
                <c:pt idx="15" formatCode="#,##0.0">
                  <c:v>14.470936084549571</c:v>
                </c:pt>
                <c:pt idx="16" formatCode="#,##0.0">
                  <c:v>14.800466887824056</c:v>
                </c:pt>
                <c:pt idx="17" formatCode="#,##0.0">
                  <c:v>14.992945958871355</c:v>
                </c:pt>
                <c:pt idx="18" formatCode="#,##0.0">
                  <c:v>15.279478524036783</c:v>
                </c:pt>
                <c:pt idx="19" formatCode="#,##0.0">
                  <c:v>15.225770433229119</c:v>
                </c:pt>
                <c:pt idx="20" formatCode="#,##0.0">
                  <c:v>17.391705636229389</c:v>
                </c:pt>
                <c:pt idx="21" formatCode="#,##0.0">
                  <c:v>17.274155164207521</c:v>
                </c:pt>
                <c:pt idx="22" formatCode="#,##0.0">
                  <c:v>17.656144829987237</c:v>
                </c:pt>
                <c:pt idx="23" formatCode="#,##0.0">
                  <c:v>17.462234636871507</c:v>
                </c:pt>
                <c:pt idx="24" formatCode="#,##0.0">
                  <c:v>17.045503211991434</c:v>
                </c:pt>
                <c:pt idx="25" formatCode="#,##0.0">
                  <c:v>16.497789657653954</c:v>
                </c:pt>
                <c:pt idx="26" formatCode="#,##0.0">
                  <c:v>16.260908369694565</c:v>
                </c:pt>
                <c:pt idx="27" formatCode="#,##0.0">
                  <c:v>16.181470503872262</c:v>
                </c:pt>
                <c:pt idx="28" formatCode="#,##0.0">
                  <c:v>16.230648728345006</c:v>
                </c:pt>
                <c:pt idx="29" formatCode="#,##0.0">
                  <c:v>17.600000000000001</c:v>
                </c:pt>
                <c:pt idx="30" formatCode="General">
                  <c:v>20.7</c:v>
                </c:pt>
                <c:pt idx="31" formatCode="General">
                  <c:v>25</c:v>
                </c:pt>
                <c:pt idx="32" formatCode="General">
                  <c:v>30</c:v>
                </c:pt>
              </c:numCache>
            </c:numRef>
          </c:val>
          <c:smooth val="0"/>
          <c:extLst>
            <c:ext xmlns:c16="http://schemas.microsoft.com/office/drawing/2014/chart" uri="{C3380CC4-5D6E-409C-BE32-E72D297353CC}">
              <c16:uniqueId val="{0000000C-FE80-4CD3-977E-2EBB2AD43250}"/>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1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3"/>
                    </a:solidFill>
                  </a:rPr>
                  <a:t>שיעור זכאי גמלת סיעוד</a:t>
                </a:r>
                <a:endParaRPr lang="en-US">
                  <a:solidFill>
                    <a:schemeClr val="accent3"/>
                  </a:solidFill>
                </a:endParaRPr>
              </a:p>
            </c:rich>
          </c:tx>
          <c:layout>
            <c:manualLayout>
              <c:xMode val="edge"/>
              <c:yMode val="edge"/>
              <c:x val="8.0986111111111092E-2"/>
              <c:y val="0.37720694444444453"/>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chemeClr val="accent3"/>
            </a:solidFill>
          </a:ln>
          <a:effectLst/>
        </c:spPr>
        <c:txPr>
          <a:bodyPr rot="-60000000" spcFirstLastPara="1" vertOverflow="ellipsis" vert="horz" wrap="square" anchor="ctr" anchorCtr="1"/>
          <a:lstStyle/>
          <a:p>
            <a:pPr>
              <a:defRPr sz="1197" b="0" i="0" u="none" strike="noStrike" kern="1200" baseline="0">
                <a:solidFill>
                  <a:schemeClr val="accent3"/>
                </a:solidFill>
                <a:latin typeface="+mn-lt"/>
                <a:ea typeface="+mn-ea"/>
                <a:cs typeface="+mn-cs"/>
              </a:defRPr>
            </a:pPr>
            <a:endParaRPr lang="he-IL"/>
          </a:p>
        </c:txPr>
        <c:crossAx val="96476612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he-IL" dirty="0"/>
              <a:t>בשלושים השנים</a:t>
            </a:r>
            <a:r>
              <a:rPr lang="he-IL" baseline="0" dirty="0"/>
              <a:t> האחרונות </a:t>
            </a:r>
          </a:p>
          <a:p>
            <a:pPr>
              <a:defRPr/>
            </a:pPr>
            <a:r>
              <a:rPr lang="he-IL" b="1" baseline="0" dirty="0">
                <a:solidFill>
                  <a:schemeClr val="tx1"/>
                </a:solidFill>
              </a:rPr>
              <a:t>מספר זכאי גמלת סיעוד גדל פי 10</a:t>
            </a:r>
            <a:endParaRPr lang="en-US" b="1" dirty="0">
              <a:solidFill>
                <a:schemeClr val="tx1"/>
              </a:solidFill>
            </a:endParaRPr>
          </a:p>
        </c:rich>
      </c:tx>
      <c:layout>
        <c:manualLayout>
          <c:xMode val="edge"/>
          <c:yMode val="edge"/>
          <c:x val="0.22999145024576043"/>
          <c:y val="3.7379940403496618E-2"/>
        </c:manualLayout>
      </c:layout>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lineChart>
        <c:grouping val="standard"/>
        <c:varyColors val="0"/>
        <c:ser>
          <c:idx val="0"/>
          <c:order val="0"/>
          <c:tx>
            <c:strRef>
              <c:f>Sheet1!$B$1</c:f>
              <c:strCache>
                <c:ptCount val="1"/>
                <c:pt idx="0">
                  <c:v>מספר הזכאים</c:v>
                </c:pt>
              </c:strCache>
            </c:strRef>
          </c:tx>
          <c:spPr>
            <a:ln w="28575" cap="rnd">
              <a:solidFill>
                <a:schemeClr val="accent1"/>
              </a:solidFill>
              <a:round/>
            </a:ln>
            <a:effectLst/>
          </c:spPr>
          <c:marker>
            <c:symbol val="none"/>
          </c:marker>
          <c:dPt>
            <c:idx val="0"/>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0-8CDA-4CBE-BDCD-1F0E1D452D11}"/>
              </c:ext>
            </c:extLst>
          </c:dPt>
          <c:dPt>
            <c:idx val="2"/>
            <c:marker>
              <c:symbol val="none"/>
            </c:marker>
            <c:bubble3D val="0"/>
            <c:extLst>
              <c:ext xmlns:c16="http://schemas.microsoft.com/office/drawing/2014/chart" uri="{C3380CC4-5D6E-409C-BE32-E72D297353CC}">
                <c16:uniqueId val="{00000001-8CDA-4CBE-BDCD-1F0E1D452D11}"/>
              </c:ext>
            </c:extLst>
          </c:dPt>
          <c:dPt>
            <c:idx val="28"/>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2-8CDA-4CBE-BDCD-1F0E1D452D11}"/>
              </c:ext>
            </c:extLst>
          </c:dPt>
          <c:dPt>
            <c:idx val="29"/>
            <c:marker>
              <c:symbol val="none"/>
            </c:marker>
            <c:bubble3D val="0"/>
            <c:extLst>
              <c:ext xmlns:c16="http://schemas.microsoft.com/office/drawing/2014/chart" uri="{C3380CC4-5D6E-409C-BE32-E72D297353CC}">
                <c16:uniqueId val="{00000003-8CDA-4CBE-BDCD-1F0E1D452D11}"/>
              </c:ext>
            </c:extLst>
          </c:dPt>
          <c:dPt>
            <c:idx val="30"/>
            <c:marker>
              <c:symbol val="none"/>
            </c:marker>
            <c:bubble3D val="0"/>
            <c:extLst>
              <c:ext xmlns:c16="http://schemas.microsoft.com/office/drawing/2014/chart" uri="{C3380CC4-5D6E-409C-BE32-E72D297353CC}">
                <c16:uniqueId val="{00000004-8CDA-4CBE-BDCD-1F0E1D452D11}"/>
              </c:ext>
            </c:extLst>
          </c:dPt>
          <c:dPt>
            <c:idx val="32"/>
            <c:marker>
              <c:symbol val="circle"/>
              <c:size val="7"/>
              <c:spPr>
                <a:solidFill>
                  <a:schemeClr val="accent1"/>
                </a:solidFill>
                <a:ln w="9525">
                  <a:solidFill>
                    <a:schemeClr val="accent1"/>
                  </a:solidFill>
                </a:ln>
                <a:effectLst/>
              </c:spPr>
            </c:marker>
            <c:bubble3D val="0"/>
            <c:extLst>
              <c:ext xmlns:c16="http://schemas.microsoft.com/office/drawing/2014/chart" uri="{C3380CC4-5D6E-409C-BE32-E72D297353CC}">
                <c16:uniqueId val="{00000005-8CDA-4CBE-BDCD-1F0E1D452D11}"/>
              </c:ext>
            </c:extLst>
          </c:dPt>
          <c:dLbls>
            <c:dLbl>
              <c:idx val="0"/>
              <c:layout>
                <c:manualLayout>
                  <c:x val="-3.2252564102564128E-2"/>
                  <c:y val="2.8359953703703703E-2"/>
                </c:manualLayout>
              </c:layout>
              <c:tx>
                <c:rich>
                  <a:bodyPr/>
                  <a:lstStyle/>
                  <a:p>
                    <a:fld id="{62C62904-A50E-4151-9B53-906403C70C4E}"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CDA-4CBE-BDCD-1F0E1D452D11}"/>
                </c:ext>
              </c:extLst>
            </c:dLbl>
            <c:dLbl>
              <c:idx val="28"/>
              <c:layout>
                <c:manualLayout>
                  <c:x val="-1.9943376068376067E-2"/>
                  <c:y val="4.2054166666666663E-2"/>
                </c:manualLayout>
              </c:layout>
              <c:tx>
                <c:rich>
                  <a:bodyPr/>
                  <a:lstStyle/>
                  <a:p>
                    <a:fld id="{B501C5D1-2D68-4E8F-B07D-69CEA19B6D76}" type="VALUE">
                      <a:rPr lang="en-US">
                        <a:solidFill>
                          <a:schemeClr val="accent1"/>
                        </a:solidFill>
                      </a:rPr>
                      <a:pPr/>
                      <a:t>[ערך]</a:t>
                    </a:fld>
                    <a:endParaRPr lang="he-IL"/>
                  </a:p>
                </c:rich>
              </c:tx>
              <c:dLblPos val="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CDA-4CBE-BDCD-1F0E1D452D11}"/>
                </c:ext>
              </c:extLst>
            </c:dLbl>
            <c:dLbl>
              <c:idx val="32"/>
              <c:layout>
                <c:manualLayout>
                  <c:x val="0"/>
                  <c:y val="-0.15404325908757277"/>
                </c:manualLayout>
              </c:layout>
              <c:tx>
                <c:rich>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r>
                      <a:rPr lang="en-US" sz="1400" b="1" dirty="0"/>
                      <a:t>360,000</a:t>
                    </a:r>
                  </a:p>
                </c:rich>
              </c:tx>
              <c:spPr>
                <a:noFill/>
                <a:ln>
                  <a:noFill/>
                </a:ln>
                <a:effectLst/>
              </c:spPr>
              <c:txPr>
                <a:bodyPr rot="0" spcFirstLastPara="1" vertOverflow="ellipsis" vert="horz" wrap="square" lIns="38100" tIns="19050" rIns="38100" bIns="19050" anchor="ctr" anchorCtr="1">
                  <a:noAutofit/>
                </a:bodyPr>
                <a:lstStyle/>
                <a:p>
                  <a:pPr>
                    <a:defRPr sz="1197" b="0" i="0" u="none" strike="noStrike" kern="1200" baseline="0">
                      <a:solidFill>
                        <a:srgbClr val="006EA0"/>
                      </a:solidFill>
                      <a:latin typeface="+mn-lt"/>
                      <a:ea typeface="+mn-ea"/>
                      <a:cs typeface="+mn-cs"/>
                    </a:defRPr>
                  </a:pPr>
                  <a:endParaRPr lang="he-IL"/>
                </a:p>
              </c:txPr>
              <c:dLblPos val="r"/>
              <c:showLegendKey val="0"/>
              <c:showVal val="1"/>
              <c:showCatName val="0"/>
              <c:showSerName val="0"/>
              <c:showPercent val="0"/>
              <c:showBubbleSize val="0"/>
              <c:extLst>
                <c:ext xmlns:c15="http://schemas.microsoft.com/office/drawing/2012/chart" uri="{CE6537A1-D6FC-4f65-9D91-7224C49458BB}">
                  <c15:layout>
                    <c:manualLayout>
                      <c:w val="0.11933029566159396"/>
                      <c:h val="4.3068603337134755E-2"/>
                    </c:manualLayout>
                  </c15:layout>
                </c:ext>
                <c:ext xmlns:c16="http://schemas.microsoft.com/office/drawing/2014/chart" uri="{C3380CC4-5D6E-409C-BE32-E72D297353CC}">
                  <c16:uniqueId val="{00000005-8CDA-4CBE-BDCD-1F0E1D452D11}"/>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rgbClr val="006EA0"/>
                    </a:solidFill>
                    <a:latin typeface="+mn-lt"/>
                    <a:ea typeface="+mn-ea"/>
                    <a:cs typeface="+mn-cs"/>
                  </a:defRPr>
                </a:pPr>
                <a:endParaRPr lang="he-IL"/>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Sheet1!$A$2:$A$35</c:f>
              <c:numCache>
                <c:formatCode>General</c:formatCode>
                <c:ptCount val="34"/>
                <c:pt idx="0">
                  <c:v>1990</c:v>
                </c:pt>
                <c:pt idx="10">
                  <c:v>2000</c:v>
                </c:pt>
                <c:pt idx="20">
                  <c:v>2010</c:v>
                </c:pt>
                <c:pt idx="32">
                  <c:v>2022</c:v>
                </c:pt>
                <c:pt idx="33">
                  <c:v>2024</c:v>
                </c:pt>
              </c:numCache>
            </c:numRef>
          </c:cat>
          <c:val>
            <c:numRef>
              <c:f>Sheet1!$B$2:$B$35</c:f>
              <c:numCache>
                <c:formatCode>#,##0</c:formatCode>
                <c:ptCount val="34"/>
                <c:pt idx="0">
                  <c:v>27684</c:v>
                </c:pt>
                <c:pt idx="1">
                  <c:v>31501</c:v>
                </c:pt>
                <c:pt idx="2">
                  <c:v>37734</c:v>
                </c:pt>
                <c:pt idx="3">
                  <c:v>45776</c:v>
                </c:pt>
                <c:pt idx="4">
                  <c:v>52067</c:v>
                </c:pt>
                <c:pt idx="5">
                  <c:v>59023</c:v>
                </c:pt>
                <c:pt idx="6">
                  <c:v>65995</c:v>
                </c:pt>
                <c:pt idx="7">
                  <c:v>72912</c:v>
                </c:pt>
                <c:pt idx="8">
                  <c:v>80927</c:v>
                </c:pt>
                <c:pt idx="9">
                  <c:v>88185</c:v>
                </c:pt>
                <c:pt idx="10">
                  <c:v>95753</c:v>
                </c:pt>
                <c:pt idx="11">
                  <c:v>105384</c:v>
                </c:pt>
                <c:pt idx="12">
                  <c:v>112250</c:v>
                </c:pt>
                <c:pt idx="13">
                  <c:v>113029</c:v>
                </c:pt>
                <c:pt idx="14">
                  <c:v>113423</c:v>
                </c:pt>
                <c:pt idx="15">
                  <c:v>115015</c:v>
                </c:pt>
                <c:pt idx="16">
                  <c:v>120461</c:v>
                </c:pt>
                <c:pt idx="17">
                  <c:v>125401</c:v>
                </c:pt>
                <c:pt idx="18">
                  <c:v>131076</c:v>
                </c:pt>
                <c:pt idx="19">
                  <c:v>136362</c:v>
                </c:pt>
                <c:pt idx="20">
                  <c:v>141325</c:v>
                </c:pt>
                <c:pt idx="21">
                  <c:v>145172</c:v>
                </c:pt>
                <c:pt idx="22">
                  <c:v>152143</c:v>
                </c:pt>
                <c:pt idx="23">
                  <c:v>156287</c:v>
                </c:pt>
                <c:pt idx="24">
                  <c:v>159205</c:v>
                </c:pt>
                <c:pt idx="25">
                  <c:v>160474</c:v>
                </c:pt>
                <c:pt idx="26">
                  <c:v>163975</c:v>
                </c:pt>
                <c:pt idx="27">
                  <c:v>169242</c:v>
                </c:pt>
                <c:pt idx="28">
                  <c:v>176135</c:v>
                </c:pt>
                <c:pt idx="29">
                  <c:v>197589</c:v>
                </c:pt>
                <c:pt idx="30">
                  <c:v>240577</c:v>
                </c:pt>
                <c:pt idx="31">
                  <c:v>273228</c:v>
                </c:pt>
                <c:pt idx="32">
                  <c:v>300169</c:v>
                </c:pt>
                <c:pt idx="33">
                  <c:v>350000</c:v>
                </c:pt>
              </c:numCache>
            </c:numRef>
          </c:val>
          <c:smooth val="0"/>
          <c:extLst>
            <c:ext xmlns:c16="http://schemas.microsoft.com/office/drawing/2014/chart" uri="{C3380CC4-5D6E-409C-BE32-E72D297353CC}">
              <c16:uniqueId val="{00000006-8CDA-4CBE-BDCD-1F0E1D452D11}"/>
            </c:ext>
          </c:extLst>
        </c:ser>
        <c:dLbls>
          <c:showLegendKey val="0"/>
          <c:showVal val="0"/>
          <c:showCatName val="0"/>
          <c:showSerName val="0"/>
          <c:showPercent val="0"/>
          <c:showBubbleSize val="0"/>
        </c:dLbls>
        <c:smooth val="0"/>
        <c:axId val="964766120"/>
        <c:axId val="964773664"/>
      </c:lineChart>
      <c:catAx>
        <c:axId val="9647661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964773664"/>
        <c:crosses val="autoZero"/>
        <c:auto val="0"/>
        <c:lblAlgn val="ctr"/>
        <c:lblOffset val="100"/>
        <c:tickMarkSkip val="10"/>
        <c:noMultiLvlLbl val="0"/>
      </c:catAx>
      <c:valAx>
        <c:axId val="964773664"/>
        <c:scaling>
          <c:orientation val="minMax"/>
          <c:max val="35000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solidFill>
                      <a:schemeClr val="accent1"/>
                    </a:solidFill>
                  </a:rPr>
                  <a:t>מספר</a:t>
                </a:r>
                <a:r>
                  <a:rPr lang="he-IL" baseline="0">
                    <a:solidFill>
                      <a:schemeClr val="accent1"/>
                    </a:solidFill>
                  </a:rPr>
                  <a:t> זכאי גמלת סיעוד (ממוצע שנתי)</a:t>
                </a:r>
                <a:endParaRPr lang="en-US">
                  <a:solidFill>
                    <a:schemeClr val="accent1"/>
                  </a:solidFill>
                </a:endParaRPr>
              </a:p>
            </c:rich>
          </c:tx>
          <c:layout>
            <c:manualLayout>
              <c:xMode val="edge"/>
              <c:yMode val="edge"/>
              <c:x val="0.12567820512820513"/>
              <c:y val="0.2720087962962963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1"/>
        <c:majorTickMark val="out"/>
        <c:minorTickMark val="none"/>
        <c:tickLblPos val="nextTo"/>
        <c:spPr>
          <a:noFill/>
          <a:ln>
            <a:solidFill>
              <a:schemeClr val="accent1"/>
            </a:solidFill>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he-IL"/>
          </a:p>
        </c:txPr>
        <c:crossAx val="964766120"/>
        <c:crosses val="autoZero"/>
        <c:crossBetween val="between"/>
        <c:majorUnit val="3500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pivotSource>
    <c:name>[(43146) השוואת נתוני תקציב גמלאות ומרכזי יום.xlsx]שינוים בתקציב!PivotTable16</c:name>
    <c:fmtId val="-1"/>
  </c:pivotSource>
  <c:chart>
    <c:title>
      <c:tx>
        <c:rich>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sz="2200" b="1" dirty="0">
                <a:latin typeface="Arial" panose="020B0604020202020204" pitchFamily="34" charset="0"/>
                <a:cs typeface="Arial" panose="020B0604020202020204" pitchFamily="34" charset="0"/>
              </a:rPr>
              <a:t>חלוקת תקציב 2018</a:t>
            </a:r>
          </a:p>
        </c:rich>
      </c:tx>
      <c:layout>
        <c:manualLayout>
          <c:xMode val="edge"/>
          <c:yMode val="edge"/>
          <c:x val="0.34203430139826657"/>
          <c:y val="5.9368352929669826E-2"/>
        </c:manualLayout>
      </c:layout>
      <c:overlay val="0"/>
      <c:spPr>
        <a:noFill/>
        <a:ln>
          <a:noFill/>
        </a:ln>
        <a:effectLst/>
      </c:spPr>
      <c:txPr>
        <a:bodyPr rot="0" spcFirstLastPara="1" vertOverflow="ellipsis" vert="horz" wrap="square" anchor="ctr" anchorCtr="1"/>
        <a:lstStyle/>
        <a:p>
          <a:pPr>
            <a:defRPr sz="192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5"/>
          </a:solidFill>
          <a:ln w="19050">
            <a:solidFill>
              <a:schemeClr val="lt1"/>
            </a:solidFill>
          </a:ln>
          <a:effectLst/>
        </c:spPr>
        <c:marker>
          <c:symbol val="none"/>
        </c:marker>
      </c:pivotFmt>
      <c:pivotFmt>
        <c:idx val="1"/>
        <c:spPr>
          <a:solidFill>
            <a:schemeClr val="accent5"/>
          </a:solidFill>
          <a:ln w="19050">
            <a:solidFill>
              <a:schemeClr val="lt1"/>
            </a:solidFill>
          </a:ln>
          <a:effectLst/>
        </c:spPr>
        <c:marker>
          <c:symbol val="none"/>
        </c:marker>
      </c:pivotFmt>
      <c:pivotFmt>
        <c:idx val="2"/>
        <c:spPr>
          <a:solidFill>
            <a:schemeClr val="accent5"/>
          </a:solidFill>
          <a:ln w="19050">
            <a:solidFill>
              <a:schemeClr val="lt1"/>
            </a:solidFill>
          </a:ln>
          <a:effectLst/>
        </c:spPr>
        <c:marker>
          <c:symbol val="none"/>
        </c:marker>
      </c:pivotFmt>
      <c:pivotFmt>
        <c:idx val="3"/>
        <c:spPr>
          <a:solidFill>
            <a:schemeClr val="accent5"/>
          </a:solidFill>
          <a:ln w="19050">
            <a:solidFill>
              <a:schemeClr val="lt1"/>
            </a:solidFill>
          </a:ln>
          <a:effectLst/>
        </c:spPr>
        <c:marker>
          <c:symbol val="none"/>
        </c:marker>
      </c:pivotFmt>
      <c:pivotFmt>
        <c:idx val="4"/>
        <c:spPr>
          <a:solidFill>
            <a:schemeClr val="accent5"/>
          </a:solidFill>
          <a:ln w="19050">
            <a:solidFill>
              <a:schemeClr val="lt1"/>
            </a:solidFill>
          </a:ln>
          <a:effectLst/>
        </c:spPr>
        <c:marker>
          <c:symbol val="none"/>
        </c:marker>
      </c:pivotFmt>
      <c:pivotFmt>
        <c:idx val="5"/>
        <c:spPr>
          <a:solidFill>
            <a:schemeClr val="accent5"/>
          </a:solidFill>
          <a:ln w="19050">
            <a:solidFill>
              <a:schemeClr val="lt1"/>
            </a:solidFill>
          </a:ln>
          <a:effectLst/>
        </c:spPr>
        <c:marker>
          <c:symbol val="none"/>
        </c:marker>
      </c:pivotFmt>
      <c:pivotFmt>
        <c:idx val="6"/>
        <c:spPr>
          <a:solidFill>
            <a:schemeClr val="accent5"/>
          </a:solidFill>
          <a:ln w="19050">
            <a:solidFill>
              <a:schemeClr val="lt1"/>
            </a:solidFill>
          </a:ln>
          <a:effectLst/>
        </c:spPr>
        <c:marker>
          <c:symbol val="none"/>
        </c:marker>
      </c:pivotFmt>
      <c:pivotFmt>
        <c:idx val="7"/>
        <c:spPr>
          <a:solidFill>
            <a:schemeClr val="accent5"/>
          </a:solidFill>
          <a:ln w="19050">
            <a:solidFill>
              <a:schemeClr val="lt1"/>
            </a:solidFill>
          </a:ln>
          <a:effectLst/>
        </c:spPr>
        <c:marker>
          <c:symbol val="none"/>
        </c:marker>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dLbl>
          <c:idx val="0"/>
          <c:layout>
            <c:manualLayout>
              <c:x val="0.11925153105861767"/>
              <c:y val="1.9828739827295109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0"/>
        <c:dLbl>
          <c:idx val="0"/>
          <c:layout>
            <c:manualLayout>
              <c:x val="-0.16880664916885385"/>
              <c:y val="-1.736139593936596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1"/>
        <c:dLbl>
          <c:idx val="0"/>
          <c:layout>
            <c:manualLayout>
              <c:x val="-0.19613965441819772"/>
              <c:y val="7.7105950397235945E-2"/>
            </c:manualLayout>
          </c:layout>
          <c:dLblPos val="bestFit"/>
          <c:showLegendKey val="0"/>
          <c:showVal val="0"/>
          <c:showCatName val="1"/>
          <c:showSerName val="0"/>
          <c:showPercent val="1"/>
          <c:showBubbleSize val="0"/>
          <c:extLst>
            <c:ext xmlns:c15="http://schemas.microsoft.com/office/drawing/2012/chart" uri="{CE6537A1-D6FC-4f65-9D91-7224C49458BB}"/>
          </c:extLst>
        </c:dLbl>
      </c:pivotFmt>
      <c:pivotFmt>
        <c:idx val="12"/>
        <c:spPr>
          <a:solidFill>
            <a:schemeClr val="accent5"/>
          </a:solidFill>
          <a:ln w="19050">
            <a:solidFill>
              <a:schemeClr val="lt1"/>
            </a:solidFill>
          </a:ln>
          <a:effectLst/>
        </c:spPr>
        <c:marker>
          <c:symbol val="none"/>
        </c:marker>
      </c:pivotFmt>
      <c:pivotFmt>
        <c:idx val="13"/>
        <c:spPr>
          <a:solidFill>
            <a:schemeClr val="accent5"/>
          </a:solidFill>
          <a:ln w="19050">
            <a:solidFill>
              <a:schemeClr val="lt1"/>
            </a:solidFill>
          </a:ln>
          <a:effectLst/>
        </c:spPr>
        <c:marker>
          <c:symbol val="none"/>
        </c:marker>
      </c:pivotFmt>
      <c:pivotFmt>
        <c:idx val="14"/>
        <c:spPr>
          <a:solidFill>
            <a:schemeClr val="accent5"/>
          </a:solidFill>
          <a:ln w="19050">
            <a:solidFill>
              <a:schemeClr val="lt1"/>
            </a:solidFill>
          </a:ln>
          <a:effectLst/>
        </c:spPr>
      </c:pivotFmt>
      <c:pivotFmt>
        <c:idx val="15"/>
        <c:spPr>
          <a:solidFill>
            <a:schemeClr val="accent5"/>
          </a:solidFill>
          <a:ln w="19050">
            <a:solidFill>
              <a:schemeClr val="lt1"/>
            </a:solidFill>
          </a:ln>
          <a:effectLst/>
        </c:spPr>
      </c:pivotFmt>
      <c:pivotFmt>
        <c:idx val="16"/>
        <c:spPr>
          <a:solidFill>
            <a:schemeClr val="accent5"/>
          </a:solidFill>
          <a:ln w="19050">
            <a:solidFill>
              <a:schemeClr val="lt1"/>
            </a:solidFill>
          </a:ln>
          <a:effectLst/>
        </c:spPr>
      </c:pivotFmt>
      <c:pivotFmt>
        <c:idx val="17"/>
        <c:spPr>
          <a:solidFill>
            <a:schemeClr val="accent5"/>
          </a:solidFill>
          <a:ln w="19050">
            <a:solidFill>
              <a:schemeClr val="lt1"/>
            </a:solidFill>
          </a:ln>
          <a:effectLst/>
        </c:spPr>
      </c:pivotFmt>
      <c:pivotFmt>
        <c:idx val="1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1"/>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2"/>
        <c:spPr>
          <a:solidFill>
            <a:schemeClr val="accent5"/>
          </a:solidFill>
          <a:ln w="19050">
            <a:solidFill>
              <a:schemeClr val="lt1"/>
            </a:solidFill>
          </a:ln>
          <a:effectLst/>
        </c:spPr>
      </c:pivotFmt>
      <c:pivotFmt>
        <c:idx val="23"/>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4"/>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5"/>
        <c:spPr>
          <a:solidFill>
            <a:schemeClr val="accent5"/>
          </a:solidFill>
          <a:ln w="19050">
            <a:solidFill>
              <a:schemeClr val="lt1"/>
            </a:solidFill>
          </a:ln>
          <a:effectLst/>
        </c:spPr>
      </c:pivotFmt>
      <c:pivotFmt>
        <c:idx val="26"/>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7"/>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9"/>
        <c:spPr>
          <a:solidFill>
            <a:schemeClr val="accent5"/>
          </a:solidFill>
          <a:ln w="19050">
            <a:solidFill>
              <a:schemeClr val="lt1"/>
            </a:solidFill>
          </a:ln>
          <a:effectLst/>
        </c:spPr>
        <c:dLbl>
          <c:idx val="0"/>
          <c:layout>
            <c:manualLayout>
              <c:x val="0.1636758530183727"/>
              <c:y val="-1.48857877808780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0"/>
        <c:spPr>
          <a:solidFill>
            <a:schemeClr val="accent5"/>
          </a:solidFill>
          <a:ln w="19050">
            <a:solidFill>
              <a:schemeClr val="lt1"/>
            </a:solidFill>
          </a:ln>
          <a:effectLst/>
        </c:spPr>
      </c:pivotFmt>
      <c:pivotFmt>
        <c:idx val="31"/>
        <c:spPr>
          <a:solidFill>
            <a:schemeClr val="accent5"/>
          </a:solidFill>
          <a:ln w="19050">
            <a:solidFill>
              <a:schemeClr val="lt1"/>
            </a:solidFill>
          </a:ln>
          <a:effectLst/>
        </c:spPr>
        <c:dLbl>
          <c:idx val="0"/>
          <c:layout>
            <c:manualLayout>
              <c:x val="-0.15997692475940509"/>
              <c:y val="-8.1485707709278883E-3"/>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2"/>
        <c:spPr>
          <a:solidFill>
            <a:schemeClr val="accent5"/>
          </a:solidFill>
          <a:ln w="19050">
            <a:solidFill>
              <a:schemeClr val="lt1"/>
            </a:solidFill>
          </a:ln>
          <a:effectLst/>
        </c:spPr>
        <c:dLbl>
          <c:idx val="0"/>
          <c:layout>
            <c:manualLayout>
              <c:x val="1.1760936132983377E-2"/>
              <c:y val="-3.2639277445642524E-2"/>
            </c:manualLayout>
          </c:layout>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s>
    <c:plotArea>
      <c:layout>
        <c:manualLayout>
          <c:layoutTarget val="inner"/>
          <c:xMode val="edge"/>
          <c:yMode val="edge"/>
          <c:x val="0.27633654188880319"/>
          <c:y val="0.32512776543262922"/>
          <c:w val="0.4494901605199414"/>
          <c:h val="0.51710927909308713"/>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6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pivotSource>
    <c:name>[(43146) השוואת נתוני תקציב גמלאות ומרכזי יום.xlsx]שינוים בתקציב!PivotTable17</c:name>
    <c:fmtId val="-1"/>
  </c:pivotSource>
  <c:chart>
    <c:title>
      <c:tx>
        <c:rich>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he-IL"/>
              <a:t>חלוקת תקציב 2022</a:t>
            </a:r>
          </a:p>
        </c:rich>
      </c:tx>
      <c:layout>
        <c:manualLayout>
          <c:xMode val="edge"/>
          <c:yMode val="edge"/>
          <c:x val="0.33305918592704381"/>
          <c:y val="0"/>
        </c:manualLayout>
      </c:layout>
      <c:overlay val="0"/>
      <c:spPr>
        <a:noFill/>
        <a:ln>
          <a:noFill/>
        </a:ln>
        <a:effectLst/>
      </c:spPr>
      <c:txPr>
        <a:bodyPr rot="0" spcFirstLastPara="1" vertOverflow="ellipsis" vert="horz" wrap="square" anchor="ctr" anchorCtr="1"/>
        <a:lstStyle/>
        <a:p>
          <a:pPr>
            <a:defRPr sz="2160" b="0" i="0" u="none" strike="noStrike" kern="1200" spc="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title>
    <c:autoTitleDeleted val="0"/>
    <c:pivotFmts>
      <c:pivotFmt>
        <c:idx val="0"/>
        <c:spPr>
          <a:solidFill>
            <a:schemeClr val="accent6"/>
          </a:solidFill>
          <a:ln w="19050">
            <a:solidFill>
              <a:schemeClr val="lt1"/>
            </a:solidFill>
          </a:ln>
          <a:effectLst/>
        </c:spPr>
        <c:marker>
          <c:symbol val="none"/>
        </c:marker>
      </c:pivotFmt>
      <c:pivotFmt>
        <c:idx val="1"/>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3"/>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5"/>
        <c:spPr>
          <a:solidFill>
            <a:schemeClr val="accent6"/>
          </a:solidFill>
          <a:ln w="19050">
            <a:solidFill>
              <a:schemeClr val="lt1"/>
            </a:solidFill>
          </a:ln>
          <a:effectLst/>
        </c:spPr>
      </c:pivotFmt>
      <c:pivotFmt>
        <c:idx val="6"/>
        <c:spPr>
          <a:solidFill>
            <a:schemeClr val="accent6"/>
          </a:solidFill>
          <a:ln w="19050">
            <a:solidFill>
              <a:schemeClr val="lt1"/>
            </a:solidFill>
          </a:ln>
          <a:effectLst/>
        </c:spPr>
      </c:pivotFmt>
      <c:pivotFmt>
        <c:idx val="7"/>
        <c:spPr>
          <a:solidFill>
            <a:schemeClr val="accent6"/>
          </a:solidFill>
          <a:ln w="19050">
            <a:solidFill>
              <a:schemeClr val="lt1"/>
            </a:solidFill>
          </a:ln>
          <a:effectLst/>
        </c:spPr>
        <c:dLbl>
          <c:idx val="0"/>
          <c:layout>
            <c:manualLayout>
              <c:x val="-5.7158573928258967E-2"/>
              <c:y val="-1.459827938174392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8"/>
        <c:spPr>
          <a:solidFill>
            <a:schemeClr val="accent6"/>
          </a:solidFill>
          <a:ln w="19050">
            <a:solidFill>
              <a:schemeClr val="lt1"/>
            </a:solidFill>
          </a:ln>
          <a:effectLst/>
        </c:spPr>
        <c:dLbl>
          <c:idx val="0"/>
          <c:layout>
            <c:manualLayout>
              <c:x val="6.8686898512685918E-2"/>
              <c:y val="-4.7160615339749197E-2"/>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0"/>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1"/>
        <c:spPr>
          <a:solidFill>
            <a:schemeClr val="accent6"/>
          </a:solidFill>
          <a:ln w="19050">
            <a:solidFill>
              <a:schemeClr val="lt1"/>
            </a:solidFill>
          </a:ln>
          <a:effectLst/>
        </c:spPr>
      </c:pivotFmt>
      <c:pivotFmt>
        <c:idx val="12"/>
        <c:spPr>
          <a:solidFill>
            <a:schemeClr val="accent6"/>
          </a:solidFill>
          <a:ln w="19050">
            <a:solidFill>
              <a:schemeClr val="lt1"/>
            </a:solidFill>
          </a:ln>
          <a:effectLst/>
        </c:spPr>
      </c:pivotFmt>
      <c:pivotFmt>
        <c:idx val="13"/>
        <c:spPr>
          <a:solidFill>
            <a:schemeClr val="accent6"/>
          </a:solidFill>
          <a:ln w="19050">
            <a:solidFill>
              <a:schemeClr val="lt1"/>
            </a:solidFill>
          </a:ln>
          <a:effectLst/>
        </c:spPr>
      </c:pivotFmt>
      <c:pivotFmt>
        <c:idx val="14"/>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5"/>
        <c:spPr>
          <a:solidFill>
            <a:schemeClr val="accent6"/>
          </a:solidFill>
          <a:ln w="19050">
            <a:solidFill>
              <a:schemeClr val="lt1"/>
            </a:solidFill>
          </a:ln>
          <a:effectLst/>
        </c:spPr>
      </c:pivotFmt>
      <c:pivotFmt>
        <c:idx val="16"/>
        <c:spPr>
          <a:solidFill>
            <a:schemeClr val="accent6"/>
          </a:solidFill>
          <a:ln w="19050">
            <a:solidFill>
              <a:schemeClr val="lt1"/>
            </a:solidFill>
          </a:ln>
          <a:effectLst/>
        </c:spPr>
      </c:pivotFmt>
      <c:pivotFmt>
        <c:idx val="17"/>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18"/>
        <c:spPr>
          <a:solidFill>
            <a:schemeClr val="accent6"/>
          </a:solidFill>
          <a:ln w="19050">
            <a:solidFill>
              <a:schemeClr val="lt1"/>
            </a:solidFill>
          </a:ln>
          <a:effectLst/>
        </c:spPr>
      </c:pivotFmt>
      <c:pivotFmt>
        <c:idx val="19"/>
        <c:spPr>
          <a:solidFill>
            <a:schemeClr val="accent6"/>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0"/>
        <c:spPr>
          <a:solidFill>
            <a:schemeClr val="accent6"/>
          </a:solidFill>
          <a:ln w="19050">
            <a:solidFill>
              <a:schemeClr val="lt1"/>
            </a:solidFill>
          </a:ln>
          <a:effectLst/>
        </c:spPr>
      </c:pivotFmt>
      <c:pivotFmt>
        <c:idx val="21"/>
        <c:spPr>
          <a:solidFill>
            <a:schemeClr val="accent6"/>
          </a:solidFill>
          <a:ln w="19050">
            <a:solidFill>
              <a:schemeClr val="lt1"/>
            </a:solidFill>
          </a:ln>
          <a:effectLst/>
        </c:spPr>
      </c:pivotFmt>
      <c:pivotFmt>
        <c:idx val="22"/>
        <c:spPr>
          <a:solidFill>
            <a:schemeClr val="accent6"/>
          </a:solidFill>
          <a:ln w="19050">
            <a:solidFill>
              <a:schemeClr val="lt1"/>
            </a:solidFill>
          </a:ln>
          <a:effectLst/>
        </c:spPr>
        <c:dLbl>
          <c:idx val="0"/>
          <c:layout>
            <c:manualLayout>
              <c:x val="-0.12099503981493839"/>
              <c:y val="-1.7852054207509776E-2"/>
            </c:manualLayout>
          </c:layout>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he-IL"/>
            </a:p>
          </c:txPr>
          <c:dLblPos val="bestFit"/>
          <c:showLegendKey val="0"/>
          <c:showVal val="0"/>
          <c:showCatName val="1"/>
          <c:showSerName val="0"/>
          <c:showPercent val="1"/>
          <c:showBubbleSize val="0"/>
          <c:extLst>
            <c:ext xmlns:c15="http://schemas.microsoft.com/office/drawing/2012/chart" uri="{CE6537A1-D6FC-4f65-9D91-7224C49458BB}"/>
          </c:extLst>
        </c:dLbl>
      </c:pivotFmt>
      <c:pivotFmt>
        <c:idx val="23"/>
        <c:spPr>
          <a:solidFill>
            <a:schemeClr val="accent6"/>
          </a:solidFill>
          <a:ln w="19050">
            <a:solidFill>
              <a:schemeClr val="lt1"/>
            </a:solidFill>
          </a:ln>
          <a:effectLst/>
        </c:spPr>
      </c:pivotFmt>
    </c:pivotFmts>
    <c:plotArea>
      <c:layout>
        <c:manualLayout>
          <c:layoutTarget val="inner"/>
          <c:xMode val="edge"/>
          <c:yMode val="edge"/>
          <c:x val="0.28197339739312249"/>
          <c:y val="0.30668046301904567"/>
          <c:w val="0.44021864851639314"/>
          <c:h val="0.70915794045056235"/>
        </c:manualLayout>
      </c:layout>
      <c:pieChart>
        <c:varyColors val="1"/>
        <c:dLbls>
          <c:dLblPos val="bestFit"/>
          <c:showLegendKey val="0"/>
          <c:showVal val="1"/>
          <c:showCatName val="0"/>
          <c:showSerName val="0"/>
          <c:showPercent val="0"/>
          <c:showBubbleSize val="0"/>
          <c:showLeaderLines val="0"/>
        </c:dLbls>
        <c:firstSliceAng val="360"/>
      </c:pieChart>
      <c:spPr>
        <a:noFill/>
        <a:ln>
          <a:noFill/>
        </a:ln>
        <a:effectLst/>
      </c:spPr>
    </c:plotArea>
    <c:plotVisOnly val="1"/>
    <c:dispBlanksAs val="gap"/>
    <c:showDLblsOverMax val="0"/>
  </c:chart>
  <c:spPr>
    <a:solidFill>
      <a:schemeClr val="bg1"/>
    </a:solidFill>
    <a:ln w="9525" cap="flat" cmpd="sng" algn="ctr">
      <a:noFill/>
      <a:round/>
    </a:ln>
    <a:effectLst/>
  </c:spPr>
  <c:txPr>
    <a:bodyPr/>
    <a:lstStyle/>
    <a:p>
      <a:pPr>
        <a:defRPr sz="1800">
          <a:latin typeface="Calibri" panose="020F0502020204030204" pitchFamily="34" charset="0"/>
          <a:cs typeface="Calibri" panose="020F0502020204030204" pitchFamily="34" charset="0"/>
        </a:defRPr>
      </a:pPr>
      <a:endParaRPr lang="he-IL"/>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r>
              <a:rPr lang="he-IL" sz="1600" b="1" dirty="0">
                <a:solidFill>
                  <a:srgbClr val="002060"/>
                </a:solidFill>
              </a:rPr>
              <a:t>השוואת תקציב לפי</a:t>
            </a:r>
            <a:r>
              <a:rPr lang="he-IL" sz="1600" b="1" baseline="0" dirty="0">
                <a:solidFill>
                  <a:srgbClr val="002060"/>
                </a:solidFill>
              </a:rPr>
              <a:t> שירותים במיליארדים</a:t>
            </a:r>
            <a:endParaRPr lang="he-IL" sz="1600" b="1" dirty="0">
              <a:solidFill>
                <a:srgbClr val="002060"/>
              </a:solidFill>
            </a:endParaRPr>
          </a:p>
        </c:rich>
      </c:tx>
      <c:overlay val="0"/>
      <c:spPr>
        <a:noFill/>
        <a:ln>
          <a:noFill/>
        </a:ln>
        <a:effectLst/>
      </c:spPr>
      <c:txPr>
        <a:bodyPr rot="0" spcFirstLastPara="1" vertOverflow="ellipsis" vert="horz" wrap="square" anchor="ctr" anchorCtr="1"/>
        <a:lstStyle/>
        <a:p>
          <a:pPr>
            <a:defRPr sz="1600" b="1" i="0" u="none" strike="noStrike" kern="1200" spc="0" baseline="0">
              <a:solidFill>
                <a:srgbClr val="002060"/>
              </a:solidFill>
              <a:latin typeface="+mn-lt"/>
              <a:ea typeface="+mn-ea"/>
              <a:cs typeface="+mn-cs"/>
            </a:defRPr>
          </a:pPr>
          <a:endParaRPr lang="he-IL"/>
        </a:p>
      </c:txPr>
    </c:title>
    <c:autoTitleDeleted val="0"/>
    <c:plotArea>
      <c:layout/>
      <c:barChart>
        <c:barDir val="col"/>
        <c:grouping val="clustered"/>
        <c:varyColors val="0"/>
        <c:ser>
          <c:idx val="0"/>
          <c:order val="0"/>
          <c:tx>
            <c:strRef>
              <c:f>גיליון2!$J$46</c:f>
              <c:strCache>
                <c:ptCount val="1"/>
                <c:pt idx="0">
                  <c:v>2018</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גיליון2!$J$47:$J$51</c:f>
              <c:numCache>
                <c:formatCode>General</c:formatCode>
                <c:ptCount val="5"/>
                <c:pt idx="0">
                  <c:v>6.17</c:v>
                </c:pt>
                <c:pt idx="1">
                  <c:v>0</c:v>
                </c:pt>
                <c:pt idx="2">
                  <c:v>0.17</c:v>
                </c:pt>
                <c:pt idx="3">
                  <c:v>0.23</c:v>
                </c:pt>
                <c:pt idx="4">
                  <c:v>6.69</c:v>
                </c:pt>
              </c:numCache>
            </c:numRef>
          </c:val>
          <c:extLst>
            <c:ext xmlns:c16="http://schemas.microsoft.com/office/drawing/2014/chart" uri="{C3380CC4-5D6E-409C-BE32-E72D297353CC}">
              <c16:uniqueId val="{00000000-9DA5-4F2F-A2CA-EA62740A75A1}"/>
            </c:ext>
          </c:extLst>
        </c:ser>
        <c:ser>
          <c:idx val="1"/>
          <c:order val="1"/>
          <c:tx>
            <c:strRef>
              <c:f>גיליון2!$K$46</c:f>
              <c:strCache>
                <c:ptCount val="1"/>
                <c:pt idx="0">
                  <c:v>2024</c:v>
                </c:pt>
              </c:strCache>
            </c:strRef>
          </c:tx>
          <c:spPr>
            <a:solidFill>
              <a:schemeClr val="accent2"/>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9DA5-4F2F-A2CA-EA62740A75A1}"/>
                </c:ext>
              </c:extLst>
            </c:dLbl>
            <c:dLbl>
              <c:idx val="2"/>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3-9DA5-4F2F-A2CA-EA62740A75A1}"/>
                </c:ext>
              </c:extLst>
            </c:dLbl>
            <c:dLbl>
              <c:idx val="4"/>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4-9DA5-4F2F-A2CA-EA62740A75A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גיליון2!$I$47:$I$51</c:f>
              <c:strCache>
                <c:ptCount val="5"/>
                <c:pt idx="0">
                  <c:v>מטפלות</c:v>
                </c:pt>
                <c:pt idx="1">
                  <c:v>בני משפחה מטפלים</c:v>
                </c:pt>
                <c:pt idx="2">
                  <c:v>גמלה בכסף</c:v>
                </c:pt>
                <c:pt idx="3">
                  <c:v>מרכז יום</c:v>
                </c:pt>
                <c:pt idx="4">
                  <c:v>סה"כ</c:v>
                </c:pt>
              </c:strCache>
            </c:strRef>
          </c:cat>
          <c:val>
            <c:numRef>
              <c:f>גיליון2!$K$47:$K$51</c:f>
              <c:numCache>
                <c:formatCode>General</c:formatCode>
                <c:ptCount val="5"/>
                <c:pt idx="0">
                  <c:v>6</c:v>
                </c:pt>
                <c:pt idx="1">
                  <c:v>7</c:v>
                </c:pt>
                <c:pt idx="2">
                  <c:v>3.7</c:v>
                </c:pt>
                <c:pt idx="3">
                  <c:v>0.28000000000000003</c:v>
                </c:pt>
                <c:pt idx="4">
                  <c:v>17</c:v>
                </c:pt>
              </c:numCache>
            </c:numRef>
          </c:val>
          <c:extLst>
            <c:ext xmlns:c16="http://schemas.microsoft.com/office/drawing/2014/chart" uri="{C3380CC4-5D6E-409C-BE32-E72D297353CC}">
              <c16:uniqueId val="{00000001-9DA5-4F2F-A2CA-EA62740A75A1}"/>
            </c:ext>
          </c:extLst>
        </c:ser>
        <c:dLbls>
          <c:dLblPos val="outEnd"/>
          <c:showLegendKey val="0"/>
          <c:showVal val="1"/>
          <c:showCatName val="0"/>
          <c:showSerName val="0"/>
          <c:showPercent val="0"/>
          <c:showBubbleSize val="0"/>
        </c:dLbls>
        <c:gapWidth val="219"/>
        <c:overlap val="-27"/>
        <c:axId val="357487472"/>
        <c:axId val="357489112"/>
      </c:barChart>
      <c:catAx>
        <c:axId val="357487472"/>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57489112"/>
        <c:crosses val="autoZero"/>
        <c:auto val="1"/>
        <c:lblAlgn val="ctr"/>
        <c:lblOffset val="100"/>
        <c:noMultiLvlLbl val="0"/>
      </c:catAx>
      <c:valAx>
        <c:axId val="35748911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5748747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autoTitleDeleted val="1"/>
    <c:plotArea>
      <c:layout/>
      <c:barChart>
        <c:barDir val="col"/>
        <c:grouping val="clustered"/>
        <c:varyColors val="0"/>
        <c:ser>
          <c:idx val="0"/>
          <c:order val="0"/>
          <c:spPr>
            <a:solidFill>
              <a:schemeClr val="accent5"/>
            </a:solidFill>
            <a:ln>
              <a:noFill/>
            </a:ln>
            <a:effectLst/>
          </c:spPr>
          <c:invertIfNegative val="0"/>
          <c:dLbls>
            <c:dLbl>
              <c:idx val="1"/>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1-DCAE-42C9-828E-61ABEE58EB87}"/>
                </c:ext>
              </c:extLst>
            </c:dLbl>
            <c:dLbl>
              <c:idx val="2"/>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2-DCAE-42C9-828E-61ABEE58EB87}"/>
                </c:ext>
              </c:extLst>
            </c:dLbl>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גיליון3!$F$25:$F$28</c:f>
              <c:strCache>
                <c:ptCount val="4"/>
                <c:pt idx="0">
                  <c:v>מטפלת</c:v>
                </c:pt>
                <c:pt idx="1">
                  <c:v>בני משפחה מטפלים בשכר</c:v>
                </c:pt>
                <c:pt idx="2">
                  <c:v>גמלה בכסף</c:v>
                </c:pt>
                <c:pt idx="3">
                  <c:v>מרכז יום</c:v>
                </c:pt>
              </c:strCache>
            </c:strRef>
          </c:cat>
          <c:val>
            <c:numRef>
              <c:f>גיליון3!$I$25:$I$28</c:f>
              <c:numCache>
                <c:formatCode>0%</c:formatCode>
                <c:ptCount val="4"/>
                <c:pt idx="0">
                  <c:v>0.3529411764705882</c:v>
                </c:pt>
                <c:pt idx="1">
                  <c:v>0.41176470588235292</c:v>
                </c:pt>
                <c:pt idx="2">
                  <c:v>0.21764705882352942</c:v>
                </c:pt>
                <c:pt idx="3">
                  <c:v>1.6470588235294119E-2</c:v>
                </c:pt>
              </c:numCache>
            </c:numRef>
          </c:val>
          <c:extLst>
            <c:ext xmlns:c16="http://schemas.microsoft.com/office/drawing/2014/chart" uri="{C3380CC4-5D6E-409C-BE32-E72D297353CC}">
              <c16:uniqueId val="{00000000-DCAE-42C9-828E-61ABEE58EB87}"/>
            </c:ext>
          </c:extLst>
        </c:ser>
        <c:dLbls>
          <c:showLegendKey val="0"/>
          <c:showVal val="0"/>
          <c:showCatName val="0"/>
          <c:showSerName val="0"/>
          <c:showPercent val="0"/>
          <c:showBubbleSize val="0"/>
        </c:dLbls>
        <c:gapWidth val="219"/>
        <c:overlap val="-27"/>
        <c:axId val="363183592"/>
        <c:axId val="363183920"/>
      </c:barChart>
      <c:catAx>
        <c:axId val="3631835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he-IL"/>
          </a:p>
        </c:txPr>
        <c:crossAx val="363183920"/>
        <c:crosses val="autoZero"/>
        <c:auto val="1"/>
        <c:lblAlgn val="ctr"/>
        <c:lblOffset val="100"/>
        <c:noMultiLvlLbl val="0"/>
      </c:catAx>
      <c:valAx>
        <c:axId val="363183920"/>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363183592"/>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Sheet1!$B$2:$B$16</c:f>
              <c:numCache>
                <c:formatCode>0.0</c:formatCode>
                <c:ptCount val="15"/>
                <c:pt idx="0">
                  <c:v>6.2</c:v>
                </c:pt>
                <c:pt idx="1">
                  <c:v>5.6</c:v>
                </c:pt>
                <c:pt idx="2">
                  <c:v>6.2</c:v>
                </c:pt>
                <c:pt idx="3">
                  <c:v>8.8000000000000007</c:v>
                </c:pt>
                <c:pt idx="4">
                  <c:v>6.7</c:v>
                </c:pt>
                <c:pt idx="5">
                  <c:v>8.9</c:v>
                </c:pt>
                <c:pt idx="6">
                  <c:v>8</c:v>
                </c:pt>
                <c:pt idx="7">
                  <c:v>7.2</c:v>
                </c:pt>
                <c:pt idx="8">
                  <c:v>6.9</c:v>
                </c:pt>
                <c:pt idx="9">
                  <c:v>10</c:v>
                </c:pt>
                <c:pt idx="10">
                  <c:v>11.2</c:v>
                </c:pt>
                <c:pt idx="11">
                  <c:v>12.4</c:v>
                </c:pt>
                <c:pt idx="12">
                  <c:v>13.1</c:v>
                </c:pt>
                <c:pt idx="13">
                  <c:v>18.7</c:v>
                </c:pt>
                <c:pt idx="14">
                  <c:v>17.100000000000001</c:v>
                </c:pt>
              </c:numCache>
            </c:numRef>
          </c:val>
          <c:extLst>
            <c:ext xmlns:c16="http://schemas.microsoft.com/office/drawing/2014/chart" uri="{C3380CC4-5D6E-409C-BE32-E72D297353CC}">
              <c16:uniqueId val="{00000000-6F68-4C75-9501-C1A072D75D88}"/>
            </c:ext>
          </c:extLst>
        </c:ser>
        <c:ser>
          <c:idx val="1"/>
          <c:order val="1"/>
          <c:tx>
            <c:strRef>
              <c:f>Sheet1!$C$1</c:f>
              <c:strCache>
                <c:ptCount val="1"/>
                <c:pt idx="0">
                  <c:v>במוסדות</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דרום קוריאה</c:v>
                </c:pt>
                <c:pt idx="1">
                  <c:v>אסטוניה</c:v>
                </c:pt>
                <c:pt idx="2">
                  <c:v>פינלנד</c:v>
                </c:pt>
                <c:pt idx="3">
                  <c:v>ספרד</c:v>
                </c:pt>
                <c:pt idx="4">
                  <c:v>סלובניה</c:v>
                </c:pt>
                <c:pt idx="5">
                  <c:v>הונגריה</c:v>
                </c:pt>
                <c:pt idx="6">
                  <c:v>הולנד</c:v>
                </c:pt>
                <c:pt idx="7">
                  <c:v>לוקסמבורג</c:v>
                </c:pt>
                <c:pt idx="8">
                  <c:v>אוסטרליה</c:v>
                </c:pt>
                <c:pt idx="9">
                  <c:v>ניו זילנד</c:v>
                </c:pt>
                <c:pt idx="10">
                  <c:v>נורווגיה</c:v>
                </c:pt>
                <c:pt idx="11">
                  <c:v>שוודיה</c:v>
                </c:pt>
                <c:pt idx="12">
                  <c:v>גרמניה</c:v>
                </c:pt>
                <c:pt idx="13">
                  <c:v>ישראל</c:v>
                </c:pt>
                <c:pt idx="14">
                  <c:v>שוויץ</c:v>
                </c:pt>
              </c:strCache>
            </c:strRef>
          </c:cat>
          <c:val>
            <c:numRef>
              <c:f>Sheet1!$C$2:$C$16</c:f>
              <c:numCache>
                <c:formatCode>0.0</c:formatCode>
                <c:ptCount val="15"/>
                <c:pt idx="0">
                  <c:v>2.7</c:v>
                </c:pt>
                <c:pt idx="1">
                  <c:v>5</c:v>
                </c:pt>
                <c:pt idx="2">
                  <c:v>4.5</c:v>
                </c:pt>
                <c:pt idx="3">
                  <c:v>2.2000000000000002</c:v>
                </c:pt>
                <c:pt idx="4">
                  <c:v>4.8</c:v>
                </c:pt>
                <c:pt idx="5">
                  <c:v>3</c:v>
                </c:pt>
                <c:pt idx="6">
                  <c:v>4.2</c:v>
                </c:pt>
                <c:pt idx="7">
                  <c:v>5.4</c:v>
                </c:pt>
                <c:pt idx="8">
                  <c:v>6</c:v>
                </c:pt>
                <c:pt idx="9">
                  <c:v>4.3</c:v>
                </c:pt>
                <c:pt idx="10">
                  <c:v>4.0999999999999996</c:v>
                </c:pt>
                <c:pt idx="11">
                  <c:v>4.3</c:v>
                </c:pt>
                <c:pt idx="12">
                  <c:v>4.0999999999999996</c:v>
                </c:pt>
                <c:pt idx="13">
                  <c:v>1.6</c:v>
                </c:pt>
                <c:pt idx="14">
                  <c:v>5.6</c:v>
                </c:pt>
              </c:numCache>
            </c:numRef>
          </c:val>
          <c:extLst>
            <c:ext xmlns:c16="http://schemas.microsoft.com/office/drawing/2014/chart" uri="{C3380CC4-5D6E-409C-BE32-E72D297353CC}">
              <c16:uniqueId val="{00000001-6F68-4C75-9501-C1A072D75D88}"/>
            </c:ext>
          </c:extLst>
        </c:ser>
        <c:dLbls>
          <c:dLblPos val="ctr"/>
          <c:showLegendKey val="0"/>
          <c:showVal val="1"/>
          <c:showCatName val="0"/>
          <c:showSerName val="0"/>
          <c:showPercent val="0"/>
          <c:showBubbleSize val="0"/>
        </c:dLbls>
        <c:gapWidth val="50"/>
        <c:overlap val="100"/>
        <c:axId val="38849871"/>
        <c:axId val="38839055"/>
      </c:ba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25"/>
          <c:min val="0"/>
        </c:scaling>
        <c:delete val="0"/>
        <c:axPos val="l"/>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25"/>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175188859173395E-2"/>
          <c:y val="3.5914010816902757E-2"/>
          <c:w val="0.9189398314385262"/>
          <c:h val="0.71085583330920288"/>
        </c:manualLayout>
      </c:layout>
      <c:barChart>
        <c:barDir val="col"/>
        <c:grouping val="clustered"/>
        <c:varyColors val="0"/>
        <c:ser>
          <c:idx val="1"/>
          <c:order val="1"/>
          <c:tx>
            <c:strRef>
              <c:f>Sheet1!$C$1</c:f>
              <c:strCache>
                <c:ptCount val="1"/>
                <c:pt idx="0">
                  <c:v>שיעור מטופלים במוסדות</c:v>
                </c:pt>
              </c:strCache>
            </c:strRef>
          </c:tx>
          <c:spPr>
            <a:solidFill>
              <a:schemeClr val="accent2"/>
            </a:solidFill>
            <a:ln>
              <a:noFill/>
            </a:ln>
            <a:effectLst/>
          </c:spPr>
          <c:invertIfNegative val="0"/>
          <c:dPt>
            <c:idx val="0"/>
            <c:invertIfNegative val="0"/>
            <c:bubble3D val="0"/>
            <c:spPr>
              <a:solidFill>
                <a:srgbClr val="FF0000"/>
              </a:solidFill>
              <a:ln>
                <a:noFill/>
              </a:ln>
              <a:effectLst/>
            </c:spPr>
            <c:extLst>
              <c:ext xmlns:c16="http://schemas.microsoft.com/office/drawing/2014/chart" uri="{C3380CC4-5D6E-409C-BE32-E72D297353CC}">
                <c16:uniqueId val="{00000000-DB18-4F77-9A19-56D6B24C2E5A}"/>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0-DB18-4F77-9A19-56D6B24C2E5A}"/>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accent2"/>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f>Sheet1!$C$2:$C$16</c:f>
              <c:numCache>
                <c:formatCode>0.0</c:formatCode>
                <c:ptCount val="15"/>
                <c:pt idx="0">
                  <c:v>1.6</c:v>
                </c:pt>
                <c:pt idx="1">
                  <c:v>2.2000000000000002</c:v>
                </c:pt>
                <c:pt idx="2">
                  <c:v>2.7</c:v>
                </c:pt>
                <c:pt idx="3">
                  <c:v>3</c:v>
                </c:pt>
                <c:pt idx="4">
                  <c:v>4.0999999999999996</c:v>
                </c:pt>
                <c:pt idx="5">
                  <c:v>4.0999999999999996</c:v>
                </c:pt>
                <c:pt idx="6">
                  <c:v>4.2</c:v>
                </c:pt>
                <c:pt idx="7">
                  <c:v>4.3</c:v>
                </c:pt>
                <c:pt idx="8">
                  <c:v>4.3</c:v>
                </c:pt>
                <c:pt idx="9">
                  <c:v>4.5</c:v>
                </c:pt>
                <c:pt idx="10">
                  <c:v>4.8</c:v>
                </c:pt>
                <c:pt idx="11">
                  <c:v>5</c:v>
                </c:pt>
                <c:pt idx="12">
                  <c:v>5.4</c:v>
                </c:pt>
                <c:pt idx="13">
                  <c:v>5.6</c:v>
                </c:pt>
                <c:pt idx="14">
                  <c:v>6</c:v>
                </c:pt>
              </c:numCache>
            </c:numRef>
          </c:val>
          <c:extLst>
            <c:ext xmlns:c16="http://schemas.microsoft.com/office/drawing/2014/chart" uri="{C3380CC4-5D6E-409C-BE32-E72D297353CC}">
              <c16:uniqueId val="{00000001-6F68-4C75-9501-C1A072D75D88}"/>
            </c:ext>
          </c:extLst>
        </c:ser>
        <c:dLbls>
          <c:showLegendKey val="0"/>
          <c:showVal val="0"/>
          <c:showCatName val="0"/>
          <c:showSerName val="0"/>
          <c:showPercent val="0"/>
          <c:showBubbleSize val="0"/>
        </c:dLbls>
        <c:gapWidth val="50"/>
        <c:axId val="38849871"/>
        <c:axId val="38839055"/>
        <c:extLst>
          <c:ext xmlns:c15="http://schemas.microsoft.com/office/drawing/2012/chart" uri="{02D57815-91ED-43cb-92C2-25804820EDAC}">
            <c15:filteredBarSeries>
              <c15:ser>
                <c:idx val="0"/>
                <c:order val="0"/>
                <c:tx>
                  <c:strRef>
                    <c:extLst>
                      <c:ext uri="{02D57815-91ED-43cb-92C2-25804820EDAC}">
                        <c15:formulaRef>
                          <c15:sqref>Sheet1!$B$1</c15:sqref>
                        </c15:formulaRef>
                      </c:ext>
                    </c:extLst>
                    <c:strCache>
                      <c:ptCount val="1"/>
                      <c:pt idx="0">
                        <c:v>בבית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bg2"/>
                          </a:solidFill>
                          <a:latin typeface="+mn-lt"/>
                          <a:ea typeface="+mn-ea"/>
                          <a:cs typeface="+mn-cs"/>
                        </a:defRPr>
                      </a:pPr>
                      <a:endParaRPr lang="he-IL"/>
                    </a:p>
                  </c:txPr>
                  <c:dLblPos val="inBase"/>
                  <c:showLegendKey val="0"/>
                  <c:showVal val="1"/>
                  <c:showCatName val="0"/>
                  <c:showSerName val="0"/>
                  <c:showPercent val="0"/>
                  <c:showBubbleSize val="0"/>
                  <c:showLeaderLines val="0"/>
                  <c:extLst>
                    <c:ext uri="{CE6537A1-D6FC-4f65-9D91-7224C49458BB}">
                      <c15:showLeaderLines val="1"/>
                      <c15:leaderLines>
                        <c:spPr>
                          <a:ln w="9525" cap="flat" cmpd="sng" algn="ctr">
                            <a:solidFill>
                              <a:schemeClr val="tx1">
                                <a:lumMod val="35000"/>
                                <a:lumOff val="65000"/>
                              </a:schemeClr>
                            </a:solidFill>
                            <a:round/>
                          </a:ln>
                          <a:effectLst/>
                        </c:spPr>
                      </c15:leaderLines>
                    </c:ext>
                  </c:extLst>
                </c:dLbls>
                <c:cat>
                  <c:strRef>
                    <c:extLst>
                      <c:ext uri="{02D57815-91ED-43cb-92C2-25804820EDAC}">
                        <c15:formulaRef>
                          <c15:sqref>Sheet1!$A$2:$A$16</c15:sqref>
                        </c15:formulaRef>
                      </c:ext>
                    </c:extLst>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cat>
                <c:val>
                  <c:numRef>
                    <c:extLst>
                      <c:ext uri="{02D57815-91ED-43cb-92C2-25804820EDAC}">
                        <c15:formulaRef>
                          <c15:sqref>Sheet1!$B$2:$B$16</c15:sqref>
                        </c15:formulaRef>
                      </c:ext>
                    </c:extLst>
                    <c:numCache>
                      <c:formatCode>0.0</c:formatCode>
                      <c:ptCount val="15"/>
                      <c:pt idx="0">
                        <c:v>18.7</c:v>
                      </c:pt>
                      <c:pt idx="1">
                        <c:v>8.8000000000000007</c:v>
                      </c:pt>
                      <c:pt idx="2">
                        <c:v>6.2</c:v>
                      </c:pt>
                      <c:pt idx="3">
                        <c:v>8.9</c:v>
                      </c:pt>
                      <c:pt idx="4">
                        <c:v>11.2</c:v>
                      </c:pt>
                      <c:pt idx="5">
                        <c:v>13.1</c:v>
                      </c:pt>
                      <c:pt idx="6">
                        <c:v>8</c:v>
                      </c:pt>
                      <c:pt idx="7">
                        <c:v>10</c:v>
                      </c:pt>
                      <c:pt idx="8">
                        <c:v>12.4</c:v>
                      </c:pt>
                      <c:pt idx="9">
                        <c:v>6.2</c:v>
                      </c:pt>
                      <c:pt idx="10">
                        <c:v>6.7</c:v>
                      </c:pt>
                      <c:pt idx="11">
                        <c:v>5.6</c:v>
                      </c:pt>
                      <c:pt idx="12">
                        <c:v>7.2</c:v>
                      </c:pt>
                      <c:pt idx="13">
                        <c:v>17.100000000000001</c:v>
                      </c:pt>
                      <c:pt idx="14">
                        <c:v>6.9</c:v>
                      </c:pt>
                    </c:numCache>
                  </c:numRef>
                </c:val>
                <c:extLst>
                  <c:ext xmlns:c16="http://schemas.microsoft.com/office/drawing/2014/chart" uri="{C3380CC4-5D6E-409C-BE32-E72D297353CC}">
                    <c16:uniqueId val="{00000000-6F68-4C75-9501-C1A072D75D88}"/>
                  </c:ext>
                </c:extLst>
              </c15:ser>
            </c15:filteredBarSeries>
          </c:ext>
        </c:extLst>
      </c:barChart>
      <c:scatterChart>
        <c:scatterStyle val="lineMarker"/>
        <c:varyColors val="0"/>
        <c:ser>
          <c:idx val="2"/>
          <c:order val="2"/>
          <c:tx>
            <c:strRef>
              <c:f>Sheet1!$D$1</c:f>
              <c:strCache>
                <c:ptCount val="1"/>
                <c:pt idx="0">
                  <c:v>שיעור השבה במוסדות</c:v>
                </c:pt>
              </c:strCache>
            </c:strRef>
          </c:tx>
          <c:spPr>
            <a:ln w="25400" cap="rnd">
              <a:noFill/>
              <a:round/>
            </a:ln>
            <a:effectLst/>
          </c:spPr>
          <c:marker>
            <c:symbol val="circle"/>
            <c:size val="5"/>
            <c:spPr>
              <a:solidFill>
                <a:schemeClr val="accent1"/>
              </a:solidFill>
              <a:ln w="9525">
                <a:noFill/>
              </a:ln>
              <a:effectLst/>
            </c:spPr>
          </c:marker>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he-IL"/>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xVal>
            <c:strRef>
              <c:f>Sheet1!$A$2:$A$16</c:f>
              <c:strCache>
                <c:ptCount val="15"/>
                <c:pt idx="0">
                  <c:v>ישראל</c:v>
                </c:pt>
                <c:pt idx="1">
                  <c:v>ספרד</c:v>
                </c:pt>
                <c:pt idx="2">
                  <c:v>דרום קוריאה</c:v>
                </c:pt>
                <c:pt idx="3">
                  <c:v>הונגריה</c:v>
                </c:pt>
                <c:pt idx="4">
                  <c:v>נורווגיה</c:v>
                </c:pt>
                <c:pt idx="5">
                  <c:v>גרמניה</c:v>
                </c:pt>
                <c:pt idx="6">
                  <c:v>הולנד</c:v>
                </c:pt>
                <c:pt idx="7">
                  <c:v>ניו זילנד</c:v>
                </c:pt>
                <c:pt idx="8">
                  <c:v>שוודיה</c:v>
                </c:pt>
                <c:pt idx="9">
                  <c:v>פינלנד</c:v>
                </c:pt>
                <c:pt idx="10">
                  <c:v>סלובניה</c:v>
                </c:pt>
                <c:pt idx="11">
                  <c:v>אסטוניה</c:v>
                </c:pt>
                <c:pt idx="12">
                  <c:v>לוקסמבורג</c:v>
                </c:pt>
                <c:pt idx="13">
                  <c:v>שוויץ</c:v>
                </c:pt>
                <c:pt idx="14">
                  <c:v>אוסטרליה</c:v>
                </c:pt>
              </c:strCache>
            </c:strRef>
          </c:xVal>
          <c:yVal>
            <c:numRef>
              <c:f>Sheet1!$D$2:$D$16</c:f>
              <c:numCache>
                <c:formatCode>0.0</c:formatCode>
                <c:ptCount val="15"/>
                <c:pt idx="0">
                  <c:v>1.64</c:v>
                </c:pt>
                <c:pt idx="1">
                  <c:v>1.34</c:v>
                </c:pt>
                <c:pt idx="3">
                  <c:v>0.39</c:v>
                </c:pt>
                <c:pt idx="5">
                  <c:v>1.1000000000000001</c:v>
                </c:pt>
                <c:pt idx="8">
                  <c:v>1.78</c:v>
                </c:pt>
                <c:pt idx="9">
                  <c:v>0.75</c:v>
                </c:pt>
                <c:pt idx="10">
                  <c:v>0.81</c:v>
                </c:pt>
                <c:pt idx="11">
                  <c:v>1.27</c:v>
                </c:pt>
                <c:pt idx="12">
                  <c:v>1.75</c:v>
                </c:pt>
                <c:pt idx="13">
                  <c:v>1.92</c:v>
                </c:pt>
              </c:numCache>
            </c:numRef>
          </c:yVal>
          <c:smooth val="0"/>
          <c:extLst>
            <c:ext xmlns:c16="http://schemas.microsoft.com/office/drawing/2014/chart" uri="{C3380CC4-5D6E-409C-BE32-E72D297353CC}">
              <c16:uniqueId val="{00000001-1E1A-4809-8E97-19563F43A37A}"/>
            </c:ext>
          </c:extLst>
        </c:ser>
        <c:dLbls>
          <c:showLegendKey val="0"/>
          <c:showVal val="0"/>
          <c:showCatName val="0"/>
          <c:showSerName val="0"/>
          <c:showPercent val="0"/>
          <c:showBubbleSize val="0"/>
        </c:dLbls>
        <c:axId val="38849871"/>
        <c:axId val="38839055"/>
      </c:scatterChart>
      <c:catAx>
        <c:axId val="388498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38839055"/>
        <c:crosses val="autoZero"/>
        <c:auto val="1"/>
        <c:lblAlgn val="ctr"/>
        <c:lblOffset val="100"/>
        <c:noMultiLvlLbl val="0"/>
      </c:catAx>
      <c:valAx>
        <c:axId val="38839055"/>
        <c:scaling>
          <c:orientation val="minMax"/>
          <c:max val="6.1"/>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en-US" dirty="0"/>
                  <a:t>%</a:t>
                </a:r>
              </a:p>
            </c:rich>
          </c:tx>
          <c:layout>
            <c:manualLayout>
              <c:xMode val="edge"/>
              <c:yMode val="edge"/>
              <c:x val="2.8416779431664412E-2"/>
              <c:y val="0.3453659541042318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38849871"/>
        <c:crosses val="autoZero"/>
        <c:crossBetween val="between"/>
        <c:majorUnit val="6"/>
      </c:valAx>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he-IL"/>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 (2018)</a:t>
            </a:r>
          </a:p>
          <a:p>
            <a:pPr algn="ctr" rtl="1">
              <a:defRPr/>
            </a:pPr>
            <a:r>
              <a:rPr lang="he-IL" sz="1400" b="0" i="0" u="none" strike="noStrike" baseline="0">
                <a:solidFill>
                  <a:srgbClr val="93A2AE"/>
                </a:solidFill>
              </a:rPr>
              <a:t>(</a:t>
            </a:r>
            <a:r>
              <a:rPr lang="en-US" sz="1400" b="0" i="0" u="none" strike="noStrike" baseline="0">
                <a:solidFill>
                  <a:srgbClr val="93A2AE"/>
                </a:solidFill>
              </a:rPr>
              <a:t>Eurostat</a:t>
            </a:r>
            <a:r>
              <a:rPr lang="he-IL" sz="1400" b="0" i="0" u="none" strike="noStrike" baseline="0">
                <a:solidFill>
                  <a:srgbClr val="93A2AE"/>
                </a:solidFill>
              </a:rPr>
              <a:t>)</a:t>
            </a:r>
            <a:endParaRPr lang="en-US" sz="140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0.15545426246397376"/>
          <c:w val="0.91162209945703154"/>
          <c:h val="0.58158977831086089"/>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27"/>
            <c:invertIfNegative val="0"/>
            <c:bubble3D val="0"/>
            <c:spPr>
              <a:solidFill>
                <a:schemeClr val="accent1">
                  <a:lumMod val="50000"/>
                </a:schemeClr>
              </a:solidFill>
              <a:ln>
                <a:noFill/>
              </a:ln>
              <a:effectLst/>
            </c:spPr>
            <c:extLst>
              <c:ext xmlns:c16="http://schemas.microsoft.com/office/drawing/2014/chart" uri="{C3380CC4-5D6E-409C-BE32-E72D297353CC}">
                <c16:uniqueId val="{0000001A-3470-4B1E-AE3D-3266D971E83A}"/>
              </c:ext>
            </c:extLst>
          </c:dPt>
          <c:dLbls>
            <c:dLbl>
              <c:idx val="0"/>
              <c:tx>
                <c:rich>
                  <a:bodyPr/>
                  <a:lstStyle/>
                  <a:p>
                    <a:fld id="{0D8FDBEF-64DD-42F2-902D-F5FBDED0738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3470-4B1E-AE3D-3266D971E83A}"/>
                </c:ext>
              </c:extLst>
            </c:dLbl>
            <c:dLbl>
              <c:idx val="1"/>
              <c:tx>
                <c:rich>
                  <a:bodyPr/>
                  <a:lstStyle/>
                  <a:p>
                    <a:fld id="{4DC07B45-7311-42A9-8FE5-0681FD13C27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3470-4B1E-AE3D-3266D971E83A}"/>
                </c:ext>
              </c:extLst>
            </c:dLbl>
            <c:dLbl>
              <c:idx val="2"/>
              <c:tx>
                <c:rich>
                  <a:bodyPr/>
                  <a:lstStyle/>
                  <a:p>
                    <a:fld id="{EA17F519-77EF-45A6-BE4A-C490BF2FD28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3470-4B1E-AE3D-3266D971E83A}"/>
                </c:ext>
              </c:extLst>
            </c:dLbl>
            <c:dLbl>
              <c:idx val="3"/>
              <c:tx>
                <c:rich>
                  <a:bodyPr/>
                  <a:lstStyle/>
                  <a:p>
                    <a:fld id="{A747F07D-B9B8-438F-905F-3C2DA7B4A93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3470-4B1E-AE3D-3266D971E83A}"/>
                </c:ext>
              </c:extLst>
            </c:dLbl>
            <c:dLbl>
              <c:idx val="4"/>
              <c:tx>
                <c:rich>
                  <a:bodyPr/>
                  <a:lstStyle/>
                  <a:p>
                    <a:fld id="{76A1D8A2-752D-4A48-9985-BB361650FB0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3470-4B1E-AE3D-3266D971E83A}"/>
                </c:ext>
              </c:extLst>
            </c:dLbl>
            <c:dLbl>
              <c:idx val="5"/>
              <c:tx>
                <c:rich>
                  <a:bodyPr/>
                  <a:lstStyle/>
                  <a:p>
                    <a:fld id="{EB039FDD-6C17-4BD8-95EC-5C757EC1091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3470-4B1E-AE3D-3266D971E83A}"/>
                </c:ext>
              </c:extLst>
            </c:dLbl>
            <c:dLbl>
              <c:idx val="6"/>
              <c:tx>
                <c:rich>
                  <a:bodyPr/>
                  <a:lstStyle/>
                  <a:p>
                    <a:fld id="{998D96E3-7730-4AEC-92E4-ACC86A785DB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3470-4B1E-AE3D-3266D971E83A}"/>
                </c:ext>
              </c:extLst>
            </c:dLbl>
            <c:dLbl>
              <c:idx val="7"/>
              <c:tx>
                <c:rich>
                  <a:bodyPr/>
                  <a:lstStyle/>
                  <a:p>
                    <a:fld id="{3B2128A8-2474-4429-8670-32F242D9937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3470-4B1E-AE3D-3266D971E83A}"/>
                </c:ext>
              </c:extLst>
            </c:dLbl>
            <c:dLbl>
              <c:idx val="8"/>
              <c:tx>
                <c:rich>
                  <a:bodyPr/>
                  <a:lstStyle/>
                  <a:p>
                    <a:fld id="{457E32A9-1023-4ED9-944B-48BAE3C159C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3470-4B1E-AE3D-3266D971E83A}"/>
                </c:ext>
              </c:extLst>
            </c:dLbl>
            <c:dLbl>
              <c:idx val="9"/>
              <c:tx>
                <c:rich>
                  <a:bodyPr/>
                  <a:lstStyle/>
                  <a:p>
                    <a:fld id="{69A22175-39EC-4D9D-89BD-873396A0AC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3470-4B1E-AE3D-3266D971E83A}"/>
                </c:ext>
              </c:extLst>
            </c:dLbl>
            <c:dLbl>
              <c:idx val="10"/>
              <c:tx>
                <c:rich>
                  <a:bodyPr/>
                  <a:lstStyle/>
                  <a:p>
                    <a:fld id="{A2A2E967-86E3-49F5-8143-0DA544BE8B4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3470-4B1E-AE3D-3266D971E83A}"/>
                </c:ext>
              </c:extLst>
            </c:dLbl>
            <c:dLbl>
              <c:idx val="11"/>
              <c:tx>
                <c:rich>
                  <a:bodyPr/>
                  <a:lstStyle/>
                  <a:p>
                    <a:fld id="{2ECEA5E4-21DC-4132-B1E2-E0EE1C2C69DC}"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3470-4B1E-AE3D-3266D971E83A}"/>
                </c:ext>
              </c:extLst>
            </c:dLbl>
            <c:dLbl>
              <c:idx val="12"/>
              <c:tx>
                <c:rich>
                  <a:bodyPr/>
                  <a:lstStyle/>
                  <a:p>
                    <a:fld id="{9DB817B9-813E-490A-A727-394648DA52C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3470-4B1E-AE3D-3266D971E83A}"/>
                </c:ext>
              </c:extLst>
            </c:dLbl>
            <c:dLbl>
              <c:idx val="13"/>
              <c:tx>
                <c:rich>
                  <a:bodyPr/>
                  <a:lstStyle/>
                  <a:p>
                    <a:fld id="{F1BC9FB9-5496-474D-9E6A-F878F4454C8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3470-4B1E-AE3D-3266D971E83A}"/>
                </c:ext>
              </c:extLst>
            </c:dLbl>
            <c:dLbl>
              <c:idx val="14"/>
              <c:tx>
                <c:rich>
                  <a:bodyPr/>
                  <a:lstStyle/>
                  <a:p>
                    <a:fld id="{FC14AAD0-4418-46A0-ACF9-92F9033C354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3470-4B1E-AE3D-3266D971E83A}"/>
                </c:ext>
              </c:extLst>
            </c:dLbl>
            <c:dLbl>
              <c:idx val="15"/>
              <c:tx>
                <c:rich>
                  <a:bodyPr/>
                  <a:lstStyle/>
                  <a:p>
                    <a:fld id="{D27CF14A-628C-4E95-AD36-48FB2D47E1F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3470-4B1E-AE3D-3266D971E83A}"/>
                </c:ext>
              </c:extLst>
            </c:dLbl>
            <c:dLbl>
              <c:idx val="16"/>
              <c:tx>
                <c:rich>
                  <a:bodyPr/>
                  <a:lstStyle/>
                  <a:p>
                    <a:fld id="{3B112984-C5A5-454D-B751-8224450F12A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3470-4B1E-AE3D-3266D971E83A}"/>
                </c:ext>
              </c:extLst>
            </c:dLbl>
            <c:dLbl>
              <c:idx val="17"/>
              <c:tx>
                <c:rich>
                  <a:bodyPr/>
                  <a:lstStyle/>
                  <a:p>
                    <a:fld id="{2B3C7CD2-06EC-4002-B92A-7A404DAA70F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3470-4B1E-AE3D-3266D971E83A}"/>
                </c:ext>
              </c:extLst>
            </c:dLbl>
            <c:dLbl>
              <c:idx val="18"/>
              <c:tx>
                <c:rich>
                  <a:bodyPr/>
                  <a:lstStyle/>
                  <a:p>
                    <a:fld id="{2160F152-ECC7-4FD2-8D0E-CDCB61325E7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3470-4B1E-AE3D-3266D971E83A}"/>
                </c:ext>
              </c:extLst>
            </c:dLbl>
            <c:dLbl>
              <c:idx val="19"/>
              <c:tx>
                <c:rich>
                  <a:bodyPr/>
                  <a:lstStyle/>
                  <a:p>
                    <a:fld id="{1769EFAB-EA7B-491E-9908-D7A86FF5BC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3470-4B1E-AE3D-3266D971E83A}"/>
                </c:ext>
              </c:extLst>
            </c:dLbl>
            <c:dLbl>
              <c:idx val="20"/>
              <c:tx>
                <c:rich>
                  <a:bodyPr/>
                  <a:lstStyle/>
                  <a:p>
                    <a:fld id="{4F57D7A5-E955-47A0-AC44-5FDBFD4116F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BDC0-4612-BC0D-6DF39C79AC4A}"/>
                </c:ext>
              </c:extLst>
            </c:dLbl>
            <c:dLbl>
              <c:idx val="21"/>
              <c:tx>
                <c:rich>
                  <a:bodyPr/>
                  <a:lstStyle/>
                  <a:p>
                    <a:fld id="{4333D932-A6B4-4593-9766-A7E25EB8188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3470-4B1E-AE3D-3266D971E83A}"/>
                </c:ext>
              </c:extLst>
            </c:dLbl>
            <c:dLbl>
              <c:idx val="22"/>
              <c:tx>
                <c:rich>
                  <a:bodyPr/>
                  <a:lstStyle/>
                  <a:p>
                    <a:fld id="{D6CCDABA-A695-426F-BF4F-D44B9D2989F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3470-4B1E-AE3D-3266D971E83A}"/>
                </c:ext>
              </c:extLst>
            </c:dLbl>
            <c:dLbl>
              <c:idx val="23"/>
              <c:tx>
                <c:rich>
                  <a:bodyPr/>
                  <a:lstStyle/>
                  <a:p>
                    <a:fld id="{160459DC-E4E5-4AC1-A9C3-2E0BED9DA02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3470-4B1E-AE3D-3266D971E83A}"/>
                </c:ext>
              </c:extLst>
            </c:dLbl>
            <c:dLbl>
              <c:idx val="24"/>
              <c:tx>
                <c:rich>
                  <a:bodyPr/>
                  <a:lstStyle/>
                  <a:p>
                    <a:fld id="{1B9B6077-3264-4157-905E-54E8AEE83E8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3470-4B1E-AE3D-3266D971E83A}"/>
                </c:ext>
              </c:extLst>
            </c:dLbl>
            <c:dLbl>
              <c:idx val="25"/>
              <c:tx>
                <c:rich>
                  <a:bodyPr/>
                  <a:lstStyle/>
                  <a:p>
                    <a:fld id="{9D999DD2-0B18-4D82-9EF5-392938EA23A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3470-4B1E-AE3D-3266D971E83A}"/>
                </c:ext>
              </c:extLst>
            </c:dLbl>
            <c:dLbl>
              <c:idx val="26"/>
              <c:tx>
                <c:rich>
                  <a:bodyPr/>
                  <a:lstStyle/>
                  <a:p>
                    <a:fld id="{65B766D1-2696-4540-BC69-B09A989C056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3470-4B1E-AE3D-3266D971E83A}"/>
                </c:ext>
              </c:extLst>
            </c:dLbl>
            <c:dLbl>
              <c:idx val="27"/>
              <c:tx>
                <c:rich>
                  <a:bodyPr/>
                  <a:lstStyle/>
                  <a:p>
                    <a:fld id="{F67ED956-5383-48CB-9032-78AFD0CB685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3470-4B1E-AE3D-3266D971E83A}"/>
                </c:ext>
              </c:extLst>
            </c:dLbl>
            <c:dLbl>
              <c:idx val="28"/>
              <c:tx>
                <c:rich>
                  <a:bodyPr/>
                  <a:lstStyle/>
                  <a:p>
                    <a:fld id="{542568CF-24D3-4876-8C85-B343DDE0D48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3470-4B1E-AE3D-3266D971E83A}"/>
                </c:ext>
              </c:extLst>
            </c:dLbl>
            <c:dLbl>
              <c:idx val="29"/>
              <c:tx>
                <c:rich>
                  <a:bodyPr/>
                  <a:lstStyle/>
                  <a:p>
                    <a:fld id="{127AAC5C-989F-41C8-BFBB-C9482469331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3470-4B1E-AE3D-3266D971E83A}"/>
                </c:ext>
              </c:extLst>
            </c:dLbl>
            <c:dLbl>
              <c:idx val="30"/>
              <c:tx>
                <c:rich>
                  <a:bodyPr/>
                  <a:lstStyle/>
                  <a:p>
                    <a:fld id="{F69CA47B-E7CB-4AFF-98C3-6531561E80B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3470-4B1E-AE3D-3266D971E83A}"/>
                </c:ext>
              </c:extLst>
            </c:dLbl>
            <c:dLbl>
              <c:idx val="31"/>
              <c:tx>
                <c:rich>
                  <a:bodyPr/>
                  <a:lstStyle/>
                  <a:p>
                    <a:fld id="{3BE4E8FF-759C-4DD3-8E47-992E603DBF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3470-4B1E-AE3D-3266D971E83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Sheet1!$B$2:$B$33</c:f>
              <c:numCache>
                <c:formatCode>0</c:formatCode>
                <c:ptCount val="32"/>
                <c:pt idx="0">
                  <c:v>10.199999999999999</c:v>
                </c:pt>
                <c:pt idx="1">
                  <c:v>5.9</c:v>
                </c:pt>
                <c:pt idx="2">
                  <c:v>7.4</c:v>
                </c:pt>
                <c:pt idx="3">
                  <c:v>4.7</c:v>
                </c:pt>
                <c:pt idx="4">
                  <c:v>4.5999999999999996</c:v>
                </c:pt>
                <c:pt idx="5">
                  <c:v>5</c:v>
                </c:pt>
                <c:pt idx="6">
                  <c:v>6.3</c:v>
                </c:pt>
                <c:pt idx="7">
                  <c:v>8.5</c:v>
                </c:pt>
                <c:pt idx="8">
                  <c:v>8.8000000000000007</c:v>
                </c:pt>
                <c:pt idx="9">
                  <c:v>5.8</c:v>
                </c:pt>
                <c:pt idx="10">
                  <c:v>11.8</c:v>
                </c:pt>
                <c:pt idx="11">
                  <c:v>9.5</c:v>
                </c:pt>
                <c:pt idx="12">
                  <c:v>10.7</c:v>
                </c:pt>
                <c:pt idx="13">
                  <c:v>12.2</c:v>
                </c:pt>
                <c:pt idx="14">
                  <c:v>10</c:v>
                </c:pt>
                <c:pt idx="15">
                  <c:v>7.4</c:v>
                </c:pt>
                <c:pt idx="16">
                  <c:v>13.8</c:v>
                </c:pt>
                <c:pt idx="17">
                  <c:v>15.8</c:v>
                </c:pt>
                <c:pt idx="18">
                  <c:v>15.6</c:v>
                </c:pt>
                <c:pt idx="19">
                  <c:v>6.9</c:v>
                </c:pt>
                <c:pt idx="20">
                  <c:v>7.4</c:v>
                </c:pt>
                <c:pt idx="21">
                  <c:v>7.2</c:v>
                </c:pt>
                <c:pt idx="22">
                  <c:v>11.4</c:v>
                </c:pt>
                <c:pt idx="23">
                  <c:v>6.9</c:v>
                </c:pt>
                <c:pt idx="24">
                  <c:v>9.4</c:v>
                </c:pt>
                <c:pt idx="25">
                  <c:v>8.8000000000000007</c:v>
                </c:pt>
                <c:pt idx="26">
                  <c:v>14.5</c:v>
                </c:pt>
                <c:pt idx="27">
                  <c:v>10.6</c:v>
                </c:pt>
                <c:pt idx="28">
                  <c:v>9.1999999999999993</c:v>
                </c:pt>
                <c:pt idx="29">
                  <c:v>10.199999999999999</c:v>
                </c:pt>
                <c:pt idx="30">
                  <c:v>11.3</c:v>
                </c:pt>
                <c:pt idx="31">
                  <c:v>11.3</c:v>
                </c:pt>
              </c:numCache>
            </c:numRef>
          </c:val>
          <c:extLst>
            <c:ext xmlns:c15="http://schemas.microsoft.com/office/drawing/2012/chart" uri="{02D57815-91ED-43cb-92C2-25804820EDAC}">
              <c15:datalabelsRange>
                <c15:f>Sheet1!$G$2:$G$33</c15:f>
                <c15:dlblRangeCache>
                  <c:ptCount val="32"/>
                  <c:pt idx="0">
                    <c:v>57</c:v>
                  </c:pt>
                  <c:pt idx="1">
                    <c:v>32</c:v>
                  </c:pt>
                  <c:pt idx="2">
                    <c:v>40</c:v>
                  </c:pt>
                  <c:pt idx="3">
                    <c:v>25</c:v>
                  </c:pt>
                  <c:pt idx="4">
                    <c:v>24</c:v>
                  </c:pt>
                  <c:pt idx="5">
                    <c:v>26</c:v>
                  </c:pt>
                  <c:pt idx="6">
                    <c:v>32</c:v>
                  </c:pt>
                  <c:pt idx="7">
                    <c:v>43</c:v>
                  </c:pt>
                  <c:pt idx="8">
                    <c:v>44</c:v>
                  </c:pt>
                  <c:pt idx="9">
                    <c:v>28</c:v>
                  </c:pt>
                  <c:pt idx="10">
                    <c:v>57</c:v>
                  </c:pt>
                  <c:pt idx="11">
                    <c:v>45</c:v>
                  </c:pt>
                  <c:pt idx="12">
                    <c:v>51</c:v>
                  </c:pt>
                  <c:pt idx="13">
                    <c:v>58</c:v>
                  </c:pt>
                  <c:pt idx="14">
                    <c:v>47</c:v>
                  </c:pt>
                  <c:pt idx="15">
                    <c:v>34</c:v>
                  </c:pt>
                  <c:pt idx="16">
                    <c:v>64</c:v>
                  </c:pt>
                  <c:pt idx="17">
                    <c:v>73</c:v>
                  </c:pt>
                  <c:pt idx="18">
                    <c:v>72</c:v>
                  </c:pt>
                  <c:pt idx="19">
                    <c:v>32</c:v>
                  </c:pt>
                  <c:pt idx="20">
                    <c:v>34</c:v>
                  </c:pt>
                  <c:pt idx="21">
                    <c:v>33</c:v>
                  </c:pt>
                  <c:pt idx="22">
                    <c:v>52</c:v>
                  </c:pt>
                  <c:pt idx="23">
                    <c:v>31</c:v>
                  </c:pt>
                  <c:pt idx="24">
                    <c:v>43</c:v>
                  </c:pt>
                  <c:pt idx="25">
                    <c:v>40</c:v>
                  </c:pt>
                  <c:pt idx="26">
                    <c:v>65</c:v>
                  </c:pt>
                  <c:pt idx="27">
                    <c:v>47</c:v>
                  </c:pt>
                  <c:pt idx="28">
                    <c:v>40</c:v>
                  </c:pt>
                  <c:pt idx="29">
                    <c:v>44</c:v>
                  </c:pt>
                  <c:pt idx="30">
                    <c:v>48</c:v>
                  </c:pt>
                  <c:pt idx="31">
                    <c:v>47</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27"/>
            <c:invertIfNegative val="0"/>
            <c:bubble3D val="0"/>
            <c:spPr>
              <a:solidFill>
                <a:schemeClr val="accent1"/>
              </a:solidFill>
              <a:ln>
                <a:noFill/>
              </a:ln>
              <a:effectLst/>
            </c:spPr>
            <c:extLst>
              <c:ext xmlns:c16="http://schemas.microsoft.com/office/drawing/2014/chart" uri="{C3380CC4-5D6E-409C-BE32-E72D297353CC}">
                <c16:uniqueId val="{00000003-F5BE-4B47-975E-C19DB99C136A}"/>
              </c:ext>
            </c:extLst>
          </c:dPt>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Sheet1!$C$2:$C$33</c:f>
              <c:numCache>
                <c:formatCode>0</c:formatCode>
                <c:ptCount val="32"/>
                <c:pt idx="0">
                  <c:v>7.8000000000000007</c:v>
                </c:pt>
                <c:pt idx="1">
                  <c:v>12.499999999999998</c:v>
                </c:pt>
                <c:pt idx="2">
                  <c:v>11.1</c:v>
                </c:pt>
                <c:pt idx="3">
                  <c:v>14.3</c:v>
                </c:pt>
                <c:pt idx="4">
                  <c:v>14.700000000000001</c:v>
                </c:pt>
                <c:pt idx="5">
                  <c:v>14.3</c:v>
                </c:pt>
                <c:pt idx="6">
                  <c:v>13.399999999999999</c:v>
                </c:pt>
                <c:pt idx="7">
                  <c:v>11.3</c:v>
                </c:pt>
                <c:pt idx="8">
                  <c:v>11.3</c:v>
                </c:pt>
                <c:pt idx="9">
                  <c:v>14.8</c:v>
                </c:pt>
                <c:pt idx="10">
                  <c:v>8.8999999999999986</c:v>
                </c:pt>
                <c:pt idx="11">
                  <c:v>11.600000000000001</c:v>
                </c:pt>
                <c:pt idx="12">
                  <c:v>10.400000000000002</c:v>
                </c:pt>
                <c:pt idx="13">
                  <c:v>8.9000000000000021</c:v>
                </c:pt>
                <c:pt idx="14">
                  <c:v>11.5</c:v>
                </c:pt>
                <c:pt idx="15">
                  <c:v>14.200000000000001</c:v>
                </c:pt>
                <c:pt idx="16">
                  <c:v>7.8000000000000007</c:v>
                </c:pt>
                <c:pt idx="17">
                  <c:v>5.8000000000000007</c:v>
                </c:pt>
                <c:pt idx="18">
                  <c:v>6.1</c:v>
                </c:pt>
                <c:pt idx="19">
                  <c:v>14.9</c:v>
                </c:pt>
                <c:pt idx="20">
                  <c:v>14.4</c:v>
                </c:pt>
                <c:pt idx="21">
                  <c:v>14.7</c:v>
                </c:pt>
                <c:pt idx="22">
                  <c:v>10.499999999999998</c:v>
                </c:pt>
                <c:pt idx="23">
                  <c:v>15.1</c:v>
                </c:pt>
                <c:pt idx="24">
                  <c:v>12.6</c:v>
                </c:pt>
                <c:pt idx="25">
                  <c:v>13.3</c:v>
                </c:pt>
                <c:pt idx="26">
                  <c:v>7.8000000000000007</c:v>
                </c:pt>
                <c:pt idx="27">
                  <c:v>11.8</c:v>
                </c:pt>
                <c:pt idx="28">
                  <c:v>13.600000000000001</c:v>
                </c:pt>
                <c:pt idx="29">
                  <c:v>12.8</c:v>
                </c:pt>
                <c:pt idx="30">
                  <c:v>12.2</c:v>
                </c:pt>
                <c:pt idx="31">
                  <c:v>12.5</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Bulgaria</c:v>
                </c:pt>
                <c:pt idx="1">
                  <c:v>Romania</c:v>
                </c:pt>
                <c:pt idx="2">
                  <c:v>Hungary</c:v>
                </c:pt>
                <c:pt idx="3">
                  <c:v>Latvia</c:v>
                </c:pt>
                <c:pt idx="4">
                  <c:v>Slovakia</c:v>
                </c:pt>
                <c:pt idx="5">
                  <c:v>Croatia</c:v>
                </c:pt>
                <c:pt idx="6">
                  <c:v>Lithuania</c:v>
                </c:pt>
                <c:pt idx="7">
                  <c:v>Czechia</c:v>
                </c:pt>
                <c:pt idx="8">
                  <c:v>Poland</c:v>
                </c:pt>
                <c:pt idx="9">
                  <c:v>Estonia</c:v>
                </c:pt>
                <c:pt idx="10">
                  <c:v>Denmark</c:v>
                </c:pt>
                <c:pt idx="11">
                  <c:v>Netherlands</c:v>
                </c:pt>
                <c:pt idx="12">
                  <c:v>United Kingdom</c:v>
                </c:pt>
                <c:pt idx="13">
                  <c:v>Germany</c:v>
                </c:pt>
                <c:pt idx="14">
                  <c:v>European Union</c:v>
                </c:pt>
                <c:pt idx="15">
                  <c:v>Austria</c:v>
                </c:pt>
                <c:pt idx="16">
                  <c:v>Ireland</c:v>
                </c:pt>
                <c:pt idx="17">
                  <c:v>Sweden</c:v>
                </c:pt>
                <c:pt idx="18">
                  <c:v>Norway</c:v>
                </c:pt>
                <c:pt idx="19">
                  <c:v>Cyprus</c:v>
                </c:pt>
                <c:pt idx="20">
                  <c:v>Slovenia</c:v>
                </c:pt>
                <c:pt idx="21">
                  <c:v>Greece</c:v>
                </c:pt>
                <c:pt idx="22">
                  <c:v>Belgium</c:v>
                </c:pt>
                <c:pt idx="23">
                  <c:v>Portugal</c:v>
                </c:pt>
                <c:pt idx="24">
                  <c:v>Finland</c:v>
                </c:pt>
                <c:pt idx="25">
                  <c:v>Luxembourg</c:v>
                </c:pt>
                <c:pt idx="26">
                  <c:v>Malta</c:v>
                </c:pt>
                <c:pt idx="27">
                  <c:v>Israel</c:v>
                </c:pt>
                <c:pt idx="28">
                  <c:v>Italy</c:v>
                </c:pt>
                <c:pt idx="29">
                  <c:v>Switzerland</c:v>
                </c:pt>
                <c:pt idx="30">
                  <c:v>Spain</c:v>
                </c:pt>
                <c:pt idx="31">
                  <c:v>France</c:v>
                </c:pt>
              </c:strCache>
            </c:strRef>
          </c:cat>
          <c:val>
            <c:numRef>
              <c:f>Sheet1!$D$2:$D$33</c:f>
              <c:numCache>
                <c:formatCode>0</c:formatCode>
                <c:ptCount val="32"/>
                <c:pt idx="0">
                  <c:v>18</c:v>
                </c:pt>
                <c:pt idx="1">
                  <c:v>18.399999999999999</c:v>
                </c:pt>
                <c:pt idx="2">
                  <c:v>18.5</c:v>
                </c:pt>
                <c:pt idx="3">
                  <c:v>19</c:v>
                </c:pt>
                <c:pt idx="4">
                  <c:v>19.3</c:v>
                </c:pt>
                <c:pt idx="5">
                  <c:v>19.3</c:v>
                </c:pt>
                <c:pt idx="6">
                  <c:v>19.7</c:v>
                </c:pt>
                <c:pt idx="7">
                  <c:v>19.8</c:v>
                </c:pt>
                <c:pt idx="8">
                  <c:v>20.100000000000001</c:v>
                </c:pt>
                <c:pt idx="9">
                  <c:v>20.6</c:v>
                </c:pt>
                <c:pt idx="10">
                  <c:v>20.7</c:v>
                </c:pt>
                <c:pt idx="11">
                  <c:v>21.1</c:v>
                </c:pt>
                <c:pt idx="12">
                  <c:v>21.1</c:v>
                </c:pt>
                <c:pt idx="13">
                  <c:v>21.1</c:v>
                </c:pt>
                <c:pt idx="14">
                  <c:v>21.5</c:v>
                </c:pt>
                <c:pt idx="15">
                  <c:v>21.6</c:v>
                </c:pt>
                <c:pt idx="16">
                  <c:v>21.6</c:v>
                </c:pt>
                <c:pt idx="17">
                  <c:v>21.6</c:v>
                </c:pt>
                <c:pt idx="18">
                  <c:v>21.7</c:v>
                </c:pt>
                <c:pt idx="19">
                  <c:v>21.8</c:v>
                </c:pt>
                <c:pt idx="20">
                  <c:v>21.8</c:v>
                </c:pt>
                <c:pt idx="21">
                  <c:v>21.9</c:v>
                </c:pt>
                <c:pt idx="22">
                  <c:v>21.9</c:v>
                </c:pt>
                <c:pt idx="23">
                  <c:v>22</c:v>
                </c:pt>
                <c:pt idx="24">
                  <c:v>22</c:v>
                </c:pt>
                <c:pt idx="25">
                  <c:v>22.1</c:v>
                </c:pt>
                <c:pt idx="26">
                  <c:v>22.3</c:v>
                </c:pt>
                <c:pt idx="27">
                  <c:v>22.4</c:v>
                </c:pt>
                <c:pt idx="28">
                  <c:v>22.8</c:v>
                </c:pt>
                <c:pt idx="29">
                  <c:v>23</c:v>
                </c:pt>
                <c:pt idx="30">
                  <c:v>23.5</c:v>
                </c:pt>
                <c:pt idx="31">
                  <c:v>23.8</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0.43668651472548758"/>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נשים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21032071061381816"/>
          <c:y val="2.55487472166682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8638968439012202"/>
          <c:y val="0.15545426246397376"/>
          <c:w val="0.68702069715970326"/>
          <c:h val="0.58096363989292954"/>
        </c:manualLayout>
      </c:layout>
      <c:barChart>
        <c:barDir val="col"/>
        <c:grouping val="stacked"/>
        <c:varyColors val="0"/>
        <c:ser>
          <c:idx val="0"/>
          <c:order val="0"/>
          <c:tx>
            <c:strRef>
              <c:f>Sheet1!$B$1</c:f>
              <c:strCache>
                <c:ptCount val="1"/>
                <c:pt idx="0">
                  <c:v>בלי מוגבלות</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9.8000000000000007</c:v>
                </c:pt>
                <c:pt idx="1">
                  <c:v>10.4</c:v>
                </c:pt>
                <c:pt idx="2">
                  <c:v>10.3</c:v>
                </c:pt>
                <c:pt idx="3">
                  <c:v>10.6</c:v>
                </c:pt>
                <c:pt idx="4">
                  <c:v>10.1</c:v>
                </c:pt>
                <c:pt idx="5">
                  <c:v>10.5</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11.9</c:v>
                </c:pt>
                <c:pt idx="1">
                  <c:v>11.5</c:v>
                </c:pt>
                <c:pt idx="2">
                  <c:v>12</c:v>
                </c:pt>
                <c:pt idx="3">
                  <c:v>11.8</c:v>
                </c:pt>
                <c:pt idx="4">
                  <c:v>12.1</c:v>
                </c:pt>
                <c:pt idx="5">
                  <c:v>11.6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21.7</c:v>
                </c:pt>
                <c:pt idx="1">
                  <c:v>21.9</c:v>
                </c:pt>
                <c:pt idx="2">
                  <c:v>22.3</c:v>
                </c:pt>
                <c:pt idx="3">
                  <c:v>22.4</c:v>
                </c:pt>
                <c:pt idx="4">
                  <c:v>22.2</c:v>
                </c:pt>
                <c:pt idx="5">
                  <c:v>22.1</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5"/>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dirty="0">
                <a:solidFill>
                  <a:schemeClr val="accent6">
                    <a:lumMod val="50000"/>
                  </a:schemeClr>
                </a:solidFill>
              </a:rPr>
              <a:t>תוחלת חיים בגיל 65 – גברים (2018)</a:t>
            </a:r>
          </a:p>
          <a:p>
            <a:pPr algn="ctr" rtl="1">
              <a:defRPr/>
            </a:pPr>
            <a:r>
              <a:rPr lang="he-IL" sz="1400" b="0" i="0" u="none" strike="noStrike" baseline="0" dirty="0">
                <a:solidFill>
                  <a:srgbClr val="93A2AE"/>
                </a:solidFill>
              </a:rPr>
              <a:t>(</a:t>
            </a:r>
            <a:r>
              <a:rPr lang="en-US" sz="1400" b="0" i="0" u="none" strike="noStrike" baseline="0" dirty="0">
                <a:solidFill>
                  <a:srgbClr val="93A2AE"/>
                </a:solidFill>
              </a:rPr>
              <a:t>Eurostat</a:t>
            </a:r>
            <a:r>
              <a:rPr lang="he-IL" sz="1400" b="0" i="0" u="none" strike="noStrike" baseline="0" dirty="0">
                <a:solidFill>
                  <a:srgbClr val="93A2AE"/>
                </a:solidFill>
              </a:rPr>
              <a:t>)</a:t>
            </a:r>
            <a:endParaRPr lang="en-US" sz="1400" dirty="0">
              <a:solidFill>
                <a:srgbClr val="93A2AE"/>
              </a:solidFill>
            </a:endParaRPr>
          </a:p>
        </c:rich>
      </c:tx>
      <c:layout>
        <c:manualLayout>
          <c:xMode val="edge"/>
          <c:yMode val="edge"/>
          <c:x val="0.36309494820767874"/>
          <c:y val="2.2071721459025716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7.5152689418412605E-2"/>
          <c:y val="9.6344824584050512E-2"/>
          <c:w val="0.91162209945703154"/>
          <c:h val="0.64069921619078418"/>
        </c:manualLayout>
      </c:layout>
      <c:barChart>
        <c:barDir val="col"/>
        <c:grouping val="stacked"/>
        <c:varyColors val="0"/>
        <c:ser>
          <c:idx val="0"/>
          <c:order val="0"/>
          <c:tx>
            <c:strRef>
              <c:f>Sheet1!$B$1</c:f>
              <c:strCache>
                <c:ptCount val="1"/>
                <c:pt idx="0">
                  <c:v>בריאים</c:v>
                </c:pt>
              </c:strCache>
            </c:strRef>
          </c:tx>
          <c:spPr>
            <a:solidFill>
              <a:schemeClr val="accent6">
                <a:lumMod val="50000"/>
              </a:schemeClr>
            </a:solidFill>
            <a:ln>
              <a:noFill/>
            </a:ln>
            <a:effectLst/>
          </c:spPr>
          <c:invertIfNegative val="0"/>
          <c:dPt>
            <c:idx val="30"/>
            <c:invertIfNegative val="0"/>
            <c:bubble3D val="0"/>
            <c:spPr>
              <a:solidFill>
                <a:schemeClr val="accent1">
                  <a:lumMod val="50000"/>
                </a:schemeClr>
              </a:solidFill>
              <a:ln>
                <a:noFill/>
              </a:ln>
              <a:effectLst/>
            </c:spPr>
            <c:extLst>
              <c:ext xmlns:c16="http://schemas.microsoft.com/office/drawing/2014/chart" uri="{C3380CC4-5D6E-409C-BE32-E72D297353CC}">
                <c16:uniqueId val="{0000001D-778D-4B2A-9D3A-2AD86BDB584A}"/>
              </c:ext>
            </c:extLst>
          </c:dPt>
          <c:dLbls>
            <c:dLbl>
              <c:idx val="0"/>
              <c:tx>
                <c:rich>
                  <a:bodyPr/>
                  <a:lstStyle/>
                  <a:p>
                    <a:fld id="{4B3B5595-4E43-4D59-867B-10ADA8DC0C4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0-778D-4B2A-9D3A-2AD86BDB584A}"/>
                </c:ext>
              </c:extLst>
            </c:dLbl>
            <c:dLbl>
              <c:idx val="1"/>
              <c:tx>
                <c:rich>
                  <a:bodyPr/>
                  <a:lstStyle/>
                  <a:p>
                    <a:fld id="{D6EE47DC-67E9-4FAC-B036-0982DDD4EE6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778D-4B2A-9D3A-2AD86BDB584A}"/>
                </c:ext>
              </c:extLst>
            </c:dLbl>
            <c:dLbl>
              <c:idx val="2"/>
              <c:tx>
                <c:rich>
                  <a:bodyPr/>
                  <a:lstStyle/>
                  <a:p>
                    <a:fld id="{8AD16676-7B86-4300-BFE3-B951641EF75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2-778D-4B2A-9D3A-2AD86BDB584A}"/>
                </c:ext>
              </c:extLst>
            </c:dLbl>
            <c:dLbl>
              <c:idx val="3"/>
              <c:tx>
                <c:rich>
                  <a:bodyPr/>
                  <a:lstStyle/>
                  <a:p>
                    <a:fld id="{E3475600-2202-4288-A518-375D5E0408F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3-778D-4B2A-9D3A-2AD86BDB584A}"/>
                </c:ext>
              </c:extLst>
            </c:dLbl>
            <c:dLbl>
              <c:idx val="4"/>
              <c:tx>
                <c:rich>
                  <a:bodyPr/>
                  <a:lstStyle/>
                  <a:p>
                    <a:fld id="{58194C7C-E6E8-431D-B563-23A6DE6769A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778D-4B2A-9D3A-2AD86BDB584A}"/>
                </c:ext>
              </c:extLst>
            </c:dLbl>
            <c:dLbl>
              <c:idx val="5"/>
              <c:tx>
                <c:rich>
                  <a:bodyPr/>
                  <a:lstStyle/>
                  <a:p>
                    <a:fld id="{94548CA7-4E5C-4F5C-9830-E177A9F2D57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5-778D-4B2A-9D3A-2AD86BDB584A}"/>
                </c:ext>
              </c:extLst>
            </c:dLbl>
            <c:dLbl>
              <c:idx val="6"/>
              <c:tx>
                <c:rich>
                  <a:bodyPr/>
                  <a:lstStyle/>
                  <a:p>
                    <a:fld id="{FAAF6064-C320-4C9B-8C14-3330F198B1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6-778D-4B2A-9D3A-2AD86BDB584A}"/>
                </c:ext>
              </c:extLst>
            </c:dLbl>
            <c:dLbl>
              <c:idx val="7"/>
              <c:tx>
                <c:rich>
                  <a:bodyPr/>
                  <a:lstStyle/>
                  <a:p>
                    <a:fld id="{C374443C-A9FA-426B-833D-39FE3215ECBE}"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778D-4B2A-9D3A-2AD86BDB584A}"/>
                </c:ext>
              </c:extLst>
            </c:dLbl>
            <c:dLbl>
              <c:idx val="8"/>
              <c:tx>
                <c:rich>
                  <a:bodyPr/>
                  <a:lstStyle/>
                  <a:p>
                    <a:fld id="{1F59B3A8-8419-47DF-B334-FD5C2FA965A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8-778D-4B2A-9D3A-2AD86BDB584A}"/>
                </c:ext>
              </c:extLst>
            </c:dLbl>
            <c:dLbl>
              <c:idx val="9"/>
              <c:tx>
                <c:rich>
                  <a:bodyPr/>
                  <a:lstStyle/>
                  <a:p>
                    <a:fld id="{9341CF6A-7EB5-435C-9A79-15E72E3CB60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9-778D-4B2A-9D3A-2AD86BDB584A}"/>
                </c:ext>
              </c:extLst>
            </c:dLbl>
            <c:dLbl>
              <c:idx val="10"/>
              <c:tx>
                <c:rich>
                  <a:bodyPr/>
                  <a:lstStyle/>
                  <a:p>
                    <a:fld id="{F4C978A6-EE2D-4BC6-A137-B3E801B772D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A-778D-4B2A-9D3A-2AD86BDB584A}"/>
                </c:ext>
              </c:extLst>
            </c:dLbl>
            <c:dLbl>
              <c:idx val="11"/>
              <c:tx>
                <c:rich>
                  <a:bodyPr/>
                  <a:lstStyle/>
                  <a:p>
                    <a:fld id="{73360FA8-A705-427D-8D4E-FC4A7E9B6B59}"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B-778D-4B2A-9D3A-2AD86BDB584A}"/>
                </c:ext>
              </c:extLst>
            </c:dLbl>
            <c:dLbl>
              <c:idx val="12"/>
              <c:tx>
                <c:rich>
                  <a:bodyPr/>
                  <a:lstStyle/>
                  <a:p>
                    <a:fld id="{641D0224-C803-4B7A-96EC-8F60FA3D00D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C-778D-4B2A-9D3A-2AD86BDB584A}"/>
                </c:ext>
              </c:extLst>
            </c:dLbl>
            <c:dLbl>
              <c:idx val="13"/>
              <c:tx>
                <c:rich>
                  <a:bodyPr/>
                  <a:lstStyle/>
                  <a:p>
                    <a:fld id="{CFEF9CFA-3460-46D4-A8EC-F6E7E5463AD0}"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D-778D-4B2A-9D3A-2AD86BDB584A}"/>
                </c:ext>
              </c:extLst>
            </c:dLbl>
            <c:dLbl>
              <c:idx val="14"/>
              <c:tx>
                <c:rich>
                  <a:bodyPr/>
                  <a:lstStyle/>
                  <a:p>
                    <a:fld id="{F7C22B21-46D9-4F7C-A169-8E97BF56210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E-778D-4B2A-9D3A-2AD86BDB584A}"/>
                </c:ext>
              </c:extLst>
            </c:dLbl>
            <c:dLbl>
              <c:idx val="15"/>
              <c:tx>
                <c:rich>
                  <a:bodyPr/>
                  <a:lstStyle/>
                  <a:p>
                    <a:fld id="{3C75CCD2-54A9-4F63-98CC-93EE922B342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778D-4B2A-9D3A-2AD86BDB584A}"/>
                </c:ext>
              </c:extLst>
            </c:dLbl>
            <c:dLbl>
              <c:idx val="16"/>
              <c:tx>
                <c:rich>
                  <a:bodyPr/>
                  <a:lstStyle/>
                  <a:p>
                    <a:fld id="{8A126144-5C55-4BA0-99A3-6BD53C8A65B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0-778D-4B2A-9D3A-2AD86BDB584A}"/>
                </c:ext>
              </c:extLst>
            </c:dLbl>
            <c:dLbl>
              <c:idx val="17"/>
              <c:tx>
                <c:rich>
                  <a:bodyPr/>
                  <a:lstStyle/>
                  <a:p>
                    <a:fld id="{E552EAF0-1A13-4965-848F-FA024A36F59F}"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1-778D-4B2A-9D3A-2AD86BDB584A}"/>
                </c:ext>
              </c:extLst>
            </c:dLbl>
            <c:dLbl>
              <c:idx val="18"/>
              <c:tx>
                <c:rich>
                  <a:bodyPr/>
                  <a:lstStyle/>
                  <a:p>
                    <a:fld id="{09EA5409-684F-4E77-B1C4-C52B02964B45}"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2-778D-4B2A-9D3A-2AD86BDB584A}"/>
                </c:ext>
              </c:extLst>
            </c:dLbl>
            <c:dLbl>
              <c:idx val="19"/>
              <c:tx>
                <c:rich>
                  <a:bodyPr/>
                  <a:lstStyle/>
                  <a:p>
                    <a:fld id="{57286A28-5EC6-4E4A-BE65-FB862A61873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3-778D-4B2A-9D3A-2AD86BDB584A}"/>
                </c:ext>
              </c:extLst>
            </c:dLbl>
            <c:dLbl>
              <c:idx val="20"/>
              <c:tx>
                <c:rich>
                  <a:bodyPr/>
                  <a:lstStyle/>
                  <a:p>
                    <a:fld id="{8C7C7C5A-D9F3-4945-839E-407C07BE5A27}"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4-778D-4B2A-9D3A-2AD86BDB584A}"/>
                </c:ext>
              </c:extLst>
            </c:dLbl>
            <c:dLbl>
              <c:idx val="21"/>
              <c:tx>
                <c:rich>
                  <a:bodyPr/>
                  <a:lstStyle/>
                  <a:p>
                    <a:fld id="{3B069D70-ED7B-4323-BB30-9F34D266FFA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5-778D-4B2A-9D3A-2AD86BDB584A}"/>
                </c:ext>
              </c:extLst>
            </c:dLbl>
            <c:dLbl>
              <c:idx val="22"/>
              <c:tx>
                <c:rich>
                  <a:bodyPr/>
                  <a:lstStyle/>
                  <a:p>
                    <a:fld id="{BA64A35C-1A51-492C-9151-EDB115811CB2}"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9F55-4BD5-B9F3-7BADFB968245}"/>
                </c:ext>
              </c:extLst>
            </c:dLbl>
            <c:dLbl>
              <c:idx val="23"/>
              <c:tx>
                <c:rich>
                  <a:bodyPr/>
                  <a:lstStyle/>
                  <a:p>
                    <a:fld id="{FDEAEAD0-5C68-4C7E-B7E5-9083F5901A7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6-778D-4B2A-9D3A-2AD86BDB584A}"/>
                </c:ext>
              </c:extLst>
            </c:dLbl>
            <c:dLbl>
              <c:idx val="24"/>
              <c:tx>
                <c:rich>
                  <a:bodyPr/>
                  <a:lstStyle/>
                  <a:p>
                    <a:fld id="{FF03B181-EFBF-4841-BDD9-092A1B598B08}"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7-778D-4B2A-9D3A-2AD86BDB584A}"/>
                </c:ext>
              </c:extLst>
            </c:dLbl>
            <c:dLbl>
              <c:idx val="25"/>
              <c:tx>
                <c:rich>
                  <a:bodyPr/>
                  <a:lstStyle/>
                  <a:p>
                    <a:fld id="{9F8BD14C-6727-4C8D-A89D-00EFADC42A54}"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8-778D-4B2A-9D3A-2AD86BDB584A}"/>
                </c:ext>
              </c:extLst>
            </c:dLbl>
            <c:dLbl>
              <c:idx val="26"/>
              <c:tx>
                <c:rich>
                  <a:bodyPr/>
                  <a:lstStyle/>
                  <a:p>
                    <a:fld id="{D15DE662-68B1-4196-A011-BF6709CF814A}"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9-778D-4B2A-9D3A-2AD86BDB584A}"/>
                </c:ext>
              </c:extLst>
            </c:dLbl>
            <c:dLbl>
              <c:idx val="27"/>
              <c:tx>
                <c:rich>
                  <a:bodyPr/>
                  <a:lstStyle/>
                  <a:p>
                    <a:fld id="{A61474A2-342F-49EA-8627-1C52D7E8CDF3}"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A-778D-4B2A-9D3A-2AD86BDB584A}"/>
                </c:ext>
              </c:extLst>
            </c:dLbl>
            <c:dLbl>
              <c:idx val="28"/>
              <c:tx>
                <c:rich>
                  <a:bodyPr/>
                  <a:lstStyle/>
                  <a:p>
                    <a:fld id="{93F8C186-8959-42B0-904B-011FFB050ED1}"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B-778D-4B2A-9D3A-2AD86BDB584A}"/>
                </c:ext>
              </c:extLst>
            </c:dLbl>
            <c:dLbl>
              <c:idx val="29"/>
              <c:tx>
                <c:rich>
                  <a:bodyPr/>
                  <a:lstStyle/>
                  <a:p>
                    <a:fld id="{396F9323-9742-4462-A3A2-46767426BFB6}"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C-778D-4B2A-9D3A-2AD86BDB584A}"/>
                </c:ext>
              </c:extLst>
            </c:dLbl>
            <c:dLbl>
              <c:idx val="30"/>
              <c:tx>
                <c:rich>
                  <a:bodyPr/>
                  <a:lstStyle/>
                  <a:p>
                    <a:fld id="{112C76FF-43A9-4736-9824-8DF68926B15D}"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D-778D-4B2A-9D3A-2AD86BDB584A}"/>
                </c:ext>
              </c:extLst>
            </c:dLbl>
            <c:dLbl>
              <c:idx val="31"/>
              <c:tx>
                <c:rich>
                  <a:bodyPr/>
                  <a:lstStyle/>
                  <a:p>
                    <a:fld id="{0061AB8F-9A58-444A-B723-D480B50B4F8B}" type="CELLRANGE">
                      <a:rPr lang="he-IL"/>
                      <a:pPr/>
                      <a:t>[CELLRANGE]</a:t>
                    </a:fld>
                    <a:endParaRPr lang="he-IL"/>
                  </a:p>
                </c:rich>
              </c:tx>
              <c:dLblPos val="inEnd"/>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1E-778D-4B2A-9D3A-2AD86BDB584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bg1"/>
                    </a:solidFill>
                    <a:latin typeface="+mn-lt"/>
                    <a:ea typeface="+mn-ea"/>
                    <a:cs typeface="+mn-cs"/>
                  </a:defRPr>
                </a:pPr>
                <a:endParaRPr lang="he-IL"/>
              </a:p>
            </c:txPr>
            <c:dLblPos val="inEnd"/>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0"/>
              </c:ext>
            </c:extLst>
          </c:dLbls>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Sheet1!$B$2:$B$33</c:f>
              <c:numCache>
                <c:formatCode>0</c:formatCode>
                <c:ptCount val="32"/>
                <c:pt idx="0">
                  <c:v>4.2</c:v>
                </c:pt>
                <c:pt idx="1">
                  <c:v>9.1999999999999993</c:v>
                </c:pt>
                <c:pt idx="2">
                  <c:v>5.6</c:v>
                </c:pt>
                <c:pt idx="3">
                  <c:v>6.9</c:v>
                </c:pt>
                <c:pt idx="4">
                  <c:v>6.3</c:v>
                </c:pt>
                <c:pt idx="5">
                  <c:v>4</c:v>
                </c:pt>
                <c:pt idx="6">
                  <c:v>5</c:v>
                </c:pt>
                <c:pt idx="7">
                  <c:v>5.6</c:v>
                </c:pt>
                <c:pt idx="8">
                  <c:v>8.1999999999999993</c:v>
                </c:pt>
                <c:pt idx="9">
                  <c:v>8.1</c:v>
                </c:pt>
                <c:pt idx="10">
                  <c:v>7.5</c:v>
                </c:pt>
                <c:pt idx="11">
                  <c:v>10.8</c:v>
                </c:pt>
                <c:pt idx="12">
                  <c:v>11.5</c:v>
                </c:pt>
                <c:pt idx="13">
                  <c:v>7.8</c:v>
                </c:pt>
                <c:pt idx="14">
                  <c:v>9.9</c:v>
                </c:pt>
                <c:pt idx="15">
                  <c:v>7.5</c:v>
                </c:pt>
                <c:pt idx="16">
                  <c:v>9.5</c:v>
                </c:pt>
                <c:pt idx="17">
                  <c:v>10.8</c:v>
                </c:pt>
                <c:pt idx="18">
                  <c:v>9.9</c:v>
                </c:pt>
                <c:pt idx="19">
                  <c:v>9.1</c:v>
                </c:pt>
                <c:pt idx="20">
                  <c:v>10.199999999999999</c:v>
                </c:pt>
                <c:pt idx="21">
                  <c:v>7.4</c:v>
                </c:pt>
                <c:pt idx="22">
                  <c:v>8.1</c:v>
                </c:pt>
                <c:pt idx="23">
                  <c:v>12</c:v>
                </c:pt>
                <c:pt idx="24">
                  <c:v>14</c:v>
                </c:pt>
                <c:pt idx="25">
                  <c:v>15.6</c:v>
                </c:pt>
                <c:pt idx="26">
                  <c:v>15.3</c:v>
                </c:pt>
                <c:pt idx="27">
                  <c:v>11.5</c:v>
                </c:pt>
                <c:pt idx="28">
                  <c:v>9.8000000000000007</c:v>
                </c:pt>
                <c:pt idx="29">
                  <c:v>10.199999999999999</c:v>
                </c:pt>
                <c:pt idx="30">
                  <c:v>11.2</c:v>
                </c:pt>
                <c:pt idx="31">
                  <c:v>10.6</c:v>
                </c:pt>
              </c:numCache>
            </c:numRef>
          </c:val>
          <c:extLst>
            <c:ext xmlns:c15="http://schemas.microsoft.com/office/drawing/2012/chart" uri="{02D57815-91ED-43cb-92C2-25804820EDAC}">
              <c15:datalabelsRange>
                <c15:f>Sheet1!$G$2:$G$33</c15:f>
                <c15:dlblRangeCache>
                  <c:ptCount val="32"/>
                  <c:pt idx="0">
                    <c:v>30</c:v>
                  </c:pt>
                  <c:pt idx="1">
                    <c:v>65</c:v>
                  </c:pt>
                  <c:pt idx="2">
                    <c:v>39</c:v>
                  </c:pt>
                  <c:pt idx="3">
                    <c:v>47</c:v>
                  </c:pt>
                  <c:pt idx="4">
                    <c:v>43</c:v>
                  </c:pt>
                  <c:pt idx="5">
                    <c:v>26</c:v>
                  </c:pt>
                  <c:pt idx="6">
                    <c:v>32</c:v>
                  </c:pt>
                  <c:pt idx="7">
                    <c:v>36</c:v>
                  </c:pt>
                  <c:pt idx="8">
                    <c:v>52</c:v>
                  </c:pt>
                  <c:pt idx="9">
                    <c:v>50</c:v>
                  </c:pt>
                  <c:pt idx="10">
                    <c:v>42</c:v>
                  </c:pt>
                  <c:pt idx="11">
                    <c:v>60</c:v>
                  </c:pt>
                  <c:pt idx="12">
                    <c:v>64</c:v>
                  </c:pt>
                  <c:pt idx="13">
                    <c:v>43</c:v>
                  </c:pt>
                  <c:pt idx="14">
                    <c:v>54</c:v>
                  </c:pt>
                  <c:pt idx="15">
                    <c:v>41</c:v>
                  </c:pt>
                  <c:pt idx="16">
                    <c:v>51</c:v>
                  </c:pt>
                  <c:pt idx="17">
                    <c:v>58</c:v>
                  </c:pt>
                  <c:pt idx="18">
                    <c:v>53</c:v>
                  </c:pt>
                  <c:pt idx="19">
                    <c:v>48</c:v>
                  </c:pt>
                  <c:pt idx="20">
                    <c:v>54</c:v>
                  </c:pt>
                  <c:pt idx="21">
                    <c:v>39</c:v>
                  </c:pt>
                  <c:pt idx="22">
                    <c:v>42</c:v>
                  </c:pt>
                  <c:pt idx="23">
                    <c:v>63</c:v>
                  </c:pt>
                  <c:pt idx="24">
                    <c:v>73</c:v>
                  </c:pt>
                  <c:pt idx="25">
                    <c:v>81</c:v>
                  </c:pt>
                  <c:pt idx="26">
                    <c:v>79</c:v>
                  </c:pt>
                  <c:pt idx="27">
                    <c:v>59</c:v>
                  </c:pt>
                  <c:pt idx="28">
                    <c:v>50</c:v>
                  </c:pt>
                  <c:pt idx="29">
                    <c:v>52</c:v>
                  </c:pt>
                  <c:pt idx="30">
                    <c:v>56</c:v>
                  </c:pt>
                  <c:pt idx="31">
                    <c:v>52</c:v>
                  </c:pt>
                </c15:dlblRangeCache>
              </c15:datalabelsRange>
            </c:ex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6"/>
            </a:solidFill>
            <a:ln>
              <a:noFill/>
            </a:ln>
            <a:effectLst/>
          </c:spPr>
          <c:invertIfNegative val="0"/>
          <c:dPt>
            <c:idx val="30"/>
            <c:invertIfNegative val="0"/>
            <c:bubble3D val="0"/>
            <c:spPr>
              <a:solidFill>
                <a:schemeClr val="accent1"/>
              </a:solidFill>
              <a:ln>
                <a:noFill/>
              </a:ln>
              <a:effectLst/>
            </c:spPr>
            <c:extLst>
              <c:ext xmlns:c16="http://schemas.microsoft.com/office/drawing/2014/chart" uri="{C3380CC4-5D6E-409C-BE32-E72D297353CC}">
                <c16:uniqueId val="{00000003-82F6-4EE0-BAF0-DF0F3B78F8D3}"/>
              </c:ext>
            </c:extLst>
          </c:dPt>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Sheet1!$C$2:$C$33</c:f>
              <c:numCache>
                <c:formatCode>0</c:formatCode>
                <c:ptCount val="32"/>
                <c:pt idx="0">
                  <c:v>9.8999999999999986</c:v>
                </c:pt>
                <c:pt idx="1">
                  <c:v>5</c:v>
                </c:pt>
                <c:pt idx="2">
                  <c:v>8.9</c:v>
                </c:pt>
                <c:pt idx="3">
                  <c:v>7.6999999999999993</c:v>
                </c:pt>
                <c:pt idx="4">
                  <c:v>8.3999999999999986</c:v>
                </c:pt>
                <c:pt idx="5">
                  <c:v>11.4</c:v>
                </c:pt>
                <c:pt idx="6">
                  <c:v>10.7</c:v>
                </c:pt>
                <c:pt idx="7">
                  <c:v>10.1</c:v>
                </c:pt>
                <c:pt idx="8">
                  <c:v>7.6000000000000014</c:v>
                </c:pt>
                <c:pt idx="9">
                  <c:v>8.1</c:v>
                </c:pt>
                <c:pt idx="10">
                  <c:v>10.3</c:v>
                </c:pt>
                <c:pt idx="11">
                  <c:v>7.1999999999999993</c:v>
                </c:pt>
                <c:pt idx="12">
                  <c:v>6.5</c:v>
                </c:pt>
                <c:pt idx="13">
                  <c:v>10.399999999999999</c:v>
                </c:pt>
                <c:pt idx="14">
                  <c:v>8.2999999999999989</c:v>
                </c:pt>
                <c:pt idx="15">
                  <c:v>11</c:v>
                </c:pt>
                <c:pt idx="16">
                  <c:v>9.1000000000000014</c:v>
                </c:pt>
                <c:pt idx="17">
                  <c:v>7.8000000000000007</c:v>
                </c:pt>
                <c:pt idx="18">
                  <c:v>8.7999999999999989</c:v>
                </c:pt>
                <c:pt idx="19">
                  <c:v>9.7000000000000011</c:v>
                </c:pt>
                <c:pt idx="20">
                  <c:v>8.6999999999999993</c:v>
                </c:pt>
                <c:pt idx="21">
                  <c:v>11.700000000000001</c:v>
                </c:pt>
                <c:pt idx="22">
                  <c:v>11.000000000000002</c:v>
                </c:pt>
                <c:pt idx="23">
                  <c:v>7.1000000000000014</c:v>
                </c:pt>
                <c:pt idx="24">
                  <c:v>5.1999999999999993</c:v>
                </c:pt>
                <c:pt idx="25">
                  <c:v>3.5999999999999996</c:v>
                </c:pt>
                <c:pt idx="26">
                  <c:v>4.0999999999999979</c:v>
                </c:pt>
                <c:pt idx="27">
                  <c:v>8</c:v>
                </c:pt>
                <c:pt idx="28">
                  <c:v>9.8000000000000007</c:v>
                </c:pt>
                <c:pt idx="29">
                  <c:v>9.5</c:v>
                </c:pt>
                <c:pt idx="30">
                  <c:v>8.6999999999999993</c:v>
                </c:pt>
                <c:pt idx="31">
                  <c:v>9.6</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cat>
            <c:strRef>
              <c:f>Sheet1!$A$2:$A$33</c:f>
              <c:strCache>
                <c:ptCount val="32"/>
                <c:pt idx="0">
                  <c:v>Latvia</c:v>
                </c:pt>
                <c:pt idx="1">
                  <c:v>Bulgaria</c:v>
                </c:pt>
                <c:pt idx="2">
                  <c:v>Lithuania</c:v>
                </c:pt>
                <c:pt idx="3">
                  <c:v>Hungary</c:v>
                </c:pt>
                <c:pt idx="4">
                  <c:v>Romania</c:v>
                </c:pt>
                <c:pt idx="5">
                  <c:v>Slovakia</c:v>
                </c:pt>
                <c:pt idx="6">
                  <c:v>Croatia</c:v>
                </c:pt>
                <c:pt idx="7">
                  <c:v>Estonia</c:v>
                </c:pt>
                <c:pt idx="8">
                  <c:v>Poland</c:v>
                </c:pt>
                <c:pt idx="9">
                  <c:v>Czechia</c:v>
                </c:pt>
                <c:pt idx="10">
                  <c:v>Slovenia</c:v>
                </c:pt>
                <c:pt idx="11">
                  <c:v>Denmark</c:v>
                </c:pt>
                <c:pt idx="12">
                  <c:v>Germany</c:v>
                </c:pt>
                <c:pt idx="13">
                  <c:v>Portugal</c:v>
                </c:pt>
                <c:pt idx="14">
                  <c:v>European Union</c:v>
                </c:pt>
                <c:pt idx="15">
                  <c:v>Austria</c:v>
                </c:pt>
                <c:pt idx="16">
                  <c:v>Finland</c:v>
                </c:pt>
                <c:pt idx="17">
                  <c:v>Belgium</c:v>
                </c:pt>
                <c:pt idx="18">
                  <c:v>Netherlands</c:v>
                </c:pt>
                <c:pt idx="19">
                  <c:v>Luxembourg</c:v>
                </c:pt>
                <c:pt idx="20">
                  <c:v>United Kingdom</c:v>
                </c:pt>
                <c:pt idx="21">
                  <c:v>Greece</c:v>
                </c:pt>
                <c:pt idx="22">
                  <c:v>Cyprus</c:v>
                </c:pt>
                <c:pt idx="23">
                  <c:v>Ireland</c:v>
                </c:pt>
                <c:pt idx="24">
                  <c:v>Malta</c:v>
                </c:pt>
                <c:pt idx="25">
                  <c:v>Sweden</c:v>
                </c:pt>
                <c:pt idx="26">
                  <c:v>Norway</c:v>
                </c:pt>
                <c:pt idx="27">
                  <c:v>Spain</c:v>
                </c:pt>
                <c:pt idx="28">
                  <c:v>Italy</c:v>
                </c:pt>
                <c:pt idx="29">
                  <c:v>France</c:v>
                </c:pt>
                <c:pt idx="30">
                  <c:v>Israel</c:v>
                </c:pt>
                <c:pt idx="31">
                  <c:v>Switzerland</c:v>
                </c:pt>
              </c:strCache>
            </c:strRef>
          </c:cat>
          <c:val>
            <c:numRef>
              <c:f>Sheet1!$D$2:$D$33</c:f>
              <c:numCache>
                <c:formatCode>0</c:formatCode>
                <c:ptCount val="32"/>
                <c:pt idx="0">
                  <c:v>14.1</c:v>
                </c:pt>
                <c:pt idx="1">
                  <c:v>14.2</c:v>
                </c:pt>
                <c:pt idx="2">
                  <c:v>14.5</c:v>
                </c:pt>
                <c:pt idx="3">
                  <c:v>14.6</c:v>
                </c:pt>
                <c:pt idx="4">
                  <c:v>14.7</c:v>
                </c:pt>
                <c:pt idx="5">
                  <c:v>15.4</c:v>
                </c:pt>
                <c:pt idx="6">
                  <c:v>15.7</c:v>
                </c:pt>
                <c:pt idx="7">
                  <c:v>15.7</c:v>
                </c:pt>
                <c:pt idx="8">
                  <c:v>15.8</c:v>
                </c:pt>
                <c:pt idx="9">
                  <c:v>16.2</c:v>
                </c:pt>
                <c:pt idx="10">
                  <c:v>17.8</c:v>
                </c:pt>
                <c:pt idx="11">
                  <c:v>18</c:v>
                </c:pt>
                <c:pt idx="12">
                  <c:v>18</c:v>
                </c:pt>
                <c:pt idx="13">
                  <c:v>18.2</c:v>
                </c:pt>
                <c:pt idx="14">
                  <c:v>18.2</c:v>
                </c:pt>
                <c:pt idx="15">
                  <c:v>18.5</c:v>
                </c:pt>
                <c:pt idx="16">
                  <c:v>18.600000000000001</c:v>
                </c:pt>
                <c:pt idx="17">
                  <c:v>18.600000000000001</c:v>
                </c:pt>
                <c:pt idx="18">
                  <c:v>18.7</c:v>
                </c:pt>
                <c:pt idx="19">
                  <c:v>18.8</c:v>
                </c:pt>
                <c:pt idx="20">
                  <c:v>18.899999999999999</c:v>
                </c:pt>
                <c:pt idx="21">
                  <c:v>19.100000000000001</c:v>
                </c:pt>
                <c:pt idx="22">
                  <c:v>19.100000000000001</c:v>
                </c:pt>
                <c:pt idx="23">
                  <c:v>19.100000000000001</c:v>
                </c:pt>
                <c:pt idx="24">
                  <c:v>19.2</c:v>
                </c:pt>
                <c:pt idx="25">
                  <c:v>19.2</c:v>
                </c:pt>
                <c:pt idx="26">
                  <c:v>19.399999999999999</c:v>
                </c:pt>
                <c:pt idx="27">
                  <c:v>19.5</c:v>
                </c:pt>
                <c:pt idx="28">
                  <c:v>19.600000000000001</c:v>
                </c:pt>
                <c:pt idx="29">
                  <c:v>19.7</c:v>
                </c:pt>
                <c:pt idx="30">
                  <c:v>19.899999999999999</c:v>
                </c:pt>
                <c:pt idx="31">
                  <c:v>20.2</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layout>
            <c:manualLayout>
              <c:xMode val="edge"/>
              <c:yMode val="edge"/>
              <c:x val="1.5339383372728865E-2"/>
              <c:y val="0.36814639209296962"/>
            </c:manualLayout>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0.37018069787538527"/>
          <c:y val="0.93026181456391932"/>
          <c:w val="0.25503399285109601"/>
          <c:h val="6.9738185436080624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r>
              <a:rPr lang="he-IL" sz="1400" b="0" i="0" u="none" strike="noStrike" baseline="0">
                <a:solidFill>
                  <a:schemeClr val="accent6">
                    <a:lumMod val="50000"/>
                  </a:schemeClr>
                </a:solidFill>
              </a:rPr>
              <a:t>תוחלת חיים בגיל 65 – גברים</a:t>
            </a:r>
          </a:p>
          <a:p>
            <a:pPr algn="ctr" rtl="1">
              <a:defRPr/>
            </a:pPr>
            <a:r>
              <a:rPr lang="he-IL" sz="1400" b="0" i="0" u="none" strike="noStrike" baseline="0">
                <a:solidFill>
                  <a:srgbClr val="93A2AE"/>
                </a:solidFill>
              </a:rPr>
              <a:t>(</a:t>
            </a:r>
            <a:r>
              <a:rPr lang="he-IL" sz="1400" b="0" i="0" u="none" strike="noStrike" baseline="0" err="1">
                <a:solidFill>
                  <a:srgbClr val="93A2AE"/>
                </a:solidFill>
              </a:rPr>
              <a:t>למ"ס</a:t>
            </a:r>
            <a:r>
              <a:rPr lang="he-IL" sz="1400" b="0" i="0" u="none" strike="noStrike" baseline="0">
                <a:solidFill>
                  <a:srgbClr val="93A2AE"/>
                </a:solidFill>
              </a:rPr>
              <a:t>)</a:t>
            </a:r>
            <a:endParaRPr lang="en-US" sz="1400">
              <a:solidFill>
                <a:srgbClr val="93A2AE"/>
              </a:solidFill>
            </a:endParaRPr>
          </a:p>
        </c:rich>
      </c:tx>
      <c:layout>
        <c:manualLayout>
          <c:xMode val="edge"/>
          <c:yMode val="edge"/>
          <c:x val="0.11643760173750282"/>
          <c:y val="2.5548782339750248E-2"/>
        </c:manualLayout>
      </c:layout>
      <c:overlay val="0"/>
      <c:spPr>
        <a:noFill/>
        <a:ln>
          <a:noFill/>
        </a:ln>
        <a:effectLst/>
      </c:spPr>
      <c:txPr>
        <a:bodyPr rot="0" spcFirstLastPara="1" vertOverflow="ellipsis" vert="horz" wrap="square" anchor="ctr" anchorCtr="1"/>
        <a:lstStyle/>
        <a:p>
          <a:pPr algn="ct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0.26291890717104321"/>
          <c:y val="0.22151775185918213"/>
          <c:w val="0.70227818082626015"/>
          <c:h val="0.51490015049772109"/>
        </c:manualLayout>
      </c:layout>
      <c:barChart>
        <c:barDir val="col"/>
        <c:grouping val="stacked"/>
        <c:varyColors val="0"/>
        <c:ser>
          <c:idx val="0"/>
          <c:order val="0"/>
          <c:tx>
            <c:strRef>
              <c:f>Sheet1!$B$1</c:f>
              <c:strCache>
                <c:ptCount val="1"/>
                <c:pt idx="0">
                  <c:v>בריאים</c:v>
                </c:pt>
              </c:strCache>
            </c:strRef>
          </c:tx>
          <c:spPr>
            <a:solidFill>
              <a:schemeClr val="accent1">
                <a:lumMod val="5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Sheet1!$B$2:$B$7</c:f>
              <c:numCache>
                <c:formatCode>0.0</c:formatCode>
                <c:ptCount val="6"/>
                <c:pt idx="0">
                  <c:v>10.31</c:v>
                </c:pt>
                <c:pt idx="1">
                  <c:v>10.52</c:v>
                </c:pt>
                <c:pt idx="2">
                  <c:v>10.72</c:v>
                </c:pt>
                <c:pt idx="3">
                  <c:v>11.2</c:v>
                </c:pt>
                <c:pt idx="4">
                  <c:v>11.3</c:v>
                </c:pt>
                <c:pt idx="5">
                  <c:v>11.6</c:v>
                </c:pt>
              </c:numCache>
            </c:numRef>
          </c:val>
          <c:extLst>
            <c:ext xmlns:c16="http://schemas.microsoft.com/office/drawing/2014/chart" uri="{C3380CC4-5D6E-409C-BE32-E72D297353CC}">
              <c16:uniqueId val="{00000000-2645-4285-9CC0-6A0550A27338}"/>
            </c:ext>
          </c:extLst>
        </c:ser>
        <c:ser>
          <c:idx val="1"/>
          <c:order val="1"/>
          <c:tx>
            <c:strRef>
              <c:f>Sheet1!$C$1</c:f>
              <c:strCache>
                <c:ptCount val="1"/>
                <c:pt idx="0">
                  <c:v>עם מוגבלות</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Sheet1!$C$2:$C$7</c:f>
              <c:numCache>
                <c:formatCode>0.0</c:formatCode>
                <c:ptCount val="6"/>
                <c:pt idx="0">
                  <c:v>8.7799999999999994</c:v>
                </c:pt>
                <c:pt idx="1">
                  <c:v>9.1300000000000008</c:v>
                </c:pt>
                <c:pt idx="2">
                  <c:v>8.7899999999999991</c:v>
                </c:pt>
                <c:pt idx="3">
                  <c:v>8.7200000000000006</c:v>
                </c:pt>
                <c:pt idx="4">
                  <c:v>8.6</c:v>
                </c:pt>
                <c:pt idx="5">
                  <c:v>7.8</c:v>
                </c:pt>
              </c:numCache>
            </c:numRef>
          </c:val>
          <c:extLst>
            <c:ext xmlns:c16="http://schemas.microsoft.com/office/drawing/2014/chart" uri="{C3380CC4-5D6E-409C-BE32-E72D297353CC}">
              <c16:uniqueId val="{00000001-2645-4285-9CC0-6A0550A27338}"/>
            </c:ext>
          </c:extLst>
        </c:ser>
        <c:ser>
          <c:idx val="2"/>
          <c:order val="2"/>
          <c:tx>
            <c:strRef>
              <c:f>Sheet1!$D$1</c:f>
              <c:strCache>
                <c:ptCount val="1"/>
                <c:pt idx="0">
                  <c:v>רגילה</c:v>
                </c:pt>
              </c:strCache>
            </c:strRef>
          </c:tx>
          <c:spPr>
            <a:solidFill>
              <a:schemeClr val="bg1">
                <a:alpha val="0"/>
              </a:schemeClr>
            </a:solidFill>
            <a:ln>
              <a:noFill/>
            </a:ln>
            <a:effectLst/>
          </c:spPr>
          <c:invertIfNegative val="0"/>
          <c:dLbls>
            <c:dLbl>
              <c:idx val="2"/>
              <c:tx>
                <c:rich>
                  <a:bodyPr/>
                  <a:lstStyle/>
                  <a:p>
                    <a:fld id="{A86F545A-6011-4F4F-9E22-188BD275D270}" type="VALUE">
                      <a:rPr lang="en-US" b="0"/>
                      <a:pPr/>
                      <a:t>[ערך]</a:t>
                    </a:fld>
                    <a:endParaRPr lang="he-IL"/>
                  </a:p>
                </c:rich>
              </c:tx>
              <c:dLblPos val="inBase"/>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2645-4285-9CC0-6A0550A27338}"/>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lumMod val="75000"/>
                        <a:lumOff val="25000"/>
                      </a:schemeClr>
                    </a:solidFill>
                    <a:latin typeface="+mn-lt"/>
                    <a:ea typeface="+mn-ea"/>
                    <a:cs typeface="+mn-cs"/>
                  </a:defRPr>
                </a:pPr>
                <a:endParaRPr lang="he-IL"/>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Sheet1!$A$2:$A$7</c:f>
              <c:numCache>
                <c:formatCode>General</c:formatCode>
                <c:ptCount val="6"/>
                <c:pt idx="0">
                  <c:v>2015</c:v>
                </c:pt>
                <c:pt idx="1">
                  <c:v>2016</c:v>
                </c:pt>
                <c:pt idx="2">
                  <c:v>2017</c:v>
                </c:pt>
                <c:pt idx="3">
                  <c:v>2018</c:v>
                </c:pt>
                <c:pt idx="4">
                  <c:v>2019</c:v>
                </c:pt>
                <c:pt idx="5">
                  <c:v>2020</c:v>
                </c:pt>
              </c:numCache>
            </c:numRef>
          </c:cat>
          <c:val>
            <c:numRef>
              <c:f>Sheet1!$D$2:$D$7</c:f>
              <c:numCache>
                <c:formatCode>0.0</c:formatCode>
                <c:ptCount val="6"/>
                <c:pt idx="0">
                  <c:v>19.100000000000001</c:v>
                </c:pt>
                <c:pt idx="1">
                  <c:v>19.649999999999999</c:v>
                </c:pt>
                <c:pt idx="2">
                  <c:v>19.510000000000002</c:v>
                </c:pt>
                <c:pt idx="3">
                  <c:v>19.920000000000002</c:v>
                </c:pt>
                <c:pt idx="4">
                  <c:v>19.899999999999999</c:v>
                </c:pt>
                <c:pt idx="5">
                  <c:v>19.399999999999999</c:v>
                </c:pt>
              </c:numCache>
            </c:numRef>
          </c:val>
          <c:extLst>
            <c:ext xmlns:c16="http://schemas.microsoft.com/office/drawing/2014/chart" uri="{C3380CC4-5D6E-409C-BE32-E72D297353CC}">
              <c16:uniqueId val="{00000003-2645-4285-9CC0-6A0550A27338}"/>
            </c:ext>
          </c:extLst>
        </c:ser>
        <c:dLbls>
          <c:showLegendKey val="0"/>
          <c:showVal val="0"/>
          <c:showCatName val="0"/>
          <c:showSerName val="0"/>
          <c:showPercent val="0"/>
          <c:showBubbleSize val="0"/>
        </c:dLbls>
        <c:gapWidth val="50"/>
        <c:overlap val="100"/>
        <c:axId val="259720800"/>
        <c:axId val="259719488"/>
      </c:barChart>
      <c:catAx>
        <c:axId val="259720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he-IL"/>
          </a:p>
        </c:txPr>
        <c:crossAx val="259719488"/>
        <c:crosses val="autoZero"/>
        <c:auto val="1"/>
        <c:lblAlgn val="ctr"/>
        <c:lblOffset val="100"/>
        <c:noMultiLvlLbl val="0"/>
      </c:catAx>
      <c:valAx>
        <c:axId val="259719488"/>
        <c:scaling>
          <c:orientation val="minMax"/>
          <c:max val="20"/>
          <c:min val="0"/>
        </c:scaling>
        <c:delete val="0"/>
        <c:axPos val="l"/>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r>
                  <a:rPr lang="he-IL"/>
                  <a:t>שנות חיים</a:t>
                </a:r>
                <a:endParaRPr lang="en-US"/>
              </a:p>
            </c:rich>
          </c:tx>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he-IL"/>
            </a:p>
          </c:txPr>
        </c:title>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259720800"/>
        <c:crosses val="autoZero"/>
        <c:crossBetween val="between"/>
        <c:majorUnit val="10"/>
      </c:valAx>
      <c:spPr>
        <a:noFill/>
        <a:ln>
          <a:noFill/>
        </a:ln>
        <a:effectLst/>
      </c:spPr>
    </c:plotArea>
    <c:legend>
      <c:legendPos val="b"/>
      <c:legendEntry>
        <c:idx val="2"/>
        <c:delete val="1"/>
      </c:legendEntry>
      <c:layout>
        <c:manualLayout>
          <c:xMode val="edge"/>
          <c:yMode val="edge"/>
          <c:x val="7.9295743620753645E-2"/>
          <c:y val="0.93026192177280231"/>
          <c:w val="0.80431584313754023"/>
          <c:h val="5.7752182539682541E-2"/>
        </c:manualLayout>
      </c:layout>
      <c:overlay val="0"/>
      <c:spPr>
        <a:noFill/>
        <a:ln>
          <a:noFill/>
        </a:ln>
        <a:effectLst/>
      </c:spPr>
      <c:txPr>
        <a:bodyPr rot="0" spcFirstLastPara="1" vertOverflow="ellipsis" vert="horz" wrap="square" anchor="ctr" anchorCtr="1"/>
        <a:lstStyle/>
        <a:p>
          <a:pPr rtl="1">
            <a:defRPr sz="1400" b="0" i="0" u="none" strike="noStrike" kern="1200" baseline="0">
              <a:solidFill>
                <a:schemeClr val="tx1">
                  <a:lumMod val="65000"/>
                  <a:lumOff val="35000"/>
                </a:schemeClr>
              </a:solidFill>
              <a:latin typeface="+mn-lt"/>
              <a:ea typeface="+mn-ea"/>
              <a:cs typeface="+mn-cs"/>
            </a:defRPr>
          </a:pPr>
          <a:endParaRPr lang="he-IL"/>
        </a:p>
      </c:txPr>
    </c:legend>
    <c:plotVisOnly val="1"/>
    <c:dispBlanksAs val="gap"/>
    <c:showDLblsOverMax val="0"/>
  </c:chart>
  <c:spPr>
    <a:noFill/>
    <a:ln>
      <a:noFill/>
    </a:ln>
    <a:effectLst/>
  </c:spPr>
  <c:txPr>
    <a:bodyPr/>
    <a:lstStyle/>
    <a:p>
      <a:pPr rtl="1">
        <a:defRPr/>
      </a:pPr>
      <a:endParaRPr lang="he-IL"/>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dirty="0">
                <a:solidFill>
                  <a:schemeClr val="tx1"/>
                </a:solidFill>
                <a:effectLst/>
              </a:rPr>
              <a:t>ADL</a:t>
            </a:r>
            <a:r>
              <a:rPr lang="he-IL" sz="1800" b="0" i="0" baseline="0" dirty="0">
                <a:solidFill>
                  <a:schemeClr val="tx1"/>
                </a:solidFill>
                <a:effectLst/>
              </a:rPr>
              <a:t> (1-6)</a:t>
            </a:r>
            <a:endParaRPr lang="en-US" sz="1800" dirty="0">
              <a:solidFill>
                <a:schemeClr val="tx1"/>
              </a:solidFill>
              <a:effectLst/>
            </a:endParaRPr>
          </a:p>
          <a:p>
            <a:pPr rtl="1">
              <a:defRPr/>
            </a:pPr>
            <a:r>
              <a:rPr lang="he-IL" sz="1400" b="0" i="0" baseline="0" dirty="0">
                <a:effectLst/>
              </a:rPr>
              <a:t>(</a:t>
            </a:r>
            <a:r>
              <a:rPr lang="en-US" sz="1400" b="0" i="0" baseline="0" dirty="0">
                <a:effectLst/>
              </a:rPr>
              <a:t>SHARE-2017</a:t>
            </a:r>
            <a:r>
              <a:rPr lang="he-IL" sz="1400" b="0" i="0" baseline="0" dirty="0">
                <a:effectLst/>
              </a:rPr>
              <a:t>)</a:t>
            </a:r>
            <a:endParaRPr lang="en-US" sz="1400" dirty="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2.3690485921203781E-2"/>
          <c:y val="4.644807369396968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2"/>
            <c:invertIfNegative val="0"/>
            <c:bubble3D val="0"/>
            <c:spPr>
              <a:solidFill>
                <a:srgbClr val="57595D"/>
              </a:solidFill>
              <a:ln>
                <a:noFill/>
              </a:ln>
              <a:effectLst/>
            </c:spPr>
            <c:extLst>
              <c:ext xmlns:c16="http://schemas.microsoft.com/office/drawing/2014/chart" uri="{C3380CC4-5D6E-409C-BE32-E72D297353CC}">
                <c16:uniqueId val="{00000004-02AD-4B05-9EA2-828745E790FD}"/>
              </c:ext>
            </c:extLst>
          </c:dPt>
          <c:dPt>
            <c:idx val="15"/>
            <c:invertIfNegative val="0"/>
            <c:bubble3D val="0"/>
            <c:spPr>
              <a:solidFill>
                <a:srgbClr val="008DA8"/>
              </a:solidFill>
              <a:ln>
                <a:noFill/>
              </a:ln>
              <a:effectLst/>
            </c:spPr>
            <c:extLst>
              <c:ext xmlns:c16="http://schemas.microsoft.com/office/drawing/2014/chart" uri="{C3380CC4-5D6E-409C-BE32-E72D297353CC}">
                <c16:uniqueId val="{00000003-02AD-4B05-9EA2-828745E790FD}"/>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יוון</c:v>
                </c:pt>
                <c:pt idx="2">
                  <c:v>סלובקיה</c:v>
                </c:pt>
                <c:pt idx="3">
                  <c:v>שבדיה</c:v>
                </c:pt>
                <c:pt idx="4">
                  <c:v>דנמרק</c:v>
                </c:pt>
                <c:pt idx="5">
                  <c:v>לוקסנבורג</c:v>
                </c:pt>
                <c:pt idx="6">
                  <c:v>פינלנד</c:v>
                </c:pt>
                <c:pt idx="7">
                  <c:v>איטליה</c:v>
                </c:pt>
                <c:pt idx="8">
                  <c:v>סלובניה</c:v>
                </c:pt>
                <c:pt idx="9">
                  <c:v>הונגריה</c:v>
                </c:pt>
                <c:pt idx="10">
                  <c:v>אוסטריה</c:v>
                </c:pt>
                <c:pt idx="11">
                  <c:v>גרמניה</c:v>
                </c:pt>
                <c:pt idx="12">
                  <c:v>ממוצע </c:v>
                </c:pt>
                <c:pt idx="13">
                  <c:v>צרפת</c:v>
                </c:pt>
                <c:pt idx="14">
                  <c:v>לטביה</c:v>
                </c:pt>
                <c:pt idx="15">
                  <c:v>ישראל</c:v>
                </c:pt>
                <c:pt idx="16">
                  <c:v>צ'כיה</c:v>
                </c:pt>
                <c:pt idx="17">
                  <c:v>ספרד</c:v>
                </c:pt>
                <c:pt idx="18">
                  <c:v>פולין</c:v>
                </c:pt>
                <c:pt idx="19">
                  <c:v>בלגיה</c:v>
                </c:pt>
                <c:pt idx="20">
                  <c:v>אסטוניה</c:v>
                </c:pt>
                <c:pt idx="21">
                  <c:v>ליטא</c:v>
                </c:pt>
                <c:pt idx="22">
                  <c:v>פורטוגל</c:v>
                </c:pt>
              </c:strCache>
            </c:strRef>
          </c:cat>
          <c:val>
            <c:numRef>
              <c:f>Sheet1!$B$2:$B$24</c:f>
              <c:numCache>
                <c:formatCode>0</c:formatCode>
                <c:ptCount val="23"/>
                <c:pt idx="0">
                  <c:v>7.84</c:v>
                </c:pt>
                <c:pt idx="1">
                  <c:v>8.76</c:v>
                </c:pt>
                <c:pt idx="2">
                  <c:v>8.7799999999999994</c:v>
                </c:pt>
                <c:pt idx="3">
                  <c:v>10.83</c:v>
                </c:pt>
                <c:pt idx="4">
                  <c:v>10.979999999999999</c:v>
                </c:pt>
                <c:pt idx="5">
                  <c:v>11.200000000000001</c:v>
                </c:pt>
                <c:pt idx="6">
                  <c:v>11.89</c:v>
                </c:pt>
                <c:pt idx="7">
                  <c:v>13.8</c:v>
                </c:pt>
                <c:pt idx="8">
                  <c:v>14.08</c:v>
                </c:pt>
                <c:pt idx="9">
                  <c:v>14.17</c:v>
                </c:pt>
                <c:pt idx="10">
                  <c:v>14.89</c:v>
                </c:pt>
                <c:pt idx="11">
                  <c:v>15.459999999999999</c:v>
                </c:pt>
                <c:pt idx="12">
                  <c:v>15.879999999999999</c:v>
                </c:pt>
                <c:pt idx="13">
                  <c:v>16.580000000000002</c:v>
                </c:pt>
                <c:pt idx="14">
                  <c:v>16.68</c:v>
                </c:pt>
                <c:pt idx="15">
                  <c:v>16.989999999999998</c:v>
                </c:pt>
                <c:pt idx="16">
                  <c:v>17.64</c:v>
                </c:pt>
                <c:pt idx="17">
                  <c:v>18.260000000000002</c:v>
                </c:pt>
                <c:pt idx="18">
                  <c:v>19.149999999999999</c:v>
                </c:pt>
                <c:pt idx="19">
                  <c:v>19.66</c:v>
                </c:pt>
                <c:pt idx="20">
                  <c:v>19.989999999999998</c:v>
                </c:pt>
                <c:pt idx="21">
                  <c:v>22.82</c:v>
                </c:pt>
                <c:pt idx="22">
                  <c:v>27.639999999999997</c:v>
                </c:pt>
              </c:numCache>
            </c:numRef>
          </c:val>
          <c:extLst>
            <c:ext xmlns:c16="http://schemas.microsoft.com/office/drawing/2014/chart" uri="{C3380CC4-5D6E-409C-BE32-E72D297353CC}">
              <c16:uniqueId val="{00000000-02AD-4B05-9EA2-828745E790FD}"/>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r>
              <a:rPr lang="en-US" sz="1800" b="0" i="0" baseline="0" err="1">
                <a:solidFill>
                  <a:schemeClr val="tx1"/>
                </a:solidFill>
                <a:effectLst/>
              </a:rPr>
              <a:t>IADL</a:t>
            </a:r>
            <a:r>
              <a:rPr lang="he-IL" sz="1800" b="0" i="0" baseline="0">
                <a:solidFill>
                  <a:schemeClr val="tx1"/>
                </a:solidFill>
                <a:effectLst/>
              </a:rPr>
              <a:t> (1-9)</a:t>
            </a:r>
            <a:endParaRPr lang="en-US" sz="1800">
              <a:solidFill>
                <a:schemeClr val="tx1"/>
              </a:solidFill>
              <a:effectLst/>
            </a:endParaRPr>
          </a:p>
          <a:p>
            <a:pPr rtl="1">
              <a:defRPr/>
            </a:pPr>
            <a:r>
              <a:rPr lang="he-IL" sz="1400" b="0" i="0" baseline="0">
                <a:effectLst/>
              </a:rPr>
              <a:t>(</a:t>
            </a:r>
            <a:r>
              <a:rPr lang="en-US" sz="1400" b="0" i="0" baseline="0">
                <a:effectLst/>
              </a:rPr>
              <a:t>SHARE-2017</a:t>
            </a:r>
            <a:r>
              <a:rPr lang="he-IL" sz="1400" b="0" i="0" baseline="0">
                <a:effectLst/>
              </a:rPr>
              <a:t>)</a:t>
            </a:r>
            <a:endParaRPr lang="en-US" sz="1400">
              <a:effectLst/>
            </a:endParaRPr>
          </a:p>
        </c:rich>
      </c:tx>
      <c:overlay val="0"/>
      <c:spPr>
        <a:noFill/>
        <a:ln>
          <a:noFill/>
        </a:ln>
        <a:effectLst/>
      </c:spPr>
      <c:txPr>
        <a:bodyPr rot="0" spcFirstLastPara="1" vertOverflow="ellipsis" vert="horz" wrap="square" anchor="ctr" anchorCtr="1"/>
        <a:lstStyle/>
        <a:p>
          <a:pPr rtl="1">
            <a:defRPr sz="1862"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5.3117540302592421E-2"/>
          <c:y val="5.4777076747281647E-2"/>
          <c:w val="0.95261902815759247"/>
          <c:h val="0.64998315617623992"/>
        </c:manualLayout>
      </c:layout>
      <c:barChart>
        <c:barDir val="col"/>
        <c:grouping val="clustered"/>
        <c:varyColors val="0"/>
        <c:ser>
          <c:idx val="0"/>
          <c:order val="0"/>
          <c:tx>
            <c:strRef>
              <c:f>Sheet1!$B$1</c:f>
              <c:strCache>
                <c:ptCount val="1"/>
                <c:pt idx="0">
                  <c:v>Series 1</c:v>
                </c:pt>
              </c:strCache>
            </c:strRef>
          </c:tx>
          <c:spPr>
            <a:solidFill>
              <a:srgbClr val="B1B3B6"/>
            </a:solidFill>
            <a:ln>
              <a:noFill/>
            </a:ln>
            <a:effectLst/>
          </c:spPr>
          <c:invertIfNegative val="0"/>
          <c:dPt>
            <c:idx val="10"/>
            <c:invertIfNegative val="0"/>
            <c:bubble3D val="0"/>
            <c:spPr>
              <a:solidFill>
                <a:srgbClr val="57595D"/>
              </a:solidFill>
              <a:ln>
                <a:noFill/>
              </a:ln>
              <a:effectLst/>
            </c:spPr>
            <c:extLst>
              <c:ext xmlns:c16="http://schemas.microsoft.com/office/drawing/2014/chart" uri="{C3380CC4-5D6E-409C-BE32-E72D297353CC}">
                <c16:uniqueId val="{00000006-22E9-4254-8ABB-686C5D9E8956}"/>
              </c:ext>
            </c:extLst>
          </c:dPt>
          <c:dPt>
            <c:idx val="12"/>
            <c:invertIfNegative val="0"/>
            <c:bubble3D val="0"/>
            <c:spPr>
              <a:solidFill>
                <a:srgbClr val="B1B3B6"/>
              </a:solidFill>
              <a:ln>
                <a:noFill/>
              </a:ln>
              <a:effectLst/>
            </c:spPr>
            <c:extLst>
              <c:ext xmlns:c16="http://schemas.microsoft.com/office/drawing/2014/chart" uri="{C3380CC4-5D6E-409C-BE32-E72D297353CC}">
                <c16:uniqueId val="{00000001-22E9-4254-8ABB-686C5D9E8956}"/>
              </c:ext>
            </c:extLst>
          </c:dPt>
          <c:dPt>
            <c:idx val="15"/>
            <c:invertIfNegative val="0"/>
            <c:bubble3D val="0"/>
            <c:spPr>
              <a:solidFill>
                <a:srgbClr val="B1B3B6"/>
              </a:solidFill>
              <a:ln>
                <a:noFill/>
              </a:ln>
              <a:effectLst/>
            </c:spPr>
            <c:extLst>
              <c:ext xmlns:c16="http://schemas.microsoft.com/office/drawing/2014/chart" uri="{C3380CC4-5D6E-409C-BE32-E72D297353CC}">
                <c16:uniqueId val="{00000003-22E9-4254-8ABB-686C5D9E8956}"/>
              </c:ext>
            </c:extLst>
          </c:dPt>
          <c:dPt>
            <c:idx val="22"/>
            <c:invertIfNegative val="0"/>
            <c:bubble3D val="0"/>
            <c:spPr>
              <a:solidFill>
                <a:srgbClr val="008DA8"/>
              </a:solidFill>
              <a:ln>
                <a:noFill/>
              </a:ln>
              <a:effectLst/>
            </c:spPr>
            <c:extLst>
              <c:ext xmlns:c16="http://schemas.microsoft.com/office/drawing/2014/chart" uri="{C3380CC4-5D6E-409C-BE32-E72D297353CC}">
                <c16:uniqueId val="{00000005-22E9-4254-8ABB-686C5D9E8956}"/>
              </c:ext>
            </c:extLst>
          </c:dPt>
          <c:dLbls>
            <c:dLbl>
              <c:idx val="22"/>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rgbClr val="FF0000"/>
                      </a:solidFill>
                      <a:latin typeface="+mn-lt"/>
                      <a:ea typeface="+mn-ea"/>
                      <a:cs typeface="+mn-cs"/>
                    </a:defRPr>
                  </a:pPr>
                  <a:endParaRPr lang="he-IL"/>
                </a:p>
              </c:txPr>
              <c:dLblPos val="outEnd"/>
              <c:showLegendKey val="0"/>
              <c:showVal val="1"/>
              <c:showCatName val="0"/>
              <c:showSerName val="0"/>
              <c:showPercent val="0"/>
              <c:showBubbleSize val="0"/>
              <c:extLst>
                <c:ext xmlns:c16="http://schemas.microsoft.com/office/drawing/2014/chart" uri="{C3380CC4-5D6E-409C-BE32-E72D297353CC}">
                  <c16:uniqueId val="{00000005-22E9-4254-8ABB-686C5D9E8956}"/>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Sheet1!$A$2:$A$24</c:f>
              <c:strCache>
                <c:ptCount val="23"/>
                <c:pt idx="0">
                  <c:v>שוויץ</c:v>
                </c:pt>
                <c:pt idx="1">
                  <c:v>שבדיה</c:v>
                </c:pt>
                <c:pt idx="2">
                  <c:v>פינלנד</c:v>
                </c:pt>
                <c:pt idx="3">
                  <c:v>גרמניה</c:v>
                </c:pt>
                <c:pt idx="4">
                  <c:v>דנמרק</c:v>
                </c:pt>
                <c:pt idx="5">
                  <c:v>לוקסנבורג</c:v>
                </c:pt>
                <c:pt idx="6">
                  <c:v>סלובקיה</c:v>
                </c:pt>
                <c:pt idx="7">
                  <c:v>איטליה</c:v>
                </c:pt>
                <c:pt idx="8">
                  <c:v>סלובניה</c:v>
                </c:pt>
                <c:pt idx="9">
                  <c:v>צרפת</c:v>
                </c:pt>
                <c:pt idx="10">
                  <c:v>ממוצע</c:v>
                </c:pt>
                <c:pt idx="11">
                  <c:v>פולין</c:v>
                </c:pt>
                <c:pt idx="12">
                  <c:v>צ'כיה</c:v>
                </c:pt>
                <c:pt idx="13">
                  <c:v>יוון</c:v>
                </c:pt>
                <c:pt idx="14">
                  <c:v>אוסטריה</c:v>
                </c:pt>
                <c:pt idx="15">
                  <c:v>לטביה</c:v>
                </c:pt>
                <c:pt idx="16">
                  <c:v>פורטוגל</c:v>
                </c:pt>
                <c:pt idx="17">
                  <c:v>בלגיה</c:v>
                </c:pt>
                <c:pt idx="18">
                  <c:v>ספרד</c:v>
                </c:pt>
                <c:pt idx="19">
                  <c:v>אסטוניה</c:v>
                </c:pt>
                <c:pt idx="20">
                  <c:v>ליטא</c:v>
                </c:pt>
                <c:pt idx="21">
                  <c:v>הונגריה</c:v>
                </c:pt>
                <c:pt idx="22">
                  <c:v>ישראל</c:v>
                </c:pt>
              </c:strCache>
            </c:strRef>
          </c:cat>
          <c:val>
            <c:numRef>
              <c:f>Sheet1!$B$2:$B$24</c:f>
              <c:numCache>
                <c:formatCode>0</c:formatCode>
                <c:ptCount val="23"/>
                <c:pt idx="0">
                  <c:v>12.689999999999998</c:v>
                </c:pt>
                <c:pt idx="1">
                  <c:v>15.039999999999992</c:v>
                </c:pt>
                <c:pt idx="2">
                  <c:v>16.849999999999994</c:v>
                </c:pt>
                <c:pt idx="3">
                  <c:v>18.560000000000002</c:v>
                </c:pt>
                <c:pt idx="4">
                  <c:v>18.600000000000009</c:v>
                </c:pt>
                <c:pt idx="5">
                  <c:v>19.02000000000001</c:v>
                </c:pt>
                <c:pt idx="6">
                  <c:v>22.099999999999994</c:v>
                </c:pt>
                <c:pt idx="7">
                  <c:v>22.929999999999993</c:v>
                </c:pt>
                <c:pt idx="8">
                  <c:v>22.950000000000003</c:v>
                </c:pt>
                <c:pt idx="9">
                  <c:v>23.090000000000003</c:v>
                </c:pt>
                <c:pt idx="10">
                  <c:v>25.409999999999997</c:v>
                </c:pt>
                <c:pt idx="11">
                  <c:v>26.25</c:v>
                </c:pt>
                <c:pt idx="12">
                  <c:v>26.819999999999993</c:v>
                </c:pt>
                <c:pt idx="13">
                  <c:v>27.349999999999994</c:v>
                </c:pt>
                <c:pt idx="14">
                  <c:v>27.86</c:v>
                </c:pt>
                <c:pt idx="15">
                  <c:v>28.28</c:v>
                </c:pt>
                <c:pt idx="16">
                  <c:v>28.849999999999994</c:v>
                </c:pt>
                <c:pt idx="17">
                  <c:v>29.83</c:v>
                </c:pt>
                <c:pt idx="18">
                  <c:v>30.239999999999995</c:v>
                </c:pt>
                <c:pt idx="19">
                  <c:v>31.58</c:v>
                </c:pt>
                <c:pt idx="20">
                  <c:v>31.64</c:v>
                </c:pt>
                <c:pt idx="21">
                  <c:v>31.689999999999998</c:v>
                </c:pt>
                <c:pt idx="22">
                  <c:v>32.769999999999996</c:v>
                </c:pt>
              </c:numCache>
            </c:numRef>
          </c:val>
          <c:extLst>
            <c:ext xmlns:c16="http://schemas.microsoft.com/office/drawing/2014/chart" uri="{C3380CC4-5D6E-409C-BE32-E72D297353CC}">
              <c16:uniqueId val="{00000004-22E9-4254-8ABB-686C5D9E8956}"/>
            </c:ext>
          </c:extLst>
        </c:ser>
        <c:dLbls>
          <c:dLblPos val="outEnd"/>
          <c:showLegendKey val="0"/>
          <c:showVal val="1"/>
          <c:showCatName val="0"/>
          <c:showSerName val="0"/>
          <c:showPercent val="0"/>
          <c:showBubbleSize val="0"/>
        </c:dLbls>
        <c:gapWidth val="50"/>
        <c:overlap val="-27"/>
        <c:axId val="518763400"/>
        <c:axId val="518763728"/>
      </c:barChart>
      <c:catAx>
        <c:axId val="518763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he-IL"/>
          </a:p>
        </c:txPr>
        <c:crossAx val="518763728"/>
        <c:crosses val="autoZero"/>
        <c:auto val="1"/>
        <c:lblAlgn val="ctr"/>
        <c:lblOffset val="100"/>
        <c:noMultiLvlLbl val="0"/>
      </c:catAx>
      <c:valAx>
        <c:axId val="518763728"/>
        <c:scaling>
          <c:orientation val="minMax"/>
          <c:max val="100"/>
        </c:scaling>
        <c:delete val="0"/>
        <c:axPos val="l"/>
        <c:numFmt formatCode="0" sourceLinked="1"/>
        <c:majorTickMark val="out"/>
        <c:minorTickMark val="none"/>
        <c:tickLblPos val="nextTo"/>
        <c:spPr>
          <a:solidFill>
            <a:schemeClr val="bg1"/>
          </a:solidFill>
          <a:ln>
            <a:solidFill>
              <a:srgbClr val="B1B3B6"/>
            </a:solid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he-IL"/>
          </a:p>
        </c:txPr>
        <c:crossAx val="518763400"/>
        <c:crosses val="autoZero"/>
        <c:crossBetween val="between"/>
        <c:majorUnit val="100"/>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he-IL" sz="2000" b="1" dirty="0">
                <a:solidFill>
                  <a:schemeClr val="tx1"/>
                </a:solidFill>
                <a:latin typeface="Calibri" panose="020F0502020204030204" pitchFamily="34" charset="0"/>
                <a:cs typeface="Calibri" panose="020F0502020204030204" pitchFamily="34" charset="0"/>
              </a:rPr>
              <a:t>השתתפות עצמית חודשית לזקן על רצף השירותים</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manualLayout>
          <c:layoutTarget val="inner"/>
          <c:xMode val="edge"/>
          <c:yMode val="edge"/>
          <c:x val="6.5057559280670474E-2"/>
          <c:y val="9.2238359268902406E-2"/>
          <c:w val="0.92237499075658202"/>
          <c:h val="0.78634212933001069"/>
        </c:manualLayout>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lumMod val="75000"/>
                        <a:lumOff val="25000"/>
                      </a:schemeClr>
                    </a:solidFill>
                    <a:latin typeface="Calibri" panose="020F0502020204030204" pitchFamily="34" charset="0"/>
                    <a:ea typeface="+mn-ea"/>
                    <a:cs typeface="Calibri" panose="020F0502020204030204" pitchFamily="34" charset="0"/>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השתתפות!$B$3:$B$10</c:f>
              <c:strCache>
                <c:ptCount val="8"/>
                <c:pt idx="0">
                  <c:v>קהילה תומכת</c:v>
                </c:pt>
                <c:pt idx="1">
                  <c:v>מועדון חברתי</c:v>
                </c:pt>
                <c:pt idx="2">
                  <c:v>מועדון מועשר</c:v>
                </c:pt>
                <c:pt idx="3">
                  <c:v>מועדון מופת</c:v>
                </c:pt>
                <c:pt idx="4">
                  <c:v>מועדון מופת משודרג</c:v>
                </c:pt>
                <c:pt idx="5">
                  <c:v>מרכז יום רווחה</c:v>
                </c:pt>
                <c:pt idx="6">
                  <c:v>מרכז יום לזכאי סיעוד 1-3*</c:v>
                </c:pt>
                <c:pt idx="7">
                  <c:v>מרכזי יום לזכאי סיעוד 4-6*</c:v>
                </c:pt>
              </c:strCache>
            </c:strRef>
          </c:cat>
          <c:val>
            <c:numRef>
              <c:f>השתתפות!$C$3:$C$10</c:f>
              <c:numCache>
                <c:formatCode>General</c:formatCode>
                <c:ptCount val="8"/>
                <c:pt idx="0">
                  <c:v>25</c:v>
                </c:pt>
                <c:pt idx="1">
                  <c:v>30</c:v>
                </c:pt>
                <c:pt idx="2">
                  <c:v>35</c:v>
                </c:pt>
                <c:pt idx="3">
                  <c:v>46</c:v>
                </c:pt>
                <c:pt idx="4">
                  <c:v>75</c:v>
                </c:pt>
                <c:pt idx="5">
                  <c:v>100</c:v>
                </c:pt>
                <c:pt idx="6" formatCode="0">
                  <c:v>1818.8999999999999</c:v>
                </c:pt>
                <c:pt idx="7" formatCode="0">
                  <c:v>2425.1999999999998</c:v>
                </c:pt>
              </c:numCache>
            </c:numRef>
          </c:val>
          <c:extLst>
            <c:ext xmlns:c16="http://schemas.microsoft.com/office/drawing/2014/chart" uri="{C3380CC4-5D6E-409C-BE32-E72D297353CC}">
              <c16:uniqueId val="{00000000-5D22-4D0F-93DA-FBD6ACCFE540}"/>
            </c:ext>
          </c:extLst>
        </c:ser>
        <c:dLbls>
          <c:showLegendKey val="0"/>
          <c:showVal val="1"/>
          <c:showCatName val="0"/>
          <c:showSerName val="0"/>
          <c:showPercent val="0"/>
          <c:showBubbleSize val="0"/>
        </c:dLbls>
        <c:gapWidth val="150"/>
        <c:axId val="507253416"/>
        <c:axId val="507246200"/>
      </c:barChart>
      <c:catAx>
        <c:axId val="507253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700" b="1"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he-IL"/>
          </a:p>
        </c:txPr>
        <c:crossAx val="507246200"/>
        <c:crosses val="autoZero"/>
        <c:auto val="1"/>
        <c:lblAlgn val="ctr"/>
        <c:lblOffset val="100"/>
        <c:noMultiLvlLbl val="0"/>
      </c:catAx>
      <c:valAx>
        <c:axId val="507246200"/>
        <c:scaling>
          <c:orientation val="minMax"/>
          <c:max val="2500"/>
        </c:scaling>
        <c:delete val="0"/>
        <c:axPos val="l"/>
        <c:numFmt formatCode="General" sourceLinked="0"/>
        <c:majorTickMark val="none"/>
        <c:minorTickMark val="none"/>
        <c:tickLblPos val="nextTo"/>
        <c:spPr>
          <a:noFill/>
          <a:ln>
            <a:solidFill>
              <a:schemeClr val="accent1"/>
            </a:solidFill>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he-IL"/>
          </a:p>
        </c:txPr>
        <c:crossAx val="507253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r>
              <a:rPr lang="he-IL" sz="2800" b="1" dirty="0">
                <a:latin typeface="Calibri Light" panose="020F0302020204030204" pitchFamily="34" charset="0"/>
                <a:cs typeface="Calibri Light" panose="020F0302020204030204" pitchFamily="34" charset="0"/>
              </a:rPr>
              <a:t>תרומת התכנית</a:t>
            </a:r>
            <a:endParaRPr lang="en-US" sz="2800" b="1" dirty="0">
              <a:latin typeface="Calibri Light" panose="020F0302020204030204" pitchFamily="34" charset="0"/>
              <a:cs typeface="Calibri Light" panose="020F0302020204030204" pitchFamily="34" charset="0"/>
            </a:endParaRPr>
          </a:p>
        </c:rich>
      </c:tx>
      <c:overlay val="0"/>
      <c:spPr>
        <a:noFill/>
        <a:ln>
          <a:noFill/>
        </a:ln>
        <a:effectLst/>
      </c:spPr>
      <c:txPr>
        <a:bodyPr rot="0" spcFirstLastPara="1" vertOverflow="ellipsis" vert="horz" wrap="square" anchor="ctr" anchorCtr="1"/>
        <a:lstStyle/>
        <a:p>
          <a:pPr>
            <a:defRPr sz="2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title>
    <c:autoTitleDeleted val="0"/>
    <c:plotArea>
      <c:layout/>
      <c:barChart>
        <c:barDir val="bar"/>
        <c:grouping val="clustered"/>
        <c:varyColors val="0"/>
        <c:ser>
          <c:idx val="0"/>
          <c:order val="0"/>
          <c:tx>
            <c:strRef>
              <c:f>Sheet1!$B$1</c:f>
              <c:strCache>
                <c:ptCount val="1"/>
                <c:pt idx="0">
                  <c:v>סל גמיש</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Sheet1!$B$2:$B$4</c:f>
              <c:numCache>
                <c:formatCode>General</c:formatCode>
                <c:ptCount val="3"/>
                <c:pt idx="0">
                  <c:v>71</c:v>
                </c:pt>
                <c:pt idx="1">
                  <c:v>46</c:v>
                </c:pt>
                <c:pt idx="2">
                  <c:v>35</c:v>
                </c:pt>
              </c:numCache>
            </c:numRef>
          </c:val>
          <c:extLst>
            <c:ext xmlns:c16="http://schemas.microsoft.com/office/drawing/2014/chart" uri="{C3380CC4-5D6E-409C-BE32-E72D297353CC}">
              <c16:uniqueId val="{00000000-EE9E-412E-AA32-2CEF2FE272BE}"/>
            </c:ext>
          </c:extLst>
        </c:ser>
        <c:ser>
          <c:idx val="1"/>
          <c:order val="1"/>
          <c:tx>
            <c:strRef>
              <c:f>Sheet1!$C$1</c:f>
              <c:strCache>
                <c:ptCount val="1"/>
                <c:pt idx="0">
                  <c:v>חוק סיעוד</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lt1"/>
                    </a:solidFill>
                    <a:latin typeface="+mn-lt"/>
                    <a:ea typeface="+mn-ea"/>
                    <a:cs typeface="+mn-cs"/>
                  </a:defRPr>
                </a:pPr>
                <a:endParaRPr lang="he-IL"/>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הגברת הבטחון</c:v>
                </c:pt>
                <c:pt idx="1">
                  <c:v>ניהול חיים עצמאיים</c:v>
                </c:pt>
                <c:pt idx="2">
                  <c:v>הקלה על בני משפחה </c:v>
                </c:pt>
              </c:strCache>
            </c:strRef>
          </c:cat>
          <c:val>
            <c:numRef>
              <c:f>Sheet1!$C$2:$C$4</c:f>
              <c:numCache>
                <c:formatCode>General</c:formatCode>
                <c:ptCount val="3"/>
                <c:pt idx="0">
                  <c:v>84.2</c:v>
                </c:pt>
                <c:pt idx="1">
                  <c:v>58.6</c:v>
                </c:pt>
                <c:pt idx="2">
                  <c:v>66.8</c:v>
                </c:pt>
              </c:numCache>
            </c:numRef>
          </c:val>
          <c:extLst>
            <c:ext xmlns:c16="http://schemas.microsoft.com/office/drawing/2014/chart" uri="{C3380CC4-5D6E-409C-BE32-E72D297353CC}">
              <c16:uniqueId val="{00000001-EE9E-412E-AA32-2CEF2FE272BE}"/>
            </c:ext>
          </c:extLst>
        </c:ser>
        <c:dLbls>
          <c:dLblPos val="inEnd"/>
          <c:showLegendKey val="0"/>
          <c:showVal val="1"/>
          <c:showCatName val="0"/>
          <c:showSerName val="0"/>
          <c:showPercent val="0"/>
          <c:showBubbleSize val="0"/>
        </c:dLbls>
        <c:gapWidth val="65"/>
        <c:axId val="740025664"/>
        <c:axId val="740026320"/>
      </c:barChart>
      <c:catAx>
        <c:axId val="74002566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2400" b="1" i="0" u="none" strike="noStrike" kern="1200" cap="all"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crossAx val="740026320"/>
        <c:crosses val="autoZero"/>
        <c:auto val="1"/>
        <c:lblAlgn val="ctr"/>
        <c:lblOffset val="100"/>
        <c:noMultiLvlLbl val="0"/>
      </c:catAx>
      <c:valAx>
        <c:axId val="740026320"/>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he-IL"/>
          </a:p>
        </c:txPr>
        <c:crossAx val="740025664"/>
        <c:crosses val="autoZero"/>
        <c:crossBetween val="between"/>
      </c:valAx>
      <c:spPr>
        <a:noFill/>
        <a:ln>
          <a:noFill/>
        </a:ln>
        <a:effectLst/>
      </c:spPr>
    </c:plotArea>
    <c:legend>
      <c:legendPos val="b"/>
      <c:legendEntry>
        <c:idx val="0"/>
        <c:txPr>
          <a:bodyPr rot="0" spcFirstLastPara="1" vertOverflow="ellipsis" vert="horz" wrap="square" anchor="ctr" anchorCtr="1"/>
          <a:lstStyle/>
          <a:p>
            <a:pPr>
              <a:defRPr sz="18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legendEntry>
        <c:idx val="1"/>
        <c:txPr>
          <a:bodyPr rot="0" spcFirstLastPara="1" vertOverflow="ellipsis" vert="horz" wrap="square" anchor="ctr" anchorCtr="1"/>
          <a:lstStyle/>
          <a:p>
            <a:pPr>
              <a:defRPr sz="1600" b="1"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Entry>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Calibri Light" panose="020F0302020204030204" pitchFamily="34" charset="0"/>
              <a:ea typeface="+mn-ea"/>
              <a:cs typeface="Calibri Light" panose="020F0302020204030204" pitchFamily="34" charset="0"/>
            </a:defRPr>
          </a:pPr>
          <a:endParaRPr lang="he-IL"/>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he-IL"/>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solidFill>
                  <a:srgbClr val="002060"/>
                </a:solidFill>
              </a:rPr>
              <a:t>ROI</a:t>
            </a:r>
            <a:r>
              <a:rPr lang="he-IL" b="1" dirty="0">
                <a:solidFill>
                  <a:srgbClr val="002060"/>
                </a:solidFill>
              </a:rPr>
              <a:t> חסכון לשנה בביטוח לאומי ובקופ"ח לפי רמות</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t>ROI</a:t>
            </a:r>
            <a:r>
              <a:rPr lang="he-IL" b="1"/>
              <a:t> חסכון לשנה בביטוח לאומי ובקופ"ח לפי רמות</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tx>
            <c:strRef>
              <c:f>גיליון1!$M$20</c:f>
              <c:strCache>
                <c:ptCount val="1"/>
                <c:pt idx="0">
                  <c:v>סה"כ חסכון לשנה</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גיליון1!$G$21:$G$26</c:f>
              <c:numCache>
                <c:formatCode>General</c:formatCode>
                <c:ptCount val="6"/>
                <c:pt idx="0">
                  <c:v>0</c:v>
                </c:pt>
                <c:pt idx="1">
                  <c:v>1</c:v>
                </c:pt>
                <c:pt idx="2">
                  <c:v>2</c:v>
                </c:pt>
                <c:pt idx="3">
                  <c:v>3</c:v>
                </c:pt>
                <c:pt idx="4">
                  <c:v>4</c:v>
                </c:pt>
                <c:pt idx="5">
                  <c:v>5</c:v>
                </c:pt>
              </c:numCache>
            </c:numRef>
          </c:cat>
          <c:val>
            <c:numRef>
              <c:f>גיליון1!$M$21:$M$26</c:f>
              <c:numCache>
                <c:formatCode>_ "₪"\ * #,##0_ ;_ "₪"\ * \-#,##0_ ;_ "₪"\ * "-"??_ ;_ @_ </c:formatCode>
                <c:ptCount val="6"/>
                <c:pt idx="0">
                  <c:v>23896.999</c:v>
                </c:pt>
                <c:pt idx="1">
                  <c:v>20548.999</c:v>
                </c:pt>
                <c:pt idx="2">
                  <c:v>23840.668000000001</c:v>
                </c:pt>
                <c:pt idx="3">
                  <c:v>15899.812999999998</c:v>
                </c:pt>
                <c:pt idx="4">
                  <c:v>20263.084999999999</c:v>
                </c:pt>
                <c:pt idx="5">
                  <c:v>14109.836000000003</c:v>
                </c:pt>
              </c:numCache>
            </c:numRef>
          </c:val>
          <c:extLst>
            <c:ext xmlns:c16="http://schemas.microsoft.com/office/drawing/2014/chart" uri="{C3380CC4-5D6E-409C-BE32-E72D297353CC}">
              <c16:uniqueId val="{00000000-2131-4845-902C-CEA812AE68F9}"/>
            </c:ext>
          </c:extLst>
        </c:ser>
        <c:dLbls>
          <c:dLblPos val="outEnd"/>
          <c:showLegendKey val="0"/>
          <c:showVal val="1"/>
          <c:showCatName val="0"/>
          <c:showSerName val="0"/>
          <c:showPercent val="0"/>
          <c:showBubbleSize val="0"/>
        </c:dLbls>
        <c:gapWidth val="219"/>
        <c:overlap val="-27"/>
        <c:axId val="423681296"/>
        <c:axId val="423681624"/>
      </c:barChart>
      <c:catAx>
        <c:axId val="42368129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624"/>
        <c:crosses val="autoZero"/>
        <c:auto val="1"/>
        <c:lblAlgn val="ctr"/>
        <c:lblOffset val="100"/>
        <c:noMultiLvlLbl val="0"/>
      </c:catAx>
      <c:valAx>
        <c:axId val="423681624"/>
        <c:scaling>
          <c:orientation val="minMax"/>
        </c:scaling>
        <c:delete val="0"/>
        <c:axPos val="l"/>
        <c:numFmt formatCode="_ &quot;₪&quot;\ * #,##0_ ;_ &quot;₪&quot;\ * \-#,##0_ ;_ &quot;₪&quot;\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he-IL"/>
          </a:p>
        </c:txPr>
        <c:crossAx val="4236812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r>
              <a:rPr lang="he-IL" sz="1800" b="1"/>
              <a:t>עלויות הגמלה לחודש לפי רמות</a:t>
            </a:r>
          </a:p>
        </c:rich>
      </c:tx>
      <c:overlay val="0"/>
      <c:spPr>
        <a:noFill/>
        <a:ln>
          <a:noFill/>
        </a:ln>
        <a:effectLst/>
      </c:spPr>
      <c:txPr>
        <a:bodyPr rot="0" spcFirstLastPara="1" vertOverflow="ellipsis" vert="horz" wrap="square" anchor="ctr" anchorCtr="1"/>
        <a:lstStyle/>
        <a:p>
          <a:pPr>
            <a:defRPr sz="1800" b="1" i="0" u="none" strike="noStrike" kern="1200" spc="0" baseline="0">
              <a:solidFill>
                <a:schemeClr val="tx1">
                  <a:lumMod val="65000"/>
                  <a:lumOff val="35000"/>
                </a:schemeClr>
              </a:solidFill>
              <a:latin typeface="+mn-lt"/>
              <a:ea typeface="+mn-ea"/>
              <a:cs typeface="+mn-cs"/>
            </a:defRPr>
          </a:pPr>
          <a:endParaRPr lang="he-IL"/>
        </a:p>
      </c:txPr>
    </c:title>
    <c:autoTitleDeleted val="0"/>
    <c:plotArea>
      <c:layout/>
      <c:barChart>
        <c:barDir val="col"/>
        <c:grouping val="clustered"/>
        <c:varyColors val="0"/>
        <c:ser>
          <c:idx val="0"/>
          <c:order val="0"/>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lumMod val="75000"/>
                        <a:lumOff val="25000"/>
                      </a:schemeClr>
                    </a:solidFill>
                    <a:latin typeface="+mn-lt"/>
                    <a:ea typeface="+mn-ea"/>
                    <a:cs typeface="+mn-cs"/>
                  </a:defRPr>
                </a:pPr>
                <a:endParaRPr lang="he-IL"/>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גיליון1!$G$22:$G$27</c:f>
              <c:numCache>
                <c:formatCode>General</c:formatCode>
                <c:ptCount val="6"/>
                <c:pt idx="0">
                  <c:v>1</c:v>
                </c:pt>
                <c:pt idx="1">
                  <c:v>2</c:v>
                </c:pt>
                <c:pt idx="2">
                  <c:v>3</c:v>
                </c:pt>
                <c:pt idx="3">
                  <c:v>4</c:v>
                </c:pt>
                <c:pt idx="4">
                  <c:v>5</c:v>
                </c:pt>
                <c:pt idx="5">
                  <c:v>6</c:v>
                </c:pt>
              </c:numCache>
            </c:numRef>
          </c:cat>
          <c:val>
            <c:numRef>
              <c:f>גיליון1!$H$22:$H$27</c:f>
              <c:numCache>
                <c:formatCode>_ * #,##0_ ;_ * \-#,##0_ ;_ * "-"??_ ;_ @_ </c:formatCode>
                <c:ptCount val="6"/>
                <c:pt idx="0">
                  <c:v>1534.5</c:v>
                </c:pt>
                <c:pt idx="1">
                  <c:v>2790</c:v>
                </c:pt>
                <c:pt idx="2">
                  <c:v>4743</c:v>
                </c:pt>
                <c:pt idx="3">
                  <c:v>5859</c:v>
                </c:pt>
                <c:pt idx="4">
                  <c:v>7254</c:v>
                </c:pt>
                <c:pt idx="5">
                  <c:v>8370</c:v>
                </c:pt>
              </c:numCache>
            </c:numRef>
          </c:val>
          <c:extLst>
            <c:ext xmlns:c16="http://schemas.microsoft.com/office/drawing/2014/chart" uri="{C3380CC4-5D6E-409C-BE32-E72D297353CC}">
              <c16:uniqueId val="{00000000-64F6-4146-B367-FFFD5F867A48}"/>
            </c:ext>
          </c:extLst>
        </c:ser>
        <c:dLbls>
          <c:dLblPos val="outEnd"/>
          <c:showLegendKey val="0"/>
          <c:showVal val="1"/>
          <c:showCatName val="0"/>
          <c:showSerName val="0"/>
          <c:showPercent val="0"/>
          <c:showBubbleSize val="0"/>
        </c:dLbls>
        <c:gapWidth val="219"/>
        <c:overlap val="-27"/>
        <c:axId val="615596416"/>
        <c:axId val="615599696"/>
      </c:barChart>
      <c:catAx>
        <c:axId val="6155964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he-IL"/>
          </a:p>
        </c:txPr>
        <c:crossAx val="615599696"/>
        <c:crosses val="autoZero"/>
        <c:auto val="1"/>
        <c:lblAlgn val="ctr"/>
        <c:lblOffset val="100"/>
        <c:noMultiLvlLbl val="0"/>
      </c:catAx>
      <c:valAx>
        <c:axId val="615599696"/>
        <c:scaling>
          <c:orientation val="minMax"/>
        </c:scaling>
        <c:delete val="0"/>
        <c:axPos val="l"/>
        <c:numFmt formatCode="_ * #,##0_ ;_ * \-#,##0_ ;_ * &quot;-&quot;??_ ;_ @_ "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he-IL"/>
          </a:p>
        </c:txPr>
        <c:crossAx val="61559641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he-IL"/>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5">
  <a:schemeClr val="accent5"/>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withinLinearReversed" id="25">
  <a:schemeClr val="accent5"/>
</cs:colorStyle>
</file>

<file path=ppt/charts/colors5.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Reversed" id="25">
  <a:schemeClr val="accent5"/>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withinLinearReversed" id="25">
  <a:schemeClr val="accent5"/>
</cs:colorStyle>
</file>

<file path=ppt/charts/colors19.xml><?xml version="1.0" encoding="utf-8"?>
<cs:colorStyle xmlns:cs="http://schemas.microsoft.com/office/drawing/2012/chartStyle" xmlns:a="http://schemas.openxmlformats.org/drawingml/2006/main" meth="withinLinearReversed" id="25">
  <a:schemeClr val="accent5"/>
</cs:colorStyle>
</file>

<file path=ppt/charts/colors20.xml><?xml version="1.0" encoding="utf-8"?>
<cs:colorStyle xmlns:cs="http://schemas.microsoft.com/office/drawing/2012/chartStyle" xmlns:a="http://schemas.openxmlformats.org/drawingml/2006/main" meth="withinLinearReversed" id="25">
  <a:schemeClr val="accent5"/>
</cs:colorStyle>
</file>

<file path=ppt/charts/style1.xml><?xml version="1.0" encoding="utf-8"?>
<cs:chartStyle xmlns:cs="http://schemas.microsoft.com/office/drawing/2012/chartStyle" xmlns:a="http://schemas.openxmlformats.org/drawingml/2006/main" id="215">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15875" cap="flat" cmpd="sng" algn="ctr">
        <a:solidFill>
          <a:schemeClr val="tx1">
            <a:lumMod val="25000"/>
            <a:lumOff val="75000"/>
          </a:schemeClr>
        </a:solidFill>
        <a:round/>
      </a:ln>
    </cs:spPr>
    <cs:defRPr sz="1197" kern="1200" cap="none" spc="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bg1"/>
    </cs:fontRef>
    <cs:spPr>
      <a:solidFill>
        <a:schemeClr val="tx1">
          <a:lumMod val="50000"/>
          <a:lumOff val="50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70000"/>
        </a:schemeClr>
      </a:solidFill>
    </cs:spPr>
  </cs:dataPoint>
  <cs:dataPoint3D>
    <cs:lnRef idx="0"/>
    <cs:fillRef idx="0">
      <cs:styleClr val="auto"/>
    </cs:fillRef>
    <cs:effectRef idx="0"/>
    <cs:fontRef idx="minor">
      <a:schemeClr val="dk1"/>
    </cs:fontRef>
    <cs:spPr>
      <a:solidFill>
        <a:schemeClr val="phClr">
          <a:alpha val="70000"/>
        </a:schemeClr>
      </a:solidFill>
    </cs:spPr>
  </cs:dataPoint3D>
  <cs:dataPointLine>
    <cs:lnRef idx="0">
      <cs:styleClr val="auto"/>
    </cs:lnRef>
    <cs:fillRef idx="0"/>
    <cs:effectRef idx="0"/>
    <cs:fontRef idx="minor">
      <a:schemeClr val="dk1"/>
    </cs:fontRef>
    <cs:spPr>
      <a:ln w="28575" cap="rnd">
        <a:solidFill>
          <a:schemeClr val="phClr">
            <a:alpha val="70000"/>
          </a:schemeClr>
        </a:solidFill>
        <a:round/>
      </a:ln>
    </cs:spPr>
  </cs:dataPointLine>
  <cs:dataPointMarker>
    <cs:lnRef idx="0"/>
    <cs:fillRef idx="0">
      <cs:styleClr val="auto"/>
    </cs:fillRef>
    <cs:effectRef idx="0"/>
    <cs:fontRef idx="minor">
      <a:schemeClr val="dk1"/>
    </cs:fontRef>
    <cs:spPr>
      <a:solidFill>
        <a:schemeClr val="phClr">
          <a:alpha val="70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5000"/>
            <a:lumOff val="9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baseline="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128" b="0" i="0" kern="1200" cap="none" spc="50" normalizeH="0" baseline="0"/>
  </cs:title>
  <cs:trendline>
    <cs:lnRef idx="0">
      <cs:styleClr val="auto"/>
    </cs:lnRef>
    <cs:fillRef idx="0"/>
    <cs:effectRef idx="0"/>
    <cs:fontRef idx="minor">
      <a:schemeClr val="dk1"/>
    </cs:fontRef>
    <cs:spPr>
      <a:ln w="15875"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1197" kern="1200" spc="20" baseline="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1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2DAC69-F2DF-426A-A72B-3FFD1EE774B8}" type="doc">
      <dgm:prSet loTypeId="urn:microsoft.com/office/officeart/2005/8/layout/venn3" loCatId="relationship" qsTypeId="urn:microsoft.com/office/officeart/2005/8/quickstyle/simple1" qsCatId="simple" csTypeId="urn:microsoft.com/office/officeart/2005/8/colors/colorful4" csCatId="colorful" phldr="1"/>
      <dgm:spPr/>
      <dgm:t>
        <a:bodyPr/>
        <a:lstStyle/>
        <a:p>
          <a:pPr rtl="1"/>
          <a:endParaRPr lang="he-IL"/>
        </a:p>
      </dgm:t>
    </dgm:pt>
    <dgm:pt modelId="{59D664AA-9CE7-4157-80AE-CECD1FDCC6FA}">
      <dgm:prSet phldrT="[טקסט]"/>
      <dgm:spPr/>
      <dgm:t>
        <a:bodyPr/>
        <a:lstStyle/>
        <a:p>
          <a:pPr rtl="1"/>
          <a:r>
            <a:rPr lang="he-IL" dirty="0"/>
            <a:t>מרכז יום?</a:t>
          </a:r>
        </a:p>
      </dgm:t>
    </dgm:pt>
    <dgm:pt modelId="{5C6BFA4E-AD37-4F8C-8886-9F39FBBDC9FC}" type="parTrans" cxnId="{0E0A6C3F-8131-42F7-B5B8-8AD70CF6F9EA}">
      <dgm:prSet/>
      <dgm:spPr/>
      <dgm:t>
        <a:bodyPr/>
        <a:lstStyle/>
        <a:p>
          <a:pPr rtl="1"/>
          <a:endParaRPr lang="he-IL"/>
        </a:p>
      </dgm:t>
    </dgm:pt>
    <dgm:pt modelId="{F9A47966-D787-4858-B077-5EB512418C8F}" type="sibTrans" cxnId="{0E0A6C3F-8131-42F7-B5B8-8AD70CF6F9EA}">
      <dgm:prSet/>
      <dgm:spPr/>
      <dgm:t>
        <a:bodyPr/>
        <a:lstStyle/>
        <a:p>
          <a:pPr rtl="1"/>
          <a:endParaRPr lang="he-IL"/>
        </a:p>
      </dgm:t>
    </dgm:pt>
    <dgm:pt modelId="{AD921FC4-BC1B-4332-86D5-9520EAAAF1E4}">
      <dgm:prSet phldrT="[טקסט]"/>
      <dgm:spPr/>
      <dgm:t>
        <a:bodyPr/>
        <a:lstStyle/>
        <a:p>
          <a:pPr rtl="1"/>
          <a:r>
            <a:rPr lang="he-IL" dirty="0"/>
            <a:t>שירותי כביסה?</a:t>
          </a:r>
        </a:p>
      </dgm:t>
    </dgm:pt>
    <dgm:pt modelId="{AB9E7979-E2E9-49B1-94D7-F97E27754371}" type="parTrans" cxnId="{5FDF2474-5A49-44E0-9390-AE97E1C0ABA5}">
      <dgm:prSet/>
      <dgm:spPr/>
      <dgm:t>
        <a:bodyPr/>
        <a:lstStyle/>
        <a:p>
          <a:pPr rtl="1"/>
          <a:endParaRPr lang="he-IL"/>
        </a:p>
      </dgm:t>
    </dgm:pt>
    <dgm:pt modelId="{862EEECD-B879-441A-BDFD-367BA2D1ED03}" type="sibTrans" cxnId="{5FDF2474-5A49-44E0-9390-AE97E1C0ABA5}">
      <dgm:prSet/>
      <dgm:spPr/>
      <dgm:t>
        <a:bodyPr/>
        <a:lstStyle/>
        <a:p>
          <a:pPr rtl="1"/>
          <a:endParaRPr lang="he-IL"/>
        </a:p>
      </dgm:t>
    </dgm:pt>
    <dgm:pt modelId="{1EC8D0A6-0C22-4B81-B82E-FB70D299AD5C}">
      <dgm:prSet phldrT="[טקסט]"/>
      <dgm:spPr/>
      <dgm:t>
        <a:bodyPr/>
        <a:lstStyle/>
        <a:p>
          <a:pPr rtl="1"/>
          <a:r>
            <a:rPr lang="he-IL" dirty="0"/>
            <a:t>כסף?</a:t>
          </a:r>
        </a:p>
      </dgm:t>
    </dgm:pt>
    <dgm:pt modelId="{0DF6C506-7703-4727-99B0-EA97DC9C80D5}" type="parTrans" cxnId="{96A6A66D-8680-471B-A5CA-89D16FDE248D}">
      <dgm:prSet/>
      <dgm:spPr/>
      <dgm:t>
        <a:bodyPr/>
        <a:lstStyle/>
        <a:p>
          <a:pPr rtl="1"/>
          <a:endParaRPr lang="he-IL"/>
        </a:p>
      </dgm:t>
    </dgm:pt>
    <dgm:pt modelId="{A3C5FFE0-7A44-446D-9F87-7D8233D4A061}" type="sibTrans" cxnId="{96A6A66D-8680-471B-A5CA-89D16FDE248D}">
      <dgm:prSet/>
      <dgm:spPr/>
      <dgm:t>
        <a:bodyPr/>
        <a:lstStyle/>
        <a:p>
          <a:pPr rtl="1"/>
          <a:endParaRPr lang="he-IL"/>
        </a:p>
      </dgm:t>
    </dgm:pt>
    <dgm:pt modelId="{E07DAE9D-86FF-41A9-8360-85081503093B}">
      <dgm:prSet phldrT="[טקסט]"/>
      <dgm:spPr/>
      <dgm:t>
        <a:bodyPr/>
        <a:lstStyle/>
        <a:p>
          <a:pPr rtl="1"/>
          <a:r>
            <a:rPr lang="he-IL" dirty="0"/>
            <a:t>מטפלת?</a:t>
          </a:r>
        </a:p>
      </dgm:t>
    </dgm:pt>
    <dgm:pt modelId="{AB5EB4CD-CF8C-4456-8EA6-099F089745E5}" type="parTrans" cxnId="{12F8859B-13D8-41ED-85F9-28B582B22718}">
      <dgm:prSet/>
      <dgm:spPr/>
      <dgm:t>
        <a:bodyPr/>
        <a:lstStyle/>
        <a:p>
          <a:pPr rtl="1"/>
          <a:endParaRPr lang="he-IL"/>
        </a:p>
      </dgm:t>
    </dgm:pt>
    <dgm:pt modelId="{877891B9-F265-4CD3-A814-CF9EFCB9F31B}" type="sibTrans" cxnId="{12F8859B-13D8-41ED-85F9-28B582B22718}">
      <dgm:prSet/>
      <dgm:spPr/>
      <dgm:t>
        <a:bodyPr/>
        <a:lstStyle/>
        <a:p>
          <a:pPr rtl="1"/>
          <a:endParaRPr lang="he-IL"/>
        </a:p>
      </dgm:t>
    </dgm:pt>
    <dgm:pt modelId="{2D9CC6D8-6A0D-4CDD-9EEB-DFA9C355CF6F}">
      <dgm:prSet phldrT="[טקסט]"/>
      <dgm:spPr/>
      <dgm:t>
        <a:bodyPr/>
        <a:lstStyle/>
        <a:p>
          <a:pPr rtl="1"/>
          <a:r>
            <a:rPr lang="he-IL" dirty="0"/>
            <a:t>טיטולים?</a:t>
          </a:r>
        </a:p>
      </dgm:t>
    </dgm:pt>
    <dgm:pt modelId="{BA2A0E90-7ADB-4464-A43B-183B60838950}" type="parTrans" cxnId="{04F669AD-E0F0-4F99-85F9-CFBCFFF7C895}">
      <dgm:prSet/>
      <dgm:spPr/>
      <dgm:t>
        <a:bodyPr/>
        <a:lstStyle/>
        <a:p>
          <a:pPr rtl="1"/>
          <a:endParaRPr lang="he-IL"/>
        </a:p>
      </dgm:t>
    </dgm:pt>
    <dgm:pt modelId="{6BDEE30D-E728-4DA8-A371-F10FEFCEF934}" type="sibTrans" cxnId="{04F669AD-E0F0-4F99-85F9-CFBCFFF7C895}">
      <dgm:prSet/>
      <dgm:spPr/>
      <dgm:t>
        <a:bodyPr/>
        <a:lstStyle/>
        <a:p>
          <a:pPr rtl="1"/>
          <a:endParaRPr lang="he-IL"/>
        </a:p>
      </dgm:t>
    </dgm:pt>
    <dgm:pt modelId="{0C034FC4-A7BE-4A21-801B-EDBC92E45A61}" type="pres">
      <dgm:prSet presAssocID="{A92DAC69-F2DF-426A-A72B-3FFD1EE774B8}" presName="Name0" presStyleCnt="0">
        <dgm:presLayoutVars>
          <dgm:dir/>
          <dgm:resizeHandles val="exact"/>
        </dgm:presLayoutVars>
      </dgm:prSet>
      <dgm:spPr/>
      <dgm:t>
        <a:bodyPr/>
        <a:lstStyle/>
        <a:p>
          <a:pPr rtl="1"/>
          <a:endParaRPr lang="he-IL"/>
        </a:p>
      </dgm:t>
    </dgm:pt>
    <dgm:pt modelId="{5878192A-A055-49A5-A975-99AB0E689D6E}" type="pres">
      <dgm:prSet presAssocID="{59D664AA-9CE7-4157-80AE-CECD1FDCC6FA}" presName="Name5" presStyleLbl="vennNode1" presStyleIdx="0" presStyleCnt="5">
        <dgm:presLayoutVars>
          <dgm:bulletEnabled val="1"/>
        </dgm:presLayoutVars>
      </dgm:prSet>
      <dgm:spPr/>
      <dgm:t>
        <a:bodyPr/>
        <a:lstStyle/>
        <a:p>
          <a:pPr rtl="1"/>
          <a:endParaRPr lang="he-IL"/>
        </a:p>
      </dgm:t>
    </dgm:pt>
    <dgm:pt modelId="{D5ABBE1E-D58A-472D-B28B-BD148DDDD197}" type="pres">
      <dgm:prSet presAssocID="{F9A47966-D787-4858-B077-5EB512418C8F}" presName="space" presStyleCnt="0"/>
      <dgm:spPr/>
    </dgm:pt>
    <dgm:pt modelId="{D8E91E25-8363-4A79-9E86-77E442B0FFAC}" type="pres">
      <dgm:prSet presAssocID="{AD921FC4-BC1B-4332-86D5-9520EAAAF1E4}" presName="Name5" presStyleLbl="vennNode1" presStyleIdx="1" presStyleCnt="5">
        <dgm:presLayoutVars>
          <dgm:bulletEnabled val="1"/>
        </dgm:presLayoutVars>
      </dgm:prSet>
      <dgm:spPr/>
      <dgm:t>
        <a:bodyPr/>
        <a:lstStyle/>
        <a:p>
          <a:pPr rtl="1"/>
          <a:endParaRPr lang="he-IL"/>
        </a:p>
      </dgm:t>
    </dgm:pt>
    <dgm:pt modelId="{1A14723C-D669-4DE8-8F0A-2CD8219F7E6D}" type="pres">
      <dgm:prSet presAssocID="{862EEECD-B879-441A-BDFD-367BA2D1ED03}" presName="space" presStyleCnt="0"/>
      <dgm:spPr/>
    </dgm:pt>
    <dgm:pt modelId="{A29250C1-4D38-4611-B7E7-90B5A88926EF}" type="pres">
      <dgm:prSet presAssocID="{1EC8D0A6-0C22-4B81-B82E-FB70D299AD5C}" presName="Name5" presStyleLbl="vennNode1" presStyleIdx="2" presStyleCnt="5">
        <dgm:presLayoutVars>
          <dgm:bulletEnabled val="1"/>
        </dgm:presLayoutVars>
      </dgm:prSet>
      <dgm:spPr/>
      <dgm:t>
        <a:bodyPr/>
        <a:lstStyle/>
        <a:p>
          <a:pPr rtl="1"/>
          <a:endParaRPr lang="he-IL"/>
        </a:p>
      </dgm:t>
    </dgm:pt>
    <dgm:pt modelId="{232CCE3E-D612-4A67-996E-024B4B38B1C1}" type="pres">
      <dgm:prSet presAssocID="{A3C5FFE0-7A44-446D-9F87-7D8233D4A061}" presName="space" presStyleCnt="0"/>
      <dgm:spPr/>
    </dgm:pt>
    <dgm:pt modelId="{C36CB827-37E2-4CA7-BDEA-8A5B2412EC55}" type="pres">
      <dgm:prSet presAssocID="{E07DAE9D-86FF-41A9-8360-85081503093B}" presName="Name5" presStyleLbl="vennNode1" presStyleIdx="3" presStyleCnt="5">
        <dgm:presLayoutVars>
          <dgm:bulletEnabled val="1"/>
        </dgm:presLayoutVars>
      </dgm:prSet>
      <dgm:spPr/>
      <dgm:t>
        <a:bodyPr/>
        <a:lstStyle/>
        <a:p>
          <a:pPr rtl="1"/>
          <a:endParaRPr lang="he-IL"/>
        </a:p>
      </dgm:t>
    </dgm:pt>
    <dgm:pt modelId="{A7027685-E3E3-4A52-A937-28A4159C24A7}" type="pres">
      <dgm:prSet presAssocID="{877891B9-F265-4CD3-A814-CF9EFCB9F31B}" presName="space" presStyleCnt="0"/>
      <dgm:spPr/>
    </dgm:pt>
    <dgm:pt modelId="{084B70BC-296E-42EE-B9F0-4B73CE7ED8F5}" type="pres">
      <dgm:prSet presAssocID="{2D9CC6D8-6A0D-4CDD-9EEB-DFA9C355CF6F}" presName="Name5" presStyleLbl="vennNode1" presStyleIdx="4" presStyleCnt="5">
        <dgm:presLayoutVars>
          <dgm:bulletEnabled val="1"/>
        </dgm:presLayoutVars>
      </dgm:prSet>
      <dgm:spPr/>
      <dgm:t>
        <a:bodyPr/>
        <a:lstStyle/>
        <a:p>
          <a:pPr rtl="1"/>
          <a:endParaRPr lang="he-IL"/>
        </a:p>
      </dgm:t>
    </dgm:pt>
  </dgm:ptLst>
  <dgm:cxnLst>
    <dgm:cxn modelId="{5FDF2474-5A49-44E0-9390-AE97E1C0ABA5}" srcId="{A92DAC69-F2DF-426A-A72B-3FFD1EE774B8}" destId="{AD921FC4-BC1B-4332-86D5-9520EAAAF1E4}" srcOrd="1" destOrd="0" parTransId="{AB9E7979-E2E9-49B1-94D7-F97E27754371}" sibTransId="{862EEECD-B879-441A-BDFD-367BA2D1ED03}"/>
    <dgm:cxn modelId="{12F8859B-13D8-41ED-85F9-28B582B22718}" srcId="{A92DAC69-F2DF-426A-A72B-3FFD1EE774B8}" destId="{E07DAE9D-86FF-41A9-8360-85081503093B}" srcOrd="3" destOrd="0" parTransId="{AB5EB4CD-CF8C-4456-8EA6-099F089745E5}" sibTransId="{877891B9-F265-4CD3-A814-CF9EFCB9F31B}"/>
    <dgm:cxn modelId="{04F669AD-E0F0-4F99-85F9-CFBCFFF7C895}" srcId="{A92DAC69-F2DF-426A-A72B-3FFD1EE774B8}" destId="{2D9CC6D8-6A0D-4CDD-9EEB-DFA9C355CF6F}" srcOrd="4" destOrd="0" parTransId="{BA2A0E90-7ADB-4464-A43B-183B60838950}" sibTransId="{6BDEE30D-E728-4DA8-A371-F10FEFCEF934}"/>
    <dgm:cxn modelId="{A67B9C02-0280-41E1-8B6E-CB9FE5073514}" type="presOf" srcId="{AD921FC4-BC1B-4332-86D5-9520EAAAF1E4}" destId="{D8E91E25-8363-4A79-9E86-77E442B0FFAC}" srcOrd="0" destOrd="0" presId="urn:microsoft.com/office/officeart/2005/8/layout/venn3"/>
    <dgm:cxn modelId="{96A6A66D-8680-471B-A5CA-89D16FDE248D}" srcId="{A92DAC69-F2DF-426A-A72B-3FFD1EE774B8}" destId="{1EC8D0A6-0C22-4B81-B82E-FB70D299AD5C}" srcOrd="2" destOrd="0" parTransId="{0DF6C506-7703-4727-99B0-EA97DC9C80D5}" sibTransId="{A3C5FFE0-7A44-446D-9F87-7D8233D4A061}"/>
    <dgm:cxn modelId="{60563097-BA99-4945-AD87-D4641E97B8BF}" type="presOf" srcId="{2D9CC6D8-6A0D-4CDD-9EEB-DFA9C355CF6F}" destId="{084B70BC-296E-42EE-B9F0-4B73CE7ED8F5}" srcOrd="0" destOrd="0" presId="urn:microsoft.com/office/officeart/2005/8/layout/venn3"/>
    <dgm:cxn modelId="{2D087E55-B05D-406A-849F-099E4B3777C5}" type="presOf" srcId="{59D664AA-9CE7-4157-80AE-CECD1FDCC6FA}" destId="{5878192A-A055-49A5-A975-99AB0E689D6E}" srcOrd="0" destOrd="0" presId="urn:microsoft.com/office/officeart/2005/8/layout/venn3"/>
    <dgm:cxn modelId="{06A77C03-6AD8-41F2-AC66-33EC00CAD961}" type="presOf" srcId="{1EC8D0A6-0C22-4B81-B82E-FB70D299AD5C}" destId="{A29250C1-4D38-4611-B7E7-90B5A88926EF}" srcOrd="0" destOrd="0" presId="urn:microsoft.com/office/officeart/2005/8/layout/venn3"/>
    <dgm:cxn modelId="{0E0A6C3F-8131-42F7-B5B8-8AD70CF6F9EA}" srcId="{A92DAC69-F2DF-426A-A72B-3FFD1EE774B8}" destId="{59D664AA-9CE7-4157-80AE-CECD1FDCC6FA}" srcOrd="0" destOrd="0" parTransId="{5C6BFA4E-AD37-4F8C-8886-9F39FBBDC9FC}" sibTransId="{F9A47966-D787-4858-B077-5EB512418C8F}"/>
    <dgm:cxn modelId="{28522FD2-7B23-48A2-94EB-E85347CF3C80}" type="presOf" srcId="{E07DAE9D-86FF-41A9-8360-85081503093B}" destId="{C36CB827-37E2-4CA7-BDEA-8A5B2412EC55}" srcOrd="0" destOrd="0" presId="urn:microsoft.com/office/officeart/2005/8/layout/venn3"/>
    <dgm:cxn modelId="{D579D054-F67A-46CC-83D5-C84B457F0643}" type="presOf" srcId="{A92DAC69-F2DF-426A-A72B-3FFD1EE774B8}" destId="{0C034FC4-A7BE-4A21-801B-EDBC92E45A61}" srcOrd="0" destOrd="0" presId="urn:microsoft.com/office/officeart/2005/8/layout/venn3"/>
    <dgm:cxn modelId="{E3D563C0-6ED8-4731-918C-907B5C5F58FD}" type="presParOf" srcId="{0C034FC4-A7BE-4A21-801B-EDBC92E45A61}" destId="{5878192A-A055-49A5-A975-99AB0E689D6E}" srcOrd="0" destOrd="0" presId="urn:microsoft.com/office/officeart/2005/8/layout/venn3"/>
    <dgm:cxn modelId="{32EDCF10-3902-4DF1-AF94-732C70726757}" type="presParOf" srcId="{0C034FC4-A7BE-4A21-801B-EDBC92E45A61}" destId="{D5ABBE1E-D58A-472D-B28B-BD148DDDD197}" srcOrd="1" destOrd="0" presId="urn:microsoft.com/office/officeart/2005/8/layout/venn3"/>
    <dgm:cxn modelId="{6221BB87-D1FD-4690-917F-6234DA643468}" type="presParOf" srcId="{0C034FC4-A7BE-4A21-801B-EDBC92E45A61}" destId="{D8E91E25-8363-4A79-9E86-77E442B0FFAC}" srcOrd="2" destOrd="0" presId="urn:microsoft.com/office/officeart/2005/8/layout/venn3"/>
    <dgm:cxn modelId="{F4A92CE3-C80F-4345-B133-4F2EB78F0C50}" type="presParOf" srcId="{0C034FC4-A7BE-4A21-801B-EDBC92E45A61}" destId="{1A14723C-D669-4DE8-8F0A-2CD8219F7E6D}" srcOrd="3" destOrd="0" presId="urn:microsoft.com/office/officeart/2005/8/layout/venn3"/>
    <dgm:cxn modelId="{334E7AF1-7BFB-405E-84BB-9A701B25AD76}" type="presParOf" srcId="{0C034FC4-A7BE-4A21-801B-EDBC92E45A61}" destId="{A29250C1-4D38-4611-B7E7-90B5A88926EF}" srcOrd="4" destOrd="0" presId="urn:microsoft.com/office/officeart/2005/8/layout/venn3"/>
    <dgm:cxn modelId="{4C0A6907-E79A-4784-813D-E195F3BA83A3}" type="presParOf" srcId="{0C034FC4-A7BE-4A21-801B-EDBC92E45A61}" destId="{232CCE3E-D612-4A67-996E-024B4B38B1C1}" srcOrd="5" destOrd="0" presId="urn:microsoft.com/office/officeart/2005/8/layout/venn3"/>
    <dgm:cxn modelId="{B10A97DD-D653-4411-AF74-AD9E468B75D4}" type="presParOf" srcId="{0C034FC4-A7BE-4A21-801B-EDBC92E45A61}" destId="{C36CB827-37E2-4CA7-BDEA-8A5B2412EC55}" srcOrd="6" destOrd="0" presId="urn:microsoft.com/office/officeart/2005/8/layout/venn3"/>
    <dgm:cxn modelId="{F482A760-2CC3-49AC-9200-0DB8FD0B6F4C}" type="presParOf" srcId="{0C034FC4-A7BE-4A21-801B-EDBC92E45A61}" destId="{A7027685-E3E3-4A52-A937-28A4159C24A7}" srcOrd="7" destOrd="0" presId="urn:microsoft.com/office/officeart/2005/8/layout/venn3"/>
    <dgm:cxn modelId="{3A74B44F-783F-403B-A198-888934510A79}" type="presParOf" srcId="{0C034FC4-A7BE-4A21-801B-EDBC92E45A61}" destId="{084B70BC-296E-42EE-B9F0-4B73CE7ED8F5}" srcOrd="8" destOrd="0" presId="urn:microsoft.com/office/officeart/2005/8/layout/ven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0D35F0-8174-460B-91B7-5259B078BD87}" type="doc">
      <dgm:prSet loTypeId="urn:microsoft.com/office/officeart/2005/8/layout/pyramid1" loCatId="pyramid" qsTypeId="urn:microsoft.com/office/officeart/2005/8/quickstyle/simple1" qsCatId="simple" csTypeId="urn:microsoft.com/office/officeart/2005/8/colors/colorful1" csCatId="colorful" phldr="1"/>
      <dgm:spPr/>
    </dgm:pt>
    <dgm:pt modelId="{5F245D62-3699-4326-8C24-96C9D00DD3AC}">
      <dgm:prSet phldrT="[טקסט]" custT="1"/>
      <dgm:spPr/>
      <dgm:t>
        <a:bodyPr/>
        <a:lstStyle/>
        <a:p>
          <a:pPr rtl="1"/>
          <a:endParaRPr lang="he-IL" sz="1100" dirty="0"/>
        </a:p>
        <a:p>
          <a:pPr rtl="1"/>
          <a:endParaRPr lang="he-IL" sz="1200" b="1" dirty="0"/>
        </a:p>
        <a:p>
          <a:pPr rtl="1"/>
          <a:r>
            <a:rPr lang="he-IL" sz="2000" b="1" dirty="0"/>
            <a:t>הזדקנות</a:t>
          </a:r>
        </a:p>
        <a:p>
          <a:pPr rtl="1"/>
          <a:r>
            <a:rPr lang="he-IL" sz="2400" b="1" dirty="0"/>
            <a:t> מיטבית</a:t>
          </a:r>
        </a:p>
      </dgm:t>
    </dgm:pt>
    <dgm:pt modelId="{65AC23A2-3F54-4864-812A-833BD39436B9}" type="parTrans" cxnId="{78B8C709-A93D-4230-86E6-E15D289D53A1}">
      <dgm:prSet/>
      <dgm:spPr/>
      <dgm:t>
        <a:bodyPr/>
        <a:lstStyle/>
        <a:p>
          <a:pPr rtl="1"/>
          <a:endParaRPr lang="he-IL"/>
        </a:p>
      </dgm:t>
    </dgm:pt>
    <dgm:pt modelId="{2D680DEE-5688-430A-A56F-896B091ADC9C}" type="sibTrans" cxnId="{78B8C709-A93D-4230-86E6-E15D289D53A1}">
      <dgm:prSet/>
      <dgm:spPr/>
      <dgm:t>
        <a:bodyPr/>
        <a:lstStyle/>
        <a:p>
          <a:pPr rtl="1"/>
          <a:endParaRPr lang="he-IL"/>
        </a:p>
      </dgm:t>
    </dgm:pt>
    <dgm:pt modelId="{81D5B673-99AF-4C58-956C-30F45CBD5586}">
      <dgm:prSet phldrT="[טקסט]" custT="1"/>
      <dgm:spPr>
        <a:solidFill>
          <a:srgbClr val="FFC000"/>
        </a:solidFill>
      </dgm:spPr>
      <dgm:t>
        <a:bodyPr/>
        <a:lstStyle/>
        <a:p>
          <a:pPr rtl="1"/>
          <a:r>
            <a:rPr lang="he-IL" sz="3200" dirty="0"/>
            <a:t>מדידה </a:t>
          </a:r>
          <a:r>
            <a:rPr lang="he-IL" sz="3200" dirty="0" err="1"/>
            <a:t>ותמרוצים</a:t>
          </a:r>
          <a:r>
            <a:rPr lang="he-IL" sz="3200" dirty="0"/>
            <a:t> </a:t>
          </a:r>
        </a:p>
      </dgm:t>
    </dgm:pt>
    <dgm:pt modelId="{E27AB79A-574A-4069-9DC2-F0DF479D6A66}" type="parTrans" cxnId="{66D0C72A-ADD1-4E7F-8743-96969BB478E9}">
      <dgm:prSet/>
      <dgm:spPr/>
      <dgm:t>
        <a:bodyPr/>
        <a:lstStyle/>
        <a:p>
          <a:pPr rtl="1"/>
          <a:endParaRPr lang="he-IL"/>
        </a:p>
      </dgm:t>
    </dgm:pt>
    <dgm:pt modelId="{5B8DF2BA-907C-4877-AC21-D09C8186714E}" type="sibTrans" cxnId="{66D0C72A-ADD1-4E7F-8743-96969BB478E9}">
      <dgm:prSet/>
      <dgm:spPr/>
      <dgm:t>
        <a:bodyPr/>
        <a:lstStyle/>
        <a:p>
          <a:pPr rtl="1"/>
          <a:endParaRPr lang="he-IL"/>
        </a:p>
      </dgm:t>
    </dgm:pt>
    <dgm:pt modelId="{5B8E34DD-E50F-4C49-B3B1-4341E9D6B051}">
      <dgm:prSet phldrT="[טקסט]"/>
      <dgm:spPr>
        <a:solidFill>
          <a:srgbClr val="5EC5C5"/>
        </a:solidFill>
      </dgm:spPr>
      <dgm:t>
        <a:bodyPr/>
        <a:lstStyle/>
        <a:p>
          <a:pPr rtl="1"/>
          <a:r>
            <a:rPr lang="he-IL" dirty="0"/>
            <a:t>סל מותאם אישית לבחירה</a:t>
          </a:r>
        </a:p>
      </dgm:t>
    </dgm:pt>
    <dgm:pt modelId="{880BE483-636C-4A06-976B-8C78874EF0F8}" type="parTrans" cxnId="{76AACF3C-30AA-4B34-9D03-FED835DCBB06}">
      <dgm:prSet/>
      <dgm:spPr/>
      <dgm:t>
        <a:bodyPr/>
        <a:lstStyle/>
        <a:p>
          <a:pPr rtl="1"/>
          <a:endParaRPr lang="he-IL"/>
        </a:p>
      </dgm:t>
    </dgm:pt>
    <dgm:pt modelId="{CD72C910-591E-45D7-8D01-2B83865B49D0}" type="sibTrans" cxnId="{76AACF3C-30AA-4B34-9D03-FED835DCBB06}">
      <dgm:prSet/>
      <dgm:spPr/>
      <dgm:t>
        <a:bodyPr/>
        <a:lstStyle/>
        <a:p>
          <a:pPr rtl="1"/>
          <a:endParaRPr lang="he-IL"/>
        </a:p>
      </dgm:t>
    </dgm:pt>
    <dgm:pt modelId="{C6B2D5B4-D25E-4FE8-82E4-1CD6A2990E93}">
      <dgm:prSet phldrT="[טקסט]"/>
      <dgm:spPr/>
      <dgm:t>
        <a:bodyPr/>
        <a:lstStyle/>
        <a:p>
          <a:pPr rtl="1"/>
          <a:r>
            <a:rPr lang="he-IL" dirty="0"/>
            <a:t>שירות מעטפת </a:t>
          </a:r>
        </a:p>
        <a:p>
          <a:pPr rtl="1"/>
          <a:r>
            <a:rPr lang="he-IL" dirty="0"/>
            <a:t>קהילה לכולם</a:t>
          </a:r>
        </a:p>
      </dgm:t>
    </dgm:pt>
    <dgm:pt modelId="{0696B022-DF8B-46A6-8EC9-D6DDAE8B2C30}" type="parTrans" cxnId="{58D5BDB9-CC9A-4FCB-8B3C-9B88A63D5780}">
      <dgm:prSet/>
      <dgm:spPr/>
      <dgm:t>
        <a:bodyPr/>
        <a:lstStyle/>
        <a:p>
          <a:pPr rtl="1"/>
          <a:endParaRPr lang="he-IL"/>
        </a:p>
      </dgm:t>
    </dgm:pt>
    <dgm:pt modelId="{F65D5231-0170-461E-8BA5-E305680C9C22}" type="sibTrans" cxnId="{58D5BDB9-CC9A-4FCB-8B3C-9B88A63D5780}">
      <dgm:prSet/>
      <dgm:spPr/>
      <dgm:t>
        <a:bodyPr/>
        <a:lstStyle/>
        <a:p>
          <a:pPr rtl="1"/>
          <a:endParaRPr lang="he-IL"/>
        </a:p>
      </dgm:t>
    </dgm:pt>
    <dgm:pt modelId="{960AB101-0557-4EF3-BF78-5B47B3498D2C}" type="pres">
      <dgm:prSet presAssocID="{720D35F0-8174-460B-91B7-5259B078BD87}" presName="Name0" presStyleCnt="0">
        <dgm:presLayoutVars>
          <dgm:dir/>
          <dgm:animLvl val="lvl"/>
          <dgm:resizeHandles val="exact"/>
        </dgm:presLayoutVars>
      </dgm:prSet>
      <dgm:spPr/>
    </dgm:pt>
    <dgm:pt modelId="{0C8D2B12-AB50-4579-B1E8-A206563DE6F5}" type="pres">
      <dgm:prSet presAssocID="{5F245D62-3699-4326-8C24-96C9D00DD3AC}" presName="Name8" presStyleCnt="0"/>
      <dgm:spPr/>
    </dgm:pt>
    <dgm:pt modelId="{6070D69A-5440-4A89-80EA-AE849A3AF518}" type="pres">
      <dgm:prSet presAssocID="{5F245D62-3699-4326-8C24-96C9D00DD3AC}" presName="level" presStyleLbl="node1" presStyleIdx="0" presStyleCnt="4">
        <dgm:presLayoutVars>
          <dgm:chMax val="1"/>
          <dgm:bulletEnabled val="1"/>
        </dgm:presLayoutVars>
      </dgm:prSet>
      <dgm:spPr/>
      <dgm:t>
        <a:bodyPr/>
        <a:lstStyle/>
        <a:p>
          <a:pPr rtl="1"/>
          <a:endParaRPr lang="he-IL"/>
        </a:p>
      </dgm:t>
    </dgm:pt>
    <dgm:pt modelId="{7E623A44-4B05-464C-A676-DC324274F761}" type="pres">
      <dgm:prSet presAssocID="{5F245D62-3699-4326-8C24-96C9D00DD3AC}" presName="levelTx" presStyleLbl="revTx" presStyleIdx="0" presStyleCnt="0">
        <dgm:presLayoutVars>
          <dgm:chMax val="1"/>
          <dgm:bulletEnabled val="1"/>
        </dgm:presLayoutVars>
      </dgm:prSet>
      <dgm:spPr/>
      <dgm:t>
        <a:bodyPr/>
        <a:lstStyle/>
        <a:p>
          <a:pPr rtl="1"/>
          <a:endParaRPr lang="he-IL"/>
        </a:p>
      </dgm:t>
    </dgm:pt>
    <dgm:pt modelId="{E8419DFB-EFE2-4C0F-92CC-47E2CBC070EC}" type="pres">
      <dgm:prSet presAssocID="{81D5B673-99AF-4C58-956C-30F45CBD5586}" presName="Name8" presStyleCnt="0"/>
      <dgm:spPr/>
    </dgm:pt>
    <dgm:pt modelId="{7472973C-CF79-4898-91E8-E14622784BB4}" type="pres">
      <dgm:prSet presAssocID="{81D5B673-99AF-4C58-956C-30F45CBD5586}" presName="level" presStyleLbl="node1" presStyleIdx="1" presStyleCnt="4">
        <dgm:presLayoutVars>
          <dgm:chMax val="1"/>
          <dgm:bulletEnabled val="1"/>
        </dgm:presLayoutVars>
      </dgm:prSet>
      <dgm:spPr/>
      <dgm:t>
        <a:bodyPr/>
        <a:lstStyle/>
        <a:p>
          <a:pPr rtl="1"/>
          <a:endParaRPr lang="he-IL"/>
        </a:p>
      </dgm:t>
    </dgm:pt>
    <dgm:pt modelId="{4C59183A-2E52-4922-8AAB-0CD120D1A96D}" type="pres">
      <dgm:prSet presAssocID="{81D5B673-99AF-4C58-956C-30F45CBD5586}" presName="levelTx" presStyleLbl="revTx" presStyleIdx="0" presStyleCnt="0">
        <dgm:presLayoutVars>
          <dgm:chMax val="1"/>
          <dgm:bulletEnabled val="1"/>
        </dgm:presLayoutVars>
      </dgm:prSet>
      <dgm:spPr/>
      <dgm:t>
        <a:bodyPr/>
        <a:lstStyle/>
        <a:p>
          <a:pPr rtl="1"/>
          <a:endParaRPr lang="he-IL"/>
        </a:p>
      </dgm:t>
    </dgm:pt>
    <dgm:pt modelId="{A45EDDB8-1FC5-4143-94FE-36CFD1148A5E}" type="pres">
      <dgm:prSet presAssocID="{5B8E34DD-E50F-4C49-B3B1-4341E9D6B051}" presName="Name8" presStyleCnt="0"/>
      <dgm:spPr/>
    </dgm:pt>
    <dgm:pt modelId="{874210C7-DBE7-4E93-AF2F-64ECAA718ABA}" type="pres">
      <dgm:prSet presAssocID="{5B8E34DD-E50F-4C49-B3B1-4341E9D6B051}" presName="level" presStyleLbl="node1" presStyleIdx="2" presStyleCnt="4">
        <dgm:presLayoutVars>
          <dgm:chMax val="1"/>
          <dgm:bulletEnabled val="1"/>
        </dgm:presLayoutVars>
      </dgm:prSet>
      <dgm:spPr/>
      <dgm:t>
        <a:bodyPr/>
        <a:lstStyle/>
        <a:p>
          <a:pPr rtl="1"/>
          <a:endParaRPr lang="he-IL"/>
        </a:p>
      </dgm:t>
    </dgm:pt>
    <dgm:pt modelId="{042B80C4-2D03-4314-88A9-C9DCBE1E0592}" type="pres">
      <dgm:prSet presAssocID="{5B8E34DD-E50F-4C49-B3B1-4341E9D6B051}" presName="levelTx" presStyleLbl="revTx" presStyleIdx="0" presStyleCnt="0">
        <dgm:presLayoutVars>
          <dgm:chMax val="1"/>
          <dgm:bulletEnabled val="1"/>
        </dgm:presLayoutVars>
      </dgm:prSet>
      <dgm:spPr/>
      <dgm:t>
        <a:bodyPr/>
        <a:lstStyle/>
        <a:p>
          <a:pPr rtl="1"/>
          <a:endParaRPr lang="he-IL"/>
        </a:p>
      </dgm:t>
    </dgm:pt>
    <dgm:pt modelId="{04D0DA8B-FE1B-4E6E-84BB-48FB07465E47}" type="pres">
      <dgm:prSet presAssocID="{C6B2D5B4-D25E-4FE8-82E4-1CD6A2990E93}" presName="Name8" presStyleCnt="0"/>
      <dgm:spPr/>
    </dgm:pt>
    <dgm:pt modelId="{CE29C06B-8968-43B8-BCD7-96D804A52BBB}" type="pres">
      <dgm:prSet presAssocID="{C6B2D5B4-D25E-4FE8-82E4-1CD6A2990E93}" presName="level" presStyleLbl="node1" presStyleIdx="3" presStyleCnt="4">
        <dgm:presLayoutVars>
          <dgm:chMax val="1"/>
          <dgm:bulletEnabled val="1"/>
        </dgm:presLayoutVars>
      </dgm:prSet>
      <dgm:spPr/>
      <dgm:t>
        <a:bodyPr/>
        <a:lstStyle/>
        <a:p>
          <a:pPr rtl="1"/>
          <a:endParaRPr lang="he-IL"/>
        </a:p>
      </dgm:t>
    </dgm:pt>
    <dgm:pt modelId="{739B2ADD-5DCE-4A54-AB2F-9D6D2F3BAA39}" type="pres">
      <dgm:prSet presAssocID="{C6B2D5B4-D25E-4FE8-82E4-1CD6A2990E93}" presName="levelTx" presStyleLbl="revTx" presStyleIdx="0" presStyleCnt="0">
        <dgm:presLayoutVars>
          <dgm:chMax val="1"/>
          <dgm:bulletEnabled val="1"/>
        </dgm:presLayoutVars>
      </dgm:prSet>
      <dgm:spPr/>
      <dgm:t>
        <a:bodyPr/>
        <a:lstStyle/>
        <a:p>
          <a:pPr rtl="1"/>
          <a:endParaRPr lang="he-IL"/>
        </a:p>
      </dgm:t>
    </dgm:pt>
  </dgm:ptLst>
  <dgm:cxnLst>
    <dgm:cxn modelId="{66D0C72A-ADD1-4E7F-8743-96969BB478E9}" srcId="{720D35F0-8174-460B-91B7-5259B078BD87}" destId="{81D5B673-99AF-4C58-956C-30F45CBD5586}" srcOrd="1" destOrd="0" parTransId="{E27AB79A-574A-4069-9DC2-F0DF479D6A66}" sibTransId="{5B8DF2BA-907C-4877-AC21-D09C8186714E}"/>
    <dgm:cxn modelId="{496EA0AC-6B3C-4EBB-A44D-CECB4F0609CD}" type="presOf" srcId="{C6B2D5B4-D25E-4FE8-82E4-1CD6A2990E93}" destId="{739B2ADD-5DCE-4A54-AB2F-9D6D2F3BAA39}" srcOrd="1" destOrd="0" presId="urn:microsoft.com/office/officeart/2005/8/layout/pyramid1"/>
    <dgm:cxn modelId="{FE704B9F-B49D-4632-837B-034BD6B1C804}" type="presOf" srcId="{C6B2D5B4-D25E-4FE8-82E4-1CD6A2990E93}" destId="{CE29C06B-8968-43B8-BCD7-96D804A52BBB}" srcOrd="0" destOrd="0" presId="urn:microsoft.com/office/officeart/2005/8/layout/pyramid1"/>
    <dgm:cxn modelId="{CB20D98E-4133-4156-B121-C488B1CAC1E6}" type="presOf" srcId="{81D5B673-99AF-4C58-956C-30F45CBD5586}" destId="{7472973C-CF79-4898-91E8-E14622784BB4}" srcOrd="0" destOrd="0" presId="urn:microsoft.com/office/officeart/2005/8/layout/pyramid1"/>
    <dgm:cxn modelId="{728196F3-541C-4E82-AE79-40C13CCCD64C}" type="presOf" srcId="{5F245D62-3699-4326-8C24-96C9D00DD3AC}" destId="{6070D69A-5440-4A89-80EA-AE849A3AF518}" srcOrd="0" destOrd="0" presId="urn:microsoft.com/office/officeart/2005/8/layout/pyramid1"/>
    <dgm:cxn modelId="{398A8CCE-42F6-4F1C-9883-06C4D1A2B37F}" type="presOf" srcId="{5B8E34DD-E50F-4C49-B3B1-4341E9D6B051}" destId="{874210C7-DBE7-4E93-AF2F-64ECAA718ABA}" srcOrd="0" destOrd="0" presId="urn:microsoft.com/office/officeart/2005/8/layout/pyramid1"/>
    <dgm:cxn modelId="{76AACF3C-30AA-4B34-9D03-FED835DCBB06}" srcId="{720D35F0-8174-460B-91B7-5259B078BD87}" destId="{5B8E34DD-E50F-4C49-B3B1-4341E9D6B051}" srcOrd="2" destOrd="0" parTransId="{880BE483-636C-4A06-976B-8C78874EF0F8}" sibTransId="{CD72C910-591E-45D7-8D01-2B83865B49D0}"/>
    <dgm:cxn modelId="{BB92F085-98DE-4309-AAAE-9220D3440141}" type="presOf" srcId="{720D35F0-8174-460B-91B7-5259B078BD87}" destId="{960AB101-0557-4EF3-BF78-5B47B3498D2C}" srcOrd="0" destOrd="0" presId="urn:microsoft.com/office/officeart/2005/8/layout/pyramid1"/>
    <dgm:cxn modelId="{78B8C709-A93D-4230-86E6-E15D289D53A1}" srcId="{720D35F0-8174-460B-91B7-5259B078BD87}" destId="{5F245D62-3699-4326-8C24-96C9D00DD3AC}" srcOrd="0" destOrd="0" parTransId="{65AC23A2-3F54-4864-812A-833BD39436B9}" sibTransId="{2D680DEE-5688-430A-A56F-896B091ADC9C}"/>
    <dgm:cxn modelId="{83026824-C083-462F-9CD8-F5ABCDEEF095}" type="presOf" srcId="{5B8E34DD-E50F-4C49-B3B1-4341E9D6B051}" destId="{042B80C4-2D03-4314-88A9-C9DCBE1E0592}" srcOrd="1" destOrd="0" presId="urn:microsoft.com/office/officeart/2005/8/layout/pyramid1"/>
    <dgm:cxn modelId="{AAEE662E-95EF-4F9A-9AE2-BB736CE6678F}" type="presOf" srcId="{81D5B673-99AF-4C58-956C-30F45CBD5586}" destId="{4C59183A-2E52-4922-8AAB-0CD120D1A96D}" srcOrd="1" destOrd="0" presId="urn:microsoft.com/office/officeart/2005/8/layout/pyramid1"/>
    <dgm:cxn modelId="{8FFA93AE-9B40-45F7-8BF3-043ECB3FBF3D}" type="presOf" srcId="{5F245D62-3699-4326-8C24-96C9D00DD3AC}" destId="{7E623A44-4B05-464C-A676-DC324274F761}" srcOrd="1" destOrd="0" presId="urn:microsoft.com/office/officeart/2005/8/layout/pyramid1"/>
    <dgm:cxn modelId="{58D5BDB9-CC9A-4FCB-8B3C-9B88A63D5780}" srcId="{720D35F0-8174-460B-91B7-5259B078BD87}" destId="{C6B2D5B4-D25E-4FE8-82E4-1CD6A2990E93}" srcOrd="3" destOrd="0" parTransId="{0696B022-DF8B-46A6-8EC9-D6DDAE8B2C30}" sibTransId="{F65D5231-0170-461E-8BA5-E305680C9C22}"/>
    <dgm:cxn modelId="{DEAA688D-962A-4B6E-80E2-8D94488BDAF9}" type="presParOf" srcId="{960AB101-0557-4EF3-BF78-5B47B3498D2C}" destId="{0C8D2B12-AB50-4579-B1E8-A206563DE6F5}" srcOrd="0" destOrd="0" presId="urn:microsoft.com/office/officeart/2005/8/layout/pyramid1"/>
    <dgm:cxn modelId="{8DDE6B24-F668-405C-B26D-8CFD12559167}" type="presParOf" srcId="{0C8D2B12-AB50-4579-B1E8-A206563DE6F5}" destId="{6070D69A-5440-4A89-80EA-AE849A3AF518}" srcOrd="0" destOrd="0" presId="urn:microsoft.com/office/officeart/2005/8/layout/pyramid1"/>
    <dgm:cxn modelId="{65BAC90D-32C1-4D3D-96E8-D71C5C82D09D}" type="presParOf" srcId="{0C8D2B12-AB50-4579-B1E8-A206563DE6F5}" destId="{7E623A44-4B05-464C-A676-DC324274F761}" srcOrd="1" destOrd="0" presId="urn:microsoft.com/office/officeart/2005/8/layout/pyramid1"/>
    <dgm:cxn modelId="{42260F2A-281E-4B70-A1D7-BF4A16EB37C2}" type="presParOf" srcId="{960AB101-0557-4EF3-BF78-5B47B3498D2C}" destId="{E8419DFB-EFE2-4C0F-92CC-47E2CBC070EC}" srcOrd="1" destOrd="0" presId="urn:microsoft.com/office/officeart/2005/8/layout/pyramid1"/>
    <dgm:cxn modelId="{918D52DF-E6F1-4ADB-8AF9-3B34D8B2E8A2}" type="presParOf" srcId="{E8419DFB-EFE2-4C0F-92CC-47E2CBC070EC}" destId="{7472973C-CF79-4898-91E8-E14622784BB4}" srcOrd="0" destOrd="0" presId="urn:microsoft.com/office/officeart/2005/8/layout/pyramid1"/>
    <dgm:cxn modelId="{65EC4C3B-D5E0-4ACA-B14B-8193419B6BB3}" type="presParOf" srcId="{E8419DFB-EFE2-4C0F-92CC-47E2CBC070EC}" destId="{4C59183A-2E52-4922-8AAB-0CD120D1A96D}" srcOrd="1" destOrd="0" presId="urn:microsoft.com/office/officeart/2005/8/layout/pyramid1"/>
    <dgm:cxn modelId="{0A5B3158-1BBD-4DA5-8969-D084564311AF}" type="presParOf" srcId="{960AB101-0557-4EF3-BF78-5B47B3498D2C}" destId="{A45EDDB8-1FC5-4143-94FE-36CFD1148A5E}" srcOrd="2" destOrd="0" presId="urn:microsoft.com/office/officeart/2005/8/layout/pyramid1"/>
    <dgm:cxn modelId="{FFC88683-24A8-4D66-8848-9A2AE15E0469}" type="presParOf" srcId="{A45EDDB8-1FC5-4143-94FE-36CFD1148A5E}" destId="{874210C7-DBE7-4E93-AF2F-64ECAA718ABA}" srcOrd="0" destOrd="0" presId="urn:microsoft.com/office/officeart/2005/8/layout/pyramid1"/>
    <dgm:cxn modelId="{C3BF9EF3-8759-4A4E-898B-9BB6AF2E753F}" type="presParOf" srcId="{A45EDDB8-1FC5-4143-94FE-36CFD1148A5E}" destId="{042B80C4-2D03-4314-88A9-C9DCBE1E0592}" srcOrd="1" destOrd="0" presId="urn:microsoft.com/office/officeart/2005/8/layout/pyramid1"/>
    <dgm:cxn modelId="{06810C0D-5C58-4FAA-8AFC-D32566F6C4CD}" type="presParOf" srcId="{960AB101-0557-4EF3-BF78-5B47B3498D2C}" destId="{04D0DA8B-FE1B-4E6E-84BB-48FB07465E47}" srcOrd="3" destOrd="0" presId="urn:microsoft.com/office/officeart/2005/8/layout/pyramid1"/>
    <dgm:cxn modelId="{3365869F-71BB-4888-848E-FE8468D0ECAD}" type="presParOf" srcId="{04D0DA8B-FE1B-4E6E-84BB-48FB07465E47}" destId="{CE29C06B-8968-43B8-BCD7-96D804A52BBB}" srcOrd="0" destOrd="0" presId="urn:microsoft.com/office/officeart/2005/8/layout/pyramid1"/>
    <dgm:cxn modelId="{2BC1E005-4C6B-421B-A39B-353EFB18073A}" type="presParOf" srcId="{04D0DA8B-FE1B-4E6E-84BB-48FB07465E47}" destId="{739B2ADD-5DCE-4A54-AB2F-9D6D2F3BAA39}" srcOrd="1" destOrd="0" presId="urn:microsoft.com/office/officeart/2005/8/layout/pyramid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9E6AB4-77D1-4573-BBC7-E84F14A8CD3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E1EEE61-799F-46F1-8E75-2B53AA5DD996}">
      <dgm:prSet custT="1"/>
      <dgm:spPr/>
      <dgm:t>
        <a:bodyPr/>
        <a:lstStyle/>
        <a:p>
          <a:pPr algn="ctr" rtl="1"/>
          <a:r>
            <a:rPr lang="he-IL" sz="2800" b="0" dirty="0">
              <a:latin typeface="Calibri" panose="020F0502020204030204" pitchFamily="34" charset="0"/>
              <a:cs typeface="Calibri" panose="020F0502020204030204" pitchFamily="34" charset="0"/>
            </a:rPr>
            <a:t>תכנית לאומית משותפת לפיתוח והרחבת שירותים למניעת התדרדרות רווחה-</a:t>
          </a:r>
          <a:r>
            <a:rPr lang="he-IL" sz="2800" b="0" dirty="0" err="1">
              <a:latin typeface="Calibri" panose="020F0502020204030204" pitchFamily="34" charset="0"/>
              <a:cs typeface="Calibri" panose="020F0502020204030204" pitchFamily="34" charset="0"/>
            </a:rPr>
            <a:t>בטל"א</a:t>
          </a:r>
          <a:r>
            <a:rPr lang="he-IL" sz="2800" b="0" dirty="0">
              <a:latin typeface="Calibri" panose="020F0502020204030204" pitchFamily="34" charset="0"/>
              <a:cs typeface="Calibri" panose="020F0502020204030204" pitchFamily="34" charset="0"/>
            </a:rPr>
            <a:t>-בריאות</a:t>
          </a:r>
          <a:endParaRPr lang="en-US" sz="2800" b="0" dirty="0">
            <a:latin typeface="Calibri" panose="020F0502020204030204" pitchFamily="34" charset="0"/>
            <a:cs typeface="Calibri" panose="020F0502020204030204" pitchFamily="34" charset="0"/>
          </a:endParaRPr>
        </a:p>
      </dgm:t>
    </dgm:pt>
    <dgm:pt modelId="{FC197829-00E1-4572-BEFA-8A11D67033CF}" type="parTrans" cxnId="{9637AB98-E22D-444F-AF26-D6FA1D343817}">
      <dgm:prSet/>
      <dgm:spPr/>
      <dgm:t>
        <a:bodyPr/>
        <a:lstStyle/>
        <a:p>
          <a:pPr rtl="1"/>
          <a:endParaRPr lang="he-IL"/>
        </a:p>
      </dgm:t>
    </dgm:pt>
    <dgm:pt modelId="{735B7304-5F32-4BFB-ABDE-DD8A9F612794}" type="sibTrans" cxnId="{9637AB98-E22D-444F-AF26-D6FA1D343817}">
      <dgm:prSet/>
      <dgm:spPr/>
      <dgm:t>
        <a:bodyPr/>
        <a:lstStyle/>
        <a:p>
          <a:pPr rtl="1"/>
          <a:endParaRPr lang="he-IL"/>
        </a:p>
      </dgm:t>
    </dgm:pt>
    <dgm:pt modelId="{ECE8C861-3942-43E4-AC05-FB6DA561FE5C}">
      <dgm:prSet custT="1"/>
      <dgm:spPr/>
      <dgm:t>
        <a:bodyPr/>
        <a:lstStyle/>
        <a:p>
          <a:pPr algn="ctr" rtl="1"/>
          <a:r>
            <a:rPr lang="he-IL" sz="2700" dirty="0">
              <a:latin typeface="Calibri" panose="020F0502020204030204" pitchFamily="34" charset="0"/>
              <a:cs typeface="Calibri" panose="020F0502020204030204" pitchFamily="34" charset="0"/>
            </a:rPr>
            <a:t>פיתוח רצף שירותים חברתיים מותאם למקבלי ג' סיעוד</a:t>
          </a:r>
          <a:endParaRPr lang="en-US" sz="2700" dirty="0">
            <a:latin typeface="Calibri" panose="020F0502020204030204" pitchFamily="34" charset="0"/>
            <a:cs typeface="Calibri" panose="020F0502020204030204" pitchFamily="34" charset="0"/>
          </a:endParaRPr>
        </a:p>
      </dgm:t>
    </dgm:pt>
    <dgm:pt modelId="{4A25C99A-212D-43DA-A923-3C7930539EA6}" type="parTrans" cxnId="{D6A8679B-E92B-46D8-BC87-31C3A6944073}">
      <dgm:prSet/>
      <dgm:spPr/>
      <dgm:t>
        <a:bodyPr/>
        <a:lstStyle/>
        <a:p>
          <a:pPr rtl="1"/>
          <a:endParaRPr lang="he-IL"/>
        </a:p>
      </dgm:t>
    </dgm:pt>
    <dgm:pt modelId="{04CDB321-FB55-4452-8B27-81B9ABBCE826}" type="sibTrans" cxnId="{D6A8679B-E92B-46D8-BC87-31C3A6944073}">
      <dgm:prSet/>
      <dgm:spPr/>
      <dgm:t>
        <a:bodyPr/>
        <a:lstStyle/>
        <a:p>
          <a:pPr rtl="1"/>
          <a:endParaRPr lang="he-IL"/>
        </a:p>
      </dgm:t>
    </dgm:pt>
    <dgm:pt modelId="{E93CFC4B-796F-4AD5-A991-75815ADC009F}">
      <dgm:prSet custT="1"/>
      <dgm:spPr/>
      <dgm:t>
        <a:bodyPr/>
        <a:lstStyle/>
        <a:p>
          <a:pPr algn="ctr" rtl="1"/>
          <a:r>
            <a:rPr lang="he-IL" sz="2600" dirty="0">
              <a:latin typeface="Calibri" panose="020F0502020204030204" pitchFamily="34" charset="0"/>
              <a:cs typeface="Calibri" panose="020F0502020204030204" pitchFamily="34" charset="0"/>
            </a:rPr>
            <a:t>הנגשת השירותים לזכאים דרך </a:t>
          </a:r>
          <a:r>
            <a:rPr lang="he-IL" sz="2600" dirty="0" err="1">
              <a:latin typeface="Calibri" panose="020F0502020204030204" pitchFamily="34" charset="0"/>
              <a:cs typeface="Calibri" panose="020F0502020204030204" pitchFamily="34" charset="0"/>
            </a:rPr>
            <a:t>בטל"א</a:t>
          </a:r>
          <a:r>
            <a:rPr lang="he-IL" sz="2600" dirty="0">
              <a:latin typeface="Calibri" panose="020F0502020204030204" pitchFamily="34" charset="0"/>
              <a:cs typeface="Calibri" panose="020F0502020204030204" pitchFamily="34" charset="0"/>
            </a:rPr>
            <a:t>, קופ"ח והמחלקה</a:t>
          </a:r>
          <a:endParaRPr lang="en-US" sz="2600" dirty="0">
            <a:latin typeface="Calibri" panose="020F0502020204030204" pitchFamily="34" charset="0"/>
            <a:cs typeface="Calibri" panose="020F0502020204030204" pitchFamily="34" charset="0"/>
          </a:endParaRPr>
        </a:p>
      </dgm:t>
    </dgm:pt>
    <dgm:pt modelId="{2D6EECE4-E46A-4954-B33A-0951500A94A6}" type="parTrans" cxnId="{8DF3BFD2-AA34-4184-9F65-99B7F6FD8364}">
      <dgm:prSet/>
      <dgm:spPr/>
      <dgm:t>
        <a:bodyPr/>
        <a:lstStyle/>
        <a:p>
          <a:pPr rtl="1"/>
          <a:endParaRPr lang="he-IL"/>
        </a:p>
      </dgm:t>
    </dgm:pt>
    <dgm:pt modelId="{2FCB2ED7-2BFA-484E-A176-DA3D6B836C26}" type="sibTrans" cxnId="{8DF3BFD2-AA34-4184-9F65-99B7F6FD8364}">
      <dgm:prSet/>
      <dgm:spPr/>
      <dgm:t>
        <a:bodyPr/>
        <a:lstStyle/>
        <a:p>
          <a:pPr rtl="1"/>
          <a:endParaRPr lang="he-IL"/>
        </a:p>
      </dgm:t>
    </dgm:pt>
    <dgm:pt modelId="{F135CA43-8F61-47B6-9076-7DB424FE838B}">
      <dgm:prSet custT="1"/>
      <dgm:spPr/>
      <dgm:t>
        <a:bodyPr/>
        <a:lstStyle/>
        <a:p>
          <a:pPr algn="ctr" rtl="1"/>
          <a:r>
            <a:rPr lang="he-IL" sz="2800" dirty="0">
              <a:latin typeface="Calibri" panose="020F0502020204030204" pitchFamily="34" charset="0"/>
              <a:cs typeface="Calibri" panose="020F0502020204030204" pitchFamily="34" charset="0"/>
            </a:rPr>
            <a:t>המחלקה- מתכללת השירותים לאזרחים הותיקים ברשות</a:t>
          </a:r>
          <a:endParaRPr lang="en-US" sz="2800" dirty="0">
            <a:latin typeface="Calibri" panose="020F0502020204030204" pitchFamily="34" charset="0"/>
            <a:cs typeface="Calibri" panose="020F0502020204030204" pitchFamily="34" charset="0"/>
          </a:endParaRPr>
        </a:p>
      </dgm:t>
    </dgm:pt>
    <dgm:pt modelId="{5CA58E88-B4C0-49C9-B21A-5346A0EE8CEE}" type="parTrans" cxnId="{5A81E383-4CBE-45D0-98DF-2C3A7F35E895}">
      <dgm:prSet/>
      <dgm:spPr/>
      <dgm:t>
        <a:bodyPr/>
        <a:lstStyle/>
        <a:p>
          <a:pPr rtl="1"/>
          <a:endParaRPr lang="he-IL"/>
        </a:p>
      </dgm:t>
    </dgm:pt>
    <dgm:pt modelId="{27429F18-8949-4ABA-B191-29FF93022444}" type="sibTrans" cxnId="{5A81E383-4CBE-45D0-98DF-2C3A7F35E895}">
      <dgm:prSet/>
      <dgm:spPr/>
      <dgm:t>
        <a:bodyPr/>
        <a:lstStyle/>
        <a:p>
          <a:pPr rtl="1"/>
          <a:endParaRPr lang="he-IL"/>
        </a:p>
      </dgm:t>
    </dgm:pt>
    <dgm:pt modelId="{962F8AEC-F833-42A5-9455-8908DB2A54D5}">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הקמת "קרן שלם" לפיתוח שירותים </a:t>
          </a:r>
          <a:r>
            <a:rPr lang="he-IL" sz="2800" dirty="0" err="1">
              <a:solidFill>
                <a:schemeClr val="tx1"/>
              </a:solidFill>
              <a:latin typeface="Calibri" panose="020F0502020204030204" pitchFamily="34" charset="0"/>
              <a:cs typeface="Calibri" panose="020F0502020204030204" pitchFamily="34" charset="0"/>
            </a:rPr>
            <a:t>בזיקנה</a:t>
          </a:r>
          <a:r>
            <a:rPr lang="en-US" sz="2000" dirty="0">
              <a:latin typeface="Calibri" panose="020F0502020204030204" pitchFamily="34" charset="0"/>
              <a:cs typeface="Calibri" panose="020F0502020204030204" pitchFamily="34" charset="0"/>
            </a:rPr>
            <a:t/>
          </a:r>
          <a:br>
            <a:rPr lang="en-US" sz="2000" dirty="0">
              <a:latin typeface="Calibri" panose="020F0502020204030204" pitchFamily="34" charset="0"/>
              <a:cs typeface="Calibri" panose="020F0502020204030204" pitchFamily="34" charset="0"/>
            </a:rPr>
          </a:br>
          <a:r>
            <a:rPr lang="en-US" sz="2000" dirty="0">
              <a:latin typeface="Calibri" panose="020F0502020204030204" pitchFamily="34" charset="0"/>
              <a:cs typeface="Calibri" panose="020F0502020204030204" pitchFamily="34" charset="0"/>
            </a:rPr>
            <a:t/>
          </a:r>
          <a:br>
            <a:rPr lang="en-US" sz="2000" dirty="0">
              <a:latin typeface="Calibri" panose="020F0502020204030204" pitchFamily="34" charset="0"/>
              <a:cs typeface="Calibri" panose="020F0502020204030204" pitchFamily="34" charset="0"/>
            </a:rPr>
          </a:br>
          <a:endParaRPr lang="en-US" sz="2800" dirty="0">
            <a:latin typeface="Calibri" panose="020F0502020204030204" pitchFamily="34" charset="0"/>
            <a:cs typeface="Calibri" panose="020F0502020204030204" pitchFamily="34" charset="0"/>
          </a:endParaRPr>
        </a:p>
      </dgm:t>
    </dgm:pt>
    <dgm:pt modelId="{5979ADCC-721C-452E-AE7B-96F209460012}" type="parTrans" cxnId="{7E9029E1-DC8C-4D79-BDF3-876F7E8986A4}">
      <dgm:prSet/>
      <dgm:spPr/>
      <dgm:t>
        <a:bodyPr/>
        <a:lstStyle/>
        <a:p>
          <a:pPr rtl="1"/>
          <a:endParaRPr lang="he-IL"/>
        </a:p>
      </dgm:t>
    </dgm:pt>
    <dgm:pt modelId="{3A2CC396-2D41-4363-80B5-F2DD175ED119}" type="sibTrans" cxnId="{7E9029E1-DC8C-4D79-BDF3-876F7E8986A4}">
      <dgm:prSet/>
      <dgm:spPr/>
      <dgm:t>
        <a:bodyPr/>
        <a:lstStyle/>
        <a:p>
          <a:pPr rtl="1"/>
          <a:endParaRPr lang="he-IL"/>
        </a:p>
      </dgm:t>
    </dgm:pt>
    <dgm:pt modelId="{C7CB8049-D11E-4B10-B9B4-BCCF04347261}">
      <dgm:prSet custT="1"/>
      <dgm:spPr/>
      <dgm:t>
        <a:bodyPr/>
        <a:lstStyle/>
        <a:p>
          <a:pPr algn="ctr" rtl="1"/>
          <a:r>
            <a:rPr lang="he-IL" sz="2800" dirty="0">
              <a:latin typeface="Calibri" panose="020F0502020204030204" pitchFamily="34" charset="0"/>
              <a:cs typeface="Calibri" panose="020F0502020204030204" pitchFamily="34" charset="0"/>
            </a:rPr>
            <a:t>תמרוץ האזרח הוותיק לצריכת שירותים בעין</a:t>
          </a:r>
          <a:endParaRPr lang="en-US" sz="2800" dirty="0">
            <a:latin typeface="Calibri" panose="020F0502020204030204" pitchFamily="34" charset="0"/>
            <a:cs typeface="Calibri" panose="020F0502020204030204" pitchFamily="34" charset="0"/>
          </a:endParaRPr>
        </a:p>
      </dgm:t>
    </dgm:pt>
    <dgm:pt modelId="{75EA37EB-29AE-4ABB-943A-EF690E1AB53E}" type="parTrans" cxnId="{C9B7CDAF-355D-49C5-89C8-140CD2AA9489}">
      <dgm:prSet/>
      <dgm:spPr/>
      <dgm:t>
        <a:bodyPr/>
        <a:lstStyle/>
        <a:p>
          <a:pPr rtl="1"/>
          <a:endParaRPr lang="he-IL"/>
        </a:p>
      </dgm:t>
    </dgm:pt>
    <dgm:pt modelId="{1C60A5D5-F3EC-4BAF-9E0B-EDAACDFC846F}" type="sibTrans" cxnId="{C9B7CDAF-355D-49C5-89C8-140CD2AA9489}">
      <dgm:prSet/>
      <dgm:spPr/>
      <dgm:t>
        <a:bodyPr/>
        <a:lstStyle/>
        <a:p>
          <a:pPr rtl="1"/>
          <a:endParaRPr lang="he-IL"/>
        </a:p>
      </dgm:t>
    </dgm:pt>
    <dgm:pt modelId="{C76648EF-F591-4648-8561-C6F071548DBB}">
      <dgm:prSet custT="1"/>
      <dgm:spPr/>
      <dgm:t>
        <a:bodyPr/>
        <a:lstStyle/>
        <a:p>
          <a:pPr algn="ctr" rtl="1"/>
          <a:r>
            <a:rPr lang="he-IL" sz="2800" dirty="0">
              <a:latin typeface="Calibri" panose="020F0502020204030204" pitchFamily="34" charset="0"/>
              <a:cs typeface="Calibri" panose="020F0502020204030204" pitchFamily="34" charset="0"/>
            </a:rPr>
            <a:t>הרחבת שירותי בריאות בתוך השירותים החברתיים</a:t>
          </a:r>
          <a:endParaRPr lang="en-US" sz="2800" dirty="0">
            <a:latin typeface="Calibri" panose="020F0502020204030204" pitchFamily="34" charset="0"/>
            <a:cs typeface="Calibri" panose="020F0502020204030204" pitchFamily="34" charset="0"/>
          </a:endParaRPr>
        </a:p>
      </dgm:t>
    </dgm:pt>
    <dgm:pt modelId="{282413F6-66F9-4BDE-8E43-EB88CFD3FF84}" type="parTrans" cxnId="{E418E87F-A0F5-4D2D-A4DE-AAD061E9A6A7}">
      <dgm:prSet/>
      <dgm:spPr/>
      <dgm:t>
        <a:bodyPr/>
        <a:lstStyle/>
        <a:p>
          <a:pPr rtl="1"/>
          <a:endParaRPr lang="he-IL"/>
        </a:p>
      </dgm:t>
    </dgm:pt>
    <dgm:pt modelId="{D9E4309E-A769-4D06-A683-778A9F0C0833}" type="sibTrans" cxnId="{E418E87F-A0F5-4D2D-A4DE-AAD061E9A6A7}">
      <dgm:prSet/>
      <dgm:spPr/>
      <dgm:t>
        <a:bodyPr/>
        <a:lstStyle/>
        <a:p>
          <a:pPr rtl="1"/>
          <a:endParaRPr lang="he-IL"/>
        </a:p>
      </dgm:t>
    </dgm:pt>
    <dgm:pt modelId="{F347B9AA-9468-4135-9642-20C264432143}" type="pres">
      <dgm:prSet presAssocID="{A29E6AB4-77D1-4573-BBC7-E84F14A8CD3F}" presName="vert0" presStyleCnt="0">
        <dgm:presLayoutVars>
          <dgm:dir/>
          <dgm:animOne val="branch"/>
          <dgm:animLvl val="lvl"/>
        </dgm:presLayoutVars>
      </dgm:prSet>
      <dgm:spPr/>
      <dgm:t>
        <a:bodyPr/>
        <a:lstStyle/>
        <a:p>
          <a:pPr rtl="1"/>
          <a:endParaRPr lang="he-IL"/>
        </a:p>
      </dgm:t>
    </dgm:pt>
    <dgm:pt modelId="{1F11F1C9-53F8-4FD1-95DF-AD9446F8ED93}" type="pres">
      <dgm:prSet presAssocID="{DE1EEE61-799F-46F1-8E75-2B53AA5DD996}" presName="thickLine" presStyleLbl="alignNode1" presStyleIdx="0" presStyleCnt="7"/>
      <dgm:spPr/>
    </dgm:pt>
    <dgm:pt modelId="{C21687DE-2D14-420C-8926-B8E56CBF868A}" type="pres">
      <dgm:prSet presAssocID="{DE1EEE61-799F-46F1-8E75-2B53AA5DD996}" presName="horz1" presStyleCnt="0"/>
      <dgm:spPr/>
    </dgm:pt>
    <dgm:pt modelId="{CECD134E-854C-4F93-A604-1FD1B26BA336}" type="pres">
      <dgm:prSet presAssocID="{DE1EEE61-799F-46F1-8E75-2B53AA5DD996}" presName="tx1" presStyleLbl="revTx" presStyleIdx="0" presStyleCnt="7"/>
      <dgm:spPr/>
      <dgm:t>
        <a:bodyPr/>
        <a:lstStyle/>
        <a:p>
          <a:pPr rtl="1"/>
          <a:endParaRPr lang="he-IL"/>
        </a:p>
      </dgm:t>
    </dgm:pt>
    <dgm:pt modelId="{909AF7BF-42DF-4B95-B2A2-4F52CEA8F88F}" type="pres">
      <dgm:prSet presAssocID="{DE1EEE61-799F-46F1-8E75-2B53AA5DD996}" presName="vert1" presStyleCnt="0"/>
      <dgm:spPr/>
    </dgm:pt>
    <dgm:pt modelId="{1A9DAAC6-78D6-46A0-B071-D377EDFAF035}" type="pres">
      <dgm:prSet presAssocID="{ECE8C861-3942-43E4-AC05-FB6DA561FE5C}" presName="thickLine" presStyleLbl="alignNode1" presStyleIdx="1" presStyleCnt="7"/>
      <dgm:spPr/>
    </dgm:pt>
    <dgm:pt modelId="{776A0A9D-DB79-4AE7-AFF1-E513B919480E}" type="pres">
      <dgm:prSet presAssocID="{ECE8C861-3942-43E4-AC05-FB6DA561FE5C}" presName="horz1" presStyleCnt="0"/>
      <dgm:spPr/>
    </dgm:pt>
    <dgm:pt modelId="{0FB8E53F-2B36-438D-9B7B-62A3F78CB52C}" type="pres">
      <dgm:prSet presAssocID="{ECE8C861-3942-43E4-AC05-FB6DA561FE5C}" presName="tx1" presStyleLbl="revTx" presStyleIdx="1" presStyleCnt="7"/>
      <dgm:spPr/>
      <dgm:t>
        <a:bodyPr/>
        <a:lstStyle/>
        <a:p>
          <a:pPr rtl="1"/>
          <a:endParaRPr lang="he-IL"/>
        </a:p>
      </dgm:t>
    </dgm:pt>
    <dgm:pt modelId="{382003D6-6668-45CF-9B74-F112E8443015}" type="pres">
      <dgm:prSet presAssocID="{ECE8C861-3942-43E4-AC05-FB6DA561FE5C}" presName="vert1" presStyleCnt="0"/>
      <dgm:spPr/>
    </dgm:pt>
    <dgm:pt modelId="{801938B0-01B3-4F54-BFAB-BDB3870545DA}" type="pres">
      <dgm:prSet presAssocID="{E93CFC4B-796F-4AD5-A991-75815ADC009F}" presName="thickLine" presStyleLbl="alignNode1" presStyleIdx="2" presStyleCnt="7"/>
      <dgm:spPr/>
    </dgm:pt>
    <dgm:pt modelId="{A9E35F62-ECD8-489F-84E2-5E1C259B17DC}" type="pres">
      <dgm:prSet presAssocID="{E93CFC4B-796F-4AD5-A991-75815ADC009F}" presName="horz1" presStyleCnt="0"/>
      <dgm:spPr/>
    </dgm:pt>
    <dgm:pt modelId="{037D19D9-35F4-4D96-9EBA-A35E2E90A51A}" type="pres">
      <dgm:prSet presAssocID="{E93CFC4B-796F-4AD5-A991-75815ADC009F}" presName="tx1" presStyleLbl="revTx" presStyleIdx="2" presStyleCnt="7"/>
      <dgm:spPr/>
      <dgm:t>
        <a:bodyPr/>
        <a:lstStyle/>
        <a:p>
          <a:pPr rtl="1"/>
          <a:endParaRPr lang="he-IL"/>
        </a:p>
      </dgm:t>
    </dgm:pt>
    <dgm:pt modelId="{BC411681-B0F8-4768-913C-65B24B860BCB}" type="pres">
      <dgm:prSet presAssocID="{E93CFC4B-796F-4AD5-A991-75815ADC009F}" presName="vert1" presStyleCnt="0"/>
      <dgm:spPr/>
    </dgm:pt>
    <dgm:pt modelId="{538BB7FB-C292-4925-A3C3-1667DB388629}" type="pres">
      <dgm:prSet presAssocID="{C7CB8049-D11E-4B10-B9B4-BCCF04347261}" presName="thickLine" presStyleLbl="alignNode1" presStyleIdx="3" presStyleCnt="7"/>
      <dgm:spPr/>
    </dgm:pt>
    <dgm:pt modelId="{49B8796B-ACF5-4022-B7FF-D61288D9E1F7}" type="pres">
      <dgm:prSet presAssocID="{C7CB8049-D11E-4B10-B9B4-BCCF04347261}" presName="horz1" presStyleCnt="0"/>
      <dgm:spPr/>
    </dgm:pt>
    <dgm:pt modelId="{AEECA76A-9BD1-4FCA-A7E4-39B872E74F88}" type="pres">
      <dgm:prSet presAssocID="{C7CB8049-D11E-4B10-B9B4-BCCF04347261}" presName="tx1" presStyleLbl="revTx" presStyleIdx="3" presStyleCnt="7"/>
      <dgm:spPr/>
      <dgm:t>
        <a:bodyPr/>
        <a:lstStyle/>
        <a:p>
          <a:pPr rtl="1"/>
          <a:endParaRPr lang="he-IL"/>
        </a:p>
      </dgm:t>
    </dgm:pt>
    <dgm:pt modelId="{BC1E1F89-7881-4721-8A95-AC754FF7DC1F}" type="pres">
      <dgm:prSet presAssocID="{C7CB8049-D11E-4B10-B9B4-BCCF04347261}" presName="vert1" presStyleCnt="0"/>
      <dgm:spPr/>
    </dgm:pt>
    <dgm:pt modelId="{1E86601E-1FD4-445E-9340-41F7E3F88FC8}" type="pres">
      <dgm:prSet presAssocID="{F135CA43-8F61-47B6-9076-7DB424FE838B}" presName="thickLine" presStyleLbl="alignNode1" presStyleIdx="4" presStyleCnt="7"/>
      <dgm:spPr/>
    </dgm:pt>
    <dgm:pt modelId="{D5F685D7-250B-4EE7-A1E3-2FFA12937FA3}" type="pres">
      <dgm:prSet presAssocID="{F135CA43-8F61-47B6-9076-7DB424FE838B}" presName="horz1" presStyleCnt="0"/>
      <dgm:spPr/>
    </dgm:pt>
    <dgm:pt modelId="{7320065C-3D73-4C99-AF53-CB82F23B0D10}" type="pres">
      <dgm:prSet presAssocID="{F135CA43-8F61-47B6-9076-7DB424FE838B}" presName="tx1" presStyleLbl="revTx" presStyleIdx="4" presStyleCnt="7"/>
      <dgm:spPr/>
      <dgm:t>
        <a:bodyPr/>
        <a:lstStyle/>
        <a:p>
          <a:pPr rtl="1"/>
          <a:endParaRPr lang="he-IL"/>
        </a:p>
      </dgm:t>
    </dgm:pt>
    <dgm:pt modelId="{12E32F25-2BE0-4249-9499-2CBCB90F7986}" type="pres">
      <dgm:prSet presAssocID="{F135CA43-8F61-47B6-9076-7DB424FE838B}" presName="vert1" presStyleCnt="0"/>
      <dgm:spPr/>
    </dgm:pt>
    <dgm:pt modelId="{9552147A-CBE7-4E0E-8880-4E03126C69DB}" type="pres">
      <dgm:prSet presAssocID="{C76648EF-F591-4648-8561-C6F071548DBB}" presName="thickLine" presStyleLbl="alignNode1" presStyleIdx="5" presStyleCnt="7"/>
      <dgm:spPr/>
    </dgm:pt>
    <dgm:pt modelId="{4ABE7C73-879A-4DE8-9A01-8BDBA3D0DE73}" type="pres">
      <dgm:prSet presAssocID="{C76648EF-F591-4648-8561-C6F071548DBB}" presName="horz1" presStyleCnt="0"/>
      <dgm:spPr/>
    </dgm:pt>
    <dgm:pt modelId="{228E06AF-8E31-4422-878F-8439AF1B16DC}" type="pres">
      <dgm:prSet presAssocID="{C76648EF-F591-4648-8561-C6F071548DBB}" presName="tx1" presStyleLbl="revTx" presStyleIdx="5" presStyleCnt="7"/>
      <dgm:spPr/>
      <dgm:t>
        <a:bodyPr/>
        <a:lstStyle/>
        <a:p>
          <a:pPr rtl="1"/>
          <a:endParaRPr lang="he-IL"/>
        </a:p>
      </dgm:t>
    </dgm:pt>
    <dgm:pt modelId="{070A0393-54DD-414F-B26F-814FEC31971A}" type="pres">
      <dgm:prSet presAssocID="{C76648EF-F591-4648-8561-C6F071548DBB}" presName="vert1" presStyleCnt="0"/>
      <dgm:spPr/>
    </dgm:pt>
    <dgm:pt modelId="{2C2EE090-F898-4E59-BA97-EBCC2A231F14}" type="pres">
      <dgm:prSet presAssocID="{962F8AEC-F833-42A5-9455-8908DB2A54D5}" presName="thickLine" presStyleLbl="alignNode1" presStyleIdx="6" presStyleCnt="7"/>
      <dgm:spPr/>
    </dgm:pt>
    <dgm:pt modelId="{1EC618A0-C988-4B71-8806-21F6A3D149FF}" type="pres">
      <dgm:prSet presAssocID="{962F8AEC-F833-42A5-9455-8908DB2A54D5}" presName="horz1" presStyleCnt="0"/>
      <dgm:spPr/>
    </dgm:pt>
    <dgm:pt modelId="{C0CC5E67-A69C-496A-BDF7-C68BC5BC2770}" type="pres">
      <dgm:prSet presAssocID="{962F8AEC-F833-42A5-9455-8908DB2A54D5}" presName="tx1" presStyleLbl="revTx" presStyleIdx="6" presStyleCnt="7"/>
      <dgm:spPr/>
      <dgm:t>
        <a:bodyPr/>
        <a:lstStyle/>
        <a:p>
          <a:pPr rtl="1"/>
          <a:endParaRPr lang="he-IL"/>
        </a:p>
      </dgm:t>
    </dgm:pt>
    <dgm:pt modelId="{5D08D86B-0860-4240-870C-021A00411B79}" type="pres">
      <dgm:prSet presAssocID="{962F8AEC-F833-42A5-9455-8908DB2A54D5}" presName="vert1" presStyleCnt="0"/>
      <dgm:spPr/>
    </dgm:pt>
  </dgm:ptLst>
  <dgm:cxnLst>
    <dgm:cxn modelId="{F841C9BF-AC6A-4690-81C2-07C003EC23A8}" type="presOf" srcId="{F135CA43-8F61-47B6-9076-7DB424FE838B}" destId="{7320065C-3D73-4C99-AF53-CB82F23B0D10}" srcOrd="0" destOrd="0" presId="urn:microsoft.com/office/officeart/2008/layout/LinedList"/>
    <dgm:cxn modelId="{CE6693F7-3535-4DCA-AF27-DFA082D42981}" type="presOf" srcId="{962F8AEC-F833-42A5-9455-8908DB2A54D5}" destId="{C0CC5E67-A69C-496A-BDF7-C68BC5BC2770}" srcOrd="0" destOrd="0" presId="urn:microsoft.com/office/officeart/2008/layout/LinedList"/>
    <dgm:cxn modelId="{C9B7CDAF-355D-49C5-89C8-140CD2AA9489}" srcId="{A29E6AB4-77D1-4573-BBC7-E84F14A8CD3F}" destId="{C7CB8049-D11E-4B10-B9B4-BCCF04347261}" srcOrd="3" destOrd="0" parTransId="{75EA37EB-29AE-4ABB-943A-EF690E1AB53E}" sibTransId="{1C60A5D5-F3EC-4BAF-9E0B-EDAACDFC846F}"/>
    <dgm:cxn modelId="{7E9029E1-DC8C-4D79-BDF3-876F7E8986A4}" srcId="{A29E6AB4-77D1-4573-BBC7-E84F14A8CD3F}" destId="{962F8AEC-F833-42A5-9455-8908DB2A54D5}" srcOrd="6" destOrd="0" parTransId="{5979ADCC-721C-452E-AE7B-96F209460012}" sibTransId="{3A2CC396-2D41-4363-80B5-F2DD175ED119}"/>
    <dgm:cxn modelId="{8DF3BFD2-AA34-4184-9F65-99B7F6FD8364}" srcId="{A29E6AB4-77D1-4573-BBC7-E84F14A8CD3F}" destId="{E93CFC4B-796F-4AD5-A991-75815ADC009F}" srcOrd="2" destOrd="0" parTransId="{2D6EECE4-E46A-4954-B33A-0951500A94A6}" sibTransId="{2FCB2ED7-2BFA-484E-A176-DA3D6B836C26}"/>
    <dgm:cxn modelId="{43EB5531-BCED-410B-B95A-88E78FEEE69E}" type="presOf" srcId="{DE1EEE61-799F-46F1-8E75-2B53AA5DD996}" destId="{CECD134E-854C-4F93-A604-1FD1B26BA336}" srcOrd="0" destOrd="0" presId="urn:microsoft.com/office/officeart/2008/layout/LinedList"/>
    <dgm:cxn modelId="{26F34185-3FF4-499F-B66D-E7BCA05DA52B}" type="presOf" srcId="{A29E6AB4-77D1-4573-BBC7-E84F14A8CD3F}" destId="{F347B9AA-9468-4135-9642-20C264432143}" srcOrd="0" destOrd="0" presId="urn:microsoft.com/office/officeart/2008/layout/LinedList"/>
    <dgm:cxn modelId="{2D96654A-CFC9-49E8-8D58-1BBD3FC8FEEF}" type="presOf" srcId="{C7CB8049-D11E-4B10-B9B4-BCCF04347261}" destId="{AEECA76A-9BD1-4FCA-A7E4-39B872E74F88}" srcOrd="0" destOrd="0" presId="urn:microsoft.com/office/officeart/2008/layout/LinedList"/>
    <dgm:cxn modelId="{D6A8679B-E92B-46D8-BC87-31C3A6944073}" srcId="{A29E6AB4-77D1-4573-BBC7-E84F14A8CD3F}" destId="{ECE8C861-3942-43E4-AC05-FB6DA561FE5C}" srcOrd="1" destOrd="0" parTransId="{4A25C99A-212D-43DA-A923-3C7930539EA6}" sibTransId="{04CDB321-FB55-4452-8B27-81B9ABBCE826}"/>
    <dgm:cxn modelId="{54723865-8107-44A0-82D5-627E38FA8B04}" type="presOf" srcId="{ECE8C861-3942-43E4-AC05-FB6DA561FE5C}" destId="{0FB8E53F-2B36-438D-9B7B-62A3F78CB52C}" srcOrd="0" destOrd="0" presId="urn:microsoft.com/office/officeart/2008/layout/LinedList"/>
    <dgm:cxn modelId="{858D2254-68F9-40EC-AD77-B42FBBCBE8AA}" type="presOf" srcId="{E93CFC4B-796F-4AD5-A991-75815ADC009F}" destId="{037D19D9-35F4-4D96-9EBA-A35E2E90A51A}" srcOrd="0" destOrd="0" presId="urn:microsoft.com/office/officeart/2008/layout/LinedList"/>
    <dgm:cxn modelId="{5A81E383-4CBE-45D0-98DF-2C3A7F35E895}" srcId="{A29E6AB4-77D1-4573-BBC7-E84F14A8CD3F}" destId="{F135CA43-8F61-47B6-9076-7DB424FE838B}" srcOrd="4" destOrd="0" parTransId="{5CA58E88-B4C0-49C9-B21A-5346A0EE8CEE}" sibTransId="{27429F18-8949-4ABA-B191-29FF93022444}"/>
    <dgm:cxn modelId="{9637AB98-E22D-444F-AF26-D6FA1D343817}" srcId="{A29E6AB4-77D1-4573-BBC7-E84F14A8CD3F}" destId="{DE1EEE61-799F-46F1-8E75-2B53AA5DD996}" srcOrd="0" destOrd="0" parTransId="{FC197829-00E1-4572-BEFA-8A11D67033CF}" sibTransId="{735B7304-5F32-4BFB-ABDE-DD8A9F612794}"/>
    <dgm:cxn modelId="{9E29FB88-0317-4F33-BF22-ADF7D6482460}" type="presOf" srcId="{C76648EF-F591-4648-8561-C6F071548DBB}" destId="{228E06AF-8E31-4422-878F-8439AF1B16DC}" srcOrd="0" destOrd="0" presId="urn:microsoft.com/office/officeart/2008/layout/LinedList"/>
    <dgm:cxn modelId="{E418E87F-A0F5-4D2D-A4DE-AAD061E9A6A7}" srcId="{A29E6AB4-77D1-4573-BBC7-E84F14A8CD3F}" destId="{C76648EF-F591-4648-8561-C6F071548DBB}" srcOrd="5" destOrd="0" parTransId="{282413F6-66F9-4BDE-8E43-EB88CFD3FF84}" sibTransId="{D9E4309E-A769-4D06-A683-778A9F0C0833}"/>
    <dgm:cxn modelId="{54E2C379-EF3F-425C-97AE-252FDF9535AD}" type="presParOf" srcId="{F347B9AA-9468-4135-9642-20C264432143}" destId="{1F11F1C9-53F8-4FD1-95DF-AD9446F8ED93}" srcOrd="0" destOrd="0" presId="urn:microsoft.com/office/officeart/2008/layout/LinedList"/>
    <dgm:cxn modelId="{B009C56B-0AF0-407F-97A3-A41B35F01E8F}" type="presParOf" srcId="{F347B9AA-9468-4135-9642-20C264432143}" destId="{C21687DE-2D14-420C-8926-B8E56CBF868A}" srcOrd="1" destOrd="0" presId="urn:microsoft.com/office/officeart/2008/layout/LinedList"/>
    <dgm:cxn modelId="{190A4E22-DE70-4A10-8E8E-952C969B87CB}" type="presParOf" srcId="{C21687DE-2D14-420C-8926-B8E56CBF868A}" destId="{CECD134E-854C-4F93-A604-1FD1B26BA336}" srcOrd="0" destOrd="0" presId="urn:microsoft.com/office/officeart/2008/layout/LinedList"/>
    <dgm:cxn modelId="{E94E86A5-DA9A-44C8-9D99-5B6A59CCF7E5}" type="presParOf" srcId="{C21687DE-2D14-420C-8926-B8E56CBF868A}" destId="{909AF7BF-42DF-4B95-B2A2-4F52CEA8F88F}" srcOrd="1" destOrd="0" presId="urn:microsoft.com/office/officeart/2008/layout/LinedList"/>
    <dgm:cxn modelId="{DA5E03A9-3E18-4B93-BFDC-0F6930892632}" type="presParOf" srcId="{F347B9AA-9468-4135-9642-20C264432143}" destId="{1A9DAAC6-78D6-46A0-B071-D377EDFAF035}" srcOrd="2" destOrd="0" presId="urn:microsoft.com/office/officeart/2008/layout/LinedList"/>
    <dgm:cxn modelId="{7514A61D-BB5C-4528-AD2F-BC2FF1F25340}" type="presParOf" srcId="{F347B9AA-9468-4135-9642-20C264432143}" destId="{776A0A9D-DB79-4AE7-AFF1-E513B919480E}" srcOrd="3" destOrd="0" presId="urn:microsoft.com/office/officeart/2008/layout/LinedList"/>
    <dgm:cxn modelId="{BF77B489-5AFA-4238-B747-AEFE4DDA81FD}" type="presParOf" srcId="{776A0A9D-DB79-4AE7-AFF1-E513B919480E}" destId="{0FB8E53F-2B36-438D-9B7B-62A3F78CB52C}" srcOrd="0" destOrd="0" presId="urn:microsoft.com/office/officeart/2008/layout/LinedList"/>
    <dgm:cxn modelId="{75FEC995-FE84-4EC2-93B3-86827B8E84B3}" type="presParOf" srcId="{776A0A9D-DB79-4AE7-AFF1-E513B919480E}" destId="{382003D6-6668-45CF-9B74-F112E8443015}" srcOrd="1" destOrd="0" presId="urn:microsoft.com/office/officeart/2008/layout/LinedList"/>
    <dgm:cxn modelId="{7C527520-F618-4575-AB81-4128B9D26BC2}" type="presParOf" srcId="{F347B9AA-9468-4135-9642-20C264432143}" destId="{801938B0-01B3-4F54-BFAB-BDB3870545DA}" srcOrd="4" destOrd="0" presId="urn:microsoft.com/office/officeart/2008/layout/LinedList"/>
    <dgm:cxn modelId="{C194E706-A9C8-4EB9-A6D1-3FF86E1C6888}" type="presParOf" srcId="{F347B9AA-9468-4135-9642-20C264432143}" destId="{A9E35F62-ECD8-489F-84E2-5E1C259B17DC}" srcOrd="5" destOrd="0" presId="urn:microsoft.com/office/officeart/2008/layout/LinedList"/>
    <dgm:cxn modelId="{5A2DA194-616F-4806-B95D-526A78865BE9}" type="presParOf" srcId="{A9E35F62-ECD8-489F-84E2-5E1C259B17DC}" destId="{037D19D9-35F4-4D96-9EBA-A35E2E90A51A}" srcOrd="0" destOrd="0" presId="urn:microsoft.com/office/officeart/2008/layout/LinedList"/>
    <dgm:cxn modelId="{48F3A4C0-40D2-4D53-9860-9ED74401DA84}" type="presParOf" srcId="{A9E35F62-ECD8-489F-84E2-5E1C259B17DC}" destId="{BC411681-B0F8-4768-913C-65B24B860BCB}" srcOrd="1" destOrd="0" presId="urn:microsoft.com/office/officeart/2008/layout/LinedList"/>
    <dgm:cxn modelId="{0ED125B9-928B-4ED0-9913-046429563F1E}" type="presParOf" srcId="{F347B9AA-9468-4135-9642-20C264432143}" destId="{538BB7FB-C292-4925-A3C3-1667DB388629}" srcOrd="6" destOrd="0" presId="urn:microsoft.com/office/officeart/2008/layout/LinedList"/>
    <dgm:cxn modelId="{FFBE325C-5B7C-4577-89FD-7683725F4F03}" type="presParOf" srcId="{F347B9AA-9468-4135-9642-20C264432143}" destId="{49B8796B-ACF5-4022-B7FF-D61288D9E1F7}" srcOrd="7" destOrd="0" presId="urn:microsoft.com/office/officeart/2008/layout/LinedList"/>
    <dgm:cxn modelId="{5B7E8C98-BA91-42A8-8E81-C72A9849F0B5}" type="presParOf" srcId="{49B8796B-ACF5-4022-B7FF-D61288D9E1F7}" destId="{AEECA76A-9BD1-4FCA-A7E4-39B872E74F88}" srcOrd="0" destOrd="0" presId="urn:microsoft.com/office/officeart/2008/layout/LinedList"/>
    <dgm:cxn modelId="{185219B5-3B24-4936-9951-9136ED30AE9E}" type="presParOf" srcId="{49B8796B-ACF5-4022-B7FF-D61288D9E1F7}" destId="{BC1E1F89-7881-4721-8A95-AC754FF7DC1F}" srcOrd="1" destOrd="0" presId="urn:microsoft.com/office/officeart/2008/layout/LinedList"/>
    <dgm:cxn modelId="{B1482149-9DC7-4806-B3B8-B36A9ED4959C}" type="presParOf" srcId="{F347B9AA-9468-4135-9642-20C264432143}" destId="{1E86601E-1FD4-445E-9340-41F7E3F88FC8}" srcOrd="8" destOrd="0" presId="urn:microsoft.com/office/officeart/2008/layout/LinedList"/>
    <dgm:cxn modelId="{467C8A59-079C-42D4-B715-30A8ADDFB706}" type="presParOf" srcId="{F347B9AA-9468-4135-9642-20C264432143}" destId="{D5F685D7-250B-4EE7-A1E3-2FFA12937FA3}" srcOrd="9" destOrd="0" presId="urn:microsoft.com/office/officeart/2008/layout/LinedList"/>
    <dgm:cxn modelId="{B1EFD2E0-F94D-4055-B2F8-20294F1CDFD8}" type="presParOf" srcId="{D5F685D7-250B-4EE7-A1E3-2FFA12937FA3}" destId="{7320065C-3D73-4C99-AF53-CB82F23B0D10}" srcOrd="0" destOrd="0" presId="urn:microsoft.com/office/officeart/2008/layout/LinedList"/>
    <dgm:cxn modelId="{D5D90E1D-69ED-4691-98B9-F7B4D271B72F}" type="presParOf" srcId="{D5F685D7-250B-4EE7-A1E3-2FFA12937FA3}" destId="{12E32F25-2BE0-4249-9499-2CBCB90F7986}" srcOrd="1" destOrd="0" presId="urn:microsoft.com/office/officeart/2008/layout/LinedList"/>
    <dgm:cxn modelId="{B56956E0-6FCA-4040-BE14-E1A15C614BCC}" type="presParOf" srcId="{F347B9AA-9468-4135-9642-20C264432143}" destId="{9552147A-CBE7-4E0E-8880-4E03126C69DB}" srcOrd="10" destOrd="0" presId="urn:microsoft.com/office/officeart/2008/layout/LinedList"/>
    <dgm:cxn modelId="{8910AECE-AB14-4916-BA1A-D69E452BABE7}" type="presParOf" srcId="{F347B9AA-9468-4135-9642-20C264432143}" destId="{4ABE7C73-879A-4DE8-9A01-8BDBA3D0DE73}" srcOrd="11" destOrd="0" presId="urn:microsoft.com/office/officeart/2008/layout/LinedList"/>
    <dgm:cxn modelId="{E8BAD693-95F7-405D-B830-8D11BFD0CD21}" type="presParOf" srcId="{4ABE7C73-879A-4DE8-9A01-8BDBA3D0DE73}" destId="{228E06AF-8E31-4422-878F-8439AF1B16DC}" srcOrd="0" destOrd="0" presId="urn:microsoft.com/office/officeart/2008/layout/LinedList"/>
    <dgm:cxn modelId="{A7B7610C-2B8F-48E2-AA8B-015CD78C9E36}" type="presParOf" srcId="{4ABE7C73-879A-4DE8-9A01-8BDBA3D0DE73}" destId="{070A0393-54DD-414F-B26F-814FEC31971A}" srcOrd="1" destOrd="0" presId="urn:microsoft.com/office/officeart/2008/layout/LinedList"/>
    <dgm:cxn modelId="{D84F45B7-5E80-45E2-80B5-711B1ABD0359}" type="presParOf" srcId="{F347B9AA-9468-4135-9642-20C264432143}" destId="{2C2EE090-F898-4E59-BA97-EBCC2A231F14}" srcOrd="12" destOrd="0" presId="urn:microsoft.com/office/officeart/2008/layout/LinedList"/>
    <dgm:cxn modelId="{3A2DB16C-34DF-4ACA-BB87-CCC63209763A}" type="presParOf" srcId="{F347B9AA-9468-4135-9642-20C264432143}" destId="{1EC618A0-C988-4B71-8806-21F6A3D149FF}" srcOrd="13" destOrd="0" presId="urn:microsoft.com/office/officeart/2008/layout/LinedList"/>
    <dgm:cxn modelId="{F5BF413D-8264-4EDC-8F5A-6CAB016A0E73}" type="presParOf" srcId="{1EC618A0-C988-4B71-8806-21F6A3D149FF}" destId="{C0CC5E67-A69C-496A-BDF7-C68BC5BC2770}" srcOrd="0" destOrd="0" presId="urn:microsoft.com/office/officeart/2008/layout/LinedList"/>
    <dgm:cxn modelId="{5A4909BC-2C7A-4A69-9FA8-28554905BAA8}" type="presParOf" srcId="{1EC618A0-C988-4B71-8806-21F6A3D149FF}" destId="{5D08D86B-0860-4240-870C-021A00411B79}"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9E6AB4-77D1-4573-BBC7-E84F14A8CD3F}"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9095EFFA-A323-44A7-8B62-8F03035C8576}">
      <dgm:prSet custT="1"/>
      <dgm:spPr/>
      <dgm:t>
        <a:bodyPr/>
        <a:lstStyle/>
        <a:p>
          <a:pPr algn="ctr"/>
          <a:r>
            <a:rPr lang="he-IL" sz="2800" dirty="0">
              <a:latin typeface="Calibri" panose="020F0502020204030204" pitchFamily="34" charset="0"/>
              <a:cs typeface="Calibri" panose="020F0502020204030204" pitchFamily="34" charset="0"/>
            </a:rPr>
            <a:t>מתן סיוע, שירות והכוונה לקשיש במצבי החיים המשתנים</a:t>
          </a:r>
          <a:endParaRPr lang="en-US" sz="2800" dirty="0">
            <a:latin typeface="Calibri" panose="020F0502020204030204" pitchFamily="34" charset="0"/>
            <a:cs typeface="Calibri" panose="020F0502020204030204" pitchFamily="34" charset="0"/>
          </a:endParaRPr>
        </a:p>
      </dgm:t>
    </dgm:pt>
    <dgm:pt modelId="{16912AF6-62DB-43CE-8A6F-23DFC29A7664}" type="parTrans" cxnId="{66094102-F742-454D-A844-01A3DDEDE25B}">
      <dgm:prSet/>
      <dgm:spPr/>
      <dgm:t>
        <a:bodyPr/>
        <a:lstStyle/>
        <a:p>
          <a:endParaRPr lang="en-US"/>
        </a:p>
      </dgm:t>
    </dgm:pt>
    <dgm:pt modelId="{D54A22E0-982F-4F18-A916-D3117BC12893}" type="sibTrans" cxnId="{66094102-F742-454D-A844-01A3DDEDE25B}">
      <dgm:prSet/>
      <dgm:spPr/>
      <dgm:t>
        <a:bodyPr/>
        <a:lstStyle/>
        <a:p>
          <a:endParaRPr lang="en-US"/>
        </a:p>
      </dgm:t>
    </dgm:pt>
    <dgm:pt modelId="{47325FC3-2261-4E13-B02B-4AAAAE33CEF2}">
      <dgm:prSet custT="1"/>
      <dgm:spPr/>
      <dgm:t>
        <a:bodyPr/>
        <a:lstStyle/>
        <a:p>
          <a:pPr algn="ctr"/>
          <a:r>
            <a:rPr lang="he-IL" sz="2800" dirty="0">
              <a:latin typeface="Calibri" panose="020F0502020204030204" pitchFamily="34" charset="0"/>
              <a:cs typeface="Calibri" panose="020F0502020204030204" pitchFamily="34" charset="0"/>
            </a:rPr>
            <a:t>מרשם רפואי-חברתי: בקופ"ח, </a:t>
          </a:r>
          <a:r>
            <a:rPr lang="he-IL" sz="2800" dirty="0" err="1">
              <a:latin typeface="Calibri" panose="020F0502020204030204" pitchFamily="34" charset="0"/>
              <a:cs typeface="Calibri" panose="020F0502020204030204" pitchFamily="34" charset="0"/>
            </a:rPr>
            <a:t>בבטל"א</a:t>
          </a:r>
          <a:r>
            <a:rPr lang="he-IL" sz="2800" dirty="0">
              <a:latin typeface="Calibri" panose="020F0502020204030204" pitchFamily="34" charset="0"/>
              <a:cs typeface="Calibri" panose="020F0502020204030204" pitchFamily="34" charset="0"/>
            </a:rPr>
            <a:t> ובמחלקה</a:t>
          </a:r>
          <a:endParaRPr lang="en-US" sz="2800" dirty="0">
            <a:latin typeface="Calibri" panose="020F0502020204030204" pitchFamily="34" charset="0"/>
            <a:cs typeface="Calibri" panose="020F0502020204030204" pitchFamily="34" charset="0"/>
          </a:endParaRPr>
        </a:p>
      </dgm:t>
    </dgm:pt>
    <dgm:pt modelId="{6F145E9F-0E54-45F5-BFD5-7610B1B6018B}" type="parTrans" cxnId="{527365E0-6DD6-4E43-BEB6-A8100F6A3601}">
      <dgm:prSet/>
      <dgm:spPr/>
      <dgm:t>
        <a:bodyPr/>
        <a:lstStyle/>
        <a:p>
          <a:endParaRPr lang="en-US"/>
        </a:p>
      </dgm:t>
    </dgm:pt>
    <dgm:pt modelId="{D11CCBEE-F56D-48E8-8478-23FA8419D92D}" type="sibTrans" cxnId="{527365E0-6DD6-4E43-BEB6-A8100F6A3601}">
      <dgm:prSet/>
      <dgm:spPr/>
      <dgm:t>
        <a:bodyPr/>
        <a:lstStyle/>
        <a:p>
          <a:endParaRPr lang="en-US"/>
        </a:p>
      </dgm:t>
    </dgm:pt>
    <dgm:pt modelId="{7F6CE15B-E2C8-49AC-9683-B3F8896186F6}">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קידום מבחן </a:t>
          </a:r>
          <a:r>
            <a:rPr lang="en-US" sz="2800" dirty="0">
              <a:solidFill>
                <a:schemeClr val="tx1"/>
              </a:solidFill>
              <a:latin typeface="Calibri" panose="020F0502020204030204" pitchFamily="34" charset="0"/>
              <a:cs typeface="Calibri" panose="020F0502020204030204" pitchFamily="34" charset="0"/>
            </a:rPr>
            <a:t>ADL</a:t>
          </a:r>
          <a:r>
            <a:rPr lang="he-IL" sz="2800" dirty="0">
              <a:solidFill>
                <a:schemeClr val="tx1"/>
              </a:solidFill>
              <a:latin typeface="Calibri" panose="020F0502020204030204" pitchFamily="34" charset="0"/>
              <a:cs typeface="Calibri" panose="020F0502020204030204" pitchFamily="34" charset="0"/>
            </a:rPr>
            <a:t> חברתי לטובת אבחון מצבו וצרכיו של הקשיש</a:t>
          </a:r>
          <a:endParaRPr lang="en-US" sz="2800" dirty="0">
            <a:solidFill>
              <a:schemeClr val="tx1"/>
            </a:solidFill>
            <a:latin typeface="Calibri" panose="020F0502020204030204" pitchFamily="34" charset="0"/>
            <a:cs typeface="Calibri" panose="020F0502020204030204" pitchFamily="34" charset="0"/>
          </a:endParaRPr>
        </a:p>
      </dgm:t>
    </dgm:pt>
    <dgm:pt modelId="{0AD1AE5F-DD8B-4F0C-AC7E-80976228AF0D}" type="parTrans" cxnId="{57C76A80-B665-4928-80A7-1076A08F9D79}">
      <dgm:prSet/>
      <dgm:spPr/>
      <dgm:t>
        <a:bodyPr/>
        <a:lstStyle/>
        <a:p>
          <a:endParaRPr lang="en-US"/>
        </a:p>
      </dgm:t>
    </dgm:pt>
    <dgm:pt modelId="{B93B418C-1F9A-48F3-BFAD-E9B6AAEB29E3}" type="sibTrans" cxnId="{57C76A80-B665-4928-80A7-1076A08F9D79}">
      <dgm:prSet/>
      <dgm:spPr/>
      <dgm:t>
        <a:bodyPr/>
        <a:lstStyle/>
        <a:p>
          <a:endParaRPr lang="en-US"/>
        </a:p>
      </dgm:t>
    </dgm:pt>
    <dgm:pt modelId="{E828C197-9D5C-4B24-AAEE-5E64F135D194}">
      <dgm:prSet custT="1"/>
      <dgm:spPr/>
      <dgm:t>
        <a:bodyPr/>
        <a:lstStyle/>
        <a:p>
          <a:pPr algn="ctr" rtl="1"/>
          <a:r>
            <a:rPr lang="he-IL" sz="2800" dirty="0">
              <a:solidFill>
                <a:schemeClr val="tx1"/>
              </a:solidFill>
              <a:latin typeface="Calibri" panose="020F0502020204030204" pitchFamily="34" charset="0"/>
              <a:cs typeface="Calibri" panose="020F0502020204030204" pitchFamily="34" charset="0"/>
            </a:rPr>
            <a:t>חתימה על ויתור סודיות מראש לטובת מתן שירות שלם ומותאם</a:t>
          </a:r>
          <a:endParaRPr lang="en-US" sz="2800" dirty="0">
            <a:solidFill>
              <a:schemeClr val="tx1"/>
            </a:solidFill>
            <a:latin typeface="Calibri" panose="020F0502020204030204" pitchFamily="34" charset="0"/>
            <a:cs typeface="Calibri" panose="020F0502020204030204" pitchFamily="34" charset="0"/>
          </a:endParaRPr>
        </a:p>
      </dgm:t>
    </dgm:pt>
    <dgm:pt modelId="{E8913803-D913-4602-992C-8F6A0F696726}" type="parTrans" cxnId="{42A7F1BB-98CF-4551-839C-0A4B1536061F}">
      <dgm:prSet/>
      <dgm:spPr/>
      <dgm:t>
        <a:bodyPr/>
        <a:lstStyle/>
        <a:p>
          <a:pPr rtl="1"/>
          <a:endParaRPr lang="he-IL"/>
        </a:p>
      </dgm:t>
    </dgm:pt>
    <dgm:pt modelId="{2149721C-AA39-4787-B605-30C5F28BEC86}" type="sibTrans" cxnId="{42A7F1BB-98CF-4551-839C-0A4B1536061F}">
      <dgm:prSet/>
      <dgm:spPr/>
      <dgm:t>
        <a:bodyPr/>
        <a:lstStyle/>
        <a:p>
          <a:pPr rtl="1"/>
          <a:endParaRPr lang="he-IL"/>
        </a:p>
      </dgm:t>
    </dgm:pt>
    <dgm:pt modelId="{C8370C38-D738-463B-8689-5A70B5DAF4D5}">
      <dgm:prSet custT="1"/>
      <dgm:spPr/>
      <dgm:t>
        <a:bodyPr/>
        <a:lstStyle/>
        <a:p>
          <a:pPr algn="ctr" rtl="1"/>
          <a:r>
            <a:rPr lang="he-IL" sz="2800" dirty="0" err="1">
              <a:solidFill>
                <a:schemeClr val="tx1"/>
              </a:solidFill>
              <a:latin typeface="Calibri" panose="020F0502020204030204" pitchFamily="34" charset="0"/>
              <a:cs typeface="Calibri" panose="020F0502020204030204" pitchFamily="34" charset="0"/>
            </a:rPr>
            <a:t>תעדוף</a:t>
          </a:r>
          <a:r>
            <a:rPr lang="he-IL" sz="2800" dirty="0">
              <a:solidFill>
                <a:schemeClr val="tx1"/>
              </a:solidFill>
              <a:latin typeface="Calibri" panose="020F0502020204030204" pitchFamily="34" charset="0"/>
              <a:cs typeface="Calibri" panose="020F0502020204030204" pitchFamily="34" charset="0"/>
            </a:rPr>
            <a:t> מטפלות לזקוקים ביותר והכשרתן לתחומי מומחיות אלו</a:t>
          </a:r>
          <a:endParaRPr lang="en-US" sz="2800" dirty="0">
            <a:solidFill>
              <a:schemeClr val="tx1"/>
            </a:solidFill>
            <a:latin typeface="Calibri" panose="020F0502020204030204" pitchFamily="34" charset="0"/>
            <a:cs typeface="Calibri" panose="020F0502020204030204" pitchFamily="34" charset="0"/>
          </a:endParaRPr>
        </a:p>
      </dgm:t>
    </dgm:pt>
    <dgm:pt modelId="{333BEEB6-4EF4-4F61-8A81-608CE1FEDB55}" type="parTrans" cxnId="{1514E12A-223B-4F19-9F9A-21CA1DE2547B}">
      <dgm:prSet/>
      <dgm:spPr/>
      <dgm:t>
        <a:bodyPr/>
        <a:lstStyle/>
        <a:p>
          <a:pPr rtl="1"/>
          <a:endParaRPr lang="he-IL"/>
        </a:p>
      </dgm:t>
    </dgm:pt>
    <dgm:pt modelId="{DA599283-7664-4B75-BD14-FD8206D9410F}" type="sibTrans" cxnId="{1514E12A-223B-4F19-9F9A-21CA1DE2547B}">
      <dgm:prSet/>
      <dgm:spPr/>
      <dgm:t>
        <a:bodyPr/>
        <a:lstStyle/>
        <a:p>
          <a:pPr rtl="1"/>
          <a:endParaRPr lang="he-IL"/>
        </a:p>
      </dgm:t>
    </dgm:pt>
    <dgm:pt modelId="{AD761F03-3066-4538-A1E4-85125605DB66}">
      <dgm:prSet custT="1"/>
      <dgm:spPr/>
      <dgm:t>
        <a:bodyPr/>
        <a:lstStyle/>
        <a:p>
          <a:pPr algn="ctr" rtl="1"/>
          <a:r>
            <a:rPr lang="he-IL" sz="2800" dirty="0">
              <a:latin typeface="Calibri" panose="020F0502020204030204" pitchFamily="34" charset="0"/>
              <a:cs typeface="Calibri" panose="020F0502020204030204" pitchFamily="34" charset="0"/>
            </a:rPr>
            <a:t>צביעת רמה בסיעוד הנובעת מבדידות</a:t>
          </a:r>
          <a:endParaRPr lang="en-US" sz="2800" dirty="0">
            <a:solidFill>
              <a:schemeClr val="tx1"/>
            </a:solidFill>
            <a:latin typeface="Calibri" panose="020F0502020204030204" pitchFamily="34" charset="0"/>
            <a:cs typeface="Calibri" panose="020F0502020204030204" pitchFamily="34" charset="0"/>
          </a:endParaRPr>
        </a:p>
      </dgm:t>
    </dgm:pt>
    <dgm:pt modelId="{332D9B3B-2299-448D-B6D2-32785C6D4ABE}" type="parTrans" cxnId="{015A0E29-9E09-4978-B913-04311D834843}">
      <dgm:prSet/>
      <dgm:spPr/>
      <dgm:t>
        <a:bodyPr/>
        <a:lstStyle/>
        <a:p>
          <a:pPr rtl="1"/>
          <a:endParaRPr lang="he-IL"/>
        </a:p>
      </dgm:t>
    </dgm:pt>
    <dgm:pt modelId="{647FB23F-92C0-46CD-89F2-6FBCF3A4983D}" type="sibTrans" cxnId="{015A0E29-9E09-4978-B913-04311D834843}">
      <dgm:prSet/>
      <dgm:spPr/>
      <dgm:t>
        <a:bodyPr/>
        <a:lstStyle/>
        <a:p>
          <a:pPr rtl="1"/>
          <a:endParaRPr lang="he-IL"/>
        </a:p>
      </dgm:t>
    </dgm:pt>
    <dgm:pt modelId="{F347B9AA-9468-4135-9642-20C264432143}" type="pres">
      <dgm:prSet presAssocID="{A29E6AB4-77D1-4573-BBC7-E84F14A8CD3F}" presName="vert0" presStyleCnt="0">
        <dgm:presLayoutVars>
          <dgm:dir/>
          <dgm:animOne val="branch"/>
          <dgm:animLvl val="lvl"/>
        </dgm:presLayoutVars>
      </dgm:prSet>
      <dgm:spPr/>
      <dgm:t>
        <a:bodyPr/>
        <a:lstStyle/>
        <a:p>
          <a:pPr rtl="1"/>
          <a:endParaRPr lang="he-IL"/>
        </a:p>
      </dgm:t>
    </dgm:pt>
    <dgm:pt modelId="{1A9D1C91-B233-41B9-966B-8548FB6370A5}" type="pres">
      <dgm:prSet presAssocID="{9095EFFA-A323-44A7-8B62-8F03035C8576}" presName="thickLine" presStyleLbl="alignNode1" presStyleIdx="0" presStyleCnt="6"/>
      <dgm:spPr/>
    </dgm:pt>
    <dgm:pt modelId="{8EABB595-2036-442F-B831-92C3AD179ACD}" type="pres">
      <dgm:prSet presAssocID="{9095EFFA-A323-44A7-8B62-8F03035C8576}" presName="horz1" presStyleCnt="0"/>
      <dgm:spPr/>
    </dgm:pt>
    <dgm:pt modelId="{D724E918-FF18-4BFF-9C2B-31692A1BB90A}" type="pres">
      <dgm:prSet presAssocID="{9095EFFA-A323-44A7-8B62-8F03035C8576}" presName="tx1" presStyleLbl="revTx" presStyleIdx="0" presStyleCnt="6"/>
      <dgm:spPr/>
      <dgm:t>
        <a:bodyPr/>
        <a:lstStyle/>
        <a:p>
          <a:pPr rtl="1"/>
          <a:endParaRPr lang="he-IL"/>
        </a:p>
      </dgm:t>
    </dgm:pt>
    <dgm:pt modelId="{D53DE745-A7D2-4063-8A04-B2C706922307}" type="pres">
      <dgm:prSet presAssocID="{9095EFFA-A323-44A7-8B62-8F03035C8576}" presName="vert1" presStyleCnt="0"/>
      <dgm:spPr/>
    </dgm:pt>
    <dgm:pt modelId="{AD57E140-0E82-4C2C-972C-CE9AF4489BF4}" type="pres">
      <dgm:prSet presAssocID="{47325FC3-2261-4E13-B02B-4AAAAE33CEF2}" presName="thickLine" presStyleLbl="alignNode1" presStyleIdx="1" presStyleCnt="6"/>
      <dgm:spPr/>
    </dgm:pt>
    <dgm:pt modelId="{E6FE79A5-66B2-4C18-A6E3-B4EC4DF3A6A2}" type="pres">
      <dgm:prSet presAssocID="{47325FC3-2261-4E13-B02B-4AAAAE33CEF2}" presName="horz1" presStyleCnt="0"/>
      <dgm:spPr/>
    </dgm:pt>
    <dgm:pt modelId="{5027E7FE-8A2A-48B5-A064-FAD560385DAB}" type="pres">
      <dgm:prSet presAssocID="{47325FC3-2261-4E13-B02B-4AAAAE33CEF2}" presName="tx1" presStyleLbl="revTx" presStyleIdx="1" presStyleCnt="6"/>
      <dgm:spPr/>
      <dgm:t>
        <a:bodyPr/>
        <a:lstStyle/>
        <a:p>
          <a:pPr rtl="1"/>
          <a:endParaRPr lang="he-IL"/>
        </a:p>
      </dgm:t>
    </dgm:pt>
    <dgm:pt modelId="{9F3FB668-6BF2-419F-863B-83799D75EA51}" type="pres">
      <dgm:prSet presAssocID="{47325FC3-2261-4E13-B02B-4AAAAE33CEF2}" presName="vert1" presStyleCnt="0"/>
      <dgm:spPr/>
    </dgm:pt>
    <dgm:pt modelId="{8E6226C1-5C9E-46FB-8A98-CFB617182EF9}" type="pres">
      <dgm:prSet presAssocID="{7F6CE15B-E2C8-49AC-9683-B3F8896186F6}" presName="thickLine" presStyleLbl="alignNode1" presStyleIdx="2" presStyleCnt="6"/>
      <dgm:spPr/>
    </dgm:pt>
    <dgm:pt modelId="{4A6B4A84-9976-45A0-B992-162A6CF85F6D}" type="pres">
      <dgm:prSet presAssocID="{7F6CE15B-E2C8-49AC-9683-B3F8896186F6}" presName="horz1" presStyleCnt="0"/>
      <dgm:spPr/>
    </dgm:pt>
    <dgm:pt modelId="{4D59E357-6084-41BE-82C0-8ECFF47CE596}" type="pres">
      <dgm:prSet presAssocID="{7F6CE15B-E2C8-49AC-9683-B3F8896186F6}" presName="tx1" presStyleLbl="revTx" presStyleIdx="2" presStyleCnt="6" custLinFactNeighborX="270"/>
      <dgm:spPr/>
      <dgm:t>
        <a:bodyPr/>
        <a:lstStyle/>
        <a:p>
          <a:pPr rtl="1"/>
          <a:endParaRPr lang="he-IL"/>
        </a:p>
      </dgm:t>
    </dgm:pt>
    <dgm:pt modelId="{6850B759-F4D4-4319-806C-D69F31FD91AE}" type="pres">
      <dgm:prSet presAssocID="{7F6CE15B-E2C8-49AC-9683-B3F8896186F6}" presName="vert1" presStyleCnt="0"/>
      <dgm:spPr/>
    </dgm:pt>
    <dgm:pt modelId="{226A7F63-1E76-4D04-A949-FA1A3DC1CB60}" type="pres">
      <dgm:prSet presAssocID="{E828C197-9D5C-4B24-AAEE-5E64F135D194}" presName="thickLine" presStyleLbl="alignNode1" presStyleIdx="3" presStyleCnt="6"/>
      <dgm:spPr/>
    </dgm:pt>
    <dgm:pt modelId="{48C009BE-29B3-4483-9DFA-E716CDE9037C}" type="pres">
      <dgm:prSet presAssocID="{E828C197-9D5C-4B24-AAEE-5E64F135D194}" presName="horz1" presStyleCnt="0"/>
      <dgm:spPr/>
    </dgm:pt>
    <dgm:pt modelId="{89763BF1-2746-4939-B02D-D3D998377A18}" type="pres">
      <dgm:prSet presAssocID="{E828C197-9D5C-4B24-AAEE-5E64F135D194}" presName="tx1" presStyleLbl="revTx" presStyleIdx="3" presStyleCnt="6"/>
      <dgm:spPr/>
      <dgm:t>
        <a:bodyPr/>
        <a:lstStyle/>
        <a:p>
          <a:pPr rtl="1"/>
          <a:endParaRPr lang="he-IL"/>
        </a:p>
      </dgm:t>
    </dgm:pt>
    <dgm:pt modelId="{54716B15-CD5E-4516-B186-5A9BB58754FF}" type="pres">
      <dgm:prSet presAssocID="{E828C197-9D5C-4B24-AAEE-5E64F135D194}" presName="vert1" presStyleCnt="0"/>
      <dgm:spPr/>
    </dgm:pt>
    <dgm:pt modelId="{3F0AE0AE-AE79-4B5B-9428-D767F6874C7F}" type="pres">
      <dgm:prSet presAssocID="{C8370C38-D738-463B-8689-5A70B5DAF4D5}" presName="thickLine" presStyleLbl="alignNode1" presStyleIdx="4" presStyleCnt="6"/>
      <dgm:spPr/>
    </dgm:pt>
    <dgm:pt modelId="{0EB649CD-5698-42D7-919E-9C7862BD1EB3}" type="pres">
      <dgm:prSet presAssocID="{C8370C38-D738-463B-8689-5A70B5DAF4D5}" presName="horz1" presStyleCnt="0"/>
      <dgm:spPr/>
    </dgm:pt>
    <dgm:pt modelId="{1DFE3BB4-0C9C-4901-9D08-9009E5E41576}" type="pres">
      <dgm:prSet presAssocID="{C8370C38-D738-463B-8689-5A70B5DAF4D5}" presName="tx1" presStyleLbl="revTx" presStyleIdx="4" presStyleCnt="6"/>
      <dgm:spPr/>
      <dgm:t>
        <a:bodyPr/>
        <a:lstStyle/>
        <a:p>
          <a:pPr rtl="1"/>
          <a:endParaRPr lang="he-IL"/>
        </a:p>
      </dgm:t>
    </dgm:pt>
    <dgm:pt modelId="{F005D60F-9261-4434-9298-D6E2DE65DA85}" type="pres">
      <dgm:prSet presAssocID="{C8370C38-D738-463B-8689-5A70B5DAF4D5}" presName="vert1" presStyleCnt="0"/>
      <dgm:spPr/>
    </dgm:pt>
    <dgm:pt modelId="{D3CD7018-A627-43EE-BC8D-00E1B364D7A2}" type="pres">
      <dgm:prSet presAssocID="{AD761F03-3066-4538-A1E4-85125605DB66}" presName="thickLine" presStyleLbl="alignNode1" presStyleIdx="5" presStyleCnt="6"/>
      <dgm:spPr/>
    </dgm:pt>
    <dgm:pt modelId="{3671323E-EC9E-4F2D-81AE-F9ECFCB6976C}" type="pres">
      <dgm:prSet presAssocID="{AD761F03-3066-4538-A1E4-85125605DB66}" presName="horz1" presStyleCnt="0"/>
      <dgm:spPr/>
    </dgm:pt>
    <dgm:pt modelId="{7A3845EE-63F0-4F79-A6B5-C57962841FA2}" type="pres">
      <dgm:prSet presAssocID="{AD761F03-3066-4538-A1E4-85125605DB66}" presName="tx1" presStyleLbl="revTx" presStyleIdx="5" presStyleCnt="6"/>
      <dgm:spPr/>
      <dgm:t>
        <a:bodyPr/>
        <a:lstStyle/>
        <a:p>
          <a:pPr rtl="1"/>
          <a:endParaRPr lang="he-IL"/>
        </a:p>
      </dgm:t>
    </dgm:pt>
    <dgm:pt modelId="{38A602F6-0BCC-4B33-A51A-FAE69746AF2D}" type="pres">
      <dgm:prSet presAssocID="{AD761F03-3066-4538-A1E4-85125605DB66}" presName="vert1" presStyleCnt="0"/>
      <dgm:spPr/>
    </dgm:pt>
  </dgm:ptLst>
  <dgm:cxnLst>
    <dgm:cxn modelId="{B6E316CD-7E6B-4015-8CFF-A50CDCC24185}" type="presOf" srcId="{7F6CE15B-E2C8-49AC-9683-B3F8896186F6}" destId="{4D59E357-6084-41BE-82C0-8ECFF47CE596}" srcOrd="0" destOrd="0" presId="urn:microsoft.com/office/officeart/2008/layout/LinedList"/>
    <dgm:cxn modelId="{C59C4CF4-686D-43C0-99C0-73623D568253}" type="presOf" srcId="{C8370C38-D738-463B-8689-5A70B5DAF4D5}" destId="{1DFE3BB4-0C9C-4901-9D08-9009E5E41576}" srcOrd="0" destOrd="0" presId="urn:microsoft.com/office/officeart/2008/layout/LinedList"/>
    <dgm:cxn modelId="{C7EBCC1E-C5C6-41E4-B58F-AC22E5F240BC}" type="presOf" srcId="{9095EFFA-A323-44A7-8B62-8F03035C8576}" destId="{D724E918-FF18-4BFF-9C2B-31692A1BB90A}" srcOrd="0" destOrd="0" presId="urn:microsoft.com/office/officeart/2008/layout/LinedList"/>
    <dgm:cxn modelId="{728F5D91-0A70-42F6-AB2D-BC401F6A710C}" type="presOf" srcId="{E828C197-9D5C-4B24-AAEE-5E64F135D194}" destId="{89763BF1-2746-4939-B02D-D3D998377A18}" srcOrd="0" destOrd="0" presId="urn:microsoft.com/office/officeart/2008/layout/LinedList"/>
    <dgm:cxn modelId="{57C76A80-B665-4928-80A7-1076A08F9D79}" srcId="{A29E6AB4-77D1-4573-BBC7-E84F14A8CD3F}" destId="{7F6CE15B-E2C8-49AC-9683-B3F8896186F6}" srcOrd="2" destOrd="0" parTransId="{0AD1AE5F-DD8B-4F0C-AC7E-80976228AF0D}" sibTransId="{B93B418C-1F9A-48F3-BFAD-E9B6AAEB29E3}"/>
    <dgm:cxn modelId="{42A7F1BB-98CF-4551-839C-0A4B1536061F}" srcId="{A29E6AB4-77D1-4573-BBC7-E84F14A8CD3F}" destId="{E828C197-9D5C-4B24-AAEE-5E64F135D194}" srcOrd="3" destOrd="0" parTransId="{E8913803-D913-4602-992C-8F6A0F696726}" sibTransId="{2149721C-AA39-4787-B605-30C5F28BEC86}"/>
    <dgm:cxn modelId="{1514E12A-223B-4F19-9F9A-21CA1DE2547B}" srcId="{A29E6AB4-77D1-4573-BBC7-E84F14A8CD3F}" destId="{C8370C38-D738-463B-8689-5A70B5DAF4D5}" srcOrd="4" destOrd="0" parTransId="{333BEEB6-4EF4-4F61-8A81-608CE1FEDB55}" sibTransId="{DA599283-7664-4B75-BD14-FD8206D9410F}"/>
    <dgm:cxn modelId="{015A0E29-9E09-4978-B913-04311D834843}" srcId="{A29E6AB4-77D1-4573-BBC7-E84F14A8CD3F}" destId="{AD761F03-3066-4538-A1E4-85125605DB66}" srcOrd="5" destOrd="0" parTransId="{332D9B3B-2299-448D-B6D2-32785C6D4ABE}" sibTransId="{647FB23F-92C0-46CD-89F2-6FBCF3A4983D}"/>
    <dgm:cxn modelId="{26F34185-3FF4-499F-B66D-E7BCA05DA52B}" type="presOf" srcId="{A29E6AB4-77D1-4573-BBC7-E84F14A8CD3F}" destId="{F347B9AA-9468-4135-9642-20C264432143}" srcOrd="0" destOrd="0" presId="urn:microsoft.com/office/officeart/2008/layout/LinedList"/>
    <dgm:cxn modelId="{DC9E684C-E2A7-4EDD-BBEB-0F6987C015D5}" type="presOf" srcId="{AD761F03-3066-4538-A1E4-85125605DB66}" destId="{7A3845EE-63F0-4F79-A6B5-C57962841FA2}" srcOrd="0" destOrd="0" presId="urn:microsoft.com/office/officeart/2008/layout/LinedList"/>
    <dgm:cxn modelId="{114F5311-FD8A-43A0-8FAB-3FEE05B86630}" type="presOf" srcId="{47325FC3-2261-4E13-B02B-4AAAAE33CEF2}" destId="{5027E7FE-8A2A-48B5-A064-FAD560385DAB}" srcOrd="0" destOrd="0" presId="urn:microsoft.com/office/officeart/2008/layout/LinedList"/>
    <dgm:cxn modelId="{66094102-F742-454D-A844-01A3DDEDE25B}" srcId="{A29E6AB4-77D1-4573-BBC7-E84F14A8CD3F}" destId="{9095EFFA-A323-44A7-8B62-8F03035C8576}" srcOrd="0" destOrd="0" parTransId="{16912AF6-62DB-43CE-8A6F-23DFC29A7664}" sibTransId="{D54A22E0-982F-4F18-A916-D3117BC12893}"/>
    <dgm:cxn modelId="{527365E0-6DD6-4E43-BEB6-A8100F6A3601}" srcId="{A29E6AB4-77D1-4573-BBC7-E84F14A8CD3F}" destId="{47325FC3-2261-4E13-B02B-4AAAAE33CEF2}" srcOrd="1" destOrd="0" parTransId="{6F145E9F-0E54-45F5-BFD5-7610B1B6018B}" sibTransId="{D11CCBEE-F56D-48E8-8478-23FA8419D92D}"/>
    <dgm:cxn modelId="{5439D159-08C0-40C3-B19F-8CC431608C2E}" type="presParOf" srcId="{F347B9AA-9468-4135-9642-20C264432143}" destId="{1A9D1C91-B233-41B9-966B-8548FB6370A5}" srcOrd="0" destOrd="0" presId="urn:microsoft.com/office/officeart/2008/layout/LinedList"/>
    <dgm:cxn modelId="{98EBB1EE-0ABA-4C42-828E-8DBDDA745AF1}" type="presParOf" srcId="{F347B9AA-9468-4135-9642-20C264432143}" destId="{8EABB595-2036-442F-B831-92C3AD179ACD}" srcOrd="1" destOrd="0" presId="urn:microsoft.com/office/officeart/2008/layout/LinedList"/>
    <dgm:cxn modelId="{1D3DB839-3E8B-4282-894C-DC3B5A619C49}" type="presParOf" srcId="{8EABB595-2036-442F-B831-92C3AD179ACD}" destId="{D724E918-FF18-4BFF-9C2B-31692A1BB90A}" srcOrd="0" destOrd="0" presId="urn:microsoft.com/office/officeart/2008/layout/LinedList"/>
    <dgm:cxn modelId="{3B098453-B6ED-441D-87CD-BAFEB662079F}" type="presParOf" srcId="{8EABB595-2036-442F-B831-92C3AD179ACD}" destId="{D53DE745-A7D2-4063-8A04-B2C706922307}" srcOrd="1" destOrd="0" presId="urn:microsoft.com/office/officeart/2008/layout/LinedList"/>
    <dgm:cxn modelId="{3EB987C3-F5BA-4568-B90F-9C7A8FFC283E}" type="presParOf" srcId="{F347B9AA-9468-4135-9642-20C264432143}" destId="{AD57E140-0E82-4C2C-972C-CE9AF4489BF4}" srcOrd="2" destOrd="0" presId="urn:microsoft.com/office/officeart/2008/layout/LinedList"/>
    <dgm:cxn modelId="{8056E4FE-D5FD-4A78-8B86-292B374D05C5}" type="presParOf" srcId="{F347B9AA-9468-4135-9642-20C264432143}" destId="{E6FE79A5-66B2-4C18-A6E3-B4EC4DF3A6A2}" srcOrd="3" destOrd="0" presId="urn:microsoft.com/office/officeart/2008/layout/LinedList"/>
    <dgm:cxn modelId="{410BB4BC-E98D-4F0F-9200-6BB8EBC76457}" type="presParOf" srcId="{E6FE79A5-66B2-4C18-A6E3-B4EC4DF3A6A2}" destId="{5027E7FE-8A2A-48B5-A064-FAD560385DAB}" srcOrd="0" destOrd="0" presId="urn:microsoft.com/office/officeart/2008/layout/LinedList"/>
    <dgm:cxn modelId="{BE5C40A1-5655-4A3F-A7EA-8AA80B6913CE}" type="presParOf" srcId="{E6FE79A5-66B2-4C18-A6E3-B4EC4DF3A6A2}" destId="{9F3FB668-6BF2-419F-863B-83799D75EA51}" srcOrd="1" destOrd="0" presId="urn:microsoft.com/office/officeart/2008/layout/LinedList"/>
    <dgm:cxn modelId="{FBD6E4F4-D4F3-4ED9-90FE-B153C142A322}" type="presParOf" srcId="{F347B9AA-9468-4135-9642-20C264432143}" destId="{8E6226C1-5C9E-46FB-8A98-CFB617182EF9}" srcOrd="4" destOrd="0" presId="urn:microsoft.com/office/officeart/2008/layout/LinedList"/>
    <dgm:cxn modelId="{789E0C96-CC36-4706-9BD4-507F2C9B3B23}" type="presParOf" srcId="{F347B9AA-9468-4135-9642-20C264432143}" destId="{4A6B4A84-9976-45A0-B992-162A6CF85F6D}" srcOrd="5" destOrd="0" presId="urn:microsoft.com/office/officeart/2008/layout/LinedList"/>
    <dgm:cxn modelId="{BFE1ECA4-3EF5-407A-920E-FDD9B946CE8B}" type="presParOf" srcId="{4A6B4A84-9976-45A0-B992-162A6CF85F6D}" destId="{4D59E357-6084-41BE-82C0-8ECFF47CE596}" srcOrd="0" destOrd="0" presId="urn:microsoft.com/office/officeart/2008/layout/LinedList"/>
    <dgm:cxn modelId="{36B91A0D-9112-485E-87BA-13CB9B5B86C6}" type="presParOf" srcId="{4A6B4A84-9976-45A0-B992-162A6CF85F6D}" destId="{6850B759-F4D4-4319-806C-D69F31FD91AE}" srcOrd="1" destOrd="0" presId="urn:microsoft.com/office/officeart/2008/layout/LinedList"/>
    <dgm:cxn modelId="{0513A0FF-A611-4511-AD53-249BDAE00947}" type="presParOf" srcId="{F347B9AA-9468-4135-9642-20C264432143}" destId="{226A7F63-1E76-4D04-A949-FA1A3DC1CB60}" srcOrd="6" destOrd="0" presId="urn:microsoft.com/office/officeart/2008/layout/LinedList"/>
    <dgm:cxn modelId="{F0A4B263-DA44-4094-8FBF-4E850AD8BA4F}" type="presParOf" srcId="{F347B9AA-9468-4135-9642-20C264432143}" destId="{48C009BE-29B3-4483-9DFA-E716CDE9037C}" srcOrd="7" destOrd="0" presId="urn:microsoft.com/office/officeart/2008/layout/LinedList"/>
    <dgm:cxn modelId="{896CBA53-4E0E-44C4-8AF6-32C108B63A0C}" type="presParOf" srcId="{48C009BE-29B3-4483-9DFA-E716CDE9037C}" destId="{89763BF1-2746-4939-B02D-D3D998377A18}" srcOrd="0" destOrd="0" presId="urn:microsoft.com/office/officeart/2008/layout/LinedList"/>
    <dgm:cxn modelId="{BDC44860-1FF6-4954-9752-86491C441147}" type="presParOf" srcId="{48C009BE-29B3-4483-9DFA-E716CDE9037C}" destId="{54716B15-CD5E-4516-B186-5A9BB58754FF}" srcOrd="1" destOrd="0" presId="urn:microsoft.com/office/officeart/2008/layout/LinedList"/>
    <dgm:cxn modelId="{ADD8D1DD-539C-428A-A89D-1898AEA04775}" type="presParOf" srcId="{F347B9AA-9468-4135-9642-20C264432143}" destId="{3F0AE0AE-AE79-4B5B-9428-D767F6874C7F}" srcOrd="8" destOrd="0" presId="urn:microsoft.com/office/officeart/2008/layout/LinedList"/>
    <dgm:cxn modelId="{F1B65850-9E6B-43D9-B902-8FE104B96EDF}" type="presParOf" srcId="{F347B9AA-9468-4135-9642-20C264432143}" destId="{0EB649CD-5698-42D7-919E-9C7862BD1EB3}" srcOrd="9" destOrd="0" presId="urn:microsoft.com/office/officeart/2008/layout/LinedList"/>
    <dgm:cxn modelId="{4AEBEFF3-939F-412A-BF49-08AE80C8EA95}" type="presParOf" srcId="{0EB649CD-5698-42D7-919E-9C7862BD1EB3}" destId="{1DFE3BB4-0C9C-4901-9D08-9009E5E41576}" srcOrd="0" destOrd="0" presId="urn:microsoft.com/office/officeart/2008/layout/LinedList"/>
    <dgm:cxn modelId="{2D602F06-17C6-4271-9F4C-B688CA6471FB}" type="presParOf" srcId="{0EB649CD-5698-42D7-919E-9C7862BD1EB3}" destId="{F005D60F-9261-4434-9298-D6E2DE65DA85}" srcOrd="1" destOrd="0" presId="urn:microsoft.com/office/officeart/2008/layout/LinedList"/>
    <dgm:cxn modelId="{D2AF1C9A-322B-4B07-A53C-E4203FE172C1}" type="presParOf" srcId="{F347B9AA-9468-4135-9642-20C264432143}" destId="{D3CD7018-A627-43EE-BC8D-00E1B364D7A2}" srcOrd="10" destOrd="0" presId="urn:microsoft.com/office/officeart/2008/layout/LinedList"/>
    <dgm:cxn modelId="{0BCEDEBC-344B-4C49-84B1-F4D1C15E7618}" type="presParOf" srcId="{F347B9AA-9468-4135-9642-20C264432143}" destId="{3671323E-EC9E-4F2D-81AE-F9ECFCB6976C}" srcOrd="11" destOrd="0" presId="urn:microsoft.com/office/officeart/2008/layout/LinedList"/>
    <dgm:cxn modelId="{840D1B82-A8B2-4188-8494-451052AA8A12}" type="presParOf" srcId="{3671323E-EC9E-4F2D-81AE-F9ECFCB6976C}" destId="{7A3845EE-63F0-4F79-A6B5-C57962841FA2}" srcOrd="0" destOrd="0" presId="urn:microsoft.com/office/officeart/2008/layout/LinedList"/>
    <dgm:cxn modelId="{5F1752E9-E9E4-46D1-997E-AAB3281CE7C3}" type="presParOf" srcId="{3671323E-EC9E-4F2D-81AE-F9ECFCB6976C}" destId="{38A602F6-0BCC-4B33-A51A-FAE69746AF2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78192A-A055-49A5-A975-99AB0E689D6E}">
      <dsp:nvSpPr>
        <dsp:cNvPr id="0" name=""/>
        <dsp:cNvSpPr/>
      </dsp:nvSpPr>
      <dsp:spPr>
        <a:xfrm>
          <a:off x="841" y="965341"/>
          <a:ext cx="1641430" cy="1641430"/>
        </a:xfrm>
        <a:prstGeom prst="ellipse">
          <a:avLst/>
        </a:prstGeom>
        <a:solidFill>
          <a:schemeClr val="accent4">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0333" tIns="26670" rIns="90333" bIns="26670" numCol="1" spcCol="1270" anchor="ctr" anchorCtr="0">
          <a:noAutofit/>
        </a:bodyPr>
        <a:lstStyle/>
        <a:p>
          <a:pPr lvl="0" algn="ctr" defTabSz="933450" rtl="1">
            <a:lnSpc>
              <a:spcPct val="90000"/>
            </a:lnSpc>
            <a:spcBef>
              <a:spcPct val="0"/>
            </a:spcBef>
            <a:spcAft>
              <a:spcPct val="35000"/>
            </a:spcAft>
          </a:pPr>
          <a:r>
            <a:rPr lang="he-IL" sz="2100" kern="1200" dirty="0"/>
            <a:t>מרכז יום?</a:t>
          </a:r>
        </a:p>
      </dsp:txBody>
      <dsp:txXfrm>
        <a:off x="241223" y="1205723"/>
        <a:ext cx="1160666" cy="1160666"/>
      </dsp:txXfrm>
    </dsp:sp>
    <dsp:sp modelId="{D8E91E25-8363-4A79-9E86-77E442B0FFAC}">
      <dsp:nvSpPr>
        <dsp:cNvPr id="0" name=""/>
        <dsp:cNvSpPr/>
      </dsp:nvSpPr>
      <dsp:spPr>
        <a:xfrm>
          <a:off x="1313985" y="965341"/>
          <a:ext cx="1641430" cy="1641430"/>
        </a:xfrm>
        <a:prstGeom prst="ellipse">
          <a:avLst/>
        </a:prstGeom>
        <a:solidFill>
          <a:schemeClr val="accent4">
            <a:alpha val="50000"/>
            <a:hueOff val="2598923"/>
            <a:satOff val="-11992"/>
            <a:lumOff val="4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0333" tIns="26670" rIns="90333" bIns="26670" numCol="1" spcCol="1270" anchor="ctr" anchorCtr="0">
          <a:noAutofit/>
        </a:bodyPr>
        <a:lstStyle/>
        <a:p>
          <a:pPr lvl="0" algn="ctr" defTabSz="933450" rtl="1">
            <a:lnSpc>
              <a:spcPct val="90000"/>
            </a:lnSpc>
            <a:spcBef>
              <a:spcPct val="0"/>
            </a:spcBef>
            <a:spcAft>
              <a:spcPct val="35000"/>
            </a:spcAft>
          </a:pPr>
          <a:r>
            <a:rPr lang="he-IL" sz="2100" kern="1200" dirty="0"/>
            <a:t>שירותי כביסה?</a:t>
          </a:r>
        </a:p>
      </dsp:txBody>
      <dsp:txXfrm>
        <a:off x="1554367" y="1205723"/>
        <a:ext cx="1160666" cy="1160666"/>
      </dsp:txXfrm>
    </dsp:sp>
    <dsp:sp modelId="{A29250C1-4D38-4611-B7E7-90B5A88926EF}">
      <dsp:nvSpPr>
        <dsp:cNvPr id="0" name=""/>
        <dsp:cNvSpPr/>
      </dsp:nvSpPr>
      <dsp:spPr>
        <a:xfrm>
          <a:off x="2627129" y="965341"/>
          <a:ext cx="1641430" cy="1641430"/>
        </a:xfrm>
        <a:prstGeom prst="ellipse">
          <a:avLst/>
        </a:prstGeom>
        <a:solidFill>
          <a:schemeClr val="accent4">
            <a:alpha val="50000"/>
            <a:hueOff val="5197846"/>
            <a:satOff val="-23984"/>
            <a:lumOff val="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0333" tIns="26670" rIns="90333" bIns="26670" numCol="1" spcCol="1270" anchor="ctr" anchorCtr="0">
          <a:noAutofit/>
        </a:bodyPr>
        <a:lstStyle/>
        <a:p>
          <a:pPr lvl="0" algn="ctr" defTabSz="933450" rtl="1">
            <a:lnSpc>
              <a:spcPct val="90000"/>
            </a:lnSpc>
            <a:spcBef>
              <a:spcPct val="0"/>
            </a:spcBef>
            <a:spcAft>
              <a:spcPct val="35000"/>
            </a:spcAft>
          </a:pPr>
          <a:r>
            <a:rPr lang="he-IL" sz="2100" kern="1200" dirty="0"/>
            <a:t>כסף?</a:t>
          </a:r>
        </a:p>
      </dsp:txBody>
      <dsp:txXfrm>
        <a:off x="2867511" y="1205723"/>
        <a:ext cx="1160666" cy="1160666"/>
      </dsp:txXfrm>
    </dsp:sp>
    <dsp:sp modelId="{C36CB827-37E2-4CA7-BDEA-8A5B2412EC55}">
      <dsp:nvSpPr>
        <dsp:cNvPr id="0" name=""/>
        <dsp:cNvSpPr/>
      </dsp:nvSpPr>
      <dsp:spPr>
        <a:xfrm>
          <a:off x="3940274" y="965341"/>
          <a:ext cx="1641430" cy="1641430"/>
        </a:xfrm>
        <a:prstGeom prst="ellipse">
          <a:avLst/>
        </a:prstGeom>
        <a:solidFill>
          <a:schemeClr val="accent4">
            <a:alpha val="50000"/>
            <a:hueOff val="7796769"/>
            <a:satOff val="-35976"/>
            <a:lumOff val="13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0333" tIns="26670" rIns="90333" bIns="26670" numCol="1" spcCol="1270" anchor="ctr" anchorCtr="0">
          <a:noAutofit/>
        </a:bodyPr>
        <a:lstStyle/>
        <a:p>
          <a:pPr lvl="0" algn="ctr" defTabSz="933450" rtl="1">
            <a:lnSpc>
              <a:spcPct val="90000"/>
            </a:lnSpc>
            <a:spcBef>
              <a:spcPct val="0"/>
            </a:spcBef>
            <a:spcAft>
              <a:spcPct val="35000"/>
            </a:spcAft>
          </a:pPr>
          <a:r>
            <a:rPr lang="he-IL" sz="2100" kern="1200" dirty="0"/>
            <a:t>מטפלת?</a:t>
          </a:r>
        </a:p>
      </dsp:txBody>
      <dsp:txXfrm>
        <a:off x="4180656" y="1205723"/>
        <a:ext cx="1160666" cy="1160666"/>
      </dsp:txXfrm>
    </dsp:sp>
    <dsp:sp modelId="{084B70BC-296E-42EE-B9F0-4B73CE7ED8F5}">
      <dsp:nvSpPr>
        <dsp:cNvPr id="0" name=""/>
        <dsp:cNvSpPr/>
      </dsp:nvSpPr>
      <dsp:spPr>
        <a:xfrm>
          <a:off x="5253418" y="965341"/>
          <a:ext cx="1641430" cy="1641430"/>
        </a:xfrm>
        <a:prstGeom prst="ellipse">
          <a:avLst/>
        </a:prstGeom>
        <a:solidFill>
          <a:schemeClr val="accent4">
            <a:alpha val="50000"/>
            <a:hueOff val="10395692"/>
            <a:satOff val="-47968"/>
            <a:lumOff val="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90333" tIns="26670" rIns="90333" bIns="26670" numCol="1" spcCol="1270" anchor="ctr" anchorCtr="0">
          <a:noAutofit/>
        </a:bodyPr>
        <a:lstStyle/>
        <a:p>
          <a:pPr lvl="0" algn="ctr" defTabSz="933450" rtl="1">
            <a:lnSpc>
              <a:spcPct val="90000"/>
            </a:lnSpc>
            <a:spcBef>
              <a:spcPct val="0"/>
            </a:spcBef>
            <a:spcAft>
              <a:spcPct val="35000"/>
            </a:spcAft>
          </a:pPr>
          <a:r>
            <a:rPr lang="he-IL" sz="2100" kern="1200" dirty="0"/>
            <a:t>טיטולים?</a:t>
          </a:r>
        </a:p>
      </dsp:txBody>
      <dsp:txXfrm>
        <a:off x="5493800" y="1205723"/>
        <a:ext cx="1160666" cy="11606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70D69A-5440-4A89-80EA-AE849A3AF518}">
      <dsp:nvSpPr>
        <dsp:cNvPr id="0" name=""/>
        <dsp:cNvSpPr/>
      </dsp:nvSpPr>
      <dsp:spPr>
        <a:xfrm>
          <a:off x="3047999" y="0"/>
          <a:ext cx="2032000" cy="1354666"/>
        </a:xfrm>
        <a:prstGeom prst="trapezoid">
          <a:avLst>
            <a:gd name="adj" fmla="val 7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lvl="0" algn="ctr" defTabSz="488950" rtl="1">
            <a:lnSpc>
              <a:spcPct val="90000"/>
            </a:lnSpc>
            <a:spcBef>
              <a:spcPct val="0"/>
            </a:spcBef>
            <a:spcAft>
              <a:spcPct val="35000"/>
            </a:spcAft>
          </a:pPr>
          <a:endParaRPr lang="he-IL" sz="1100" kern="1200" dirty="0"/>
        </a:p>
        <a:p>
          <a:pPr lvl="0" algn="ctr" defTabSz="488950" rtl="1">
            <a:lnSpc>
              <a:spcPct val="90000"/>
            </a:lnSpc>
            <a:spcBef>
              <a:spcPct val="0"/>
            </a:spcBef>
            <a:spcAft>
              <a:spcPct val="35000"/>
            </a:spcAft>
          </a:pPr>
          <a:endParaRPr lang="he-IL" sz="1200" b="1" kern="1200" dirty="0"/>
        </a:p>
        <a:p>
          <a:pPr lvl="0" algn="ctr" defTabSz="488950" rtl="1">
            <a:lnSpc>
              <a:spcPct val="90000"/>
            </a:lnSpc>
            <a:spcBef>
              <a:spcPct val="0"/>
            </a:spcBef>
            <a:spcAft>
              <a:spcPct val="35000"/>
            </a:spcAft>
          </a:pPr>
          <a:r>
            <a:rPr lang="he-IL" sz="2000" b="1" kern="1200" dirty="0"/>
            <a:t>הזדקנות</a:t>
          </a:r>
        </a:p>
        <a:p>
          <a:pPr lvl="0" algn="ctr" defTabSz="488950" rtl="1">
            <a:lnSpc>
              <a:spcPct val="90000"/>
            </a:lnSpc>
            <a:spcBef>
              <a:spcPct val="0"/>
            </a:spcBef>
            <a:spcAft>
              <a:spcPct val="35000"/>
            </a:spcAft>
          </a:pPr>
          <a:r>
            <a:rPr lang="he-IL" sz="2400" b="1" kern="1200" dirty="0"/>
            <a:t> מיטבית</a:t>
          </a:r>
        </a:p>
      </dsp:txBody>
      <dsp:txXfrm>
        <a:off x="3047999" y="0"/>
        <a:ext cx="2032000" cy="1354666"/>
      </dsp:txXfrm>
    </dsp:sp>
    <dsp:sp modelId="{7472973C-CF79-4898-91E8-E14622784BB4}">
      <dsp:nvSpPr>
        <dsp:cNvPr id="0" name=""/>
        <dsp:cNvSpPr/>
      </dsp:nvSpPr>
      <dsp:spPr>
        <a:xfrm>
          <a:off x="2032000" y="1354666"/>
          <a:ext cx="4064000" cy="1354666"/>
        </a:xfrm>
        <a:prstGeom prst="trapezoid">
          <a:avLst>
            <a:gd name="adj" fmla="val 75000"/>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lvl="0" algn="ctr" defTabSz="1422400" rtl="1">
            <a:lnSpc>
              <a:spcPct val="90000"/>
            </a:lnSpc>
            <a:spcBef>
              <a:spcPct val="0"/>
            </a:spcBef>
            <a:spcAft>
              <a:spcPct val="35000"/>
            </a:spcAft>
          </a:pPr>
          <a:r>
            <a:rPr lang="he-IL" sz="3200" kern="1200" dirty="0"/>
            <a:t>מדידה </a:t>
          </a:r>
          <a:r>
            <a:rPr lang="he-IL" sz="3200" kern="1200" dirty="0" err="1"/>
            <a:t>ותמרוצים</a:t>
          </a:r>
          <a:r>
            <a:rPr lang="he-IL" sz="3200" kern="1200" dirty="0"/>
            <a:t> </a:t>
          </a:r>
        </a:p>
      </dsp:txBody>
      <dsp:txXfrm>
        <a:off x="2743199" y="1354666"/>
        <a:ext cx="2641600" cy="1354666"/>
      </dsp:txXfrm>
    </dsp:sp>
    <dsp:sp modelId="{874210C7-DBE7-4E93-AF2F-64ECAA718ABA}">
      <dsp:nvSpPr>
        <dsp:cNvPr id="0" name=""/>
        <dsp:cNvSpPr/>
      </dsp:nvSpPr>
      <dsp:spPr>
        <a:xfrm>
          <a:off x="1015999" y="2709333"/>
          <a:ext cx="6096000" cy="1354666"/>
        </a:xfrm>
        <a:prstGeom prst="trapezoid">
          <a:avLst>
            <a:gd name="adj" fmla="val 75000"/>
          </a:avLst>
        </a:prstGeom>
        <a:solidFill>
          <a:srgbClr val="5EC5C5"/>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סל מותאם אישית לבחירה</a:t>
          </a:r>
        </a:p>
      </dsp:txBody>
      <dsp:txXfrm>
        <a:off x="2082799" y="2709333"/>
        <a:ext cx="3962400" cy="1354666"/>
      </dsp:txXfrm>
    </dsp:sp>
    <dsp:sp modelId="{CE29C06B-8968-43B8-BCD7-96D804A52BBB}">
      <dsp:nvSpPr>
        <dsp:cNvPr id="0" name=""/>
        <dsp:cNvSpPr/>
      </dsp:nvSpPr>
      <dsp:spPr>
        <a:xfrm>
          <a:off x="0" y="4064000"/>
          <a:ext cx="8128000" cy="1354666"/>
        </a:xfrm>
        <a:prstGeom prst="trapezoid">
          <a:avLst>
            <a:gd name="adj" fmla="val 75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1733550" rtl="1">
            <a:lnSpc>
              <a:spcPct val="90000"/>
            </a:lnSpc>
            <a:spcBef>
              <a:spcPct val="0"/>
            </a:spcBef>
            <a:spcAft>
              <a:spcPct val="35000"/>
            </a:spcAft>
          </a:pPr>
          <a:r>
            <a:rPr lang="he-IL" sz="3900" kern="1200" dirty="0"/>
            <a:t>שירות מעטפת </a:t>
          </a:r>
        </a:p>
        <a:p>
          <a:pPr lvl="0" algn="ctr" defTabSz="1733550" rtl="1">
            <a:lnSpc>
              <a:spcPct val="90000"/>
            </a:lnSpc>
            <a:spcBef>
              <a:spcPct val="0"/>
            </a:spcBef>
            <a:spcAft>
              <a:spcPct val="35000"/>
            </a:spcAft>
          </a:pPr>
          <a:r>
            <a:rPr lang="he-IL" sz="3900" kern="1200" dirty="0"/>
            <a:t>קהילה לכולם</a:t>
          </a:r>
        </a:p>
      </dsp:txBody>
      <dsp:txXfrm>
        <a:off x="1422399" y="4064000"/>
        <a:ext cx="5283200" cy="135466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11F1C9-53F8-4FD1-95DF-AD9446F8ED93}">
      <dsp:nvSpPr>
        <dsp:cNvPr id="0" name=""/>
        <dsp:cNvSpPr/>
      </dsp:nvSpPr>
      <dsp:spPr>
        <a:xfrm>
          <a:off x="0" y="774"/>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ECD134E-854C-4F93-A604-1FD1B26BA336}">
      <dsp:nvSpPr>
        <dsp:cNvPr id="0" name=""/>
        <dsp:cNvSpPr/>
      </dsp:nvSpPr>
      <dsp:spPr>
        <a:xfrm>
          <a:off x="0" y="774"/>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b="0" kern="1200" dirty="0">
              <a:latin typeface="Calibri" panose="020F0502020204030204" pitchFamily="34" charset="0"/>
              <a:cs typeface="Calibri" panose="020F0502020204030204" pitchFamily="34" charset="0"/>
            </a:rPr>
            <a:t>תכנית לאומית משותפת לפיתוח והרחבת שירותים למניעת התדרדרות רווחה-</a:t>
          </a:r>
          <a:r>
            <a:rPr lang="he-IL" sz="2800" b="0" kern="1200" dirty="0" err="1">
              <a:latin typeface="Calibri" panose="020F0502020204030204" pitchFamily="34" charset="0"/>
              <a:cs typeface="Calibri" panose="020F0502020204030204" pitchFamily="34" charset="0"/>
            </a:rPr>
            <a:t>בטל"א</a:t>
          </a:r>
          <a:r>
            <a:rPr lang="he-IL" sz="2800" b="0" kern="1200" dirty="0">
              <a:latin typeface="Calibri" panose="020F0502020204030204" pitchFamily="34" charset="0"/>
              <a:cs typeface="Calibri" panose="020F0502020204030204" pitchFamily="34" charset="0"/>
            </a:rPr>
            <a:t>-בריאות</a:t>
          </a:r>
          <a:endParaRPr lang="en-US" sz="2800" b="0" kern="1200" dirty="0">
            <a:latin typeface="Calibri" panose="020F0502020204030204" pitchFamily="34" charset="0"/>
            <a:cs typeface="Calibri" panose="020F0502020204030204" pitchFamily="34" charset="0"/>
          </a:endParaRPr>
        </a:p>
      </dsp:txBody>
      <dsp:txXfrm>
        <a:off x="0" y="774"/>
        <a:ext cx="6722533" cy="906047"/>
      </dsp:txXfrm>
    </dsp:sp>
    <dsp:sp modelId="{1A9DAAC6-78D6-46A0-B071-D377EDFAF035}">
      <dsp:nvSpPr>
        <dsp:cNvPr id="0" name=""/>
        <dsp:cNvSpPr/>
      </dsp:nvSpPr>
      <dsp:spPr>
        <a:xfrm>
          <a:off x="0" y="906821"/>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FB8E53F-2B36-438D-9B7B-62A3F78CB52C}">
      <dsp:nvSpPr>
        <dsp:cNvPr id="0" name=""/>
        <dsp:cNvSpPr/>
      </dsp:nvSpPr>
      <dsp:spPr>
        <a:xfrm>
          <a:off x="0" y="906821"/>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lvl="0" algn="ctr" defTabSz="1200150" rtl="1">
            <a:lnSpc>
              <a:spcPct val="90000"/>
            </a:lnSpc>
            <a:spcBef>
              <a:spcPct val="0"/>
            </a:spcBef>
            <a:spcAft>
              <a:spcPct val="35000"/>
            </a:spcAft>
          </a:pPr>
          <a:r>
            <a:rPr lang="he-IL" sz="2700" kern="1200" dirty="0">
              <a:latin typeface="Calibri" panose="020F0502020204030204" pitchFamily="34" charset="0"/>
              <a:cs typeface="Calibri" panose="020F0502020204030204" pitchFamily="34" charset="0"/>
            </a:rPr>
            <a:t>פיתוח רצף שירותים חברתיים מותאם למקבלי ג' סיעוד</a:t>
          </a:r>
          <a:endParaRPr lang="en-US" sz="2700" kern="1200" dirty="0">
            <a:latin typeface="Calibri" panose="020F0502020204030204" pitchFamily="34" charset="0"/>
            <a:cs typeface="Calibri" panose="020F0502020204030204" pitchFamily="34" charset="0"/>
          </a:endParaRPr>
        </a:p>
      </dsp:txBody>
      <dsp:txXfrm>
        <a:off x="0" y="906821"/>
        <a:ext cx="6722533" cy="906047"/>
      </dsp:txXfrm>
    </dsp:sp>
    <dsp:sp modelId="{801938B0-01B3-4F54-BFAB-BDB3870545DA}">
      <dsp:nvSpPr>
        <dsp:cNvPr id="0" name=""/>
        <dsp:cNvSpPr/>
      </dsp:nvSpPr>
      <dsp:spPr>
        <a:xfrm>
          <a:off x="0" y="1812868"/>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37D19D9-35F4-4D96-9EBA-A35E2E90A51A}">
      <dsp:nvSpPr>
        <dsp:cNvPr id="0" name=""/>
        <dsp:cNvSpPr/>
      </dsp:nvSpPr>
      <dsp:spPr>
        <a:xfrm>
          <a:off x="0" y="1812868"/>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lvl="0" algn="ctr" defTabSz="1155700" rtl="1">
            <a:lnSpc>
              <a:spcPct val="90000"/>
            </a:lnSpc>
            <a:spcBef>
              <a:spcPct val="0"/>
            </a:spcBef>
            <a:spcAft>
              <a:spcPct val="35000"/>
            </a:spcAft>
          </a:pPr>
          <a:r>
            <a:rPr lang="he-IL" sz="2600" kern="1200" dirty="0">
              <a:latin typeface="Calibri" panose="020F0502020204030204" pitchFamily="34" charset="0"/>
              <a:cs typeface="Calibri" panose="020F0502020204030204" pitchFamily="34" charset="0"/>
            </a:rPr>
            <a:t>הנגשת השירותים לזכאים דרך </a:t>
          </a:r>
          <a:r>
            <a:rPr lang="he-IL" sz="2600" kern="1200" dirty="0" err="1">
              <a:latin typeface="Calibri" panose="020F0502020204030204" pitchFamily="34" charset="0"/>
              <a:cs typeface="Calibri" panose="020F0502020204030204" pitchFamily="34" charset="0"/>
            </a:rPr>
            <a:t>בטל"א</a:t>
          </a:r>
          <a:r>
            <a:rPr lang="he-IL" sz="2600" kern="1200" dirty="0">
              <a:latin typeface="Calibri" panose="020F0502020204030204" pitchFamily="34" charset="0"/>
              <a:cs typeface="Calibri" panose="020F0502020204030204" pitchFamily="34" charset="0"/>
            </a:rPr>
            <a:t>, קופ"ח והמחלקה</a:t>
          </a:r>
          <a:endParaRPr lang="en-US" sz="2600" kern="1200" dirty="0">
            <a:latin typeface="Calibri" panose="020F0502020204030204" pitchFamily="34" charset="0"/>
            <a:cs typeface="Calibri" panose="020F0502020204030204" pitchFamily="34" charset="0"/>
          </a:endParaRPr>
        </a:p>
      </dsp:txBody>
      <dsp:txXfrm>
        <a:off x="0" y="1812868"/>
        <a:ext cx="6722533" cy="906047"/>
      </dsp:txXfrm>
    </dsp:sp>
    <dsp:sp modelId="{538BB7FB-C292-4925-A3C3-1667DB388629}">
      <dsp:nvSpPr>
        <dsp:cNvPr id="0" name=""/>
        <dsp:cNvSpPr/>
      </dsp:nvSpPr>
      <dsp:spPr>
        <a:xfrm>
          <a:off x="0" y="2718915"/>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ECA76A-9BD1-4FCA-A7E4-39B872E74F88}">
      <dsp:nvSpPr>
        <dsp:cNvPr id="0" name=""/>
        <dsp:cNvSpPr/>
      </dsp:nvSpPr>
      <dsp:spPr>
        <a:xfrm>
          <a:off x="0" y="2718915"/>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תמרוץ האזרח הוותיק לצריכת שירותים בעין</a:t>
          </a:r>
          <a:endParaRPr lang="en-US" sz="2800" kern="1200" dirty="0">
            <a:latin typeface="Calibri" panose="020F0502020204030204" pitchFamily="34" charset="0"/>
            <a:cs typeface="Calibri" panose="020F0502020204030204" pitchFamily="34" charset="0"/>
          </a:endParaRPr>
        </a:p>
      </dsp:txBody>
      <dsp:txXfrm>
        <a:off x="0" y="2718915"/>
        <a:ext cx="6722533" cy="906047"/>
      </dsp:txXfrm>
    </dsp:sp>
    <dsp:sp modelId="{1E86601E-1FD4-445E-9340-41F7E3F88FC8}">
      <dsp:nvSpPr>
        <dsp:cNvPr id="0" name=""/>
        <dsp:cNvSpPr/>
      </dsp:nvSpPr>
      <dsp:spPr>
        <a:xfrm>
          <a:off x="0" y="3624963"/>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20065C-3D73-4C99-AF53-CB82F23B0D10}">
      <dsp:nvSpPr>
        <dsp:cNvPr id="0" name=""/>
        <dsp:cNvSpPr/>
      </dsp:nvSpPr>
      <dsp:spPr>
        <a:xfrm>
          <a:off x="0" y="3624963"/>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המחלקה- מתכללת השירותים לאזרחים הותיקים ברשות</a:t>
          </a:r>
          <a:endParaRPr lang="en-US" sz="2800" kern="1200" dirty="0">
            <a:latin typeface="Calibri" panose="020F0502020204030204" pitchFamily="34" charset="0"/>
            <a:cs typeface="Calibri" panose="020F0502020204030204" pitchFamily="34" charset="0"/>
          </a:endParaRPr>
        </a:p>
      </dsp:txBody>
      <dsp:txXfrm>
        <a:off x="0" y="3624963"/>
        <a:ext cx="6722533" cy="906047"/>
      </dsp:txXfrm>
    </dsp:sp>
    <dsp:sp modelId="{9552147A-CBE7-4E0E-8880-4E03126C69DB}">
      <dsp:nvSpPr>
        <dsp:cNvPr id="0" name=""/>
        <dsp:cNvSpPr/>
      </dsp:nvSpPr>
      <dsp:spPr>
        <a:xfrm>
          <a:off x="0" y="4531010"/>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8E06AF-8E31-4422-878F-8439AF1B16DC}">
      <dsp:nvSpPr>
        <dsp:cNvPr id="0" name=""/>
        <dsp:cNvSpPr/>
      </dsp:nvSpPr>
      <dsp:spPr>
        <a:xfrm>
          <a:off x="0" y="4531010"/>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הרחבת שירותי בריאות בתוך השירותים החברתיים</a:t>
          </a:r>
          <a:endParaRPr lang="en-US" sz="2800" kern="1200" dirty="0">
            <a:latin typeface="Calibri" panose="020F0502020204030204" pitchFamily="34" charset="0"/>
            <a:cs typeface="Calibri" panose="020F0502020204030204" pitchFamily="34" charset="0"/>
          </a:endParaRPr>
        </a:p>
      </dsp:txBody>
      <dsp:txXfrm>
        <a:off x="0" y="4531010"/>
        <a:ext cx="6722533" cy="906047"/>
      </dsp:txXfrm>
    </dsp:sp>
    <dsp:sp modelId="{2C2EE090-F898-4E59-BA97-EBCC2A231F14}">
      <dsp:nvSpPr>
        <dsp:cNvPr id="0" name=""/>
        <dsp:cNvSpPr/>
      </dsp:nvSpPr>
      <dsp:spPr>
        <a:xfrm>
          <a:off x="0" y="5437057"/>
          <a:ext cx="6722533"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CC5E67-A69C-496A-BDF7-C68BC5BC2770}">
      <dsp:nvSpPr>
        <dsp:cNvPr id="0" name=""/>
        <dsp:cNvSpPr/>
      </dsp:nvSpPr>
      <dsp:spPr>
        <a:xfrm>
          <a:off x="0" y="5437057"/>
          <a:ext cx="6722533" cy="9060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הקמת "קרן שלם" לפיתוח שירותים </a:t>
          </a:r>
          <a:r>
            <a:rPr lang="he-IL" sz="2800" kern="1200" dirty="0" err="1">
              <a:solidFill>
                <a:schemeClr val="tx1"/>
              </a:solidFill>
              <a:latin typeface="Calibri" panose="020F0502020204030204" pitchFamily="34" charset="0"/>
              <a:cs typeface="Calibri" panose="020F0502020204030204" pitchFamily="34" charset="0"/>
            </a:rPr>
            <a:t>בזיקנה</a:t>
          </a:r>
          <a:r>
            <a:rPr lang="en-US" sz="2000" kern="1200" dirty="0">
              <a:latin typeface="Calibri" panose="020F0502020204030204" pitchFamily="34" charset="0"/>
              <a:cs typeface="Calibri" panose="020F0502020204030204" pitchFamily="34" charset="0"/>
            </a:rPr>
            <a:t/>
          </a:r>
          <a:br>
            <a:rPr lang="en-US" sz="2000" kern="1200" dirty="0">
              <a:latin typeface="Calibri" panose="020F0502020204030204" pitchFamily="34" charset="0"/>
              <a:cs typeface="Calibri" panose="020F0502020204030204" pitchFamily="34" charset="0"/>
            </a:rPr>
          </a:br>
          <a:r>
            <a:rPr lang="en-US" sz="2000" kern="1200" dirty="0">
              <a:latin typeface="Calibri" panose="020F0502020204030204" pitchFamily="34" charset="0"/>
              <a:cs typeface="Calibri" panose="020F0502020204030204" pitchFamily="34" charset="0"/>
            </a:rPr>
            <a:t/>
          </a:r>
          <a:br>
            <a:rPr lang="en-US" sz="2000" kern="1200" dirty="0">
              <a:latin typeface="Calibri" panose="020F0502020204030204" pitchFamily="34" charset="0"/>
              <a:cs typeface="Calibri" panose="020F0502020204030204" pitchFamily="34" charset="0"/>
            </a:rPr>
          </a:br>
          <a:endParaRPr lang="en-US" sz="2800" kern="1200" dirty="0">
            <a:latin typeface="Calibri" panose="020F0502020204030204" pitchFamily="34" charset="0"/>
            <a:cs typeface="Calibri" panose="020F0502020204030204" pitchFamily="34" charset="0"/>
          </a:endParaRPr>
        </a:p>
      </dsp:txBody>
      <dsp:txXfrm>
        <a:off x="0" y="5437057"/>
        <a:ext cx="6722533" cy="90604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A9D1C91-B233-41B9-966B-8548FB6370A5}">
      <dsp:nvSpPr>
        <dsp:cNvPr id="0" name=""/>
        <dsp:cNvSpPr/>
      </dsp:nvSpPr>
      <dsp:spPr>
        <a:xfrm>
          <a:off x="0" y="3191"/>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724E918-FF18-4BFF-9C2B-31692A1BB90A}">
      <dsp:nvSpPr>
        <dsp:cNvPr id="0" name=""/>
        <dsp:cNvSpPr/>
      </dsp:nvSpPr>
      <dsp:spPr>
        <a:xfrm>
          <a:off x="0" y="3191"/>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מתן סיוע, שירות והכוונה לקשיש במצבי החיים המשתנים</a:t>
          </a:r>
          <a:endParaRPr lang="en-US" sz="2800" kern="1200" dirty="0">
            <a:latin typeface="Calibri" panose="020F0502020204030204" pitchFamily="34" charset="0"/>
            <a:cs typeface="Calibri" panose="020F0502020204030204" pitchFamily="34" charset="0"/>
          </a:endParaRPr>
        </a:p>
      </dsp:txBody>
      <dsp:txXfrm>
        <a:off x="0" y="3191"/>
        <a:ext cx="6912527" cy="1088313"/>
      </dsp:txXfrm>
    </dsp:sp>
    <dsp:sp modelId="{AD57E140-0E82-4C2C-972C-CE9AF4489BF4}">
      <dsp:nvSpPr>
        <dsp:cNvPr id="0" name=""/>
        <dsp:cNvSpPr/>
      </dsp:nvSpPr>
      <dsp:spPr>
        <a:xfrm>
          <a:off x="0" y="1091505"/>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27E7FE-8A2A-48B5-A064-FAD560385DAB}">
      <dsp:nvSpPr>
        <dsp:cNvPr id="0" name=""/>
        <dsp:cNvSpPr/>
      </dsp:nvSpPr>
      <dsp:spPr>
        <a:xfrm>
          <a:off x="0" y="1091505"/>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מרשם רפואי-חברתי: בקופ"ח, </a:t>
          </a:r>
          <a:r>
            <a:rPr lang="he-IL" sz="2800" kern="1200" dirty="0" err="1">
              <a:latin typeface="Calibri" panose="020F0502020204030204" pitchFamily="34" charset="0"/>
              <a:cs typeface="Calibri" panose="020F0502020204030204" pitchFamily="34" charset="0"/>
            </a:rPr>
            <a:t>בבטל"א</a:t>
          </a:r>
          <a:r>
            <a:rPr lang="he-IL" sz="2800" kern="1200" dirty="0">
              <a:latin typeface="Calibri" panose="020F0502020204030204" pitchFamily="34" charset="0"/>
              <a:cs typeface="Calibri" panose="020F0502020204030204" pitchFamily="34" charset="0"/>
            </a:rPr>
            <a:t> ובמחלקה</a:t>
          </a:r>
          <a:endParaRPr lang="en-US" sz="2800" kern="1200" dirty="0">
            <a:latin typeface="Calibri" panose="020F0502020204030204" pitchFamily="34" charset="0"/>
            <a:cs typeface="Calibri" panose="020F0502020204030204" pitchFamily="34" charset="0"/>
          </a:endParaRPr>
        </a:p>
      </dsp:txBody>
      <dsp:txXfrm>
        <a:off x="0" y="1091505"/>
        <a:ext cx="6912527" cy="1088313"/>
      </dsp:txXfrm>
    </dsp:sp>
    <dsp:sp modelId="{8E6226C1-5C9E-46FB-8A98-CFB617182EF9}">
      <dsp:nvSpPr>
        <dsp:cNvPr id="0" name=""/>
        <dsp:cNvSpPr/>
      </dsp:nvSpPr>
      <dsp:spPr>
        <a:xfrm>
          <a:off x="0" y="2179819"/>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59E357-6084-41BE-82C0-8ECFF47CE596}">
      <dsp:nvSpPr>
        <dsp:cNvPr id="0" name=""/>
        <dsp:cNvSpPr/>
      </dsp:nvSpPr>
      <dsp:spPr>
        <a:xfrm>
          <a:off x="0" y="2179819"/>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קידום מבחן </a:t>
          </a:r>
          <a:r>
            <a:rPr lang="en-US" sz="2800" kern="1200" dirty="0">
              <a:solidFill>
                <a:schemeClr val="tx1"/>
              </a:solidFill>
              <a:latin typeface="Calibri" panose="020F0502020204030204" pitchFamily="34" charset="0"/>
              <a:cs typeface="Calibri" panose="020F0502020204030204" pitchFamily="34" charset="0"/>
            </a:rPr>
            <a:t>ADL</a:t>
          </a:r>
          <a:r>
            <a:rPr lang="he-IL" sz="2800" kern="1200" dirty="0">
              <a:solidFill>
                <a:schemeClr val="tx1"/>
              </a:solidFill>
              <a:latin typeface="Calibri" panose="020F0502020204030204" pitchFamily="34" charset="0"/>
              <a:cs typeface="Calibri" panose="020F0502020204030204" pitchFamily="34" charset="0"/>
            </a:rPr>
            <a:t> חברתי לטובת אבחון מצבו וצרכיו של הקשיש</a:t>
          </a:r>
          <a:endParaRPr lang="en-US" sz="2800" kern="1200" dirty="0">
            <a:solidFill>
              <a:schemeClr val="tx1"/>
            </a:solidFill>
            <a:latin typeface="Calibri" panose="020F0502020204030204" pitchFamily="34" charset="0"/>
            <a:cs typeface="Calibri" panose="020F0502020204030204" pitchFamily="34" charset="0"/>
          </a:endParaRPr>
        </a:p>
      </dsp:txBody>
      <dsp:txXfrm>
        <a:off x="0" y="2179819"/>
        <a:ext cx="6912527" cy="1088313"/>
      </dsp:txXfrm>
    </dsp:sp>
    <dsp:sp modelId="{226A7F63-1E76-4D04-A949-FA1A3DC1CB60}">
      <dsp:nvSpPr>
        <dsp:cNvPr id="0" name=""/>
        <dsp:cNvSpPr/>
      </dsp:nvSpPr>
      <dsp:spPr>
        <a:xfrm>
          <a:off x="0" y="3268133"/>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763BF1-2746-4939-B02D-D3D998377A18}">
      <dsp:nvSpPr>
        <dsp:cNvPr id="0" name=""/>
        <dsp:cNvSpPr/>
      </dsp:nvSpPr>
      <dsp:spPr>
        <a:xfrm>
          <a:off x="0" y="3268133"/>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solidFill>
                <a:schemeClr val="tx1"/>
              </a:solidFill>
              <a:latin typeface="Calibri" panose="020F0502020204030204" pitchFamily="34" charset="0"/>
              <a:cs typeface="Calibri" panose="020F0502020204030204" pitchFamily="34" charset="0"/>
            </a:rPr>
            <a:t>חתימה על ויתור סודיות מראש לטובת מתן שירות שלם ומותאם</a:t>
          </a:r>
          <a:endParaRPr lang="en-US" sz="2800" kern="1200" dirty="0">
            <a:solidFill>
              <a:schemeClr val="tx1"/>
            </a:solidFill>
            <a:latin typeface="Calibri" panose="020F0502020204030204" pitchFamily="34" charset="0"/>
            <a:cs typeface="Calibri" panose="020F0502020204030204" pitchFamily="34" charset="0"/>
          </a:endParaRPr>
        </a:p>
      </dsp:txBody>
      <dsp:txXfrm>
        <a:off x="0" y="3268133"/>
        <a:ext cx="6912527" cy="1088313"/>
      </dsp:txXfrm>
    </dsp:sp>
    <dsp:sp modelId="{3F0AE0AE-AE79-4B5B-9428-D767F6874C7F}">
      <dsp:nvSpPr>
        <dsp:cNvPr id="0" name=""/>
        <dsp:cNvSpPr/>
      </dsp:nvSpPr>
      <dsp:spPr>
        <a:xfrm>
          <a:off x="0" y="4356447"/>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DFE3BB4-0C9C-4901-9D08-9009E5E41576}">
      <dsp:nvSpPr>
        <dsp:cNvPr id="0" name=""/>
        <dsp:cNvSpPr/>
      </dsp:nvSpPr>
      <dsp:spPr>
        <a:xfrm>
          <a:off x="0" y="4356447"/>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err="1">
              <a:solidFill>
                <a:schemeClr val="tx1"/>
              </a:solidFill>
              <a:latin typeface="Calibri" panose="020F0502020204030204" pitchFamily="34" charset="0"/>
              <a:cs typeface="Calibri" panose="020F0502020204030204" pitchFamily="34" charset="0"/>
            </a:rPr>
            <a:t>תעדוף</a:t>
          </a:r>
          <a:r>
            <a:rPr lang="he-IL" sz="2800" kern="1200" dirty="0">
              <a:solidFill>
                <a:schemeClr val="tx1"/>
              </a:solidFill>
              <a:latin typeface="Calibri" panose="020F0502020204030204" pitchFamily="34" charset="0"/>
              <a:cs typeface="Calibri" panose="020F0502020204030204" pitchFamily="34" charset="0"/>
            </a:rPr>
            <a:t> מטפלות לזקוקים ביותר והכשרתן לתחומי מומחיות אלו</a:t>
          </a:r>
          <a:endParaRPr lang="en-US" sz="2800" kern="1200" dirty="0">
            <a:solidFill>
              <a:schemeClr val="tx1"/>
            </a:solidFill>
            <a:latin typeface="Calibri" panose="020F0502020204030204" pitchFamily="34" charset="0"/>
            <a:cs typeface="Calibri" panose="020F0502020204030204" pitchFamily="34" charset="0"/>
          </a:endParaRPr>
        </a:p>
      </dsp:txBody>
      <dsp:txXfrm>
        <a:off x="0" y="4356447"/>
        <a:ext cx="6912527" cy="1088313"/>
      </dsp:txXfrm>
    </dsp:sp>
    <dsp:sp modelId="{D3CD7018-A627-43EE-BC8D-00E1B364D7A2}">
      <dsp:nvSpPr>
        <dsp:cNvPr id="0" name=""/>
        <dsp:cNvSpPr/>
      </dsp:nvSpPr>
      <dsp:spPr>
        <a:xfrm>
          <a:off x="0" y="5444761"/>
          <a:ext cx="6912527"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A3845EE-63F0-4F79-A6B5-C57962841FA2}">
      <dsp:nvSpPr>
        <dsp:cNvPr id="0" name=""/>
        <dsp:cNvSpPr/>
      </dsp:nvSpPr>
      <dsp:spPr>
        <a:xfrm>
          <a:off x="0" y="5444761"/>
          <a:ext cx="6912527" cy="10883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lvl="0" algn="ctr" defTabSz="1244600" rtl="1">
            <a:lnSpc>
              <a:spcPct val="90000"/>
            </a:lnSpc>
            <a:spcBef>
              <a:spcPct val="0"/>
            </a:spcBef>
            <a:spcAft>
              <a:spcPct val="35000"/>
            </a:spcAft>
          </a:pPr>
          <a:r>
            <a:rPr lang="he-IL" sz="2800" kern="1200" dirty="0">
              <a:latin typeface="Calibri" panose="020F0502020204030204" pitchFamily="34" charset="0"/>
              <a:cs typeface="Calibri" panose="020F0502020204030204" pitchFamily="34" charset="0"/>
            </a:rPr>
            <a:t>צביעת רמה בסיעוד הנובעת מבדידות</a:t>
          </a:r>
          <a:endParaRPr lang="en-US" sz="2800" kern="1200" dirty="0">
            <a:solidFill>
              <a:schemeClr val="tx1"/>
            </a:solidFill>
            <a:latin typeface="Calibri" panose="020F0502020204030204" pitchFamily="34" charset="0"/>
            <a:cs typeface="Calibri" panose="020F0502020204030204" pitchFamily="34" charset="0"/>
          </a:endParaRPr>
        </a:p>
      </dsp:txBody>
      <dsp:txXfrm>
        <a:off x="0" y="5444761"/>
        <a:ext cx="6912527" cy="1088313"/>
      </dsp:txXfrm>
    </dsp:sp>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8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sz="quarter" idx="1"/>
          </p:nvPr>
        </p:nvSpPr>
        <p:spPr>
          <a:xfrm>
            <a:off x="1588" y="0"/>
            <a:ext cx="2971800" cy="458788"/>
          </a:xfrm>
          <a:prstGeom prst="rect">
            <a:avLst/>
          </a:prstGeom>
        </p:spPr>
        <p:txBody>
          <a:bodyPr vert="horz" lIns="91440" tIns="45720" rIns="91440" bIns="45720" rtlCol="1"/>
          <a:lstStyle>
            <a:lvl1pPr algn="l">
              <a:defRPr sz="1200"/>
            </a:lvl1pPr>
          </a:lstStyle>
          <a:p>
            <a:fld id="{DD965A69-82C0-4442-9BB5-59E22823CB4C}" type="datetimeFigureOut">
              <a:rPr lang="he-IL" smtClean="0"/>
              <a:t>י"ב/אלול/תשפ"ד</a:t>
            </a:fld>
            <a:endParaRPr lang="he-IL"/>
          </a:p>
        </p:txBody>
      </p:sp>
      <p:sp>
        <p:nvSpPr>
          <p:cNvPr id="4" name="מציין מיקום של כותרת תחתונה 3"/>
          <p:cNvSpPr>
            <a:spLocks noGrp="1"/>
          </p:cNvSpPr>
          <p:nvPr>
            <p:ph type="ftr" sz="quarter" idx="2"/>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5" name="מציין מיקום של מספר שקופית 4"/>
          <p:cNvSpPr>
            <a:spLocks noGrp="1"/>
          </p:cNvSpPr>
          <p:nvPr>
            <p:ph type="sldNum" sz="quarter" idx="3"/>
          </p:nvPr>
        </p:nvSpPr>
        <p:spPr>
          <a:xfrm>
            <a:off x="1588" y="8685213"/>
            <a:ext cx="2971800" cy="458787"/>
          </a:xfrm>
          <a:prstGeom prst="rect">
            <a:avLst/>
          </a:prstGeom>
        </p:spPr>
        <p:txBody>
          <a:bodyPr vert="horz" lIns="91440" tIns="45720" rIns="91440" bIns="45720" rtlCol="1" anchor="b"/>
          <a:lstStyle>
            <a:lvl1pPr algn="l">
              <a:defRPr sz="1200"/>
            </a:lvl1pPr>
          </a:lstStyle>
          <a:p>
            <a:fld id="{F4C80FDF-E21C-4B95-8DFB-63C8FA336FE7}" type="slidenum">
              <a:rPr lang="he-IL" smtClean="0"/>
              <a:t>‹#›</a:t>
            </a:fld>
            <a:endParaRPr lang="he-IL"/>
          </a:p>
        </p:txBody>
      </p:sp>
    </p:spTree>
    <p:extLst>
      <p:ext uri="{BB962C8B-B14F-4D97-AF65-F5344CB8AC3E}">
        <p14:creationId xmlns:p14="http://schemas.microsoft.com/office/powerpoint/2010/main" val="955491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he-IL"/>
          </a:p>
        </p:txBody>
      </p:sp>
      <p:sp>
        <p:nvSpPr>
          <p:cNvPr id="3" name="מציין מיקום של תאריך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3D6F7011-7461-4C73-AF9E-38C4B06FEE13}" type="datetimeFigureOut">
              <a:rPr lang="he-IL" smtClean="0"/>
              <a:t>י"ב/אלול/תשפ"ד</a:t>
            </a:fld>
            <a:endParaRPr lang="he-IL"/>
          </a:p>
        </p:txBody>
      </p:sp>
      <p:sp>
        <p:nvSpPr>
          <p:cNvPr id="4" name="מציין מיקום של תמונת שקופית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he-IL"/>
          </a:p>
        </p:txBody>
      </p:sp>
      <p:sp>
        <p:nvSpPr>
          <p:cNvPr id="5" name="מציין מיקום של הערו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he-IL"/>
          </a:p>
        </p:txBody>
      </p:sp>
      <p:sp>
        <p:nvSpPr>
          <p:cNvPr id="7" name="מציין מיקום של מספר שקופית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5C3FB198-B410-4AA9-86F5-D09177D6400A}" type="slidenum">
              <a:rPr lang="he-IL" smtClean="0"/>
              <a:t>‹#›</a:t>
            </a:fld>
            <a:endParaRPr lang="he-IL"/>
          </a:p>
        </p:txBody>
      </p:sp>
    </p:spTree>
    <p:extLst>
      <p:ext uri="{BB962C8B-B14F-4D97-AF65-F5344CB8AC3E}">
        <p14:creationId xmlns:p14="http://schemas.microsoft.com/office/powerpoint/2010/main" val="175250484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a:t>
            </a:fld>
            <a:endParaRPr lang="he-IL"/>
          </a:p>
        </p:txBody>
      </p:sp>
    </p:spTree>
    <p:extLst>
      <p:ext uri="{BB962C8B-B14F-4D97-AF65-F5344CB8AC3E}">
        <p14:creationId xmlns:p14="http://schemas.microsoft.com/office/powerpoint/2010/main" val="460412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ישראל מתקדמת ביחס לעולם המערבי גם בעבר וגם כיום (בריק)</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a:t>
            </a:fld>
            <a:endParaRPr lang="he-IL"/>
          </a:p>
        </p:txBody>
      </p:sp>
    </p:spTree>
    <p:extLst>
      <p:ext uri="{BB962C8B-B14F-4D97-AF65-F5344CB8AC3E}">
        <p14:creationId xmlns:p14="http://schemas.microsoft.com/office/powerpoint/2010/main" val="340918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a:t>
            </a:fld>
            <a:endParaRPr lang="he-IL"/>
          </a:p>
        </p:txBody>
      </p:sp>
    </p:spTree>
    <p:extLst>
      <p:ext uri="{BB962C8B-B14F-4D97-AF65-F5344CB8AC3E}">
        <p14:creationId xmlns:p14="http://schemas.microsoft.com/office/powerpoint/2010/main" val="4179732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r>
              <a:rPr lang="he-IL" b="1" dirty="0"/>
              <a:t>הסיבות העיקריות:</a:t>
            </a:r>
          </a:p>
          <a:p>
            <a:pPr lvl="0">
              <a:spcBef>
                <a:spcPts val="0"/>
              </a:spcBef>
              <a:buNone/>
            </a:pPr>
            <a:r>
              <a:rPr lang="he-IL" dirty="0"/>
              <a:t>יותר זקנים</a:t>
            </a:r>
          </a:p>
          <a:p>
            <a:pPr lvl="0">
              <a:spcBef>
                <a:spcPts val="0"/>
              </a:spcBef>
              <a:buNone/>
            </a:pPr>
            <a:r>
              <a:rPr lang="he-IL" dirty="0"/>
              <a:t>הרפורמה</a:t>
            </a:r>
          </a:p>
          <a:p>
            <a:pPr lvl="0">
              <a:spcBef>
                <a:spcPts val="0"/>
              </a:spcBef>
              <a:buNone/>
            </a:pPr>
            <a:r>
              <a:rPr lang="he-IL" dirty="0"/>
              <a:t>הכרה מורחבת</a:t>
            </a:r>
          </a:p>
          <a:p>
            <a:pPr lvl="0">
              <a:spcBef>
                <a:spcPts val="0"/>
              </a:spcBef>
              <a:buNone/>
            </a:pPr>
            <a:r>
              <a:rPr lang="he-IL" dirty="0"/>
              <a:t>תמריץ</a:t>
            </a:r>
            <a:r>
              <a:rPr lang="he-IL" baseline="0" dirty="0"/>
              <a:t> שלילי לאדם ולחברות</a:t>
            </a:r>
            <a:endParaRPr dirty="0"/>
          </a:p>
        </p:txBody>
      </p:sp>
    </p:spTree>
    <p:extLst>
      <p:ext uri="{BB962C8B-B14F-4D97-AF65-F5344CB8AC3E}">
        <p14:creationId xmlns:p14="http://schemas.microsoft.com/office/powerpoint/2010/main" val="2987474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a:t>
            </a:r>
            <a:r>
              <a:rPr lang="he-IL" baseline="0" dirty="0"/>
              <a:t> התפעולי בין הגופים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a:t>
            </a:fld>
            <a:endParaRPr lang="he-IL"/>
          </a:p>
        </p:txBody>
      </p:sp>
    </p:spTree>
    <p:extLst>
      <p:ext uri="{BB962C8B-B14F-4D97-AF65-F5344CB8AC3E}">
        <p14:creationId xmlns:p14="http://schemas.microsoft.com/office/powerpoint/2010/main" val="3645945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זה הברדק ברמת האזרח הוותיק וצרכיו</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a:t>
            </a:fld>
            <a:endParaRPr lang="he-IL"/>
          </a:p>
        </p:txBody>
      </p:sp>
    </p:spTree>
    <p:extLst>
      <p:ext uri="{BB962C8B-B14F-4D97-AF65-F5344CB8AC3E}">
        <p14:creationId xmlns:p14="http://schemas.microsoft.com/office/powerpoint/2010/main" val="480680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7</a:t>
            </a:fld>
            <a:endParaRPr lang="he-IL"/>
          </a:p>
        </p:txBody>
      </p:sp>
    </p:spTree>
    <p:extLst>
      <p:ext uri="{BB962C8B-B14F-4D97-AF65-F5344CB8AC3E}">
        <p14:creationId xmlns:p14="http://schemas.microsoft.com/office/powerpoint/2010/main" val="31790492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8</a:t>
            </a:fld>
            <a:endParaRPr lang="he-IL"/>
          </a:p>
        </p:txBody>
      </p:sp>
    </p:spTree>
    <p:extLst>
      <p:ext uri="{BB962C8B-B14F-4D97-AF65-F5344CB8AC3E}">
        <p14:creationId xmlns:p14="http://schemas.microsoft.com/office/powerpoint/2010/main" val="1797330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9</a:t>
            </a:fld>
            <a:endParaRPr lang="he-IL"/>
          </a:p>
        </p:txBody>
      </p:sp>
    </p:spTree>
    <p:extLst>
      <p:ext uri="{BB962C8B-B14F-4D97-AF65-F5344CB8AC3E}">
        <p14:creationId xmlns:p14="http://schemas.microsoft.com/office/powerpoint/2010/main" val="40835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indent="0" algn="just">
              <a:lnSpc>
                <a:spcPct val="170000"/>
              </a:lnSpc>
              <a:buFont typeface="Arial" panose="020B0604020202020204" pitchFamily="34" charset="0"/>
              <a:buNone/>
            </a:pPr>
            <a:r>
              <a:rPr lang="he-IL" sz="1200" b="1" u="none" dirty="0">
                <a:latin typeface="Tahoma" panose="020B0604030504040204" pitchFamily="34" charset="0"/>
                <a:ea typeface="Tahoma" panose="020B0604030504040204" pitchFamily="34" charset="0"/>
                <a:cs typeface="Tahoma" panose="020B0604030504040204" pitchFamily="34" charset="0"/>
              </a:rPr>
              <a:t>41%+22%=63% בכסף</a:t>
            </a:r>
          </a:p>
          <a:p>
            <a:pPr marL="0" indent="0" algn="just">
              <a:lnSpc>
                <a:spcPct val="170000"/>
              </a:lnSpc>
              <a:buFont typeface="Arial" panose="020B0604020202020204" pitchFamily="34" charset="0"/>
              <a:buNone/>
            </a:pPr>
            <a:r>
              <a:rPr lang="he-IL" sz="1200" b="1" u="sng" dirty="0">
                <a:latin typeface="Tahoma" panose="020B0604030504040204" pitchFamily="34" charset="0"/>
                <a:ea typeface="Tahoma" panose="020B0604030504040204" pitchFamily="34" charset="0"/>
                <a:cs typeface="Tahoma" panose="020B0604030504040204" pitchFamily="34" charset="0"/>
              </a:rPr>
              <a:t>הרפורמה ב2018:</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גמלה בכסף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ומעבר מ-3 רמות גמלה ל-6 רמות.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יחידות וכסף</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יותר הכרה ופחות בחינות פרטניות</a:t>
            </a:r>
          </a:p>
          <a:p>
            <a:pPr marL="171450" indent="-171450" algn="just">
              <a:lnSpc>
                <a:spcPct val="170000"/>
              </a:lnSpc>
              <a:buFont typeface="Arial" panose="020B0604020202020204" pitchFamily="34" charset="0"/>
              <a:buChar char="•"/>
            </a:pPr>
            <a:r>
              <a:rPr lang="he-IL" sz="1200" b="1" dirty="0">
                <a:latin typeface="Tahoma" panose="020B0604030504040204" pitchFamily="34" charset="0"/>
                <a:ea typeface="Tahoma" panose="020B0604030504040204" pitchFamily="34" charset="0"/>
                <a:cs typeface="Tahoma" panose="020B0604030504040204" pitchFamily="34" charset="0"/>
              </a:rPr>
              <a:t>התאמת השירותים לצרכי הזכאים</a:t>
            </a:r>
          </a:p>
          <a:p>
            <a:pPr marL="171450" indent="-171450" algn="just">
              <a:lnSpc>
                <a:spcPct val="170000"/>
              </a:lnSpc>
              <a:buFont typeface="Arial" panose="020B0604020202020204" pitchFamily="34" charset="0"/>
              <a:buChar char="•"/>
            </a:pPr>
            <a:r>
              <a:rPr lang="he-IL" b="1" dirty="0"/>
              <a:t>בני משפחה מטפלים בשכר כחלק מהקורונה</a:t>
            </a:r>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10</a:t>
            </a:fld>
            <a:endParaRPr lang="he-IL"/>
          </a:p>
        </p:txBody>
      </p:sp>
    </p:spTree>
    <p:extLst>
      <p:ext uri="{BB962C8B-B14F-4D97-AF65-F5344CB8AC3E}">
        <p14:creationId xmlns:p14="http://schemas.microsoft.com/office/powerpoint/2010/main" val="20221899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11</a:t>
            </a:fld>
            <a:endParaRPr lang="he-IL"/>
          </a:p>
        </p:txBody>
      </p:sp>
    </p:spTree>
    <p:extLst>
      <p:ext uri="{BB962C8B-B14F-4D97-AF65-F5344CB8AC3E}">
        <p14:creationId xmlns:p14="http://schemas.microsoft.com/office/powerpoint/2010/main" val="16867431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00C68-1DE9-A80F-50E1-AD715A79BDB5}"/>
            </a:ext>
          </a:extLst>
        </p:cNvPr>
        <p:cNvGrpSpPr/>
        <p:nvPr/>
      </p:nvGrpSpPr>
      <p:grpSpPr>
        <a:xfrm>
          <a:off x="0" y="0"/>
          <a:ext cx="0" cy="0"/>
          <a:chOff x="0" y="0"/>
          <a:chExt cx="0" cy="0"/>
        </a:xfrm>
      </p:grpSpPr>
      <p:sp>
        <p:nvSpPr>
          <p:cNvPr id="2" name="מציין מיקום של תמונת שקופית 1">
            <a:extLst>
              <a:ext uri="{FF2B5EF4-FFF2-40B4-BE49-F238E27FC236}">
                <a16:creationId xmlns:a16="http://schemas.microsoft.com/office/drawing/2014/main" id="{0D569414-CAAA-F014-8B80-6CDBE37EA115}"/>
              </a:ext>
            </a:extLst>
          </p:cNvPr>
          <p:cNvSpPr>
            <a:spLocks noGrp="1" noRot="1" noChangeAspect="1"/>
          </p:cNvSpPr>
          <p:nvPr>
            <p:ph type="sldImg"/>
          </p:nvPr>
        </p:nvSpPr>
        <p:spPr/>
      </p:sp>
      <p:sp>
        <p:nvSpPr>
          <p:cNvPr id="3" name="מציין מיקום של הערות 2">
            <a:extLst>
              <a:ext uri="{FF2B5EF4-FFF2-40B4-BE49-F238E27FC236}">
                <a16:creationId xmlns:a16="http://schemas.microsoft.com/office/drawing/2014/main" id="{3F5E81DD-31DB-098B-A6CC-3DCC363E34DA}"/>
              </a:ext>
            </a:extLst>
          </p:cNvPr>
          <p:cNvSpPr>
            <a:spLocks noGrp="1"/>
          </p:cNvSpPr>
          <p:nvPr>
            <p:ph type="body" idx="1"/>
          </p:nvPr>
        </p:nvSpPr>
        <p:spPr/>
        <p:txBody>
          <a:bodyPr/>
          <a:lstStyle/>
          <a:p>
            <a:endParaRPr lang="he-IL" b="1" dirty="0"/>
          </a:p>
        </p:txBody>
      </p:sp>
      <p:sp>
        <p:nvSpPr>
          <p:cNvPr id="4" name="מציין מיקום של מספר שקופית 3">
            <a:extLst>
              <a:ext uri="{FF2B5EF4-FFF2-40B4-BE49-F238E27FC236}">
                <a16:creationId xmlns:a16="http://schemas.microsoft.com/office/drawing/2014/main" id="{6FB01D4C-E335-7B92-54BA-330655ED1DAB}"/>
              </a:ext>
            </a:extLst>
          </p:cNvPr>
          <p:cNvSpPr>
            <a:spLocks noGrp="1"/>
          </p:cNvSpPr>
          <p:nvPr>
            <p:ph type="sldNum" sz="quarter" idx="5"/>
          </p:nvPr>
        </p:nvSpPr>
        <p:spPr/>
        <p:txBody>
          <a:bodyPr/>
          <a:lstStyle/>
          <a:p>
            <a:fld id="{94496DA2-19AA-4126-B875-46CF6FBC0E07}" type="slidenum">
              <a:rPr lang="he-IL" smtClean="0"/>
              <a:t>12</a:t>
            </a:fld>
            <a:endParaRPr lang="he-IL"/>
          </a:p>
        </p:txBody>
      </p:sp>
    </p:spTree>
    <p:extLst>
      <p:ext uri="{BB962C8B-B14F-4D97-AF65-F5344CB8AC3E}">
        <p14:creationId xmlns:p14="http://schemas.microsoft.com/office/powerpoint/2010/main" val="5693310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13</a:t>
            </a:fld>
            <a:endParaRPr lang="he-IL"/>
          </a:p>
        </p:txBody>
      </p:sp>
    </p:spTree>
    <p:extLst>
      <p:ext uri="{BB962C8B-B14F-4D97-AF65-F5344CB8AC3E}">
        <p14:creationId xmlns:p14="http://schemas.microsoft.com/office/powerpoint/2010/main" val="22463521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14</a:t>
            </a:fld>
            <a:endParaRPr lang="he-IL"/>
          </a:p>
        </p:txBody>
      </p:sp>
    </p:spTree>
    <p:extLst>
      <p:ext uri="{BB962C8B-B14F-4D97-AF65-F5344CB8AC3E}">
        <p14:creationId xmlns:p14="http://schemas.microsoft.com/office/powerpoint/2010/main" val="12474601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מבחינת הנשים – צפויות לחיות בגיל 65 יותר זמן, 22.4 שנים (גיל 87.4), אבל שיעור נמוך יותר מהחיים שלהן בבריאות טובה: 10.6 שנים או 47%</a:t>
            </a:r>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8334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עכשיו לנתונים:</a:t>
            </a:r>
          </a:p>
          <a:p>
            <a:pPr algn="r" rtl="1"/>
            <a:r>
              <a:rPr lang="he-IL" dirty="0"/>
              <a:t>קודם כל – תוחלת חיים מחושבת בנפרד לגברים ולנשים (לדייק מדוע)</a:t>
            </a:r>
          </a:p>
          <a:p>
            <a:pPr algn="r" rtl="1"/>
            <a:r>
              <a:rPr lang="he-IL" dirty="0"/>
              <a:t>אנחנו יכולים לראות שבגיל 65, גבר ישראלי היה צפוי לחיות עוד כמעט 20 שנה. מהם 11.2 שנים בבריאות (כלומר ללא מוגבלות) ועד 8.7 שנים במוגבלות. </a:t>
            </a:r>
          </a:p>
          <a:p>
            <a:pPr algn="r" rtl="1"/>
            <a:r>
              <a:rPr lang="he-IL" dirty="0"/>
              <a:t>במבט </a:t>
            </a:r>
            <a:r>
              <a:rPr lang="he-IL" dirty="0" err="1"/>
              <a:t>הסטורי</a:t>
            </a:r>
            <a:r>
              <a:rPr lang="he-IL" dirty="0"/>
              <a:t> אנחנו רואים שיש עליה קלה גם בתוחלת החיים  בכלל וגם בתוחלת החיים הבריאה. </a:t>
            </a:r>
          </a:p>
          <a:p>
            <a:pPr algn="r" rtl="1"/>
            <a:endParaRPr lang="he-IL" dirty="0"/>
          </a:p>
          <a:p>
            <a:pPr algn="r" rtl="1"/>
            <a:r>
              <a:rPr lang="he-IL" dirty="0"/>
              <a:t>את המדד של שנות החיים הבריאים, אנחנו מציעים להציג כאחוז השנים הבריאות בגיל 65 – כלומר מדד שישקף את כל הפרמטרים המוצגים כאן, ויציין את היחס בין השנים הבריאות לסך תוחלת החיים בגיל 65, ולציין גם את מספרן, על מנת שהדבר יהיה ברור. </a:t>
            </a:r>
          </a:p>
          <a:p>
            <a:pPr algn="r" rtl="1"/>
            <a:r>
              <a:rPr lang="he-IL" dirty="0"/>
              <a:t>כלומר גבר צפוי לחיות בגיל 65 11.2 שנים בבריאות טובה, וזה מהווה 56% מחייו </a:t>
            </a:r>
          </a:p>
          <a:p>
            <a:pPr algn="r" rtl="1"/>
            <a:r>
              <a:rPr lang="he-IL" dirty="0"/>
              <a:t>(אם זה מדכא אתכם, חכו שנגיע לנשים....)</a:t>
            </a:r>
          </a:p>
          <a:p>
            <a:pPr algn="r" rtl="1"/>
            <a:endParaRPr lang="he-IL" dirty="0"/>
          </a:p>
          <a:p>
            <a:pPr algn="r" rtl="1"/>
            <a:r>
              <a:rPr lang="he-IL" dirty="0"/>
              <a:t>במבט בין לאומי – אנחנו רואים את היתרון של הגברים בישראל מבחינת תוחלת החיים הגבוהה (2 כאן, 4 בעולם?), אבל גם את העובדה שרק קצת יותר מחצי מהחיים בזקנה הם בבריאות טובה.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42826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ADL</a:t>
            </a:r>
            <a:r>
              <a:rPr lang="en-US"/>
              <a:t> index () describes the number of limitations with activities of daily living. </a:t>
            </a:r>
            <a:r>
              <a:rPr lang="he-IL"/>
              <a:t> </a:t>
            </a:r>
          </a:p>
          <a:p>
            <a:r>
              <a:rPr lang="en-US" sz="1200" b="0" i="0" u="none" strike="noStrike" kern="1200">
                <a:solidFill>
                  <a:schemeClr val="tx1"/>
                </a:solidFill>
                <a:effectLst/>
                <a:latin typeface="+mn-lt"/>
                <a:ea typeface="+mn-ea"/>
                <a:cs typeface="+mn-cs"/>
              </a:rPr>
              <a:t>Dressing, including putting on shoes and socks</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Walking across a room</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Bathing or showering</a:t>
            </a:r>
            <a:endParaRPr lang="he-IL" sz="1200" b="0" i="0" u="none" strike="noStrike" kern="1200">
              <a:solidFill>
                <a:schemeClr val="tx1"/>
              </a:solidFill>
              <a:effectLst/>
              <a:latin typeface="+mn-lt"/>
              <a:ea typeface="+mn-ea"/>
              <a:cs typeface="+mn-cs"/>
            </a:endParaRPr>
          </a:p>
          <a:p>
            <a:r>
              <a:rPr lang="en-US"/>
              <a:t> </a:t>
            </a:r>
            <a:r>
              <a:rPr lang="en-US" sz="1200" b="0" i="0" u="none" strike="noStrike" kern="1200">
                <a:solidFill>
                  <a:schemeClr val="tx1"/>
                </a:solidFill>
                <a:effectLst/>
                <a:latin typeface="+mn-lt"/>
                <a:ea typeface="+mn-ea"/>
                <a:cs typeface="+mn-cs"/>
              </a:rPr>
              <a:t>Eating, such as cutting up your food</a:t>
            </a:r>
            <a:r>
              <a:rPr lang="en-US"/>
              <a:t> </a:t>
            </a:r>
            <a:endParaRPr lang="he-IL"/>
          </a:p>
          <a:p>
            <a:r>
              <a:rPr lang="en-US" sz="1200" b="0" i="0" u="none" strike="noStrike" kern="1200">
                <a:solidFill>
                  <a:schemeClr val="tx1"/>
                </a:solidFill>
                <a:effectLst/>
                <a:latin typeface="+mn-lt"/>
                <a:ea typeface="+mn-ea"/>
                <a:cs typeface="+mn-cs"/>
              </a:rPr>
              <a:t>Getting in or out of bed</a:t>
            </a:r>
            <a:r>
              <a:rPr lang="en-US"/>
              <a:t> </a:t>
            </a:r>
            <a:endParaRPr lang="he-IL"/>
          </a:p>
          <a:p>
            <a:r>
              <a:rPr lang="en-US" sz="1200" b="0" i="0" u="none" strike="noStrike" kern="1200">
                <a:solidFill>
                  <a:schemeClr val="tx1"/>
                </a:solidFill>
                <a:effectLst/>
                <a:latin typeface="+mn-lt"/>
                <a:ea typeface="+mn-ea"/>
                <a:cs typeface="+mn-cs"/>
              </a:rPr>
              <a:t>Using the toilet, including getting up or down</a:t>
            </a:r>
            <a:r>
              <a:rPr lang="en-US"/>
              <a:t> </a:t>
            </a:r>
            <a:endParaRPr lang="he-IL"/>
          </a:p>
          <a:p>
            <a:endParaRPr lang="he-IL"/>
          </a:p>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1637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a:t>
            </a:r>
            <a:r>
              <a:rPr lang="en-US" b="1"/>
              <a:t>IADL</a:t>
            </a:r>
            <a:r>
              <a:rPr lang="en-US"/>
              <a:t> index (Lawton &amp; Brody, 1969) describes the number of limitations with instrumental activities of everyday life.</a:t>
            </a:r>
            <a:endParaRPr lang="he-IL"/>
          </a:p>
          <a:p>
            <a:r>
              <a:rPr lang="en-US" sz="1200" b="0" i="0" u="none" strike="noStrike" kern="1200">
                <a:solidFill>
                  <a:schemeClr val="tx1"/>
                </a:solidFill>
                <a:effectLst/>
                <a:latin typeface="+mn-lt"/>
                <a:ea typeface="+mn-ea"/>
                <a:cs typeface="+mn-cs"/>
              </a:rPr>
              <a:t>Using a map to figure out how to get around in a strange place</a:t>
            </a:r>
            <a:r>
              <a:rPr lang="en-US"/>
              <a:t> </a:t>
            </a:r>
            <a:endParaRPr lang="he-IL"/>
          </a:p>
          <a:p>
            <a:r>
              <a:rPr lang="en-US" sz="1200" b="0" i="0" u="none" strike="noStrike" kern="1200">
                <a:solidFill>
                  <a:schemeClr val="tx1"/>
                </a:solidFill>
                <a:effectLst/>
                <a:latin typeface="+mn-lt"/>
                <a:ea typeface="+mn-ea"/>
                <a:cs typeface="+mn-cs"/>
              </a:rPr>
              <a:t>Preparing a hot meal</a:t>
            </a:r>
            <a:r>
              <a:rPr lang="en-US"/>
              <a:t> </a:t>
            </a:r>
            <a:endParaRPr lang="he-IL"/>
          </a:p>
          <a:p>
            <a:r>
              <a:rPr lang="en-US" sz="1200" b="0" i="0" u="none" strike="noStrike" kern="1200">
                <a:solidFill>
                  <a:schemeClr val="tx1"/>
                </a:solidFill>
                <a:effectLst/>
                <a:latin typeface="+mn-lt"/>
                <a:ea typeface="+mn-ea"/>
                <a:cs typeface="+mn-cs"/>
              </a:rPr>
              <a:t>Shopping for groceries</a:t>
            </a:r>
            <a:r>
              <a:rPr lang="en-US"/>
              <a:t> </a:t>
            </a:r>
            <a:endParaRPr lang="he-IL"/>
          </a:p>
          <a:p>
            <a:r>
              <a:rPr lang="en-US" sz="1200" b="0" i="0" u="none" strike="noStrike" kern="1200">
                <a:solidFill>
                  <a:schemeClr val="tx1"/>
                </a:solidFill>
                <a:effectLst/>
                <a:latin typeface="+mn-lt"/>
                <a:ea typeface="+mn-ea"/>
                <a:cs typeface="+mn-cs"/>
              </a:rPr>
              <a:t>Making telephone calls</a:t>
            </a:r>
            <a:r>
              <a:rPr lang="en-US"/>
              <a:t> </a:t>
            </a:r>
            <a:endParaRPr lang="he-IL"/>
          </a:p>
          <a:p>
            <a:r>
              <a:rPr lang="en-US" sz="1200" b="0" i="0" u="none" strike="noStrike" kern="1200">
                <a:solidFill>
                  <a:schemeClr val="tx1"/>
                </a:solidFill>
                <a:effectLst/>
                <a:latin typeface="+mn-lt"/>
                <a:ea typeface="+mn-ea"/>
                <a:cs typeface="+mn-cs"/>
              </a:rPr>
              <a:t>Taking medications</a:t>
            </a:r>
            <a:r>
              <a:rPr lang="en-US"/>
              <a:t> </a:t>
            </a:r>
            <a:endParaRPr lang="he-IL"/>
          </a:p>
          <a:p>
            <a:r>
              <a:rPr lang="en-US" sz="1200" b="0" i="0" u="none" strike="noStrike" kern="1200">
                <a:solidFill>
                  <a:schemeClr val="tx1"/>
                </a:solidFill>
                <a:effectLst/>
                <a:latin typeface="+mn-lt"/>
                <a:ea typeface="+mn-ea"/>
                <a:cs typeface="+mn-cs"/>
              </a:rPr>
              <a:t>Doing work around the house or garden</a:t>
            </a:r>
            <a:r>
              <a:rPr lang="en-US"/>
              <a:t> </a:t>
            </a:r>
            <a:endParaRPr lang="he-IL"/>
          </a:p>
          <a:p>
            <a:r>
              <a:rPr lang="en-US" sz="1200" b="0" i="0" u="none" strike="noStrike" kern="1200">
                <a:solidFill>
                  <a:schemeClr val="tx1"/>
                </a:solidFill>
                <a:effectLst/>
                <a:latin typeface="+mn-lt"/>
                <a:ea typeface="+mn-ea"/>
                <a:cs typeface="+mn-cs"/>
              </a:rPr>
              <a:t>Managing money, such as paying bills and keeping track of expenses</a:t>
            </a:r>
            <a:r>
              <a:rPr lang="en-US"/>
              <a:t> </a:t>
            </a:r>
            <a:endParaRPr lang="he-IL"/>
          </a:p>
          <a:p>
            <a:r>
              <a:rPr lang="en-US" sz="1200" b="0" i="0" u="none" strike="noStrike" kern="1200">
                <a:solidFill>
                  <a:schemeClr val="tx1"/>
                </a:solidFill>
                <a:effectLst/>
                <a:latin typeface="+mn-lt"/>
                <a:ea typeface="+mn-ea"/>
                <a:cs typeface="+mn-cs"/>
              </a:rPr>
              <a:t>Leaving the house independently and accessing transportation services</a:t>
            </a:r>
            <a:r>
              <a:rPr lang="en-US"/>
              <a:t> </a:t>
            </a:r>
            <a:endParaRPr lang="he-IL"/>
          </a:p>
          <a:p>
            <a:r>
              <a:rPr lang="en-US" sz="1200" b="0" i="0" u="none" strike="noStrike" kern="1200">
                <a:solidFill>
                  <a:schemeClr val="tx1"/>
                </a:solidFill>
                <a:effectLst/>
                <a:latin typeface="+mn-lt"/>
                <a:ea typeface="+mn-ea"/>
                <a:cs typeface="+mn-cs"/>
              </a:rPr>
              <a:t>Doing personal laundry</a:t>
            </a:r>
            <a:r>
              <a:rPr lang="en-US"/>
              <a:t>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1EB6BA5-4224-403F-B410-475A648CF9C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68573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19</a:t>
            </a:fld>
            <a:endParaRPr lang="he-IL"/>
          </a:p>
        </p:txBody>
      </p:sp>
    </p:spTree>
    <p:extLst>
      <p:ext uri="{BB962C8B-B14F-4D97-AF65-F5344CB8AC3E}">
        <p14:creationId xmlns:p14="http://schemas.microsoft.com/office/powerpoint/2010/main" val="5435626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20</a:t>
            </a:fld>
            <a:endParaRPr lang="he-IL"/>
          </a:p>
        </p:txBody>
      </p:sp>
    </p:spTree>
    <p:extLst>
      <p:ext uri="{BB962C8B-B14F-4D97-AF65-F5344CB8AC3E}">
        <p14:creationId xmlns:p14="http://schemas.microsoft.com/office/powerpoint/2010/main" val="13247226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23</a:t>
            </a:fld>
            <a:endParaRPr lang="he-IL"/>
          </a:p>
        </p:txBody>
      </p:sp>
    </p:spTree>
    <p:extLst>
      <p:ext uri="{BB962C8B-B14F-4D97-AF65-F5344CB8AC3E}">
        <p14:creationId xmlns:p14="http://schemas.microsoft.com/office/powerpoint/2010/main" val="348203274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24</a:t>
            </a:fld>
            <a:endParaRPr lang="he-IL"/>
          </a:p>
        </p:txBody>
      </p:sp>
    </p:spTree>
    <p:extLst>
      <p:ext uri="{BB962C8B-B14F-4D97-AF65-F5344CB8AC3E}">
        <p14:creationId xmlns:p14="http://schemas.microsoft.com/office/powerpoint/2010/main" val="35445945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25</a:t>
            </a:fld>
            <a:endParaRPr lang="he-IL"/>
          </a:p>
        </p:txBody>
      </p:sp>
    </p:spTree>
    <p:extLst>
      <p:ext uri="{BB962C8B-B14F-4D97-AF65-F5344CB8AC3E}">
        <p14:creationId xmlns:p14="http://schemas.microsoft.com/office/powerpoint/2010/main" val="20220115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להזכיר בכמה מילים את הגרסה הראשונה והתנגדות </a:t>
            </a:r>
            <a:r>
              <a:rPr lang="he-IL" dirty="0" err="1"/>
              <a:t>בטל"א</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26</a:t>
            </a:fld>
            <a:endParaRPr lang="he-IL"/>
          </a:p>
        </p:txBody>
      </p:sp>
    </p:spTree>
    <p:extLst>
      <p:ext uri="{BB962C8B-B14F-4D97-AF65-F5344CB8AC3E}">
        <p14:creationId xmlns:p14="http://schemas.microsoft.com/office/powerpoint/2010/main" val="27390331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Shape 148"/>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9" name="Shape 149"/>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16321914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Shape 279"/>
          <p:cNvSpPr>
            <a:spLocks noGrp="1" noRot="1" noChangeAspect="1"/>
          </p:cNvSpPr>
          <p:nvPr>
            <p:ph type="sldImg" idx="2"/>
          </p:nvPr>
        </p:nvSpPr>
        <p:spPr>
          <a:xfrm>
            <a:off x="2649538" y="514350"/>
            <a:ext cx="4573587" cy="25717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0" name="Shape 280"/>
          <p:cNvSpPr txBox="1">
            <a:spLocks noGrp="1"/>
          </p:cNvSpPr>
          <p:nvPr>
            <p:ph type="body" idx="1"/>
          </p:nvPr>
        </p:nvSpPr>
        <p:spPr>
          <a:xfrm>
            <a:off x="987268" y="3257550"/>
            <a:ext cx="7898129" cy="3086100"/>
          </a:xfrm>
          <a:prstGeom prst="rect">
            <a:avLst/>
          </a:prstGeom>
        </p:spPr>
        <p:txBody>
          <a:bodyPr lIns="91425" tIns="91425" rIns="91425" bIns="91425" anchor="t" anchorCtr="0">
            <a:noAutofit/>
          </a:bodyPr>
          <a:lstStyle/>
          <a:p>
            <a:pPr lvl="0">
              <a:spcBef>
                <a:spcPts val="0"/>
              </a:spcBef>
              <a:buNone/>
            </a:pPr>
            <a:endParaRPr dirty="0"/>
          </a:p>
        </p:txBody>
      </p:sp>
    </p:spTree>
    <p:extLst>
      <p:ext uri="{BB962C8B-B14F-4D97-AF65-F5344CB8AC3E}">
        <p14:creationId xmlns:p14="http://schemas.microsoft.com/office/powerpoint/2010/main" val="41737433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שירותי רווחה ובריאות ניתנים</a:t>
            </a:r>
            <a:r>
              <a:rPr lang="he-IL" baseline="0" dirty="0"/>
              <a:t> כמעט בחינם, בגיל 80 נצפה שהזקן יתחיל לשלם?</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29</a:t>
            </a:fld>
            <a:endParaRPr lang="he-IL"/>
          </a:p>
        </p:txBody>
      </p:sp>
    </p:spTree>
    <p:extLst>
      <p:ext uri="{BB962C8B-B14F-4D97-AF65-F5344CB8AC3E}">
        <p14:creationId xmlns:p14="http://schemas.microsoft.com/office/powerpoint/2010/main" val="418636145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30</a:t>
            </a:fld>
            <a:endParaRPr lang="he-IL"/>
          </a:p>
        </p:txBody>
      </p:sp>
    </p:spTree>
    <p:extLst>
      <p:ext uri="{BB962C8B-B14F-4D97-AF65-F5344CB8AC3E}">
        <p14:creationId xmlns:p14="http://schemas.microsoft.com/office/powerpoint/2010/main" val="35087274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31</a:t>
            </a:fld>
            <a:endParaRPr lang="he-IL"/>
          </a:p>
        </p:txBody>
      </p:sp>
    </p:spTree>
    <p:extLst>
      <p:ext uri="{BB962C8B-B14F-4D97-AF65-F5344CB8AC3E}">
        <p14:creationId xmlns:p14="http://schemas.microsoft.com/office/powerpoint/2010/main" val="25934988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32</a:t>
            </a:fld>
            <a:endParaRPr lang="he-IL"/>
          </a:p>
        </p:txBody>
      </p:sp>
    </p:spTree>
    <p:extLst>
      <p:ext uri="{BB962C8B-B14F-4D97-AF65-F5344CB8AC3E}">
        <p14:creationId xmlns:p14="http://schemas.microsoft.com/office/powerpoint/2010/main" val="27237904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b="1" dirty="0"/>
              <a:t>לחלק</a:t>
            </a:r>
            <a:r>
              <a:rPr lang="he-IL" b="1" baseline="0" dirty="0"/>
              <a:t> הזה חיכיתי שנתיים- האני מאמין שלי</a:t>
            </a:r>
            <a:endParaRPr lang="he-IL" b="1"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33</a:t>
            </a:fld>
            <a:endParaRPr lang="he-IL"/>
          </a:p>
        </p:txBody>
      </p:sp>
    </p:spTree>
    <p:extLst>
      <p:ext uri="{BB962C8B-B14F-4D97-AF65-F5344CB8AC3E}">
        <p14:creationId xmlns:p14="http://schemas.microsoft.com/office/powerpoint/2010/main" val="23223429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34</a:t>
            </a:fld>
            <a:endParaRPr lang="he-IL"/>
          </a:p>
        </p:txBody>
      </p:sp>
    </p:spTree>
    <p:extLst>
      <p:ext uri="{BB962C8B-B14F-4D97-AF65-F5344CB8AC3E}">
        <p14:creationId xmlns:p14="http://schemas.microsoft.com/office/powerpoint/2010/main" val="41310442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Tree>
    <p:extLst>
      <p:ext uri="{BB962C8B-B14F-4D97-AF65-F5344CB8AC3E}">
        <p14:creationId xmlns:p14="http://schemas.microsoft.com/office/powerpoint/2010/main" val="32255199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he-IL" dirty="0"/>
              <a:t>תגבור עם כ50</a:t>
            </a:r>
            <a:r>
              <a:rPr lang="he-IL" baseline="0" dirty="0"/>
              <a:t> קהילות תומכות, מטב עם 16 ולאחר מכן </a:t>
            </a:r>
            <a:r>
              <a:rPr lang="he-IL" baseline="0" dirty="0" err="1"/>
              <a:t>סקיולייף</a:t>
            </a:r>
            <a:r>
              <a:rPr lang="he-IL" baseline="0" dirty="0"/>
              <a:t> ואנוש. </a:t>
            </a:r>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A5FC9C1F-3FD7-4D5E-8930-577CB67D6D4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9385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37</a:t>
            </a:fld>
            <a:endParaRPr lang="he-IL"/>
          </a:p>
        </p:txBody>
      </p:sp>
    </p:spTree>
    <p:extLst>
      <p:ext uri="{BB962C8B-B14F-4D97-AF65-F5344CB8AC3E}">
        <p14:creationId xmlns:p14="http://schemas.microsoft.com/office/powerpoint/2010/main" val="34572446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38</a:t>
            </a:fld>
            <a:endParaRPr lang="he-IL"/>
          </a:p>
        </p:txBody>
      </p:sp>
    </p:spTree>
    <p:extLst>
      <p:ext uri="{BB962C8B-B14F-4D97-AF65-F5344CB8AC3E}">
        <p14:creationId xmlns:p14="http://schemas.microsoft.com/office/powerpoint/2010/main" val="28969144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39</a:t>
            </a:fld>
            <a:endParaRPr lang="he-IL"/>
          </a:p>
        </p:txBody>
      </p:sp>
    </p:spTree>
    <p:extLst>
      <p:ext uri="{BB962C8B-B14F-4D97-AF65-F5344CB8AC3E}">
        <p14:creationId xmlns:p14="http://schemas.microsoft.com/office/powerpoint/2010/main" val="32299957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1200" dirty="0">
                <a:solidFill>
                  <a:srgbClr val="262626"/>
                </a:solidFill>
                <a:effectLst/>
                <a:ea typeface="Calibri" panose="020F0502020204030204" pitchFamily="34" charset="0"/>
                <a:cs typeface="David" panose="020E0502060401010101" pitchFamily="34" charset="-79"/>
              </a:rPr>
              <a:t>*(אפשר להגיד את הערה הזאת גם במצגות 14 ו15)בנושא הזקנה קיימת פרגמנטציה בין עבודת משרדי הממשלה סביב האוכלוסייה המזדקנת. בדומה לכל העולם, הפרגמנטציה הזאת נובעת מהבדלים בין הגורמים השונים כגון תחומי אחריות, גישות ותפיסות מקצועיות, אמצעי התערבות, שפה מקצועית, תקציבים ועוד. כאמור</a:t>
            </a:r>
            <a:r>
              <a:rPr lang="he-IL" sz="1200" u="sng" dirty="0">
                <a:solidFill>
                  <a:srgbClr val="008080"/>
                </a:solidFill>
                <a:effectLst/>
                <a:ea typeface="Calibri" panose="020F0502020204030204" pitchFamily="34" charset="0"/>
                <a:cs typeface="David" panose="020E0502060401010101" pitchFamily="34" charset="-79"/>
              </a:rPr>
              <a:t>,</a:t>
            </a:r>
            <a:r>
              <a:rPr lang="he-IL" sz="1200" dirty="0">
                <a:solidFill>
                  <a:srgbClr val="262626"/>
                </a:solidFill>
                <a:effectLst/>
                <a:ea typeface="Calibri" panose="020F0502020204030204" pitchFamily="34" charset="0"/>
                <a:cs typeface="David" panose="020E0502060401010101" pitchFamily="34" charset="-79"/>
              </a:rPr>
              <a:t> בישראל האחריות המיניסטריאלית לטיפול באזרחים הוותיקים נחלקת בין כמה משרדי ממשלה (</a:t>
            </a:r>
            <a:r>
              <a:rPr lang="he-IL" sz="1200" dirty="0">
                <a:solidFill>
                  <a:srgbClr val="262626"/>
                </a:solidFill>
                <a:effectLst/>
                <a:highlight>
                  <a:srgbClr val="FFFF00"/>
                </a:highlight>
                <a:ea typeface="Calibri" panose="020F0502020204030204" pitchFamily="34" charset="0"/>
                <a:cs typeface="David" panose="020E0502060401010101" pitchFamily="34" charset="-79"/>
              </a:rPr>
              <a:t>משרד העבודה, הרווחה והשירותים החברתיים, משרד הבריאות, המשרד לשוויון חברתי, המוסד לביטוח לאומי, משרד העלייה והקליטה ומשרד הבינוי והשיכון</a:t>
            </a:r>
            <a:r>
              <a:rPr lang="en-US" sz="1200" dirty="0">
                <a:solidFill>
                  <a:srgbClr val="262626"/>
                </a:solidFill>
                <a:effectLst/>
                <a:highlight>
                  <a:srgbClr val="FFFF00"/>
                </a:highligh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הפיצול קיים גם ברמה המקומית </a:t>
            </a:r>
            <a:r>
              <a:rPr lang="en-US" sz="1200" dirty="0">
                <a:solidFill>
                  <a:srgbClr val="262626"/>
                </a:solidFill>
                <a:effectLst/>
                <a:latin typeface="David" panose="020E0502060401010101" pitchFamily="34" charset="-79"/>
                <a:ea typeface="Calibri" panose="020F0502020204030204" pitchFamily="34" charset="0"/>
              </a:rPr>
              <a:t>–</a:t>
            </a:r>
            <a:r>
              <a:rPr lang="he-IL" sz="1200" dirty="0">
                <a:solidFill>
                  <a:srgbClr val="262626"/>
                </a:solidFill>
                <a:effectLst/>
                <a:latin typeface="David" panose="020E0502060401010101" pitchFamily="34" charset="-79"/>
                <a:ea typeface="Calibri" panose="020F0502020204030204" pitchFamily="34" charset="0"/>
              </a:rPr>
              <a:t> בין קופות החולים, המחלקות לשירותים חברתיים ברשויות, המוסד לביטוח לאומי ועוד</a:t>
            </a:r>
            <a:r>
              <a:rPr lang="en-US" sz="1200" dirty="0">
                <a:solidFill>
                  <a:srgbClr val="262626"/>
                </a:solidFill>
                <a:effectLst/>
                <a:latin typeface="David" panose="020E0502060401010101" pitchFamily="34" charset="-79"/>
                <a:ea typeface="Calibri" panose="020F0502020204030204" pitchFamily="34" charset="0"/>
              </a:rPr>
              <a:t>.</a:t>
            </a:r>
            <a:r>
              <a:rPr lang="he-IL" sz="1200" strike="sngStrike" dirty="0">
                <a:solidFill>
                  <a:srgbClr val="FF0000"/>
                </a:solidFill>
                <a:effectLst/>
                <a:latin typeface="David" panose="020E0502060401010101" pitchFamily="34" charset="-79"/>
                <a:ea typeface="Calibri" panose="020F0502020204030204" pitchFamily="34" charset="0"/>
              </a:rPr>
              <a:t> </a:t>
            </a:r>
            <a:r>
              <a:rPr lang="he-IL" sz="1200" dirty="0">
                <a:solidFill>
                  <a:srgbClr val="262626"/>
                </a:solidFill>
                <a:effectLst/>
                <a:latin typeface="David" panose="020E0502060401010101" pitchFamily="34" charset="-79"/>
                <a:ea typeface="Calibri" panose="020F0502020204030204" pitchFamily="34" charset="0"/>
              </a:rPr>
              <a:t>הזקן ומשפחתו נאלצים להתרוצץ בין גופים שנותנים שירותים וטיפולים שונים על פי ההסדרים שנקבעו, ונאלצים להתמודד עם חוסר התיאום גם בנסיבות מורכבות יותר, למשל במצבים של הידרדרות תפקודית המצריכה התאמת שירותים חדשים לזקן על פי זכאותו. הכפילויות וחוסר התיאום גורמים למשק בזבוז משאבים ונזקים ראו למשל את הפיצול בנושא שירותי הסיעוד</a:t>
            </a:r>
            <a:endParaRPr lang="he-IL" dirty="0"/>
          </a:p>
          <a:p>
            <a:endParaRPr lang="he-IL" dirty="0"/>
          </a:p>
        </p:txBody>
      </p:sp>
      <p:sp>
        <p:nvSpPr>
          <p:cNvPr id="4" name="מציין מיקום של מספר שקופית 3"/>
          <p:cNvSpPr>
            <a:spLocks noGrp="1"/>
          </p:cNvSpPr>
          <p:nvPr>
            <p:ph type="sldNum" sz="quarter" idx="5"/>
          </p:nvPr>
        </p:nvSpPr>
        <p:spPr/>
        <p:txBody>
          <a:bodyPr/>
          <a:lstStyle/>
          <a:p>
            <a:fld id="{8BD3F25B-2F20-4A27-8530-8712146B00E4}" type="slidenum">
              <a:rPr lang="he-IL" smtClean="0"/>
              <a:t>40</a:t>
            </a:fld>
            <a:endParaRPr lang="he-IL" dirty="0"/>
          </a:p>
        </p:txBody>
      </p:sp>
    </p:spTree>
    <p:extLst>
      <p:ext uri="{BB962C8B-B14F-4D97-AF65-F5344CB8AC3E}">
        <p14:creationId xmlns:p14="http://schemas.microsoft.com/office/powerpoint/2010/main" val="184473643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pPr algn="r"/>
            <a:r>
              <a:rPr lang="he-IL" dirty="0"/>
              <a:t>דרך שלושה צירי מפתח</a:t>
            </a:r>
          </a:p>
        </p:txBody>
      </p:sp>
      <p:sp>
        <p:nvSpPr>
          <p:cNvPr id="4" name="מציין מיקום של מספר שקופית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D96B088-BEEC-4145-AEDC-27EC65BEFD4A}" type="slidenum">
              <a:rPr kumimoji="0" lang="en-IL"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L"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7009569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en-US" dirty="0"/>
              <a:t>80% </a:t>
            </a:r>
            <a:r>
              <a:rPr lang="en-US" baseline="0" dirty="0"/>
              <a:t> </a:t>
            </a:r>
            <a:r>
              <a:rPr lang="he-IL" baseline="0" dirty="0"/>
              <a:t>מהבריאות בקהילה</a:t>
            </a:r>
            <a:endParaRPr lang="he-IL" dirty="0"/>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42</a:t>
            </a:fld>
            <a:endParaRPr lang="he-IL"/>
          </a:p>
        </p:txBody>
      </p:sp>
    </p:spTree>
    <p:extLst>
      <p:ext uri="{BB962C8B-B14F-4D97-AF65-F5344CB8AC3E}">
        <p14:creationId xmlns:p14="http://schemas.microsoft.com/office/powerpoint/2010/main" val="13906535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B0BFE6C6-84E2-6FAF-5BFB-ECA910DE7C5B}"/>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E1DC9C91-9730-007E-1D53-4405580CB5FD}"/>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DD10A8BA-1919-9A10-2410-955B5242AA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673589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544B234C-4CBE-BCBB-B618-C006F511D26C}"/>
            </a:ext>
          </a:extLst>
        </p:cNvPr>
        <p:cNvGrpSpPr/>
        <p:nvPr/>
      </p:nvGrpSpPr>
      <p:grpSpPr>
        <a:xfrm>
          <a:off x="0" y="0"/>
          <a:ext cx="0" cy="0"/>
          <a:chOff x="0" y="0"/>
          <a:chExt cx="0" cy="0"/>
        </a:xfrm>
      </p:grpSpPr>
      <p:sp>
        <p:nvSpPr>
          <p:cNvPr id="95" name="Google Shape;95;p34:notes">
            <a:extLst>
              <a:ext uri="{FF2B5EF4-FFF2-40B4-BE49-F238E27FC236}">
                <a16:creationId xmlns:a16="http://schemas.microsoft.com/office/drawing/2014/main" id="{5005AE9E-BC9A-21FC-03EE-EB9AF94EFBC7}"/>
              </a:ext>
            </a:extLst>
          </p:cNvPr>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algn="r" rtl="1">
              <a:lnSpc>
                <a:spcPct val="150000"/>
              </a:lnSpc>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כחלק מהביזור המשרד ייתן ערך מוסף לעבודת הרשויות המקומיות:</a:t>
            </a:r>
          </a:p>
          <a:p>
            <a:pPr algn="r" rtl="1">
              <a:lnSpc>
                <a:spcPct val="150000"/>
              </a:lnSpc>
              <a:defRPr/>
            </a:pPr>
            <a:endParaRPr lang="he-IL">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כלים מבוססי דאטה לעבודה מיטבית שמאפשרים לדייק את הטיפול בפרט </a:t>
            </a:r>
          </a:p>
          <a:p>
            <a:pPr marL="285750" indent="-285750" algn="r" rtl="1">
              <a:lnSpc>
                <a:spcPct val="150000"/>
              </a:lnSpc>
              <a:buFont typeface="Arial" panose="020B0604020202020204" pitchFamily="34" charset="0"/>
              <a:buChar char="•"/>
              <a:defRPr/>
            </a:pPr>
            <a:r>
              <a:rPr lang="he-IL">
                <a:solidFill>
                  <a:schemeClr val="tx1">
                    <a:lumMod val="65000"/>
                    <a:lumOff val="35000"/>
                  </a:schemeClr>
                </a:solidFill>
                <a:highlight>
                  <a:srgbClr val="FFFF00"/>
                </a:highlight>
                <a:latin typeface="Almoni Neue DL 4.0 AAA" panose="00000500000000000000" pitchFamily="50" charset="-79"/>
                <a:cs typeface="Almoni Neue DL 4.0 AAA" panose="00000500000000000000" pitchFamily="50" charset="-79"/>
              </a:rPr>
              <a:t>תכנון תקציבי מבוזר </a:t>
            </a:r>
          </a:p>
          <a:p>
            <a:pPr marL="0" lvl="0" indent="0" algn="l" rtl="0">
              <a:lnSpc>
                <a:spcPct val="117999"/>
              </a:lnSpc>
              <a:spcBef>
                <a:spcPts val="0"/>
              </a:spcBef>
              <a:spcAft>
                <a:spcPts val="0"/>
              </a:spcAft>
              <a:buSzPts val="1400"/>
              <a:buNone/>
            </a:pPr>
            <a:endParaRPr/>
          </a:p>
        </p:txBody>
      </p:sp>
      <p:sp>
        <p:nvSpPr>
          <p:cNvPr id="96" name="Google Shape;96;p34:notes">
            <a:extLst>
              <a:ext uri="{FF2B5EF4-FFF2-40B4-BE49-F238E27FC236}">
                <a16:creationId xmlns:a16="http://schemas.microsoft.com/office/drawing/2014/main" id="{9CE02FE1-49CE-6196-A266-32A3A8C774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extLst>
      <p:ext uri="{BB962C8B-B14F-4D97-AF65-F5344CB8AC3E}">
        <p14:creationId xmlns:p14="http://schemas.microsoft.com/office/powerpoint/2010/main" val="410207473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45</a:t>
            </a:fld>
            <a:endParaRPr lang="he-IL"/>
          </a:p>
        </p:txBody>
      </p:sp>
    </p:spTree>
    <p:extLst>
      <p:ext uri="{BB962C8B-B14F-4D97-AF65-F5344CB8AC3E}">
        <p14:creationId xmlns:p14="http://schemas.microsoft.com/office/powerpoint/2010/main" val="229732882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יש כבר פלטפורמה דיגיטלית שעובדת שעושה התאמה אישית על בסיס תפקוד באמצעות </a:t>
            </a:r>
            <a:r>
              <a:rPr lang="en-US" dirty="0"/>
              <a:t>AI</a:t>
            </a:r>
            <a:endParaRPr lang="he-IL" dirty="0"/>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46</a:t>
            </a:fld>
            <a:endParaRPr lang="he-IL"/>
          </a:p>
        </p:txBody>
      </p:sp>
    </p:spTree>
    <p:extLst>
      <p:ext uri="{BB962C8B-B14F-4D97-AF65-F5344CB8AC3E}">
        <p14:creationId xmlns:p14="http://schemas.microsoft.com/office/powerpoint/2010/main" val="12173465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88862D9-E127-438C-862D-D0EBBF3999FF}" type="slidenum">
              <a:rPr lang="en-IL" smtClean="0"/>
              <a:t>47</a:t>
            </a:fld>
            <a:endParaRPr lang="en-IL"/>
          </a:p>
        </p:txBody>
      </p:sp>
    </p:spTree>
    <p:extLst>
      <p:ext uri="{BB962C8B-B14F-4D97-AF65-F5344CB8AC3E}">
        <p14:creationId xmlns:p14="http://schemas.microsoft.com/office/powerpoint/2010/main" val="33161464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r" rtl="1"/>
            <a:r>
              <a:rPr lang="he-IL" dirty="0"/>
              <a:t>לציין שמדידה מתחילה מיעדים משותפים שאותם צריך למדוד על בסיס דאטה רב מערכתי (מערך </a:t>
            </a:r>
            <a:r>
              <a:rPr lang="he-IL" dirty="0" err="1"/>
              <a:t>הדיגיטל</a:t>
            </a:r>
            <a:r>
              <a:rPr lang="he-IL" dirty="0"/>
              <a:t> תומך)</a:t>
            </a:r>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16BF82-8EEB-4F35-9480-BAD7C861D47C}" type="slidenum">
              <a:rPr kumimoji="0" lang="he-IL" sz="1200" b="0" i="0" u="none" strike="noStrike" kern="1200" cap="none" spc="0" normalizeH="0" baseline="0" noProof="0" smtClean="0">
                <a:ln>
                  <a:noFill/>
                </a:ln>
                <a:solidFill>
                  <a:prstClr val="black"/>
                </a:solidFill>
                <a:effectLst/>
                <a:uLnTx/>
                <a:uFillTx/>
                <a:latin typeface="Calibri" panose="020F0502020204030204"/>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48</a:t>
            </a:fld>
            <a:endParaRPr kumimoji="0" lang="he-IL" sz="1200" b="0" i="0" u="none" strike="noStrike" kern="1200" cap="none" spc="0" normalizeH="0" baseline="0" noProof="0">
              <a:ln>
                <a:noFill/>
              </a:ln>
              <a:solidFill>
                <a:prstClr val="black"/>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293023371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he-IL"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B4F111D-1B66-4DA0-981B-C49F100C5A3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169217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50</a:t>
            </a:fld>
            <a:endParaRPr lang="he-IL"/>
          </a:p>
        </p:txBody>
      </p:sp>
    </p:spTree>
    <p:extLst>
      <p:ext uri="{BB962C8B-B14F-4D97-AF65-F5344CB8AC3E}">
        <p14:creationId xmlns:p14="http://schemas.microsoft.com/office/powerpoint/2010/main" val="20679703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r>
              <a:rPr lang="he-IL" dirty="0"/>
              <a:t>להוסיף על </a:t>
            </a:r>
            <a:r>
              <a:rPr lang="en-US" dirty="0"/>
              <a:t>KI</a:t>
            </a:r>
            <a:r>
              <a:rPr lang="he-IL" dirty="0"/>
              <a:t>, </a:t>
            </a:r>
            <a:r>
              <a:rPr lang="en-US" dirty="0"/>
              <a:t>EY</a:t>
            </a:r>
            <a:r>
              <a:rPr lang="he-IL" dirty="0"/>
              <a:t>, </a:t>
            </a:r>
          </a:p>
        </p:txBody>
      </p:sp>
      <p:sp>
        <p:nvSpPr>
          <p:cNvPr id="4" name="מציין מיקום של מספר שקופית 3"/>
          <p:cNvSpPr>
            <a:spLocks noGrp="1"/>
          </p:cNvSpPr>
          <p:nvPr>
            <p:ph type="sldNum" sz="quarter" idx="5"/>
          </p:nvPr>
        </p:nvSpPr>
        <p:spPr/>
        <p:txBody>
          <a:bodyPr/>
          <a:lstStyle/>
          <a:p>
            <a:fld id="{5C3FB198-B410-4AA9-86F5-D09177D6400A}" type="slidenum">
              <a:rPr lang="he-IL" smtClean="0"/>
              <a:t>51</a:t>
            </a:fld>
            <a:endParaRPr lang="he-IL"/>
          </a:p>
        </p:txBody>
      </p:sp>
    </p:spTree>
    <p:extLst>
      <p:ext uri="{BB962C8B-B14F-4D97-AF65-F5344CB8AC3E}">
        <p14:creationId xmlns:p14="http://schemas.microsoft.com/office/powerpoint/2010/main" val="41129368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52</a:t>
            </a:fld>
            <a:endParaRPr lang="he-IL"/>
          </a:p>
        </p:txBody>
      </p:sp>
    </p:spTree>
    <p:extLst>
      <p:ext uri="{BB962C8B-B14F-4D97-AF65-F5344CB8AC3E}">
        <p14:creationId xmlns:p14="http://schemas.microsoft.com/office/powerpoint/2010/main" val="414773652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53</a:t>
            </a:fld>
            <a:endParaRPr lang="he-IL"/>
          </a:p>
        </p:txBody>
      </p:sp>
    </p:spTree>
    <p:extLst>
      <p:ext uri="{BB962C8B-B14F-4D97-AF65-F5344CB8AC3E}">
        <p14:creationId xmlns:p14="http://schemas.microsoft.com/office/powerpoint/2010/main" val="9518705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54</a:t>
            </a:fld>
            <a:endParaRPr lang="he-IL"/>
          </a:p>
        </p:txBody>
      </p:sp>
    </p:spTree>
    <p:extLst>
      <p:ext uri="{BB962C8B-B14F-4D97-AF65-F5344CB8AC3E}">
        <p14:creationId xmlns:p14="http://schemas.microsoft.com/office/powerpoint/2010/main" val="271766593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55</a:t>
            </a:fld>
            <a:endParaRPr lang="he-IL"/>
          </a:p>
        </p:txBody>
      </p:sp>
    </p:spTree>
    <p:extLst>
      <p:ext uri="{BB962C8B-B14F-4D97-AF65-F5344CB8AC3E}">
        <p14:creationId xmlns:p14="http://schemas.microsoft.com/office/powerpoint/2010/main" val="318905965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56</a:t>
            </a:fld>
            <a:endParaRPr lang="he-IL"/>
          </a:p>
        </p:txBody>
      </p:sp>
    </p:spTree>
    <p:extLst>
      <p:ext uri="{BB962C8B-B14F-4D97-AF65-F5344CB8AC3E}">
        <p14:creationId xmlns:p14="http://schemas.microsoft.com/office/powerpoint/2010/main" val="99509507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57</a:t>
            </a:fld>
            <a:endParaRPr lang="he-IL"/>
          </a:p>
        </p:txBody>
      </p:sp>
    </p:spTree>
    <p:extLst>
      <p:ext uri="{BB962C8B-B14F-4D97-AF65-F5344CB8AC3E}">
        <p14:creationId xmlns:p14="http://schemas.microsoft.com/office/powerpoint/2010/main" val="28217597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58</a:t>
            </a:fld>
            <a:endParaRPr lang="he-IL"/>
          </a:p>
        </p:txBody>
      </p:sp>
    </p:spTree>
    <p:extLst>
      <p:ext uri="{BB962C8B-B14F-4D97-AF65-F5344CB8AC3E}">
        <p14:creationId xmlns:p14="http://schemas.microsoft.com/office/powerpoint/2010/main" val="32601261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59</a:t>
            </a:fld>
            <a:endParaRPr lang="he-IL"/>
          </a:p>
        </p:txBody>
      </p:sp>
    </p:spTree>
    <p:extLst>
      <p:ext uri="{BB962C8B-B14F-4D97-AF65-F5344CB8AC3E}">
        <p14:creationId xmlns:p14="http://schemas.microsoft.com/office/powerpoint/2010/main" val="39938326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60</a:t>
            </a:fld>
            <a:endParaRPr lang="he-IL"/>
          </a:p>
        </p:txBody>
      </p:sp>
    </p:spTree>
    <p:extLst>
      <p:ext uri="{BB962C8B-B14F-4D97-AF65-F5344CB8AC3E}">
        <p14:creationId xmlns:p14="http://schemas.microsoft.com/office/powerpoint/2010/main" val="205526211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61</a:t>
            </a:fld>
            <a:endParaRPr lang="he-IL"/>
          </a:p>
        </p:txBody>
      </p:sp>
    </p:spTree>
    <p:extLst>
      <p:ext uri="{BB962C8B-B14F-4D97-AF65-F5344CB8AC3E}">
        <p14:creationId xmlns:p14="http://schemas.microsoft.com/office/powerpoint/2010/main" val="15960462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5C3FB198-B410-4AA9-86F5-D09177D6400A}" type="slidenum">
              <a:rPr lang="he-IL" smtClean="0"/>
              <a:t>62</a:t>
            </a:fld>
            <a:endParaRPr lang="he-IL"/>
          </a:p>
        </p:txBody>
      </p:sp>
    </p:spTree>
    <p:extLst>
      <p:ext uri="{BB962C8B-B14F-4D97-AF65-F5344CB8AC3E}">
        <p14:creationId xmlns:p14="http://schemas.microsoft.com/office/powerpoint/2010/main" val="213401469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dirty="0"/>
          </a:p>
        </p:txBody>
      </p:sp>
      <p:sp>
        <p:nvSpPr>
          <p:cNvPr id="4" name="מציין מיקום של מספר שקופית 3"/>
          <p:cNvSpPr>
            <a:spLocks noGrp="1"/>
          </p:cNvSpPr>
          <p:nvPr>
            <p:ph type="sldNum" sz="quarter" idx="10"/>
          </p:nvPr>
        </p:nvSpPr>
        <p:spPr/>
        <p:txBody>
          <a:bodyPr/>
          <a:lstStyle/>
          <a:p>
            <a:fld id="{BD95B28A-238B-45FE-B003-AAAC4E3D8E8D}" type="slidenum">
              <a:rPr lang="he-IL" smtClean="0"/>
              <a:t>63</a:t>
            </a:fld>
            <a:endParaRPr lang="he-IL"/>
          </a:p>
        </p:txBody>
      </p:sp>
    </p:spTree>
    <p:extLst>
      <p:ext uri="{BB962C8B-B14F-4D97-AF65-F5344CB8AC3E}">
        <p14:creationId xmlns:p14="http://schemas.microsoft.com/office/powerpoint/2010/main" val="7467660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www.showeet.com/" TargetMode="External"/><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34355638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68607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1410213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691261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255005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218105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942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872304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4070092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903686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5782807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779481730"/>
      </p:ext>
    </p:extLst>
  </p:cSld>
  <p:clrMapOvr>
    <a:masterClrMapping/>
  </p:clrMapOvr>
  <p:transition spd="slow">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6549962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2983341703"/>
      </p:ext>
    </p:extLst>
  </p:cSld>
  <p:clrMapOvr>
    <a:masterClrMapping/>
  </p:clrMapOvr>
  <p:transition spd="slow">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35DA31B5-B3D5-4445-9A1F-F5FD45097EC7}"/>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19100" y="6476265"/>
            <a:ext cx="1051375" cy="231303"/>
          </a:xfrm>
          <a:prstGeom prst="rect">
            <a:avLst/>
          </a:prstGeom>
        </p:spPr>
      </p:pic>
      <p:pic>
        <p:nvPicPr>
          <p:cNvPr id="4" name="Picture 3" descr="A close-up of a puzzle&#10;&#10;Description automatically generated with low confidence">
            <a:extLst>
              <a:ext uri="{FF2B5EF4-FFF2-40B4-BE49-F238E27FC236}">
                <a16:creationId xmlns:a16="http://schemas.microsoft.com/office/drawing/2014/main" id="{CA03FEA0-7602-61DF-158B-FE49E7213223}"/>
              </a:ext>
            </a:extLst>
          </p:cNvPr>
          <p:cNvPicPr>
            <a:picLocks noChangeAspect="1"/>
          </p:cNvPicPr>
          <p:nvPr userDrawn="1"/>
        </p:nvPicPr>
        <p:blipFill>
          <a:blip r:embed="rId4">
            <a:lum bright="70000" contrast="-70000"/>
            <a:extLst>
              <a:ext uri="{28A0092B-C50C-407E-A947-70E740481C1C}">
                <a14:useLocalDpi xmlns:a14="http://schemas.microsoft.com/office/drawing/2010/main" val="0"/>
              </a:ext>
            </a:extLst>
          </a:blip>
          <a:stretch>
            <a:fillRect/>
          </a:stretch>
        </p:blipFill>
        <p:spPr>
          <a:xfrm>
            <a:off x="838200" y="0"/>
            <a:ext cx="9439024" cy="6858000"/>
          </a:xfrm>
          <a:prstGeom prst="rect">
            <a:avLst/>
          </a:prstGeom>
        </p:spPr>
      </p:pic>
    </p:spTree>
    <p:extLst>
      <p:ext uri="{BB962C8B-B14F-4D97-AF65-F5344CB8AC3E}">
        <p14:creationId xmlns:p14="http://schemas.microsoft.com/office/powerpoint/2010/main" val="1764514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כותרת וטקסט">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22" name="Title 1"/>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32" name="Content Placeholder 2"/>
          <p:cNvSpPr>
            <a:spLocks noGrp="1"/>
          </p:cNvSpPr>
          <p:nvPr>
            <p:ph sz="half" idx="1"/>
          </p:nvPr>
        </p:nvSpPr>
        <p:spPr>
          <a:xfrm>
            <a:off x="936168" y="1825625"/>
            <a:ext cx="9385267" cy="4351338"/>
          </a:xfrm>
        </p:spPr>
        <p:txBody>
          <a:bodyPr>
            <a:normAutofit/>
          </a:bodyPr>
          <a:lstStyle>
            <a:lvl1pPr marL="228600" indent="-228600">
              <a:lnSpc>
                <a:spcPct val="100000"/>
              </a:lnSpc>
              <a:buClr>
                <a:schemeClr val="accent3"/>
              </a:buClr>
              <a:buFontTx/>
              <a:buNone/>
              <a:defRPr sz="2800">
                <a:latin typeface="Calibri" panose="020F0502020204030204" pitchFamily="34" charset="0"/>
                <a:cs typeface="Calibri" panose="020F0502020204030204" pitchFamily="34" charset="0"/>
              </a:defRPr>
            </a:lvl1pPr>
            <a:lvl2pPr marL="685800" indent="-228600">
              <a:buClr>
                <a:schemeClr val="accent3"/>
              </a:buClr>
              <a:buFontTx/>
              <a:buNone/>
              <a:defRPr sz="2800">
                <a:latin typeface="Calibri" panose="020F0502020204030204" pitchFamily="34" charset="0"/>
                <a:cs typeface="Calibri" panose="020F0502020204030204" pitchFamily="34" charset="0"/>
              </a:defRPr>
            </a:lvl2pPr>
            <a:lvl3pPr marL="1143000" indent="-228600">
              <a:buClr>
                <a:schemeClr val="accent3"/>
              </a:buClr>
              <a:buFontTx/>
              <a:buNone/>
              <a:defRPr sz="2800">
                <a:latin typeface="Calibri" panose="020F0502020204030204" pitchFamily="34" charset="0"/>
                <a:cs typeface="Calibri" panose="020F0502020204030204" pitchFamily="34" charset="0"/>
              </a:defRPr>
            </a:lvl3pPr>
            <a:lvl4pPr marL="1600200" indent="-228600">
              <a:buClr>
                <a:schemeClr val="accent3"/>
              </a:buClr>
              <a:buFontTx/>
              <a:buNone/>
              <a:defRPr sz="2800">
                <a:latin typeface="Calibri" panose="020F0502020204030204" pitchFamily="34" charset="0"/>
                <a:cs typeface="Calibri" panose="020F0502020204030204" pitchFamily="34" charset="0"/>
              </a:defRPr>
            </a:lvl4pPr>
            <a:lvl5pPr marL="2057400" indent="-228600">
              <a:buClr>
                <a:schemeClr val="accent3"/>
              </a:buClr>
              <a:buFontTx/>
              <a:buNone/>
              <a:defRPr sz="2800">
                <a:latin typeface="Calibri" panose="020F0502020204030204" pitchFamily="34" charset="0"/>
                <a:cs typeface="Calibri" panose="020F0502020204030204" pitchFamily="34" charset="0"/>
              </a:defRPr>
            </a:lvl5pPr>
          </a:lstStyle>
          <a:p>
            <a:pPr lvl="0"/>
            <a:r>
              <a:rPr lang="en-US"/>
              <a:t>Click to edit Master text styles</a:t>
            </a:r>
          </a:p>
        </p:txBody>
      </p:sp>
      <p:sp>
        <p:nvSpPr>
          <p:cNvPr id="9" name="Rectangle 8">
            <a:extLst>
              <a:ext uri="{FF2B5EF4-FFF2-40B4-BE49-F238E27FC236}">
                <a16:creationId xmlns:a16="http://schemas.microsoft.com/office/drawing/2014/main" id="{2CBC173E-0F63-4469-837F-5F34A6BD1AC7}"/>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מלבן 15">
            <a:extLst>
              <a:ext uri="{FF2B5EF4-FFF2-40B4-BE49-F238E27FC236}">
                <a16:creationId xmlns:a16="http://schemas.microsoft.com/office/drawing/2014/main" id="{E5BE7D73-436E-45C1-97BA-BC7AEC0FFA8C}"/>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1" name="Picture 11">
            <a:extLst>
              <a:ext uri="{FF2B5EF4-FFF2-40B4-BE49-F238E27FC236}">
                <a16:creationId xmlns:a16="http://schemas.microsoft.com/office/drawing/2014/main" id="{B1CA9B66-42F2-4FD4-BBB3-D3758DE17508}"/>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20734219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כותרת ובולטים">
    <p:spTree>
      <p:nvGrpSpPr>
        <p:cNvPr id="1" name=""/>
        <p:cNvGrpSpPr/>
        <p:nvPr/>
      </p:nvGrpSpPr>
      <p:grpSpPr>
        <a:xfrm>
          <a:off x="0" y="0"/>
          <a:ext cx="0" cy="0"/>
          <a:chOff x="0" y="0"/>
          <a:chExt cx="0" cy="0"/>
        </a:xfrm>
      </p:grpSpPr>
      <p:sp>
        <p:nvSpPr>
          <p:cNvPr id="14" name="Rectangle 8">
            <a:extLst>
              <a:ext uri="{FF2B5EF4-FFF2-40B4-BE49-F238E27FC236}">
                <a16:creationId xmlns:a16="http://schemas.microsoft.com/office/drawing/2014/main" id="{7BDC0554-B7CA-4519-A16F-BED0F3478D5E}"/>
              </a:ext>
            </a:extLst>
          </p:cNvPr>
          <p:cNvSpPr/>
          <p:nvPr/>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6" name="מלבן 15"/>
          <p:cNvSpPr/>
          <p:nvPr/>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7" name="Picture 11">
            <a:extLst>
              <a:ext uri="{FF2B5EF4-FFF2-40B4-BE49-F238E27FC236}">
                <a16:creationId xmlns:a16="http://schemas.microsoft.com/office/drawing/2014/main" id="{0DBFB498-3E4F-4E94-826C-66872020B0A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
        <p:nvSpPr>
          <p:cNvPr id="19" name="Oval 10">
            <a:extLst>
              <a:ext uri="{FF2B5EF4-FFF2-40B4-BE49-F238E27FC236}">
                <a16:creationId xmlns:a16="http://schemas.microsoft.com/office/drawing/2014/main" id="{8EE77483-DAB6-4D01-B3AF-95B109F03143}"/>
              </a:ext>
            </a:extLst>
          </p:cNvPr>
          <p:cNvSpPr/>
          <p:nvPr/>
        </p:nvSpPr>
        <p:spPr>
          <a:xfrm>
            <a:off x="11437714" y="6233847"/>
            <a:ext cx="396000" cy="39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0" name="Slide Number Placeholder 5"/>
          <p:cNvSpPr txBox="1">
            <a:spLocks/>
          </p:cNvSpPr>
          <p:nvPr/>
        </p:nvSpPr>
        <p:spPr>
          <a:xfrm>
            <a:off x="11368976" y="6272886"/>
            <a:ext cx="533475" cy="365125"/>
          </a:xfrm>
          <a:prstGeom prst="rect">
            <a:avLst/>
          </a:prstGeom>
        </p:spPr>
        <p:txBody>
          <a:bodyPr/>
          <a:lstStyle>
            <a:defPPr>
              <a:defRPr lang="en-US"/>
            </a:defPPr>
            <a:lvl1pPr marL="0" algn="r" defTabSz="914400" rtl="1" eaLnBrk="1" latinLnBrk="0" hangingPunct="1">
              <a:defRPr sz="1600" kern="1200">
                <a:solidFill>
                  <a:srgbClr val="008DA8"/>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450A29C-FF3A-4789-B98E-12119F960C99}" type="slidenum">
              <a:rPr lang="en-US" sz="1400" smtClean="0">
                <a:solidFill>
                  <a:srgbClr val="424F58"/>
                </a:solidFill>
              </a:rPr>
              <a:pPr algn="ctr"/>
              <a:t>‹#›</a:t>
            </a:fld>
            <a:endParaRPr lang="en-US" sz="1400" dirty="0">
              <a:solidFill>
                <a:srgbClr val="424F58"/>
              </a:solidFill>
            </a:endParaRPr>
          </a:p>
        </p:txBody>
      </p:sp>
      <p:sp>
        <p:nvSpPr>
          <p:cNvPr id="11" name="Content Placeholder 3">
            <a:extLst>
              <a:ext uri="{FF2B5EF4-FFF2-40B4-BE49-F238E27FC236}">
                <a16:creationId xmlns:a16="http://schemas.microsoft.com/office/drawing/2014/main" id="{AC80F81E-ED1F-4F58-8295-592BD3D96A87}"/>
              </a:ext>
            </a:extLst>
          </p:cNvPr>
          <p:cNvSpPr>
            <a:spLocks noGrp="1"/>
          </p:cNvSpPr>
          <p:nvPr>
            <p:ph sz="half" idx="2"/>
          </p:nvPr>
        </p:nvSpPr>
        <p:spPr>
          <a:xfrm>
            <a:off x="936168" y="1822042"/>
            <a:ext cx="9385267" cy="4351719"/>
          </a:xfrm>
        </p:spPr>
        <p:txBody>
          <a:bodyPr tIns="46800"/>
          <a:lstStyle>
            <a:lvl1pPr indent="-288000">
              <a:lnSpc>
                <a:spcPts val="3360"/>
              </a:lnSpc>
              <a:defRPr sz="2800"/>
            </a:lvl1pPr>
            <a:lvl2pPr indent="-288000">
              <a:lnSpc>
                <a:spcPts val="3360"/>
              </a:lnSpc>
              <a:defRPr sz="2800"/>
            </a:lvl2pPr>
            <a:lvl3pPr indent="-288000">
              <a:lnSpc>
                <a:spcPts val="3360"/>
              </a:lnSpc>
              <a:defRPr sz="2800"/>
            </a:lvl3pPr>
            <a:lvl4pPr indent="-288000">
              <a:lnSpc>
                <a:spcPts val="3360"/>
              </a:lnSpc>
              <a:defRPr sz="2800"/>
            </a:lvl4pPr>
            <a:lvl5pPr indent="-288000">
              <a:lnSpc>
                <a:spcPts val="3360"/>
              </a:lnSpc>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dirty="0"/>
          </a:p>
        </p:txBody>
      </p:sp>
      <p:sp>
        <p:nvSpPr>
          <p:cNvPr id="9" name="Title 1">
            <a:extLst>
              <a:ext uri="{FF2B5EF4-FFF2-40B4-BE49-F238E27FC236}">
                <a16:creationId xmlns:a16="http://schemas.microsoft.com/office/drawing/2014/main" id="{E5723FDA-9090-43BA-A02E-EEE812C5A940}"/>
              </a:ext>
            </a:extLst>
          </p:cNvPr>
          <p:cNvSpPr>
            <a:spLocks noGrp="1"/>
          </p:cNvSpPr>
          <p:nvPr>
            <p:ph type="title"/>
          </p:nvPr>
        </p:nvSpPr>
        <p:spPr>
          <a:xfrm>
            <a:off x="936168" y="458070"/>
            <a:ext cx="9385267" cy="1325563"/>
          </a:xfrm>
        </p:spPr>
        <p:txBody>
          <a:bodyPr>
            <a:normAutofit/>
          </a:bodyPr>
          <a:lstStyle>
            <a:lvl1pPr>
              <a:lnSpc>
                <a:spcPct val="80000"/>
              </a:lnSpc>
              <a:defRPr sz="4800">
                <a:solidFill>
                  <a:schemeClr val="accent3"/>
                </a:solidFill>
                <a:latin typeface="Calibri" panose="020F0502020204030204" pitchFamily="34" charset="0"/>
                <a:cs typeface="Calibri" panose="020F0502020204030204" pitchFamily="34" charset="0"/>
              </a:defRPr>
            </a:lvl1pPr>
          </a:lstStyle>
          <a:p>
            <a:r>
              <a:rPr lang="en-US"/>
              <a:t>Click to edit Master title style</a:t>
            </a:r>
            <a:endParaRPr lang="en-US" dirty="0"/>
          </a:p>
        </p:txBody>
      </p:sp>
      <p:sp>
        <p:nvSpPr>
          <p:cNvPr id="10" name="Rectangle 8">
            <a:extLst>
              <a:ext uri="{FF2B5EF4-FFF2-40B4-BE49-F238E27FC236}">
                <a16:creationId xmlns:a16="http://schemas.microsoft.com/office/drawing/2014/main" id="{5ECCBBA4-F101-45CC-90B4-2DEC09A077F4}"/>
              </a:ext>
            </a:extLst>
          </p:cNvPr>
          <p:cNvSpPr/>
          <p:nvPr userDrawn="1"/>
        </p:nvSpPr>
        <p:spPr>
          <a:xfrm>
            <a:off x="10929786" y="0"/>
            <a:ext cx="180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5">
            <a:extLst>
              <a:ext uri="{FF2B5EF4-FFF2-40B4-BE49-F238E27FC236}">
                <a16:creationId xmlns:a16="http://schemas.microsoft.com/office/drawing/2014/main" id="{44723ADD-CBC9-4266-9683-A0ADEEA876B1}"/>
              </a:ext>
            </a:extLst>
          </p:cNvPr>
          <p:cNvSpPr/>
          <p:nvPr userDrawn="1"/>
        </p:nvSpPr>
        <p:spPr>
          <a:xfrm>
            <a:off x="11099612" y="0"/>
            <a:ext cx="109238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1">
            <a:extLst>
              <a:ext uri="{FF2B5EF4-FFF2-40B4-BE49-F238E27FC236}">
                <a16:creationId xmlns:a16="http://schemas.microsoft.com/office/drawing/2014/main" id="{A4F01CE3-C69C-41F1-A76F-DBD34534079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0551395" y="647887"/>
            <a:ext cx="945931" cy="945931"/>
          </a:xfrm>
          <a:prstGeom prst="rect">
            <a:avLst/>
          </a:prstGeom>
        </p:spPr>
      </p:pic>
    </p:spTree>
    <p:extLst>
      <p:ext uri="{BB962C8B-B14F-4D97-AF65-F5344CB8AC3E}">
        <p14:creationId xmlns:p14="http://schemas.microsoft.com/office/powerpoint/2010/main" val="12206040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96012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End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796653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2" name="Title 1"/>
          <p:cNvSpPr>
            <a:spLocks noGrp="1"/>
          </p:cNvSpPr>
          <p:nvPr>
            <p:ph type="title"/>
          </p:nvPr>
        </p:nvSpPr>
        <p:spPr>
          <a:xfrm>
            <a:off x="623887" y="137160"/>
            <a:ext cx="9797831" cy="707886"/>
          </a:xfrm>
        </p:spPr>
        <p:txBody>
          <a:bodyPr/>
          <a:lstStyle>
            <a:lvl1pPr algn="l">
              <a:defRPr/>
            </a:lvl1pPr>
          </a:lstStyle>
          <a:p>
            <a:r>
              <a:rPr lang="en-US"/>
              <a:t>Click to edit Master title style</a:t>
            </a:r>
          </a:p>
        </p:txBody>
      </p:sp>
      <p:sp>
        <p:nvSpPr>
          <p:cNvPr id="3" name="Subtitle 2"/>
          <p:cNvSpPr>
            <a:spLocks noGrp="1"/>
          </p:cNvSpPr>
          <p:nvPr>
            <p:ph type="subTitle" idx="1"/>
          </p:nvPr>
        </p:nvSpPr>
        <p:spPr>
          <a:xfrm>
            <a:off x="623887" y="845046"/>
            <a:ext cx="9797831" cy="523220"/>
          </a:xfrm>
        </p:spPr>
        <p:txBody>
          <a:bodyPr wrap="square">
            <a:spAutoFit/>
          </a:bodyPr>
          <a:lstStyle>
            <a:lvl1pPr marL="0" indent="0" algn="l">
              <a:buNone/>
              <a:defRPr sz="28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6" name="Group 5"/>
          <p:cNvGrpSpPr/>
          <p:nvPr userDrawn="1"/>
        </p:nvGrpSpPr>
        <p:grpSpPr>
          <a:xfrm>
            <a:off x="328169" y="6237312"/>
            <a:ext cx="439241" cy="439240"/>
            <a:chOff x="186858" y="6096003"/>
            <a:chExt cx="580550" cy="580549"/>
          </a:xfrm>
          <a:solidFill>
            <a:schemeClr val="bg1">
              <a:lumMod val="75000"/>
              <a:alpha val="25000"/>
            </a:schemeClr>
          </a:solidFill>
        </p:grpSpPr>
        <p:sp>
          <p:nvSpPr>
            <p:cNvPr id="7" name="Rectangle 6"/>
            <p:cNvSpPr/>
            <p:nvPr userDrawn="1"/>
          </p:nvSpPr>
          <p:spPr>
            <a:xfrm>
              <a:off x="186859" y="6096003"/>
              <a:ext cx="580549" cy="58054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b="1" dirty="0">
                <a:latin typeface="Calibri Light" panose="020F0302020204030204" pitchFamily="34" charset="0"/>
              </a:endParaRPr>
            </a:p>
          </p:txBody>
        </p:sp>
        <p:sp>
          <p:nvSpPr>
            <p:cNvPr id="8" name="Rectangle 7"/>
            <p:cNvSpPr/>
            <p:nvPr userDrawn="1"/>
          </p:nvSpPr>
          <p:spPr>
            <a:xfrm>
              <a:off x="186858" y="6612049"/>
              <a:ext cx="580549" cy="64503"/>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grpSp>
      <p:sp>
        <p:nvSpPr>
          <p:cNvPr id="10" name="Slide Number Placeholder 5"/>
          <p:cNvSpPr>
            <a:spLocks noGrp="1"/>
          </p:cNvSpPr>
          <p:nvPr>
            <p:ph type="sldNum" sz="quarter" idx="12"/>
          </p:nvPr>
        </p:nvSpPr>
        <p:spPr>
          <a:xfrm>
            <a:off x="328169" y="6237312"/>
            <a:ext cx="439241" cy="390437"/>
          </a:xfrm>
          <a:prstGeom prst="rect">
            <a:avLst/>
          </a:prstGeom>
        </p:spPr>
        <p:txBody>
          <a:bodyPr anchor="ctr"/>
          <a:lstStyle>
            <a:lvl1pPr algn="ctr">
              <a:defRPr sz="1400">
                <a:solidFill>
                  <a:srgbClr val="2F3A46"/>
                </a:solidFill>
              </a:defRPr>
            </a:lvl1pPr>
          </a:lstStyle>
          <a:p>
            <a:fld id="{F68327C5-B821-4FE9-A59A-A60D9EB59A9A}" type="slidenum">
              <a:rPr lang="en-US" smtClean="0"/>
              <a:pPr/>
              <a:t>‹#›</a:t>
            </a:fld>
            <a:endParaRPr lang="en-US" dirty="0"/>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pic>
        <p:nvPicPr>
          <p:cNvPr id="12" name="Picture 11"/>
          <p:cNvPicPr>
            <a:picLocks noChangeAspect="1"/>
          </p:cNvPicPr>
          <p:nvPr userDrawn="1"/>
        </p:nvPicPr>
        <p:blipFill>
          <a:blip r:embed="rId3"/>
          <a:stretch>
            <a:fillRect/>
          </a:stretch>
        </p:blipFill>
        <p:spPr>
          <a:xfrm>
            <a:off x="10488488" y="229538"/>
            <a:ext cx="1627773" cy="451143"/>
          </a:xfrm>
          <a:prstGeom prst="rect">
            <a:avLst/>
          </a:prstGeom>
        </p:spPr>
      </p:pic>
      <p:sp>
        <p:nvSpPr>
          <p:cNvPr id="13" name="Rectangle 12"/>
          <p:cNvSpPr/>
          <p:nvPr userDrawn="1"/>
        </p:nvSpPr>
        <p:spPr>
          <a:xfrm>
            <a:off x="10522767" y="95859"/>
            <a:ext cx="1593494" cy="720080"/>
          </a:xfrm>
          <a:prstGeom prst="rect">
            <a:avLst/>
          </a:pr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380434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r="18500" b="19391"/>
          <a:stretch/>
        </p:blipFill>
        <p:spPr>
          <a:xfrm>
            <a:off x="11096512" y="5774480"/>
            <a:ext cx="1095488" cy="1083520"/>
          </a:xfrm>
          <a:prstGeom prst="rect">
            <a:avLst/>
          </a:prstGeom>
        </p:spPr>
      </p:pic>
    </p:spTree>
    <p:extLst>
      <p:ext uri="{BB962C8B-B14F-4D97-AF65-F5344CB8AC3E}">
        <p14:creationId xmlns:p14="http://schemas.microsoft.com/office/powerpoint/2010/main" val="42832335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1_Transition">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sz="3200">
                <a:solidFill>
                  <a:schemeClr val="accent1">
                    <a:lumMod val="60000"/>
                    <a:lumOff val="4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hlinkClick r:id="rId2"/>
          </p:cNvPr>
          <p:cNvPicPr>
            <a:picLocks noChangeAspect="1"/>
          </p:cNvPicPr>
          <p:nvPr userDrawn="1"/>
        </p:nvPicPr>
        <p:blipFill>
          <a:blip r:embed="rId3"/>
          <a:stretch>
            <a:fillRect/>
          </a:stretch>
        </p:blipFill>
        <p:spPr>
          <a:xfrm>
            <a:off x="10200456" y="6214072"/>
            <a:ext cx="1627773" cy="451143"/>
          </a:xfrm>
          <a:prstGeom prst="rect">
            <a:avLst/>
          </a:prstGeom>
        </p:spPr>
      </p:pic>
      <p:pic>
        <p:nvPicPr>
          <p:cNvPr id="6" name="Picture 5"/>
          <p:cNvPicPr>
            <a:picLocks noChangeAspect="1"/>
          </p:cNvPicPr>
          <p:nvPr userDrawn="1"/>
        </p:nvPicPr>
        <p:blipFill rotWithShape="1">
          <a:blip r:embed="rId4"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grpSp>
        <p:nvGrpSpPr>
          <p:cNvPr id="11" name="Group 10"/>
          <p:cNvGrpSpPr/>
          <p:nvPr userDrawn="1"/>
        </p:nvGrpSpPr>
        <p:grpSpPr>
          <a:xfrm>
            <a:off x="8704796" y="6336792"/>
            <a:ext cx="1470980" cy="307777"/>
            <a:chOff x="8616280" y="6285754"/>
            <a:chExt cx="1470980" cy="307777"/>
          </a:xfrm>
        </p:grpSpPr>
        <p:sp>
          <p:nvSpPr>
            <p:cNvPr id="12" name="TextBox 11"/>
            <p:cNvSpPr txBox="1"/>
            <p:nvPr userDrawn="1"/>
          </p:nvSpPr>
          <p:spPr>
            <a:xfrm>
              <a:off x="8616280" y="6285754"/>
              <a:ext cx="1470980" cy="307777"/>
            </a:xfrm>
            <a:prstGeom prst="rect">
              <a:avLst/>
            </a:prstGeom>
            <a:noFill/>
          </p:spPr>
          <p:txBody>
            <a:bodyPr wrap="none" rtlCol="0">
              <a:spAutoFit/>
            </a:bodyPr>
            <a:lstStyle/>
            <a:p>
              <a:r>
                <a:rPr lang="en-US" sz="1400">
                  <a:solidFill>
                    <a:schemeClr val="tx1"/>
                  </a:solidFill>
                </a:rPr>
                <a:t>Made with       by </a:t>
              </a:r>
            </a:p>
          </p:txBody>
        </p:sp>
        <p:sp>
          <p:nvSpPr>
            <p:cNvPr id="13" name="Freeform 290"/>
            <p:cNvSpPr/>
            <p:nvPr userDrawn="1"/>
          </p:nvSpPr>
          <p:spPr>
            <a:xfrm>
              <a:off x="9544347" y="6374509"/>
              <a:ext cx="152053" cy="130265"/>
            </a:xfrm>
            <a:custGeom>
              <a:avLst/>
              <a:gdLst/>
              <a:ahLst/>
              <a:cxnLst/>
              <a:rect l="l" t="t" r="r" b="b"/>
              <a:pathLst>
                <a:path w="504825" h="432707">
                  <a:moveTo>
                    <a:pt x="134658" y="0"/>
                  </a:moveTo>
                  <a:cubicBezTo>
                    <a:pt x="146301" y="0"/>
                    <a:pt x="158180" y="2019"/>
                    <a:pt x="170294" y="6057"/>
                  </a:cubicBezTo>
                  <a:cubicBezTo>
                    <a:pt x="182407" y="10095"/>
                    <a:pt x="193676" y="15541"/>
                    <a:pt x="204099" y="22396"/>
                  </a:cubicBezTo>
                  <a:cubicBezTo>
                    <a:pt x="214522" y="29251"/>
                    <a:pt x="223490" y="35683"/>
                    <a:pt x="231002" y="41693"/>
                  </a:cubicBezTo>
                  <a:cubicBezTo>
                    <a:pt x="238514" y="47703"/>
                    <a:pt x="245652" y="54088"/>
                    <a:pt x="252412" y="60849"/>
                  </a:cubicBezTo>
                  <a:cubicBezTo>
                    <a:pt x="259174" y="54088"/>
                    <a:pt x="266310" y="47703"/>
                    <a:pt x="273823" y="41693"/>
                  </a:cubicBezTo>
                  <a:cubicBezTo>
                    <a:pt x="281334" y="35683"/>
                    <a:pt x="290303" y="29251"/>
                    <a:pt x="300726" y="22396"/>
                  </a:cubicBezTo>
                  <a:cubicBezTo>
                    <a:pt x="311149" y="15541"/>
                    <a:pt x="322417" y="10095"/>
                    <a:pt x="334531" y="6057"/>
                  </a:cubicBezTo>
                  <a:cubicBezTo>
                    <a:pt x="346645" y="2019"/>
                    <a:pt x="358524" y="0"/>
                    <a:pt x="370167" y="0"/>
                  </a:cubicBezTo>
                  <a:cubicBezTo>
                    <a:pt x="412236" y="0"/>
                    <a:pt x="445197" y="11644"/>
                    <a:pt x="469048" y="34932"/>
                  </a:cubicBezTo>
                  <a:cubicBezTo>
                    <a:pt x="492899" y="58220"/>
                    <a:pt x="504825" y="90523"/>
                    <a:pt x="504825" y="131840"/>
                  </a:cubicBezTo>
                  <a:cubicBezTo>
                    <a:pt x="504825" y="173346"/>
                    <a:pt x="483321" y="215602"/>
                    <a:pt x="440313" y="258610"/>
                  </a:cubicBezTo>
                  <a:lnTo>
                    <a:pt x="264807" y="427636"/>
                  </a:lnTo>
                  <a:cubicBezTo>
                    <a:pt x="261427" y="431017"/>
                    <a:pt x="257295" y="432707"/>
                    <a:pt x="252412" y="432707"/>
                  </a:cubicBezTo>
                  <a:cubicBezTo>
                    <a:pt x="247529" y="432707"/>
                    <a:pt x="243398" y="431017"/>
                    <a:pt x="240018" y="427636"/>
                  </a:cubicBezTo>
                  <a:lnTo>
                    <a:pt x="64230" y="258047"/>
                  </a:lnTo>
                  <a:cubicBezTo>
                    <a:pt x="62351" y="256544"/>
                    <a:pt x="59770" y="254103"/>
                    <a:pt x="56482" y="250722"/>
                  </a:cubicBezTo>
                  <a:cubicBezTo>
                    <a:pt x="53196" y="247342"/>
                    <a:pt x="47984" y="241191"/>
                    <a:pt x="40848" y="232270"/>
                  </a:cubicBezTo>
                  <a:cubicBezTo>
                    <a:pt x="33712" y="223349"/>
                    <a:pt x="27326" y="214194"/>
                    <a:pt x="21692" y="204803"/>
                  </a:cubicBezTo>
                  <a:cubicBezTo>
                    <a:pt x="16057" y="195413"/>
                    <a:pt x="11035" y="184051"/>
                    <a:pt x="6620" y="170717"/>
                  </a:cubicBezTo>
                  <a:cubicBezTo>
                    <a:pt x="2207" y="157382"/>
                    <a:pt x="0" y="144423"/>
                    <a:pt x="0" y="131840"/>
                  </a:cubicBezTo>
                  <a:cubicBezTo>
                    <a:pt x="0" y="90523"/>
                    <a:pt x="11926" y="58220"/>
                    <a:pt x="35777" y="34932"/>
                  </a:cubicBezTo>
                  <a:cubicBezTo>
                    <a:pt x="59629" y="11644"/>
                    <a:pt x="92588" y="0"/>
                    <a:pt x="134658" y="0"/>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85911713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ver">
    <p:bg>
      <p:bgPr>
        <a:solidFill>
          <a:srgbClr val="222A35"/>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79376" y="228855"/>
            <a:ext cx="11233248" cy="954108"/>
          </a:xfrm>
        </p:spPr>
        <p:txBody>
          <a:bodyPr wrap="square" anchor="b">
            <a:spAutoFit/>
          </a:bodyPr>
          <a:lstStyle>
            <a:lvl1pPr algn="ctr">
              <a:defRPr sz="6000">
                <a:solidFill>
                  <a:schemeClr val="bg1"/>
                </a:solidFill>
              </a:defRPr>
            </a:lvl1pPr>
          </a:lstStyle>
          <a:p>
            <a:r>
              <a:rPr lang="en-US" dirty="0"/>
              <a:t>Click to edit Master title style</a:t>
            </a:r>
          </a:p>
        </p:txBody>
      </p:sp>
      <p:sp>
        <p:nvSpPr>
          <p:cNvPr id="7" name="Rectangle 6"/>
          <p:cNvSpPr/>
          <p:nvPr userDrawn="1"/>
        </p:nvSpPr>
        <p:spPr>
          <a:xfrm>
            <a:off x="0" y="6021288"/>
            <a:ext cx="12192000" cy="83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1"/>
          </a:p>
        </p:txBody>
      </p:sp>
      <p:pic>
        <p:nvPicPr>
          <p:cNvPr id="8" name="Picture 7">
            <a:hlinkClick r:id="rId2"/>
          </p:cNvPr>
          <p:cNvPicPr>
            <a:picLocks noChangeAspect="1"/>
          </p:cNvPicPr>
          <p:nvPr userDrawn="1"/>
        </p:nvPicPr>
        <p:blipFill>
          <a:blip r:embed="rId3"/>
          <a:stretch>
            <a:fillRect/>
          </a:stretch>
        </p:blipFill>
        <p:spPr>
          <a:xfrm>
            <a:off x="10200456" y="6214075"/>
            <a:ext cx="1627773" cy="451143"/>
          </a:xfrm>
          <a:prstGeom prst="rect">
            <a:avLst/>
          </a:prstGeom>
        </p:spPr>
      </p:pic>
      <p:pic>
        <p:nvPicPr>
          <p:cNvPr id="4" name="Picture 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8994" y="1426467"/>
            <a:ext cx="6338473" cy="5238748"/>
          </a:xfrm>
          <a:prstGeom prst="rect">
            <a:avLst/>
          </a:prstGeom>
          <a:effectLst>
            <a:reflection blurRad="6350" stA="52000" endA="300" endPos="35000" dir="5400000" sy="-100000" algn="bl" rotWithShape="0"/>
          </a:effectLst>
        </p:spPr>
      </p:pic>
      <p:sp>
        <p:nvSpPr>
          <p:cNvPr id="9" name="Picture Placeholder 8"/>
          <p:cNvSpPr>
            <a:spLocks noGrp="1"/>
          </p:cNvSpPr>
          <p:nvPr>
            <p:ph type="pic" sz="quarter" idx="10"/>
          </p:nvPr>
        </p:nvSpPr>
        <p:spPr>
          <a:xfrm>
            <a:off x="1489943" y="1700811"/>
            <a:ext cx="5616575" cy="3168055"/>
          </a:xfrm>
        </p:spPr>
        <p:txBody>
          <a:bodyPr/>
          <a:lstStyle>
            <a:lvl1pPr>
              <a:defRPr>
                <a:solidFill>
                  <a:schemeClr val="bg1"/>
                </a:solidFill>
              </a:defRPr>
            </a:lvl1pPr>
          </a:lstStyle>
          <a:p>
            <a:endParaRPr lang="en-US"/>
          </a:p>
        </p:txBody>
      </p:sp>
      <p:pic>
        <p:nvPicPr>
          <p:cNvPr id="10" name="Picture 9"/>
          <p:cNvPicPr>
            <a:picLocks noChangeAspect="1"/>
          </p:cNvPicPr>
          <p:nvPr userDrawn="1"/>
        </p:nvPicPr>
        <p:blipFill rotWithShape="1">
          <a:blip r:embed="rId5" cstate="print">
            <a:extLst>
              <a:ext uri="{28A0092B-C50C-407E-A947-70E740481C1C}">
                <a14:useLocalDpi xmlns:a14="http://schemas.microsoft.com/office/drawing/2010/main" val="0"/>
              </a:ext>
            </a:extLst>
          </a:blip>
          <a:srcRect r="18500" b="19391"/>
          <a:stretch/>
        </p:blipFill>
        <p:spPr>
          <a:xfrm>
            <a:off x="11096512" y="4937768"/>
            <a:ext cx="1095488" cy="1083520"/>
          </a:xfrm>
          <a:prstGeom prst="rect">
            <a:avLst/>
          </a:prstGeom>
        </p:spPr>
      </p:pic>
    </p:spTree>
    <p:extLst>
      <p:ext uri="{BB962C8B-B14F-4D97-AF65-F5344CB8AC3E}">
        <p14:creationId xmlns:p14="http://schemas.microsoft.com/office/powerpoint/2010/main" val="23754687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6F8E4F7-F027-4D91-89F8-F6967E4FB453}" type="datetimeFigureOut">
              <a:rPr lang="he-IL" smtClean="0"/>
              <a:t>י"ב/אלול/תשפ"ד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8A50C43C-A789-4084-B64F-03319532B81D}" type="slidenum">
              <a:rPr lang="he-IL" smtClean="0"/>
              <a:t>‹#›</a:t>
            </a:fld>
            <a:endParaRPr lang="he-IL"/>
          </a:p>
        </p:txBody>
      </p:sp>
    </p:spTree>
    <p:extLst>
      <p:ext uri="{BB962C8B-B14F-4D97-AF65-F5344CB8AC3E}">
        <p14:creationId xmlns:p14="http://schemas.microsoft.com/office/powerpoint/2010/main" val="7932690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06205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1783293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p>
        </p:txBody>
      </p:sp>
      <p:sp>
        <p:nvSpPr>
          <p:cNvPr id="3" name="מציין מיקום טקסט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ערוך סגנונות טקסט של תבנית בסיס</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897534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sz="half" idx="1"/>
          </p:nvPr>
        </p:nvSpPr>
        <p:spPr>
          <a:xfrm>
            <a:off x="838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תוכן 3"/>
          <p:cNvSpPr>
            <a:spLocks noGrp="1"/>
          </p:cNvSpPr>
          <p:nvPr>
            <p:ph sz="half" idx="2"/>
          </p:nvPr>
        </p:nvSpPr>
        <p:spPr>
          <a:xfrm>
            <a:off x="6172200" y="1825625"/>
            <a:ext cx="5181600" cy="435133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2594200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365125"/>
            <a:ext cx="10515600" cy="1325563"/>
          </a:xfrm>
        </p:spPr>
        <p:txBody>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4" name="מציין מיקום תוכן 3"/>
          <p:cNvSpPr>
            <a:spLocks noGrp="1"/>
          </p:cNvSpPr>
          <p:nvPr>
            <p:ph sz="half" idx="2"/>
          </p:nvPr>
        </p:nvSpPr>
        <p:spPr>
          <a:xfrm>
            <a:off x="839788" y="2505075"/>
            <a:ext cx="5157787"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5" name="מציין מיקום טקסט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ערוך סגנונות טקסט של תבנית בסיס</a:t>
            </a:r>
          </a:p>
        </p:txBody>
      </p:sp>
      <p:sp>
        <p:nvSpPr>
          <p:cNvPr id="6" name="מציין מיקום תוכן 5"/>
          <p:cNvSpPr>
            <a:spLocks noGrp="1"/>
          </p:cNvSpPr>
          <p:nvPr>
            <p:ph sz="quarter" idx="4"/>
          </p:nvPr>
        </p:nvSpPr>
        <p:spPr>
          <a:xfrm>
            <a:off x="6172200" y="2505075"/>
            <a:ext cx="5183188" cy="3684588"/>
          </a:xfrm>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7" name="מציין מיקום של תאריך 6"/>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8" name="מציין מיקום של כותרת תחתונה 7"/>
          <p:cNvSpPr>
            <a:spLocks noGrp="1"/>
          </p:cNvSpPr>
          <p:nvPr>
            <p:ph type="ftr" sz="quarter" idx="11"/>
          </p:nvPr>
        </p:nvSpPr>
        <p:spPr/>
        <p:txBody>
          <a:bodyPr/>
          <a:lstStyle/>
          <a:p>
            <a:endParaRPr lang="he-IL"/>
          </a:p>
        </p:txBody>
      </p:sp>
      <p:sp>
        <p:nvSpPr>
          <p:cNvPr id="9" name="מציין מיקום של מספר שקופית 8"/>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89825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a:off x="9850821" y="0"/>
            <a:ext cx="2385848" cy="6858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3074" name="Picture 2" descr="How To Make Pancakes (Easiest From-Scratch Recipe) | Kitchn"/>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951988" y="3924246"/>
            <a:ext cx="2240012" cy="2797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7886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1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604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53128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808471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2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273565" y="-5254735"/>
            <a:ext cx="1644869"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4098" name="Picture 2" descr="Chemistry &amp; cooking series: Why pancakes bubble - NanoTemper Technologies"/>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24044" y="118541"/>
            <a:ext cx="2461501" cy="14086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0409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3_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365125"/>
            <a:ext cx="8925910" cy="1325563"/>
          </a:xfrm>
        </p:spPr>
        <p:txBody>
          <a:bodyPr/>
          <a:lstStyle/>
          <a:p>
            <a:r>
              <a:rPr lang="he-IL" dirty="0"/>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F1ADDDE0-F1A9-41B4-86DC-E77A023621AA}" type="slidenum">
              <a:rPr lang="he-IL" smtClean="0"/>
              <a:t>‹#›</a:t>
            </a:fld>
            <a:endParaRPr lang="he-IL"/>
          </a:p>
        </p:txBody>
      </p:sp>
      <p:sp>
        <p:nvSpPr>
          <p:cNvPr id="6" name="מלבן 5"/>
          <p:cNvSpPr/>
          <p:nvPr userDrawn="1"/>
        </p:nvSpPr>
        <p:spPr>
          <a:xfrm rot="5400000">
            <a:off x="5159660" y="-5140829"/>
            <a:ext cx="1872680" cy="12192000"/>
          </a:xfrm>
          <a:prstGeom prst="rect">
            <a:avLst/>
          </a:prstGeom>
          <a:solidFill>
            <a:srgbClr val="FEFCE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Picture 2" descr="Baking a Security Layer Cake for K-1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940800" y="70422"/>
            <a:ext cx="3124603" cy="1757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175718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297026328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תוכן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1629675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p>
        </p:txBody>
      </p:sp>
      <p:sp>
        <p:nvSpPr>
          <p:cNvPr id="3" name="מציין מיקום של תמונה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מציין מיקום טקסט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ערוך סגנונות טקסט של תבנית בסיס</a:t>
            </a:r>
          </a:p>
        </p:txBody>
      </p:sp>
      <p:sp>
        <p:nvSpPr>
          <p:cNvPr id="5" name="מציין מיקום של תאריך 4"/>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6" name="מציין מיקום של כותרת תחתונה 5"/>
          <p:cNvSpPr>
            <a:spLocks noGrp="1"/>
          </p:cNvSpPr>
          <p:nvPr>
            <p:ph type="ftr" sz="quarter" idx="11"/>
          </p:nvPr>
        </p:nvSpPr>
        <p:spPr/>
        <p:txBody>
          <a:bodyPr/>
          <a:lstStyle/>
          <a:p>
            <a:endParaRPr lang="he-IL"/>
          </a:p>
        </p:txBody>
      </p:sp>
      <p:sp>
        <p:nvSpPr>
          <p:cNvPr id="7" name="מציין מיקום של מספר שקופית 6"/>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6593694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34183464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p>
        </p:txBody>
      </p:sp>
      <p:sp>
        <p:nvSpPr>
          <p:cNvPr id="3" name="מציין מיקום של טקסט אנכי 2"/>
          <p:cNvSpPr>
            <a:spLocks noGrp="1"/>
          </p:cNvSpPr>
          <p:nvPr>
            <p:ph type="body" orient="vert" idx="1"/>
          </p:nvPr>
        </p:nvSpPr>
        <p:spPr>
          <a:xfrm>
            <a:off x="838200" y="365125"/>
            <a:ext cx="7734300" cy="5811838"/>
          </a:xfrm>
        </p:spPr>
        <p:txBody>
          <a:bodyPr vert="eaVert"/>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F1ADDDE0-F1A9-41B4-86DC-E77A023621AA}" type="slidenum">
              <a:rPr lang="he-IL" smtClean="0"/>
              <a:t>‹#›</a:t>
            </a:fld>
            <a:endParaRPr lang="he-IL"/>
          </a:p>
        </p:txBody>
      </p:sp>
    </p:spTree>
    <p:extLst>
      <p:ext uri="{BB962C8B-B14F-4D97-AF65-F5344CB8AC3E}">
        <p14:creationId xmlns:p14="http://schemas.microsoft.com/office/powerpoint/2010/main" val="17946150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310996659"/>
      </p:ext>
    </p:extLst>
  </p:cSld>
  <p:clrMapOvr>
    <a:masterClrMapping/>
  </p:clrMapOvr>
  <p:transition spd="slow">
    <p:wipe dir="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שקופית כותרת">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524146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כותרת ותוכן">
    <p:spTree>
      <p:nvGrpSpPr>
        <p:cNvPr id="1" name=""/>
        <p:cNvGrpSpPr/>
        <p:nvPr/>
      </p:nvGrpSpPr>
      <p:grpSpPr>
        <a:xfrm>
          <a:off x="0" y="0"/>
          <a:ext cx="0" cy="0"/>
          <a:chOff x="0" y="0"/>
          <a:chExt cx="0" cy="0"/>
        </a:xfrm>
      </p:grpSpPr>
    </p:spTree>
    <p:extLst>
      <p:ext uri="{BB962C8B-B14F-4D97-AF65-F5344CB8AC3E}">
        <p14:creationId xmlns:p14="http://schemas.microsoft.com/office/powerpoint/2010/main" val="113246392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36"/>
        <p:cNvGrpSpPr/>
        <p:nvPr/>
      </p:nvGrpSpPr>
      <p:grpSpPr>
        <a:xfrm>
          <a:off x="0" y="0"/>
          <a:ext cx="0" cy="0"/>
          <a:chOff x="0" y="0"/>
          <a:chExt cx="0" cy="0"/>
        </a:xfrm>
      </p:grpSpPr>
      <p:sp>
        <p:nvSpPr>
          <p:cNvPr id="43" name="Shape 43"/>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body" idx="1"/>
          </p:nvPr>
        </p:nvSpPr>
        <p:spPr>
          <a:xfrm>
            <a:off x="609600" y="1875925"/>
            <a:ext cx="7068400" cy="421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5" name="Shape 45"/>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3898042163"/>
      </p:ext>
    </p:extLst>
  </p:cSld>
  <p:clrMapOvr>
    <a:masterClrMapping/>
  </p:clrMapOvr>
  <p:transition spd="slow">
    <p:wipe dir="r"/>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1_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תוכן 2"/>
          <p:cNvSpPr>
            <a:spLocks noGrp="1"/>
          </p:cNvSpPr>
          <p:nvPr>
            <p:ph idx="1"/>
          </p:nvPr>
        </p:nvSpPr>
        <p:spPr/>
        <p:txBody>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10"/>
          </p:nvPr>
        </p:nvSpPr>
        <p:spPr/>
        <p:txBody>
          <a:bodyPr/>
          <a:lstStyle/>
          <a:p>
            <a:fld id="{50A7289E-A01B-4831-8F11-C8CCC0732A3D}"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4845677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57"/>
        <p:cNvGrpSpPr/>
        <p:nvPr/>
      </p:nvGrpSpPr>
      <p:grpSpPr>
        <a:xfrm>
          <a:off x="0" y="0"/>
          <a:ext cx="0" cy="0"/>
          <a:chOff x="0" y="0"/>
          <a:chExt cx="0" cy="0"/>
        </a:xfrm>
      </p:grpSpPr>
      <p:sp>
        <p:nvSpPr>
          <p:cNvPr id="64" name="Shape 64"/>
          <p:cNvSpPr txBox="1">
            <a:spLocks noGrp="1"/>
          </p:cNvSpPr>
          <p:nvPr>
            <p:ph type="title"/>
          </p:nvPr>
        </p:nvSpPr>
        <p:spPr>
          <a:xfrm>
            <a:off x="609600" y="751065"/>
            <a:ext cx="7068400" cy="9704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65" name="Shape 65"/>
          <p:cNvSpPr txBox="1">
            <a:spLocks noGrp="1"/>
          </p:cNvSpPr>
          <p:nvPr>
            <p:ph type="body" idx="1"/>
          </p:nvPr>
        </p:nvSpPr>
        <p:spPr>
          <a:xfrm>
            <a:off x="609600"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6" name="Shape 66"/>
          <p:cNvSpPr txBox="1">
            <a:spLocks noGrp="1"/>
          </p:cNvSpPr>
          <p:nvPr>
            <p:ph type="body" idx="2"/>
          </p:nvPr>
        </p:nvSpPr>
        <p:spPr>
          <a:xfrm>
            <a:off x="300464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7" name="Shape 67"/>
          <p:cNvSpPr txBox="1">
            <a:spLocks noGrp="1"/>
          </p:cNvSpPr>
          <p:nvPr>
            <p:ph type="body" idx="3"/>
          </p:nvPr>
        </p:nvSpPr>
        <p:spPr>
          <a:xfrm>
            <a:off x="5399699" y="1879333"/>
            <a:ext cx="2278400" cy="4483600"/>
          </a:xfrm>
          <a:prstGeom prst="rect">
            <a:avLst/>
          </a:prstGeom>
        </p:spPr>
        <p:txBody>
          <a:bodyPr lIns="91425" tIns="91425" rIns="91425" bIns="91425" anchor="t" anchorCtr="0"/>
          <a:lstStyle>
            <a:lvl1pPr lvl="0" rtl="0">
              <a:spcBef>
                <a:spcPts val="0"/>
              </a:spcBef>
              <a:buSzPct val="100000"/>
              <a:defRPr sz="1867"/>
            </a:lvl1pPr>
            <a:lvl2pPr lvl="1" rtl="0">
              <a:spcBef>
                <a:spcPts val="0"/>
              </a:spcBef>
              <a:buSzPct val="100000"/>
              <a:defRPr sz="1867"/>
            </a:lvl2pPr>
            <a:lvl3pPr lvl="2" rtl="0">
              <a:spcBef>
                <a:spcPts val="0"/>
              </a:spcBef>
              <a:buSzPct val="100000"/>
              <a:defRPr sz="1867"/>
            </a:lvl3pPr>
            <a:lvl4pPr lvl="3" rtl="0">
              <a:spcBef>
                <a:spcPts val="0"/>
              </a:spcBef>
              <a:buSzPct val="100000"/>
              <a:defRPr sz="1867"/>
            </a:lvl4pPr>
            <a:lvl5pPr lvl="4" rtl="0">
              <a:spcBef>
                <a:spcPts val="0"/>
              </a:spcBef>
              <a:buSzPct val="100000"/>
              <a:defRPr sz="1867"/>
            </a:lvl5pPr>
            <a:lvl6pPr lvl="5" rtl="0">
              <a:spcBef>
                <a:spcPts val="0"/>
              </a:spcBef>
              <a:buSzPct val="100000"/>
              <a:defRPr sz="1867"/>
            </a:lvl6pPr>
            <a:lvl7pPr lvl="6" rtl="0">
              <a:spcBef>
                <a:spcPts val="0"/>
              </a:spcBef>
              <a:buSzPct val="100000"/>
              <a:defRPr sz="1867"/>
            </a:lvl7pPr>
            <a:lvl8pPr lvl="7" rtl="0">
              <a:spcBef>
                <a:spcPts val="0"/>
              </a:spcBef>
              <a:buSzPct val="100000"/>
              <a:defRPr sz="1867"/>
            </a:lvl8pPr>
            <a:lvl9pPr lvl="8" rtl="0">
              <a:spcBef>
                <a:spcPts val="0"/>
              </a:spcBef>
              <a:buSzPct val="100000"/>
              <a:defRPr sz="1867"/>
            </a:lvl9pPr>
          </a:lstStyle>
          <a:p>
            <a:endParaRPr/>
          </a:p>
        </p:txBody>
      </p:sp>
      <p:sp>
        <p:nvSpPr>
          <p:cNvPr id="68" name="Shape 68"/>
          <p:cNvSpPr txBox="1">
            <a:spLocks noGrp="1"/>
          </p:cNvSpPr>
          <p:nvPr>
            <p:ph type="sldNum" idx="12"/>
          </p:nvPr>
        </p:nvSpPr>
        <p:spPr>
          <a:xfrm>
            <a:off x="7475044" y="6333133"/>
            <a:ext cx="731600" cy="524800"/>
          </a:xfrm>
          <a:prstGeom prst="rect">
            <a:avLst/>
          </a:prstGeom>
        </p:spPr>
        <p:txBody>
          <a:bodyPr lIns="91425" tIns="91425" rIns="91425" bIns="91425" anchor="ctr" anchorCtr="0">
            <a:noAutofit/>
          </a:bodyPr>
          <a:lstStyle/>
          <a:p>
            <a:fld id="{00000000-1234-1234-1234-123412341234}" type="slidenum">
              <a:rPr lang="en" smtClean="0"/>
              <a:pPr/>
              <a:t>‹#›</a:t>
            </a:fld>
            <a:endParaRPr lang="en"/>
          </a:p>
        </p:txBody>
      </p:sp>
    </p:spTree>
    <p:extLst>
      <p:ext uri="{BB962C8B-B14F-4D97-AF65-F5344CB8AC3E}">
        <p14:creationId xmlns:p14="http://schemas.microsoft.com/office/powerpoint/2010/main" val="4101679657"/>
      </p:ext>
    </p:extLst>
  </p:cSld>
  <p:clrMapOvr>
    <a:masterClrMapping/>
  </p:clrMapOvr>
  <p:transition spd="slow">
    <p:wipe dir="r"/>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50A7289E-A01B-4831-8F11-C8CCC0732A3D}" type="datetimeFigureOut">
              <a:rPr lang="he-IL" smtClean="0"/>
              <a:t>י"ב/אלול/תשפ"ד</a:t>
            </a:fld>
            <a:endParaRPr lang="he-IL"/>
          </a:p>
        </p:txBody>
      </p:sp>
      <p:sp>
        <p:nvSpPr>
          <p:cNvPr id="3" name="מציין מיקום של כותרת תחתונה 2"/>
          <p:cNvSpPr>
            <a:spLocks noGrp="1"/>
          </p:cNvSpPr>
          <p:nvPr>
            <p:ph type="ftr" sz="quarter" idx="11"/>
          </p:nvPr>
        </p:nvSpPr>
        <p:spPr/>
        <p:txBody>
          <a:bodyPr/>
          <a:lstStyle/>
          <a:p>
            <a:endParaRPr lang="he-IL"/>
          </a:p>
        </p:txBody>
      </p:sp>
      <p:sp>
        <p:nvSpPr>
          <p:cNvPr id="4" name="מציין מיקום של מספר שקופית 3"/>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375300743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Master Slide 1">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1077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07458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a:t>לחץ כדי לערוך סגנון כותרת של תבנית בסיס</a:t>
            </a:r>
          </a:p>
        </p:txBody>
      </p:sp>
      <p:sp>
        <p:nvSpPr>
          <p:cNvPr id="3" name="מציין מיקום של תאריך 2"/>
          <p:cNvSpPr>
            <a:spLocks noGrp="1"/>
          </p:cNvSpPr>
          <p:nvPr>
            <p:ph type="dt" sz="half" idx="10"/>
          </p:nvPr>
        </p:nvSpPr>
        <p:spPr/>
        <p:txBody>
          <a:bodyPr/>
          <a:lstStyle/>
          <a:p>
            <a:fld id="{50A7289E-A01B-4831-8F11-C8CCC0732A3D}" type="datetimeFigureOut">
              <a:rPr lang="he-IL" smtClean="0"/>
              <a:t>י"ב/אלול/תשפ"ד</a:t>
            </a:fld>
            <a:endParaRPr lang="he-IL"/>
          </a:p>
        </p:txBody>
      </p:sp>
      <p:sp>
        <p:nvSpPr>
          <p:cNvPr id="4" name="מציין מיקום של כותרת תחתונה 3"/>
          <p:cNvSpPr>
            <a:spLocks noGrp="1"/>
          </p:cNvSpPr>
          <p:nvPr>
            <p:ph type="ftr" sz="quarter" idx="11"/>
          </p:nvPr>
        </p:nvSpPr>
        <p:spPr/>
        <p:txBody>
          <a:bodyPr/>
          <a:lstStyle/>
          <a:p>
            <a:endParaRPr lang="he-IL"/>
          </a:p>
        </p:txBody>
      </p:sp>
      <p:sp>
        <p:nvSpPr>
          <p:cNvPr id="5" name="מציין מיקום של מספר שקופית 4"/>
          <p:cNvSpPr>
            <a:spLocks noGrp="1"/>
          </p:cNvSpPr>
          <p:nvPr>
            <p:ph type="sldNum" sz="quarter" idx="12"/>
          </p:nvPr>
        </p:nvSpPr>
        <p:spPr/>
        <p:txBody>
          <a:bodyPr/>
          <a:lstStyle/>
          <a:p>
            <a:fld id="{0BF2A8D9-E848-4F9E-A3AB-56F701107823}" type="slidenum">
              <a:rPr lang="he-IL" smtClean="0"/>
              <a:t>‹#›</a:t>
            </a:fld>
            <a:endParaRPr lang="he-IL"/>
          </a:p>
        </p:txBody>
      </p:sp>
    </p:spTree>
    <p:extLst>
      <p:ext uri="{BB962C8B-B14F-4D97-AF65-F5344CB8AC3E}">
        <p14:creationId xmlns:p14="http://schemas.microsoft.com/office/powerpoint/2010/main" val="5517792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06549"/>
      </p:ext>
    </p:extLst>
  </p:cSld>
  <p:clrMapOvr>
    <a:masterClrMapping/>
  </p:clrMapOvr>
  <p:transition>
    <p:fade/>
  </p:transition>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cSld name="1_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p>
        </p:txBody>
      </p:sp>
      <p:sp>
        <p:nvSpPr>
          <p:cNvPr id="3" name="כותרת משנה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p>
        </p:txBody>
      </p:sp>
      <p:sp>
        <p:nvSpPr>
          <p:cNvPr id="4" name="מציין מיקום של תאריך 3"/>
          <p:cNvSpPr>
            <a:spLocks noGrp="1"/>
          </p:cNvSpPr>
          <p:nvPr>
            <p:ph type="dt" sz="half" idx="10"/>
          </p:nvPr>
        </p:nvSpPr>
        <p:spPr/>
        <p:txBody>
          <a:body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11"/>
          </p:nvPr>
        </p:nvSpPr>
        <p:spPr/>
        <p:txBody>
          <a:bodyPr/>
          <a:lstStyle/>
          <a:p>
            <a:endParaRPr lang="he-IL"/>
          </a:p>
        </p:txBody>
      </p:sp>
      <p:sp>
        <p:nvSpPr>
          <p:cNvPr id="6" name="מציין מיקום של מספר שקופית 5"/>
          <p:cNvSpPr>
            <a:spLocks noGrp="1"/>
          </p:cNvSpPr>
          <p:nvPr>
            <p:ph type="sldNum" sz="quarter" idx="12"/>
          </p:nvPr>
        </p:nvSpPr>
        <p:spPr/>
        <p:txBody>
          <a:bodyPr/>
          <a:lstStyle/>
          <a:p>
            <a:fld id="{C4BCB286-1E5E-4B02-A0C5-06BDEC1E2FA1}" type="slidenum">
              <a:rPr lang="he-IL" smtClean="0"/>
              <a:t>‹#›</a:t>
            </a:fld>
            <a:endParaRPr lang="he-IL"/>
          </a:p>
        </p:txBody>
      </p:sp>
    </p:spTree>
    <p:extLst>
      <p:ext uri="{BB962C8B-B14F-4D97-AF65-F5344CB8AC3E}">
        <p14:creationId xmlns:p14="http://schemas.microsoft.com/office/powerpoint/2010/main" val="27398783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white simp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he-IL"/>
          </a:p>
        </p:txBody>
      </p:sp>
      <p:sp>
        <p:nvSpPr>
          <p:cNvPr id="5" name="Slide Number Placeholder 4"/>
          <p:cNvSpPr>
            <a:spLocks noGrp="1"/>
          </p:cNvSpPr>
          <p:nvPr>
            <p:ph type="sldNum" sz="quarter" idx="12"/>
          </p:nvPr>
        </p:nvSpPr>
        <p:spPr/>
        <p:txBody>
          <a:bodyPr/>
          <a:lstStyle/>
          <a:p>
            <a:fld id="{18F36642-002E-4C98-915B-826072CB88D7}" type="slidenum">
              <a:rPr lang="he-IL" smtClean="0"/>
              <a:t>‹#›</a:t>
            </a:fld>
            <a:endParaRPr lang="he-IL"/>
          </a:p>
        </p:txBody>
      </p:sp>
      <p:cxnSp>
        <p:nvCxnSpPr>
          <p:cNvPr id="10" name="Straight Connector 9"/>
          <p:cNvCxnSpPr/>
          <p:nvPr userDrawn="1"/>
        </p:nvCxnSpPr>
        <p:spPr>
          <a:xfrm>
            <a:off x="12128248" y="478699"/>
            <a:ext cx="0" cy="708751"/>
          </a:xfrm>
          <a:prstGeom prst="line">
            <a:avLst/>
          </a:prstGeom>
          <a:ln w="1270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681529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2380-D8BE-4758-764C-5D0A1A1B4CB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77F82F0A-2E1B-2B43-768B-DB6E9299279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69764B73-4D1C-033D-A719-B725D2474C4A}"/>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771C915E-5C47-EA05-93A0-CDEA946572D0}"/>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B7AF196-4E86-812B-450D-D8C35254423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84127076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68CB7-9C03-F780-9004-9ECA4EC1A921}"/>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AA5B692B-68EE-2EF8-FEB9-234D501C349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C8C14990-102C-F3C5-CC26-BA7B5DA05162}"/>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625CF595-83A1-566D-FD03-C659023E21E4}"/>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A5C1E4F-6AA1-D913-6628-FA0ACD1A0DFC}"/>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99003234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7C46-594A-699B-4EB3-85D7D7E84E6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8D13427-384C-FF0F-5BF1-FDAD09C96D8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E67B3E-3BDD-8103-D6F7-DCF6C25A62E7}"/>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B002D92B-A5C8-22CF-F5A3-1D6B0D6E8162}"/>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3570BB8-16EE-8B76-5349-1202739B716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51575258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C45BF-0216-6999-242D-BB838E93B41E}"/>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74CA3E6E-4891-1431-119F-83819F1C07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69166EA1-5CF6-F526-71BD-72C59557BC2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2DA52C2C-78C0-D802-6D80-E357059BC3C7}"/>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6" name="Footer Placeholder 5">
            <a:extLst>
              <a:ext uri="{FF2B5EF4-FFF2-40B4-BE49-F238E27FC236}">
                <a16:creationId xmlns:a16="http://schemas.microsoft.com/office/drawing/2014/main" id="{57846EF9-51B8-483C-E6F6-381605659930}"/>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E0F78E8-8D1B-9ACF-0284-A2575B34D976}"/>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01141402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BF39A-0273-2B37-F77E-00AB01E57C33}"/>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EDD032F-4875-B96F-F677-E8282BBA67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A514E3-8DCB-A207-6675-4C6B3547AA6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D83CEFF0-D6A3-E6A5-D7FD-4CC9512247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969572D-79AB-0574-B96D-2D3486668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A7B22292-9EEA-B19F-7216-7CE10100EB91}"/>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8" name="Footer Placeholder 7">
            <a:extLst>
              <a:ext uri="{FF2B5EF4-FFF2-40B4-BE49-F238E27FC236}">
                <a16:creationId xmlns:a16="http://schemas.microsoft.com/office/drawing/2014/main" id="{0902B6DB-1D99-CDFD-BE22-36DB42A853C0}"/>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AB9BF876-1224-7050-4651-9EEC0168453E}"/>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28252561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2A752-D695-92E1-E21B-2CCEEB25F1E4}"/>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B77C5AA6-5CD2-AC13-8B3D-C7BD6809603B}"/>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4" name="Footer Placeholder 3">
            <a:extLst>
              <a:ext uri="{FF2B5EF4-FFF2-40B4-BE49-F238E27FC236}">
                <a16:creationId xmlns:a16="http://schemas.microsoft.com/office/drawing/2014/main" id="{2FD3278C-458C-04CE-AA3C-0F2E0643E28F}"/>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6528E55A-591B-C6C9-0F3C-844E96FE7F5A}"/>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7133057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BF37E-E950-88E7-8BF6-DF33E0413948}"/>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3" name="Footer Placeholder 2">
            <a:extLst>
              <a:ext uri="{FF2B5EF4-FFF2-40B4-BE49-F238E27FC236}">
                <a16:creationId xmlns:a16="http://schemas.microsoft.com/office/drawing/2014/main" id="{888D9C50-7C9F-50B7-3346-804BE9B2E2D3}"/>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66F0E530-AFB8-05E6-AF3E-05AFB1504073}"/>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474597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CE435-A2A3-CB60-2F2F-475432D452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BD8B693-1005-FED4-C374-3FDE234DA6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764F54FD-75AD-A285-9BB5-A81BCA2E4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870BE8-3035-0511-049C-0D436D4DC468}"/>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6" name="Footer Placeholder 5">
            <a:extLst>
              <a:ext uri="{FF2B5EF4-FFF2-40B4-BE49-F238E27FC236}">
                <a16:creationId xmlns:a16="http://schemas.microsoft.com/office/drawing/2014/main" id="{413C5A6B-4487-3629-B5BC-E8E5A6AA6CD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1706875E-7DE4-8DA7-AD11-565436146FF5}"/>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112159916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4E74B-F1BA-769A-E021-69A94BA82E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53169B46-2948-182F-EF18-82B9D58452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75F4DF9B-2B87-023F-CE0F-618CBCF1E3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0001DD-664A-6D65-5DCA-6081BDFBFABC}"/>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6" name="Footer Placeholder 5">
            <a:extLst>
              <a:ext uri="{FF2B5EF4-FFF2-40B4-BE49-F238E27FC236}">
                <a16:creationId xmlns:a16="http://schemas.microsoft.com/office/drawing/2014/main" id="{71FFDD64-3DCD-F967-889F-44B9CE1305C6}"/>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89E71CC6-AD9F-8E8C-E4CA-69E4358B171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15393144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B868-3B0B-ECEA-A3B0-E686AB573706}"/>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575FC5-A698-F2B7-B468-F321A0767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FB7B450F-D512-7AC0-F0D6-8B31A93999EF}"/>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072FA3F9-B923-AE0A-77DC-59F36231A663}"/>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559AF959-AA03-D781-C843-72EA16AF61D4}"/>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401829472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D2131F-9781-20D0-B241-BAFA74336F8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A449967-92FB-5282-8884-E0EBCA98C2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A3086458-A849-E91B-B788-83BC43DFA98B}"/>
              </a:ext>
            </a:extLst>
          </p:cNvPr>
          <p:cNvSpPr>
            <a:spLocks noGrp="1"/>
          </p:cNvSpPr>
          <p:nvPr>
            <p:ph type="dt" sz="half" idx="10"/>
          </p:nvPr>
        </p:nvSpPr>
        <p:spPr/>
        <p:txBody>
          <a:body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425423BF-B998-5791-980F-F908D04168D8}"/>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3323EED8-E7D4-5ECB-7D00-E6F9023F480F}"/>
              </a:ext>
            </a:extLst>
          </p:cNvPr>
          <p:cNvSpPr>
            <a:spLocks noGrp="1"/>
          </p:cNvSpPr>
          <p:nvPr>
            <p:ph type="sldNum" sz="quarter" idx="12"/>
          </p:nvPr>
        </p:nvSpPr>
        <p:spPr/>
        <p:txBody>
          <a:bodyPr/>
          <a:lstStyle/>
          <a:p>
            <a:fld id="{7DDCA44E-2ADE-44FA-8298-8822ECEE41B1}" type="slidenum">
              <a:rPr lang="en-IL" smtClean="0"/>
              <a:t>‹#›</a:t>
            </a:fld>
            <a:endParaRPr lang="en-IL"/>
          </a:p>
        </p:txBody>
      </p:sp>
    </p:spTree>
    <p:extLst>
      <p:ext uri="{BB962C8B-B14F-4D97-AF65-F5344CB8AC3E}">
        <p14:creationId xmlns:p14="http://schemas.microsoft.com/office/powerpoint/2010/main" val="3228920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theme" Target="../theme/theme2.xml"/><Relationship Id="rId5" Type="http://schemas.openxmlformats.org/officeDocument/2006/relationships/slideLayout" Target="../slideLayouts/slideLayout24.xml"/><Relationship Id="rId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theme" Target="../theme/theme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heme" Target="../theme/theme4.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theme" Target="../theme/theme5.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A2B3D744-8BFC-49C4-921C-A4357DD28206}" type="datetimeFigureOut">
              <a:rPr lang="he-IL" smtClean="0"/>
              <a:t>י"ב/אלול/תשפ"ד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4BCB286-1E5E-4B02-A0C5-06BDEC1E2FA1}" type="slidenum">
              <a:rPr lang="he-IL" smtClean="0"/>
              <a:t>‹#›</a:t>
            </a:fld>
            <a:endParaRPr lang="he-IL"/>
          </a:p>
        </p:txBody>
      </p:sp>
    </p:spTree>
    <p:extLst>
      <p:ext uri="{BB962C8B-B14F-4D97-AF65-F5344CB8AC3E}">
        <p14:creationId xmlns:p14="http://schemas.microsoft.com/office/powerpoint/2010/main" val="38735495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 id="2147483688" r:id="rId13"/>
    <p:sldLayoutId id="2147483689" r:id="rId14"/>
    <p:sldLayoutId id="2147483703" r:id="rId15"/>
    <p:sldLayoutId id="2147483704" r:id="rId16"/>
    <p:sldLayoutId id="2147483705" r:id="rId17"/>
    <p:sldLayoutId id="2147483706" r:id="rId18"/>
    <p:sldLayoutId id="2147483707" r:id="rId19"/>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609600" y="137160"/>
            <a:ext cx="10972800" cy="707886"/>
          </a:xfrm>
          <a:prstGeom prst="rect">
            <a:avLst/>
          </a:prstGeom>
        </p:spPr>
        <p:txBody>
          <a:bodyPr vert="horz" lIns="91440" tIns="45720" rIns="91440" bIns="45720" rtlCol="0" anchor="ctr">
            <a:spAutoFit/>
          </a:bodyPr>
          <a:lstStyle/>
          <a:p>
            <a:pPr lvl="0"/>
            <a:r>
              <a:rPr lang="en-US"/>
              <a:t>Click to edit Master title style</a:t>
            </a:r>
            <a:endParaRPr lang="en-US" dirty="0"/>
          </a:p>
        </p:txBody>
      </p:sp>
      <p:sp>
        <p:nvSpPr>
          <p:cNvPr id="3" name="Espace réservé du texte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p:cNvSpPr/>
          <p:nvPr/>
        </p:nvSpPr>
        <p:spPr>
          <a:xfrm rot="5400000">
            <a:off x="11604686" y="5799924"/>
            <a:ext cx="1839158" cy="276999"/>
          </a:xfrm>
          <a:prstGeom prst="rect">
            <a:avLst/>
          </a:prstGeom>
        </p:spPr>
        <p:txBody>
          <a:bodyPr wrap="non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solidFill>
                  <a:prstClr val="black"/>
                </a:solidFill>
              </a:rPr>
              <a:t>© Copyright Showeet.com</a:t>
            </a:r>
          </a:p>
        </p:txBody>
      </p:sp>
    </p:spTree>
    <p:extLst>
      <p:ext uri="{BB962C8B-B14F-4D97-AF65-F5344CB8AC3E}">
        <p14:creationId xmlns:p14="http://schemas.microsoft.com/office/powerpoint/2010/main" val="69160815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Lst>
  <p:hf hdr="0" ftr="0" dt="0"/>
  <p:txStyles>
    <p:title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p:titleStyle>
    <p:bodyStyle>
      <a:lvl1pPr marL="342882" indent="-342882" algn="l" defTabSz="914354" rtl="0" eaLnBrk="1" latinLnBrk="0" hangingPunct="1">
        <a:spcBef>
          <a:spcPct val="20000"/>
        </a:spcBef>
        <a:buFont typeface="Arial" pitchFamily="34" charset="0"/>
        <a:buChar char="•"/>
        <a:defRPr sz="32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1pPr>
      <a:lvl2pPr marL="742913" indent="-285737" algn="l" defTabSz="914354" rtl="0" eaLnBrk="1" latinLnBrk="0" hangingPunct="1">
        <a:spcBef>
          <a:spcPct val="20000"/>
        </a:spcBef>
        <a:buFont typeface="Arial" pitchFamily="34" charset="0"/>
        <a:buChar char="–"/>
        <a:defRPr sz="28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2pPr>
      <a:lvl3pPr marL="1142942" indent="-228589" algn="l" defTabSz="914354" rtl="0" eaLnBrk="1" latinLnBrk="0" hangingPunct="1">
        <a:spcBef>
          <a:spcPct val="20000"/>
        </a:spcBef>
        <a:buFont typeface="Arial" pitchFamily="34" charset="0"/>
        <a:buChar char="•"/>
        <a:defRPr sz="24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3pPr>
      <a:lvl4pPr marL="1600120"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4pPr>
      <a:lvl5pPr marL="2057298" indent="-228589" algn="l" defTabSz="914354" rtl="0" eaLnBrk="1" latinLnBrk="0" hangingPunct="1">
        <a:spcBef>
          <a:spcPct val="20000"/>
        </a:spcBef>
        <a:buFont typeface="Arial" pitchFamily="34" charset="0"/>
        <a:buChar char="»"/>
        <a:defRPr sz="2000" kern="1200">
          <a:solidFill>
            <a:schemeClr val="tx1">
              <a:lumMod val="75000"/>
            </a:schemeClr>
          </a:solidFill>
          <a:latin typeface="Open Sans" panose="020B0606030504020204" pitchFamily="34" charset="0"/>
          <a:ea typeface="Open Sans" panose="020B0606030504020204" pitchFamily="34" charset="0"/>
          <a:cs typeface="Open Sans" panose="020B0606030504020204" pitchFamily="34" charset="0"/>
        </a:defRPr>
      </a:lvl5pPr>
      <a:lvl6pPr marL="2514474"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52"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29"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06" indent="-228589" algn="l" defTabSz="914354"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p>
        </p:txBody>
      </p:sp>
      <p:sp>
        <p:nvSpPr>
          <p:cNvPr id="3" name="מציין מיקום טקסט 2"/>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ערוך סגנונות טקסט של תבנית בסיס</a:t>
            </a:r>
          </a:p>
          <a:p>
            <a:pPr lvl="1"/>
            <a:r>
              <a:rPr lang="he-IL"/>
              <a:t>רמה שניה</a:t>
            </a:r>
          </a:p>
          <a:p>
            <a:pPr lvl="2"/>
            <a:r>
              <a:rPr lang="he-IL"/>
              <a:t>רמה שלישית</a:t>
            </a:r>
          </a:p>
          <a:p>
            <a:pPr lvl="3"/>
            <a:r>
              <a:rPr lang="he-IL"/>
              <a:t>רמה רביעית</a:t>
            </a:r>
          </a:p>
          <a:p>
            <a:pPr lvl="4"/>
            <a:r>
              <a:rPr lang="he-IL"/>
              <a:t>רמה חמישית</a:t>
            </a:r>
          </a:p>
        </p:txBody>
      </p:sp>
      <p:sp>
        <p:nvSpPr>
          <p:cNvPr id="4" name="מציין מיקום של תאריך 3"/>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FEAC0E7-32C7-4E82-92B9-72126B9181D3}" type="datetimeFigureOut">
              <a:rPr lang="he-IL" smtClean="0"/>
              <a:t>י"ב/אלול/תשפ"ד</a:t>
            </a:fld>
            <a:endParaRPr lang="he-IL"/>
          </a:p>
        </p:txBody>
      </p:sp>
      <p:sp>
        <p:nvSpPr>
          <p:cNvPr id="5" name="מציין מיקום של כותרת תחתונה 4"/>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he-IL"/>
          </a:p>
        </p:txBody>
      </p:sp>
      <p:sp>
        <p:nvSpPr>
          <p:cNvPr id="6" name="מציין מיקום של מספר שקופית 5"/>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F1ADDDE0-F1A9-41B4-86DC-E77A023621AA}" type="slidenum">
              <a:rPr lang="he-IL" smtClean="0"/>
              <a:t>‹#›</a:t>
            </a:fld>
            <a:endParaRPr lang="he-IL"/>
          </a:p>
        </p:txBody>
      </p:sp>
    </p:spTree>
    <p:extLst>
      <p:ext uri="{BB962C8B-B14F-4D97-AF65-F5344CB8AC3E}">
        <p14:creationId xmlns:p14="http://schemas.microsoft.com/office/powerpoint/2010/main" val="90105600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7" r:id="rId15"/>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7637885"/>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43E0E55-5966-44E5-CB4B-EF51F5AF61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4C0309B5-F86F-1634-7850-E74717823C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6C1717E3-9107-91BA-CC70-5879A5173C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3EEBBC-ABA3-4986-BADD-25CEF1780B3F}" type="datetimeFigureOut">
              <a:rPr lang="en-IL" smtClean="0"/>
              <a:t>09/15/2024</a:t>
            </a:fld>
            <a:endParaRPr lang="en-IL"/>
          </a:p>
        </p:txBody>
      </p:sp>
      <p:sp>
        <p:nvSpPr>
          <p:cNvPr id="5" name="Footer Placeholder 4">
            <a:extLst>
              <a:ext uri="{FF2B5EF4-FFF2-40B4-BE49-F238E27FC236}">
                <a16:creationId xmlns:a16="http://schemas.microsoft.com/office/drawing/2014/main" id="{094327C3-2342-AD97-A9CE-61D007A53D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63742C5D-EED8-B4A6-F9F8-462FF01C32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DCA44E-2ADE-44FA-8298-8822ECEE41B1}" type="slidenum">
              <a:rPr lang="en-IL" smtClean="0"/>
              <a:t>‹#›</a:t>
            </a:fld>
            <a:endParaRPr lang="en-IL"/>
          </a:p>
        </p:txBody>
      </p:sp>
    </p:spTree>
    <p:extLst>
      <p:ext uri="{BB962C8B-B14F-4D97-AF65-F5344CB8AC3E}">
        <p14:creationId xmlns:p14="http://schemas.microsoft.com/office/powerpoint/2010/main" val="23550450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8.xml"/><Relationship Id="rId5" Type="http://schemas.openxmlformats.org/officeDocument/2006/relationships/image" Target="../media/image12.png"/><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chart" Target="../charts/char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chart" Target="../charts/chart11.xml"/></Relationships>
</file>

<file path=ppt/slides/_rels/slide16.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chart" Target="../charts/chart13.xml"/></Relationships>
</file>

<file path=ppt/slides/_rels/slide17.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25.xml"/><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s>
</file>

<file path=ppt/slides/_rels/slide2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42.png"/><Relationship Id="rId12" Type="http://schemas.openxmlformats.org/officeDocument/2006/relationships/image" Target="../media/image46.jpeg"/><Relationship Id="rId2" Type="http://schemas.openxmlformats.org/officeDocument/2006/relationships/notesSlide" Target="../notesSlides/notesSlide26.xml"/><Relationship Id="rId1" Type="http://schemas.openxmlformats.org/officeDocument/2006/relationships/slideLayout" Target="../slideLayouts/slideLayout14.xml"/><Relationship Id="rId6" Type="http://schemas.openxmlformats.org/officeDocument/2006/relationships/image" Target="../media/image41.png"/><Relationship Id="rId11" Type="http://schemas.openxmlformats.org/officeDocument/2006/relationships/image" Target="../media/image39.png"/><Relationship Id="rId5" Type="http://schemas.openxmlformats.org/officeDocument/2006/relationships/image" Target="../media/image36.png"/><Relationship Id="rId10" Type="http://schemas.openxmlformats.org/officeDocument/2006/relationships/image" Target="../media/image45.png"/><Relationship Id="rId4" Type="http://schemas.microsoft.com/office/2007/relationships/hdphoto" Target="../media/hdphoto1.wdp"/><Relationship Id="rId9" Type="http://schemas.openxmlformats.org/officeDocument/2006/relationships/image" Target="../media/image44.png"/></Relationships>
</file>

<file path=ppt/slides/_rels/slide29.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4.png"/><Relationship Id="rId7" Type="http://schemas.openxmlformats.org/officeDocument/2006/relationships/diagramColors" Target="../diagrams/colors2.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3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9.jp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8.xml"/><Relationship Id="rId1" Type="http://schemas.openxmlformats.org/officeDocument/2006/relationships/slideLayout" Target="../slideLayouts/slideLayout24.xml"/><Relationship Id="rId6" Type="http://schemas.openxmlformats.org/officeDocument/2006/relationships/image" Target="../media/image59.svg"/><Relationship Id="rId5" Type="http://schemas.openxmlformats.org/officeDocument/2006/relationships/image" Target="../media/image57.png"/><Relationship Id="rId4"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42.xml"/><Relationship Id="rId4" Type="http://schemas.openxmlformats.org/officeDocument/2006/relationships/image" Target="../media/image59.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40.xml"/><Relationship Id="rId1" Type="http://schemas.openxmlformats.org/officeDocument/2006/relationships/slideLayout" Target="../slideLayouts/slideLayout26.xml"/><Relationship Id="rId6" Type="http://schemas.openxmlformats.org/officeDocument/2006/relationships/image" Target="../media/image59.svg"/><Relationship Id="rId5" Type="http://schemas.openxmlformats.org/officeDocument/2006/relationships/image" Target="../media/image57.png"/><Relationship Id="rId4" Type="http://schemas.openxmlformats.org/officeDocument/2006/relationships/image" Target="../media/image60.png"/></Relationships>
</file>

<file path=ppt/slides/_rels/slide43.xml.rels><?xml version="1.0" encoding="UTF-8" standalone="yes"?>
<Relationships xmlns="http://schemas.openxmlformats.org/package/2006/relationships"><Relationship Id="rId8" Type="http://schemas.openxmlformats.org/officeDocument/2006/relationships/image" Target="../media/image65.png"/><Relationship Id="rId3" Type="http://schemas.openxmlformats.org/officeDocument/2006/relationships/image" Target="../media/image61.png"/><Relationship Id="rId7" Type="http://schemas.openxmlformats.org/officeDocument/2006/relationships/image" Target="../media/image64.png"/><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63.png"/><Relationship Id="rId5" Type="http://schemas.microsoft.com/office/2007/relationships/hdphoto" Target="../media/hdphoto2.wdp"/><Relationship Id="rId4" Type="http://schemas.openxmlformats.org/officeDocument/2006/relationships/image" Target="../media/image62.png"/></Relationships>
</file>

<file path=ppt/slides/_rels/slide44.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1.png"/><Relationship Id="rId7" Type="http://schemas.openxmlformats.org/officeDocument/2006/relationships/image" Target="../media/image66.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63.png"/><Relationship Id="rId5" Type="http://schemas.microsoft.com/office/2007/relationships/hdphoto" Target="../media/hdphoto2.wdp"/><Relationship Id="rId4" Type="http://schemas.openxmlformats.org/officeDocument/2006/relationships/image" Target="../media/image62.png"/><Relationship Id="rId9" Type="http://schemas.openxmlformats.org/officeDocument/2006/relationships/image" Target="../media/image68.png"/></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3.xml"/><Relationship Id="rId1" Type="http://schemas.openxmlformats.org/officeDocument/2006/relationships/slideLayout" Target="../slideLayouts/slideLayout52.xml"/></Relationships>
</file>

<file path=ppt/slides/_rels/slide4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52.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5.xml"/><Relationship Id="rId1" Type="http://schemas.openxmlformats.org/officeDocument/2006/relationships/slideLayout" Target="../slideLayouts/slideLayout58.xml"/><Relationship Id="rId5" Type="http://schemas.openxmlformats.org/officeDocument/2006/relationships/image" Target="../media/image14.png"/><Relationship Id="rId4" Type="http://schemas.openxmlformats.org/officeDocument/2006/relationships/image" Target="../media/image71.jpeg"/></Relationships>
</file>

<file path=ppt/slides/_rels/slide4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76.svg"/><Relationship Id="rId5" Type="http://schemas.openxmlformats.org/officeDocument/2006/relationships/image" Target="../media/image73.png"/><Relationship Id="rId4" Type="http://schemas.openxmlformats.org/officeDocument/2006/relationships/image" Target="../media/image75.svg"/></Relationships>
</file>

<file path=ppt/slides/_rels/slide49.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4.png"/><Relationship Id="rId7" Type="http://schemas.openxmlformats.org/officeDocument/2006/relationships/image" Target="../media/image76.png"/><Relationship Id="rId2" Type="http://schemas.openxmlformats.org/officeDocument/2006/relationships/notesSlide" Target="../notesSlides/notesSlide47.xml"/><Relationship Id="rId1" Type="http://schemas.openxmlformats.org/officeDocument/2006/relationships/slideLayout" Target="../slideLayouts/slideLayout15.xml"/><Relationship Id="rId6" Type="http://schemas.openxmlformats.org/officeDocument/2006/relationships/image" Target="../media/image80.svg"/><Relationship Id="rId5" Type="http://schemas.openxmlformats.org/officeDocument/2006/relationships/image" Target="../media/image75.png"/><Relationship Id="rId4" Type="http://schemas.openxmlformats.org/officeDocument/2006/relationships/image" Target="../media/image78.svg"/></Relationships>
</file>

<file path=ppt/slides/_rels/slide5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0.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53.xml"/><Relationship Id="rId1" Type="http://schemas.openxmlformats.org/officeDocument/2006/relationships/slideLayout" Target="../slideLayouts/slideLayout7.xml"/><Relationship Id="rId4" Type="http://schemas.openxmlformats.org/officeDocument/2006/relationships/image" Target="../media/image82.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83.emf"/><Relationship Id="rId4" Type="http://schemas.openxmlformats.org/officeDocument/2006/relationships/oleObject" Target="../embeddings/oleObject1.bin"/></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chart" Target="../charts/chart20.xml"/><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C3A8A34-8E95-4761-8ACE-97368FE7CAE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1" b="-1"/>
          <a:stretch/>
        </p:blipFill>
        <p:spPr>
          <a:xfrm>
            <a:off x="0" y="0"/>
            <a:ext cx="12192000" cy="6858000"/>
          </a:xfrm>
          <a:prstGeom prst="rect">
            <a:avLst/>
          </a:prstGeom>
        </p:spPr>
      </p:pic>
      <p:pic>
        <p:nvPicPr>
          <p:cNvPr id="4" name="Picture 2" descr="סמל מדינת ישראל – ויקיפדיה">
            <a:extLst>
              <a:ext uri="{FF2B5EF4-FFF2-40B4-BE49-F238E27FC236}">
                <a16:creationId xmlns:a16="http://schemas.microsoft.com/office/drawing/2014/main" id="{C4C9262C-B50B-4DDF-A8CC-F0BC81F9A42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7231" y="180024"/>
            <a:ext cx="537309" cy="66700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קובץ:Ministry of Labor, Social Affairs and Social Services ...">
            <a:extLst>
              <a:ext uri="{FF2B5EF4-FFF2-40B4-BE49-F238E27FC236}">
                <a16:creationId xmlns:a16="http://schemas.microsoft.com/office/drawing/2014/main" id="{417C9674-EA89-45FD-8F19-3A311B2CFAB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0362" y="203077"/>
            <a:ext cx="2136568" cy="58254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11">
            <a:extLst>
              <a:ext uri="{FF2B5EF4-FFF2-40B4-BE49-F238E27FC236}">
                <a16:creationId xmlns:a16="http://schemas.microsoft.com/office/drawing/2014/main" id="{0CFF6A6F-DA81-2985-5E52-420671A00C0E}"/>
              </a:ext>
            </a:extLst>
          </p:cNvPr>
          <p:cNvSpPr/>
          <p:nvPr/>
        </p:nvSpPr>
        <p:spPr>
          <a:xfrm>
            <a:off x="8304824" y="-5235"/>
            <a:ext cx="3884604" cy="6857999"/>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a:p>
            <a:endParaRPr lang="he-IL" dirty="0"/>
          </a:p>
        </p:txBody>
      </p:sp>
      <p:sp>
        <p:nvSpPr>
          <p:cNvPr id="21" name="Rectangle 2">
            <a:extLst>
              <a:ext uri="{FF2B5EF4-FFF2-40B4-BE49-F238E27FC236}">
                <a16:creationId xmlns:a16="http://schemas.microsoft.com/office/drawing/2014/main" id="{CB6768FB-DD51-A127-0D57-B54B87C252B4}"/>
              </a:ext>
            </a:extLst>
          </p:cNvPr>
          <p:cNvSpPr/>
          <p:nvPr/>
        </p:nvSpPr>
        <p:spPr>
          <a:xfrm>
            <a:off x="5411399" y="1887039"/>
            <a:ext cx="6096000" cy="4401205"/>
          </a:xfrm>
          <a:prstGeom prst="rect">
            <a:avLst/>
          </a:prstGeom>
        </p:spPr>
        <p:txBody>
          <a:bodyPr>
            <a:spAutoFit/>
          </a:bodyPr>
          <a:lstStyle/>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רקע ותמונת מצב </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ההזדמנות לשינוי בסיעוד</a:t>
            </a: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מהלכים וכיוונים קדימה</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נתונים </a:t>
            </a:r>
          </a:p>
          <a:p>
            <a:pPr>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זמן לשאלות</a:t>
            </a:r>
          </a:p>
          <a:p>
            <a:pPr lvl="0" algn="r" rtl="1">
              <a:lnSpc>
                <a:spcPct val="200000"/>
              </a:lnSpc>
              <a:defRPr/>
            </a:pPr>
            <a:endPar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endParaRPr>
          </a:p>
        </p:txBody>
      </p:sp>
      <p:cxnSp>
        <p:nvCxnSpPr>
          <p:cNvPr id="23" name="Straight Connector 8">
            <a:extLst>
              <a:ext uri="{FF2B5EF4-FFF2-40B4-BE49-F238E27FC236}">
                <a16:creationId xmlns:a16="http://schemas.microsoft.com/office/drawing/2014/main" id="{110DC787-51C2-E8D7-C0A8-268B6D481B42}"/>
              </a:ext>
            </a:extLst>
          </p:cNvPr>
          <p:cNvCxnSpPr>
            <a:cxnSpLocks/>
            <a:stCxn id="26" idx="4"/>
          </p:cNvCxnSpPr>
          <p:nvPr/>
        </p:nvCxnSpPr>
        <p:spPr>
          <a:xfrm>
            <a:off x="11667048" y="2441539"/>
            <a:ext cx="8597" cy="2944415"/>
          </a:xfrm>
          <a:prstGeom prst="line">
            <a:avLst/>
          </a:prstGeom>
          <a:ln w="38100">
            <a:solidFill>
              <a:srgbClr val="3F5D76"/>
            </a:solidFill>
          </a:ln>
        </p:spPr>
        <p:style>
          <a:lnRef idx="1">
            <a:schemeClr val="accent1"/>
          </a:lnRef>
          <a:fillRef idx="0">
            <a:schemeClr val="accent1"/>
          </a:fillRef>
          <a:effectRef idx="0">
            <a:schemeClr val="accent1"/>
          </a:effectRef>
          <a:fontRef idx="minor">
            <a:schemeClr val="tx1"/>
          </a:fontRef>
        </p:style>
      </p:cxnSp>
      <p:sp>
        <p:nvSpPr>
          <p:cNvPr id="24" name="Oval 3">
            <a:extLst>
              <a:ext uri="{FF2B5EF4-FFF2-40B4-BE49-F238E27FC236}">
                <a16:creationId xmlns:a16="http://schemas.microsoft.com/office/drawing/2014/main" id="{C6B90D2A-56C6-3C8C-2626-B7E6089292FB}"/>
              </a:ext>
            </a:extLst>
          </p:cNvPr>
          <p:cNvSpPr/>
          <p:nvPr/>
        </p:nvSpPr>
        <p:spPr>
          <a:xfrm>
            <a:off x="11541048" y="2798871"/>
            <a:ext cx="252000" cy="252000"/>
          </a:xfrm>
          <a:prstGeom prst="ellipse">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5" name="Oval 5">
            <a:extLst>
              <a:ext uri="{FF2B5EF4-FFF2-40B4-BE49-F238E27FC236}">
                <a16:creationId xmlns:a16="http://schemas.microsoft.com/office/drawing/2014/main" id="{D798832D-0DBD-6E87-872F-28DBD5045E60}"/>
              </a:ext>
            </a:extLst>
          </p:cNvPr>
          <p:cNvSpPr/>
          <p:nvPr/>
        </p:nvSpPr>
        <p:spPr>
          <a:xfrm>
            <a:off x="11541048" y="3408203"/>
            <a:ext cx="252000" cy="25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6" name="Oval 7">
            <a:extLst>
              <a:ext uri="{FF2B5EF4-FFF2-40B4-BE49-F238E27FC236}">
                <a16:creationId xmlns:a16="http://schemas.microsoft.com/office/drawing/2014/main" id="{641F3CBF-5927-ABD6-A432-443DCE04B3F8}"/>
              </a:ext>
            </a:extLst>
          </p:cNvPr>
          <p:cNvSpPr/>
          <p:nvPr/>
        </p:nvSpPr>
        <p:spPr>
          <a:xfrm>
            <a:off x="11541048" y="2189539"/>
            <a:ext cx="252000" cy="25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7" name="Oval 12">
            <a:extLst>
              <a:ext uri="{FF2B5EF4-FFF2-40B4-BE49-F238E27FC236}">
                <a16:creationId xmlns:a16="http://schemas.microsoft.com/office/drawing/2014/main" id="{8A8D4CAD-25E1-79B3-9CD9-F5EFFF5C8BAA}"/>
              </a:ext>
            </a:extLst>
          </p:cNvPr>
          <p:cNvSpPr/>
          <p:nvPr/>
        </p:nvSpPr>
        <p:spPr>
          <a:xfrm>
            <a:off x="11541048" y="4017535"/>
            <a:ext cx="252000" cy="2520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8" name="Oval 9">
            <a:extLst>
              <a:ext uri="{FF2B5EF4-FFF2-40B4-BE49-F238E27FC236}">
                <a16:creationId xmlns:a16="http://schemas.microsoft.com/office/drawing/2014/main" id="{45C90494-62D2-599F-30EA-7652EE4A3D67}"/>
              </a:ext>
            </a:extLst>
          </p:cNvPr>
          <p:cNvSpPr/>
          <p:nvPr/>
        </p:nvSpPr>
        <p:spPr>
          <a:xfrm>
            <a:off x="11549645" y="4626867"/>
            <a:ext cx="252000" cy="2520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29" name="מלבן 28">
            <a:extLst>
              <a:ext uri="{FF2B5EF4-FFF2-40B4-BE49-F238E27FC236}">
                <a16:creationId xmlns:a16="http://schemas.microsoft.com/office/drawing/2014/main" id="{943C13C5-DA7B-1F3B-6E30-B027F30A39C7}"/>
              </a:ext>
            </a:extLst>
          </p:cNvPr>
          <p:cNvSpPr/>
          <p:nvPr/>
        </p:nvSpPr>
        <p:spPr>
          <a:xfrm>
            <a:off x="2852961" y="5085798"/>
            <a:ext cx="6096000" cy="461665"/>
          </a:xfrm>
          <a:prstGeom prst="rect">
            <a:avLst/>
          </a:prstGeom>
        </p:spPr>
        <p:txBody>
          <a:bodyPr>
            <a:spAutoFit/>
          </a:bodyPr>
          <a:lstStyle/>
          <a:p>
            <a:pPr algn="ctr"/>
            <a:endParaRPr lang="he-IL" sz="2400" b="1" dirty="0">
              <a:solidFill>
                <a:srgbClr val="FFF8E5"/>
              </a:solidFill>
            </a:endParaRPr>
          </a:p>
        </p:txBody>
      </p:sp>
      <p:sp>
        <p:nvSpPr>
          <p:cNvPr id="30" name="מלבן 29">
            <a:extLst>
              <a:ext uri="{FF2B5EF4-FFF2-40B4-BE49-F238E27FC236}">
                <a16:creationId xmlns:a16="http://schemas.microsoft.com/office/drawing/2014/main" id="{901BC5B6-E979-0A2C-3403-04EDD64FB464}"/>
              </a:ext>
            </a:extLst>
          </p:cNvPr>
          <p:cNvSpPr/>
          <p:nvPr/>
        </p:nvSpPr>
        <p:spPr>
          <a:xfrm>
            <a:off x="8140110" y="203077"/>
            <a:ext cx="4214031" cy="1877437"/>
          </a:xfrm>
          <a:prstGeom prst="rect">
            <a:avLst/>
          </a:prstGeom>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he-IL" sz="4400" b="1" kern="0" dirty="0">
                <a:solidFill>
                  <a:schemeClr val="bg1"/>
                </a:solidFill>
                <a:latin typeface="+mj-lt"/>
                <a:ea typeface="+mj-ea"/>
              </a:rPr>
              <a:t>חוק סיעוד</a:t>
            </a:r>
          </a:p>
          <a:p>
            <a:pPr marL="0" marR="0" lvl="0" indent="0" algn="ctr" defTabSz="914400" eaLnBrk="1" fontAlgn="auto" latinLnBrk="0" hangingPunct="1">
              <a:lnSpc>
                <a:spcPct val="100000"/>
              </a:lnSpc>
              <a:spcBef>
                <a:spcPts val="0"/>
              </a:spcBef>
              <a:spcAft>
                <a:spcPts val="0"/>
              </a:spcAft>
              <a:buClrTx/>
              <a:buSzTx/>
              <a:buFontTx/>
              <a:buNone/>
              <a:tabLst/>
              <a:defRPr/>
            </a:pPr>
            <a:r>
              <a:rPr lang="he-IL" sz="3600" b="1" kern="0" dirty="0">
                <a:solidFill>
                  <a:schemeClr val="bg1"/>
                </a:solidFill>
                <a:latin typeface="+mj-lt"/>
                <a:ea typeface="+mj-ea"/>
              </a:rPr>
              <a:t>הבעיות וההזדמנות לשינוי</a:t>
            </a:r>
          </a:p>
        </p:txBody>
      </p:sp>
      <p:sp>
        <p:nvSpPr>
          <p:cNvPr id="31" name="Oval 9">
            <a:extLst>
              <a:ext uri="{FF2B5EF4-FFF2-40B4-BE49-F238E27FC236}">
                <a16:creationId xmlns:a16="http://schemas.microsoft.com/office/drawing/2014/main" id="{C44003DF-7173-ABEA-A639-89EF7933062D}"/>
              </a:ext>
            </a:extLst>
          </p:cNvPr>
          <p:cNvSpPr/>
          <p:nvPr/>
        </p:nvSpPr>
        <p:spPr>
          <a:xfrm>
            <a:off x="11541048" y="5200724"/>
            <a:ext cx="252000" cy="2520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32" name="תיבת טקסט 31">
            <a:extLst>
              <a:ext uri="{FF2B5EF4-FFF2-40B4-BE49-F238E27FC236}">
                <a16:creationId xmlns:a16="http://schemas.microsoft.com/office/drawing/2014/main" id="{42EDC273-11FF-3182-DC87-A939D0E32708}"/>
              </a:ext>
            </a:extLst>
          </p:cNvPr>
          <p:cNvSpPr txBox="1"/>
          <p:nvPr/>
        </p:nvSpPr>
        <p:spPr>
          <a:xfrm>
            <a:off x="4306427" y="3826459"/>
            <a:ext cx="4759937" cy="1852815"/>
          </a:xfrm>
          <a:prstGeom prst="rect">
            <a:avLst/>
          </a:prstGeom>
          <a:noFill/>
        </p:spPr>
        <p:txBody>
          <a:bodyPr wrap="square">
            <a:spAutoFit/>
          </a:bodyPr>
          <a:lstStyle/>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a:lnSpc>
                <a:spcPct val="200000"/>
              </a:lnSpc>
              <a:defRPr/>
            </a:pP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a:p>
            <a:pPr lvl="0" algn="r" rtl="1">
              <a:lnSpc>
                <a:spcPct val="200000"/>
              </a:lnSpc>
              <a:defRPr/>
            </a:pPr>
            <a:r>
              <a:rPr lang="he-IL" sz="2000" b="1" dirty="0">
                <a:solidFill>
                  <a:schemeClr val="bg1"/>
                </a:solidFill>
                <a:latin typeface="Calibri" panose="020F0502020204030204" pitchFamily="34" charset="0"/>
                <a:ea typeface="Open Sans" panose="020B0606030504020204" pitchFamily="34" charset="0"/>
                <a:cs typeface="Calibri" panose="020F0502020204030204" pitchFamily="34" charset="0"/>
              </a:rPr>
              <a:t> </a:t>
            </a:r>
            <a:endParaRPr lang="he-IL" sz="2000" b="1" dirty="0">
              <a:solidFill>
                <a:schemeClr val="bg1"/>
              </a:solidFill>
              <a:highlight>
                <a:srgbClr val="FFFF00"/>
              </a:highlight>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7355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048F64CC-CE0C-8843-B759-4B60C810D846}"/>
              </a:ext>
            </a:extLst>
          </p:cNvPr>
          <p:cNvSpPr txBox="1">
            <a:spLocks/>
          </p:cNvSpPr>
          <p:nvPr/>
        </p:nvSpPr>
        <p:spPr>
          <a:xfrm>
            <a:off x="0" y="78184"/>
            <a:ext cx="12192000" cy="769441"/>
          </a:xfrm>
          <a:prstGeom prst="rect">
            <a:avLst/>
          </a:prstGeom>
          <a:solidFill>
            <a:srgbClr val="FEFCE3"/>
          </a:solidFill>
        </p:spPr>
        <p:txBody>
          <a:bodyPr/>
          <a:lstStyle>
            <a:lvl1pPr algn="r" defTabSz="914354" rtl="0" eaLnBrk="1" latinLnBrk="0" hangingPunct="1">
              <a:spcBef>
                <a:spcPct val="0"/>
              </a:spcBef>
              <a:buNone/>
              <a:defRPr lang="en-US" sz="4000" b="1" kern="1200" cap="all" normalizeH="0" baseline="0" dirty="0">
                <a:solidFill>
                  <a:srgbClr val="2F3A46"/>
                </a:solidFill>
                <a:latin typeface="Open Sans" panose="020B0606030504020204" pitchFamily="34" charset="0"/>
                <a:ea typeface="Open Sans" panose="020B0606030504020204" pitchFamily="34" charset="0"/>
                <a:cs typeface="Open Sans" panose="020B0606030504020204" pitchFamily="34" charset="0"/>
              </a:defRPr>
            </a:lvl1pPr>
          </a:lstStyle>
          <a:p>
            <a:pPr algn="ctr">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מטרות חוק סיעוד </a:t>
            </a:r>
            <a:r>
              <a:rPr lang="he-IL" sz="1600" dirty="0">
                <a:solidFill>
                  <a:schemeClr val="accent6"/>
                </a:solidFill>
              </a:rPr>
              <a:t>1980</a:t>
            </a:r>
            <a:endParaRPr lang="he-IL" sz="4400" dirty="0">
              <a:solidFill>
                <a:schemeClr val="accent6"/>
              </a:solidFill>
            </a:endParaRPr>
          </a:p>
          <a:p>
            <a:pPr marL="0" marR="0" lvl="0" indent="0" algn="ctr" defTabSz="914354" rtl="0" eaLnBrk="1" fontAlgn="auto" latinLnBrk="0" hangingPunct="1">
              <a:lnSpc>
                <a:spcPct val="100000"/>
              </a:lnSpc>
              <a:spcBef>
                <a:spcPct val="0"/>
              </a:spcBef>
              <a:spcAft>
                <a:spcPts val="0"/>
              </a:spcAft>
              <a:buClrTx/>
              <a:buSzTx/>
              <a:buFontTx/>
              <a:buNone/>
              <a:tabLst/>
              <a:defRPr/>
            </a:pPr>
            <a:r>
              <a:rPr kumimoji="0" lang="he-IL" sz="4400" b="1" i="0" u="none" strike="noStrike" kern="1200" cap="none" spc="0" normalizeH="0" baseline="0" noProof="0" dirty="0">
                <a:ln>
                  <a:noFill/>
                </a:ln>
                <a:solidFill>
                  <a:prstClr val="black"/>
                </a:solidFill>
                <a:effectLst/>
                <a:uLnTx/>
                <a:uFillTx/>
                <a:latin typeface="Calibri"/>
                <a:ea typeface="+mj-ea"/>
                <a:cs typeface="Calibri"/>
              </a:rPr>
              <a:t> </a:t>
            </a:r>
            <a:endParaRPr kumimoji="0" lang="en-CA" sz="1200" b="1" i="0" u="none" strike="noStrike" kern="1200" cap="all" spc="0" normalizeH="0" baseline="0" noProof="0" dirty="0">
              <a:ln>
                <a:noFill/>
              </a:ln>
              <a:solidFill>
                <a:srgbClr val="2F3A46"/>
              </a:solidFill>
              <a:effectLst/>
              <a:uLnTx/>
              <a:uFillTx/>
              <a:latin typeface="Open Sans" panose="020B0606030504020204" pitchFamily="34" charset="0"/>
            </a:endParaRPr>
          </a:p>
        </p:txBody>
      </p:sp>
      <p:sp>
        <p:nvSpPr>
          <p:cNvPr id="10" name="Circle">
            <a:extLst>
              <a:ext uri="{FF2B5EF4-FFF2-40B4-BE49-F238E27FC236}">
                <a16:creationId xmlns:a16="http://schemas.microsoft.com/office/drawing/2014/main" id="{8E771A2D-D39A-F945-8B3F-C0AE14B6EB07}"/>
              </a:ext>
            </a:extLst>
          </p:cNvPr>
          <p:cNvSpPr/>
          <p:nvPr/>
        </p:nvSpPr>
        <p:spPr>
          <a:xfrm>
            <a:off x="550077" y="1326613"/>
            <a:ext cx="3123207" cy="2496121"/>
          </a:xfrm>
          <a:prstGeom prst="ellipse">
            <a:avLst/>
          </a:prstGeom>
          <a:solidFill>
            <a:schemeClr val="accent4">
              <a:alpha val="70000"/>
            </a:schemeClr>
          </a:solidFill>
          <a:ln w="12700">
            <a:miter lim="400000"/>
          </a:ln>
        </p:spPr>
        <p:txBody>
          <a:bodyPr lIns="0" tIns="38100" rIns="0" bIns="3810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עצמאות ותפקוד בקהילה</a:t>
            </a:r>
          </a:p>
        </p:txBody>
      </p:sp>
      <p:sp>
        <p:nvSpPr>
          <p:cNvPr id="11" name="Circle">
            <a:extLst>
              <a:ext uri="{FF2B5EF4-FFF2-40B4-BE49-F238E27FC236}">
                <a16:creationId xmlns:a16="http://schemas.microsoft.com/office/drawing/2014/main" id="{BFA8BC08-2983-6C41-BCDA-7939F0275991}"/>
              </a:ext>
            </a:extLst>
          </p:cNvPr>
          <p:cNvSpPr/>
          <p:nvPr/>
        </p:nvSpPr>
        <p:spPr>
          <a:xfrm>
            <a:off x="3169888" y="1333041"/>
            <a:ext cx="3021591" cy="2563584"/>
          </a:xfrm>
          <a:prstGeom prst="ellipse">
            <a:avLst/>
          </a:prstGeom>
          <a:solidFill>
            <a:schemeClr val="accent6">
              <a:lumMod val="60000"/>
              <a:lumOff val="40000"/>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kumimoji="0" lang="he-IL" sz="3200" b="1" i="0" u="none" strike="noStrike" kern="1200" cap="none" spc="0" normalizeH="0" baseline="0" noProof="0" dirty="0">
                <a:ln>
                  <a:noFill/>
                </a:ln>
                <a:solidFill>
                  <a:srgbClr val="4B2C50"/>
                </a:solidFill>
                <a:effectLst/>
                <a:uLnTx/>
                <a:uFillTx/>
                <a:latin typeface="Calibri" panose="020F0502020204030204" pitchFamily="34" charset="0"/>
                <a:ea typeface="+mn-ea"/>
                <a:cs typeface="Calibri" panose="020F0502020204030204" pitchFamily="34" charset="0"/>
              </a:rPr>
              <a:t>חיים בכבוד ובביטחון </a:t>
            </a:r>
          </a:p>
        </p:txBody>
      </p:sp>
      <p:sp>
        <p:nvSpPr>
          <p:cNvPr id="12" name="Circle">
            <a:extLst>
              <a:ext uri="{FF2B5EF4-FFF2-40B4-BE49-F238E27FC236}">
                <a16:creationId xmlns:a16="http://schemas.microsoft.com/office/drawing/2014/main" id="{34F19EA4-628E-134F-AE5C-15E847C2E5B4}"/>
              </a:ext>
            </a:extLst>
          </p:cNvPr>
          <p:cNvSpPr/>
          <p:nvPr/>
        </p:nvSpPr>
        <p:spPr>
          <a:xfrm>
            <a:off x="2000186" y="3193696"/>
            <a:ext cx="2932361" cy="2393184"/>
          </a:xfrm>
          <a:prstGeom prst="ellipse">
            <a:avLst/>
          </a:prstGeom>
          <a:solidFill>
            <a:schemeClr val="accent2">
              <a:alpha val="70000"/>
            </a:schemeClr>
          </a:solidFill>
          <a:ln w="12700">
            <a:miter lim="400000"/>
          </a:ln>
        </p:spPr>
        <p:txBody>
          <a:bodyPr lIns="0" tIns="38100" rIns="0" bIns="38100" anchor="ctr"/>
          <a:lstStyle/>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lang="he-IL" sz="2800" b="1" dirty="0">
              <a:solidFill>
                <a:srgbClr val="4B2C50"/>
              </a:solidFill>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r>
              <a:rPr lang="he-IL" sz="2800" b="1" dirty="0">
                <a:solidFill>
                  <a:srgbClr val="4B2C50"/>
                </a:solidFill>
                <a:latin typeface="Calibri" panose="020F0502020204030204" pitchFamily="34" charset="0"/>
                <a:cs typeface="Calibri" panose="020F0502020204030204" pitchFamily="34" charset="0"/>
              </a:rPr>
              <a:t>מערך שירותי סיעוד תומך ונגיש</a:t>
            </a:r>
            <a:endParaRPr kumimoji="0" lang="he-IL" sz="2800" b="1" i="0" u="none" strike="noStrike" kern="1200" cap="none" spc="0" normalizeH="0" baseline="0" noProof="0" dirty="0">
              <a:ln>
                <a:noFill/>
              </a:ln>
              <a:solidFill>
                <a:srgbClr val="4B2C50"/>
              </a:solidFill>
              <a:effectLst/>
              <a:uLnTx/>
              <a:uFillTx/>
              <a:latin typeface="Calibri" panose="020F0502020204030204" pitchFamily="34" charset="0"/>
              <a:cs typeface="Calibri" panose="020F0502020204030204" pitchFamily="34" charset="0"/>
            </a:endParaRPr>
          </a:p>
          <a:p>
            <a:pPr marL="0" marR="0" lvl="0" indent="0" algn="ctr" defTabSz="914354" rtl="0" eaLnBrk="1" fontAlgn="auto" latinLnBrk="0" hangingPunct="1">
              <a:lnSpc>
                <a:spcPct val="100000"/>
              </a:lnSpc>
              <a:spcBef>
                <a:spcPts val="0"/>
              </a:spcBef>
              <a:spcAft>
                <a:spcPts val="0"/>
              </a:spcAft>
              <a:buClrTx/>
              <a:buSzTx/>
              <a:buFontTx/>
              <a:buNone/>
              <a:tabLst/>
              <a:defRPr sz="3000">
                <a:solidFill>
                  <a:srgbClr val="FFFFFF"/>
                </a:solidFill>
              </a:defRPr>
            </a:pPr>
            <a:endParaRPr kumimoji="0" sz="2400" b="0" i="0" u="none" strike="noStrike" kern="1200" cap="none" spc="0" normalizeH="0" baseline="0" noProof="0" dirty="0">
              <a:ln>
                <a:noFill/>
              </a:ln>
              <a:solidFill>
                <a:srgbClr val="2C3E50"/>
              </a:solidFill>
              <a:effectLst/>
              <a:uLnTx/>
              <a:uFillTx/>
              <a:latin typeface="Calibri" panose="020F0502020204030204" pitchFamily="34" charset="0"/>
              <a:ea typeface="+mn-ea"/>
              <a:cs typeface="Calibri" panose="020F0502020204030204" pitchFamily="34" charset="0"/>
            </a:endParaRPr>
          </a:p>
        </p:txBody>
      </p:sp>
      <p:sp>
        <p:nvSpPr>
          <p:cNvPr id="2" name="מלבן 1"/>
          <p:cNvSpPr/>
          <p:nvPr/>
        </p:nvSpPr>
        <p:spPr>
          <a:xfrm>
            <a:off x="5756747" y="3896625"/>
            <a:ext cx="5973339" cy="2523768"/>
          </a:xfrm>
          <a:prstGeom prst="rect">
            <a:avLst/>
          </a:prstGeom>
        </p:spPr>
        <p:txBody>
          <a:bodyPr wrap="square">
            <a:spAutoFit/>
          </a:bodyPr>
          <a:lstStyle/>
          <a:p>
            <a:endParaRPr lang="he-IL" b="1" dirty="0">
              <a:solidFill>
                <a:schemeClr val="accent6"/>
              </a:solidFill>
            </a:endParaRPr>
          </a:p>
          <a:p>
            <a:r>
              <a:rPr lang="he-IL" b="1" dirty="0">
                <a:solidFill>
                  <a:schemeClr val="accent6"/>
                </a:solidFill>
              </a:rPr>
              <a:t>המטרות בחוק גמלת הסיעוד:</a:t>
            </a:r>
          </a:p>
          <a:p>
            <a:endParaRPr lang="he-IL" sz="1050" dirty="0"/>
          </a:p>
          <a:p>
            <a:pPr>
              <a:lnSpc>
                <a:spcPct val="150000"/>
              </a:lnSpc>
            </a:pPr>
            <a:r>
              <a:rPr lang="he-IL" b="1" dirty="0">
                <a:solidFill>
                  <a:schemeClr val="accent6"/>
                </a:solidFill>
              </a:rPr>
              <a:t>1. הבטחת חיים בכבוד ובביטחון כלכלי לזקנים הזקוקים לסיוע.</a:t>
            </a:r>
            <a:endParaRPr lang="he-IL" dirty="0">
              <a:solidFill>
                <a:schemeClr val="accent6"/>
              </a:solidFill>
            </a:endParaRPr>
          </a:p>
          <a:p>
            <a:pPr>
              <a:lnSpc>
                <a:spcPct val="150000"/>
              </a:lnSpc>
            </a:pPr>
            <a:r>
              <a:rPr lang="he-IL" b="1" dirty="0">
                <a:solidFill>
                  <a:schemeClr val="accent6"/>
                </a:solidFill>
              </a:rPr>
              <a:t>2. עידוד עצמאות ותפקוד בקהילה של זקנים.</a:t>
            </a:r>
            <a:endParaRPr lang="he-IL" dirty="0">
              <a:solidFill>
                <a:schemeClr val="accent6"/>
              </a:solidFill>
            </a:endParaRPr>
          </a:p>
          <a:p>
            <a:pPr>
              <a:lnSpc>
                <a:spcPct val="150000"/>
              </a:lnSpc>
            </a:pPr>
            <a:r>
              <a:rPr lang="he-IL" b="1" dirty="0">
                <a:solidFill>
                  <a:schemeClr val="accent6"/>
                </a:solidFill>
              </a:rPr>
              <a:t>3. פיתוח מערכת שירותי סיעוד איכותית ונגישה לכולם.</a:t>
            </a:r>
          </a:p>
          <a:p>
            <a:pPr>
              <a:lnSpc>
                <a:spcPct val="150000"/>
              </a:lnSpc>
            </a:pPr>
            <a:r>
              <a:rPr lang="he-IL" dirty="0">
                <a:solidFill>
                  <a:schemeClr val="accent6"/>
                </a:solidFill>
              </a:rPr>
              <a:t>מקור: חוק גמלת הסיעוד, תשנ"ו-1995</a:t>
            </a:r>
          </a:p>
        </p:txBody>
      </p:sp>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2980B9"/>
              </a:solidFill>
            </a:endParaRPr>
          </a:p>
        </p:txBody>
      </p:sp>
      <p:sp>
        <p:nvSpPr>
          <p:cNvPr id="14" name="מלבן 1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14"/>
          <p:cNvSpPr txBox="1"/>
          <p:nvPr/>
        </p:nvSpPr>
        <p:spPr>
          <a:xfrm rot="16200000">
            <a:off x="-641174" y="724559"/>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610044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תרשים 4"/>
          <p:cNvGraphicFramePr>
            <a:graphicFrameLocks/>
          </p:cNvGraphicFramePr>
          <p:nvPr>
            <p:extLst>
              <p:ext uri="{D42A27DB-BD31-4B8C-83A1-F6EECF244321}">
                <p14:modId xmlns:p14="http://schemas.microsoft.com/office/powerpoint/2010/main" val="3218297433"/>
              </p:ext>
            </p:extLst>
          </p:nvPr>
        </p:nvGraphicFramePr>
        <p:xfrm>
          <a:off x="1244338" y="1121790"/>
          <a:ext cx="9841583" cy="4911365"/>
        </p:xfrm>
        <a:graphic>
          <a:graphicData uri="http://schemas.openxmlformats.org/drawingml/2006/chart">
            <c:chart xmlns:c="http://schemas.openxmlformats.org/drawingml/2006/chart" xmlns:r="http://schemas.openxmlformats.org/officeDocument/2006/relationships" r:id="rId3"/>
          </a:graphicData>
        </a:graphic>
      </p:graphicFrame>
      <p:sp>
        <p:nvSpPr>
          <p:cNvPr id="3" name="מלבן 2"/>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4" name="TextBox 3"/>
          <p:cNvSpPr txBox="1"/>
          <p:nvPr/>
        </p:nvSpPr>
        <p:spPr>
          <a:xfrm rot="16200000">
            <a:off x="-641742" y="67948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0250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7" name="אליפסה 16"/>
          <p:cNvSpPr/>
          <p:nvPr/>
        </p:nvSpPr>
        <p:spPr>
          <a:xfrm>
            <a:off x="4443391" y="3442167"/>
            <a:ext cx="1274325" cy="1263785"/>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3" name="אליפסה 2"/>
          <p:cNvSpPr/>
          <p:nvPr/>
        </p:nvSpPr>
        <p:spPr>
          <a:xfrm>
            <a:off x="10574448" y="1819373"/>
            <a:ext cx="1548422" cy="2254687"/>
          </a:xfrm>
          <a:prstGeom prst="ellipse">
            <a:avLst/>
          </a:prstGeom>
          <a:ln>
            <a:solidFill>
              <a:schemeClr val="accent2"/>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9" name="תמונה 8" descr="C:\Users\USER\Downloads\עיצוב ללא שם (1).png"/>
          <p:cNvPicPr/>
          <p:nvPr/>
        </p:nvPicPr>
        <p:blipFill rotWithShape="1">
          <a:blip r:embed="rId3" cstate="print">
            <a:extLst>
              <a:ext uri="{28A0092B-C50C-407E-A947-70E740481C1C}">
                <a14:useLocalDpi xmlns:a14="http://schemas.microsoft.com/office/drawing/2010/main"/>
              </a:ext>
            </a:extLst>
          </a:blip>
          <a:srcRect/>
          <a:stretch/>
        </p:blipFill>
        <p:spPr bwMode="auto">
          <a:xfrm>
            <a:off x="9746655" y="5855497"/>
            <a:ext cx="1387633" cy="721652"/>
          </a:xfrm>
          <a:prstGeom prst="rect">
            <a:avLst/>
          </a:prstGeom>
          <a:noFill/>
          <a:ln>
            <a:noFill/>
          </a:ln>
          <a:extLst>
            <a:ext uri="{53640926-AAD7-44D8-BBD7-CCE9431645EC}">
              <a14:shadowObscured xmlns:a14="http://schemas.microsoft.com/office/drawing/2010/main"/>
            </a:ext>
          </a:extLst>
        </p:spPr>
      </p:pic>
      <p:pic>
        <p:nvPicPr>
          <p:cNvPr id="7" name="תמונה 6"/>
          <p:cNvPicPr>
            <a:picLocks noChangeAspect="1"/>
          </p:cNvPicPr>
          <p:nvPr/>
        </p:nvPicPr>
        <p:blipFill rotWithShape="1">
          <a:blip r:embed="rId4" cstate="print">
            <a:extLst>
              <a:ext uri="{28A0092B-C50C-407E-A947-70E740481C1C}">
                <a14:useLocalDpi xmlns:a14="http://schemas.microsoft.com/office/drawing/2010/main" val="0"/>
              </a:ext>
            </a:extLst>
          </a:blip>
          <a:srcRect l="68790"/>
          <a:stretch/>
        </p:blipFill>
        <p:spPr>
          <a:xfrm>
            <a:off x="11181769" y="5922593"/>
            <a:ext cx="753647" cy="654556"/>
          </a:xfrm>
          <a:prstGeom prst="rect">
            <a:avLst/>
          </a:prstGeom>
        </p:spPr>
      </p:pic>
      <p:sp>
        <p:nvSpPr>
          <p:cNvPr id="8" name="מלבן 7"/>
          <p:cNvSpPr/>
          <p:nvPr/>
        </p:nvSpPr>
        <p:spPr>
          <a:xfrm>
            <a:off x="0" y="0"/>
            <a:ext cx="195943" cy="6850955"/>
          </a:xfrm>
          <a:prstGeom prst="rect">
            <a:avLst/>
          </a:prstGeom>
          <a:solidFill>
            <a:srgbClr val="4C77D8"/>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itle 1">
            <a:extLst>
              <a:ext uri="{FF2B5EF4-FFF2-40B4-BE49-F238E27FC236}">
                <a16:creationId xmlns:a16="http://schemas.microsoft.com/office/drawing/2014/main" id="{E0DA82B0-6AAD-4FB1-8122-13E88F23FD3E}"/>
              </a:ext>
            </a:extLst>
          </p:cNvPr>
          <p:cNvSpPr>
            <a:spLocks noGrp="1"/>
          </p:cNvSpPr>
          <p:nvPr>
            <p:ph type="title"/>
          </p:nvPr>
        </p:nvSpPr>
        <p:spPr>
          <a:xfrm>
            <a:off x="2096515" y="1595827"/>
            <a:ext cx="9503232" cy="376239"/>
          </a:xfrm>
        </p:spPr>
        <p:txBody>
          <a:bodyPr>
            <a:noAutofit/>
          </a:bodyPr>
          <a:lstStyle/>
          <a:p>
            <a:pPr algn="ctr"/>
            <a:r>
              <a:rPr lang="he-IL" sz="2400" b="1" dirty="0">
                <a:solidFill>
                  <a:srgbClr val="0070C0"/>
                </a:solidFill>
                <a:latin typeface="Calibri" panose="020F0502020204030204" pitchFamily="34" charset="0"/>
                <a:cs typeface="Calibri" panose="020F0502020204030204" pitchFamily="34" charset="0"/>
              </a:rPr>
              <a:t>מספר ושיעור זכאי גמלת </a:t>
            </a:r>
            <a:r>
              <a:rPr lang="he-IL" sz="2800" b="1" dirty="0">
                <a:solidFill>
                  <a:srgbClr val="0070C0"/>
                </a:solidFill>
                <a:latin typeface="Calibri" panose="020F0502020204030204" pitchFamily="34" charset="0"/>
                <a:cs typeface="Calibri" panose="020F0502020204030204" pitchFamily="34" charset="0"/>
              </a:rPr>
              <a:t>סיעוד</a:t>
            </a:r>
            <a:r>
              <a:rPr lang="he-IL" sz="2400" b="1" dirty="0">
                <a:solidFill>
                  <a:srgbClr val="0070C0"/>
                </a:solidFill>
                <a:latin typeface="Calibri" panose="020F0502020204030204" pitchFamily="34" charset="0"/>
                <a:cs typeface="Calibri" panose="020F0502020204030204" pitchFamily="34" charset="0"/>
              </a:rPr>
              <a:t> לפי שנים</a:t>
            </a:r>
            <a:r>
              <a:rPr lang="en-US" b="1" dirty="0">
                <a:solidFill>
                  <a:srgbClr val="E3403B"/>
                </a:solidFill>
              </a:rPr>
              <a:t/>
            </a:r>
            <a:br>
              <a:rPr lang="en-US" b="1" dirty="0">
                <a:solidFill>
                  <a:srgbClr val="E3403B"/>
                </a:solidFill>
              </a:rPr>
            </a:br>
            <a:endParaRPr lang="he-IL" dirty="0"/>
          </a:p>
        </p:txBody>
      </p:sp>
      <p:graphicFrame>
        <p:nvGraphicFramePr>
          <p:cNvPr id="12" name="Content Placeholder 3">
            <a:extLst>
              <a:ext uri="{FF2B5EF4-FFF2-40B4-BE49-F238E27FC236}">
                <a16:creationId xmlns:a16="http://schemas.microsoft.com/office/drawing/2014/main" id="{107E15D4-FC29-448A-83AC-24A248EB1A6F}"/>
              </a:ext>
            </a:extLst>
          </p:cNvPr>
          <p:cNvGraphicFramePr>
            <a:graphicFrameLocks/>
          </p:cNvGraphicFramePr>
          <p:nvPr>
            <p:extLst>
              <p:ext uri="{D42A27DB-BD31-4B8C-83A1-F6EECF244321}">
                <p14:modId xmlns:p14="http://schemas.microsoft.com/office/powerpoint/2010/main" val="3318675100"/>
              </p:ext>
            </p:extLst>
          </p:nvPr>
        </p:nvGraphicFramePr>
        <p:xfrm>
          <a:off x="1111106" y="1438520"/>
          <a:ext cx="4469562" cy="3707547"/>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70876D51-5A83-46FA-A207-A8563AAFD5CA}"/>
              </a:ext>
            </a:extLst>
          </p:cNvPr>
          <p:cNvSpPr txBox="1"/>
          <p:nvPr/>
        </p:nvSpPr>
        <p:spPr>
          <a:xfrm>
            <a:off x="6692289" y="5304038"/>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a:t>
            </a:r>
            <a:r>
              <a:rPr lang="he-IL" sz="1400">
                <a:solidFill>
                  <a:srgbClr val="424F58">
                    <a:lumMod val="60000"/>
                    <a:lumOff val="40000"/>
                  </a:srgbClr>
                </a:solidFill>
                <a:latin typeface="Calibri"/>
                <a:cs typeface="Calibri"/>
              </a:rPr>
              <a:t>ירחון סטטיסטי, ביטוח לאומי</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 אוקטובר</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graphicFrame>
        <p:nvGraphicFramePr>
          <p:cNvPr id="14" name="Content Placeholder 3">
            <a:extLst>
              <a:ext uri="{FF2B5EF4-FFF2-40B4-BE49-F238E27FC236}">
                <a16:creationId xmlns:a16="http://schemas.microsoft.com/office/drawing/2014/main" id="{098FA174-A176-4DF3-BA94-8CBFBEDFC3E8}"/>
              </a:ext>
            </a:extLst>
          </p:cNvPr>
          <p:cNvGraphicFramePr>
            <a:graphicFrameLocks/>
          </p:cNvGraphicFramePr>
          <p:nvPr>
            <p:extLst>
              <p:ext uri="{D42A27DB-BD31-4B8C-83A1-F6EECF244321}">
                <p14:modId xmlns:p14="http://schemas.microsoft.com/office/powerpoint/2010/main" val="1236349702"/>
              </p:ext>
            </p:extLst>
          </p:nvPr>
        </p:nvGraphicFramePr>
        <p:xfrm>
          <a:off x="6258410" y="1443416"/>
          <a:ext cx="5553376" cy="3859958"/>
        </p:xfrm>
        <a:graphic>
          <a:graphicData uri="http://schemas.openxmlformats.org/drawingml/2006/chart">
            <c:chart xmlns:c="http://schemas.openxmlformats.org/drawingml/2006/chart" xmlns:r="http://schemas.openxmlformats.org/officeDocument/2006/relationships" r:id="rId6"/>
          </a:graphicData>
        </a:graphic>
      </p:graphicFrame>
      <p:sp>
        <p:nvSpPr>
          <p:cNvPr id="15" name="TextBox 14">
            <a:extLst>
              <a:ext uri="{FF2B5EF4-FFF2-40B4-BE49-F238E27FC236}">
                <a16:creationId xmlns:a16="http://schemas.microsoft.com/office/drawing/2014/main" id="{18D5639C-6BE8-30CD-D0D1-A358E9AA2E84}"/>
              </a:ext>
            </a:extLst>
          </p:cNvPr>
          <p:cNvSpPr txBox="1"/>
          <p:nvPr/>
        </p:nvSpPr>
        <p:spPr>
          <a:xfrm>
            <a:off x="1392132" y="5304039"/>
            <a:ext cx="3688422" cy="307777"/>
          </a:xfrm>
          <a:prstGeom prst="rect">
            <a:avLst/>
          </a:prstGeom>
          <a:noFill/>
        </p:spPr>
        <p:txBody>
          <a:bodyPr wrap="square" rtlCol="1">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מקור: בני +65 בישראל שנתון סטטיסטי,</a:t>
            </a:r>
            <a:r>
              <a:rPr kumimoji="0" lang="he-IL" sz="1200" b="0" i="0" u="none" strike="noStrike" kern="1200" cap="none" spc="0" normalizeH="0" baseline="0" noProof="0">
                <a:ln>
                  <a:noFill/>
                </a:ln>
                <a:solidFill>
                  <a:srgbClr val="424F58">
                    <a:lumMod val="60000"/>
                    <a:lumOff val="40000"/>
                  </a:srgbClr>
                </a:solidFill>
                <a:effectLst/>
                <a:uLnTx/>
                <a:uFillTx/>
                <a:latin typeface="Calibri"/>
                <a:ea typeface="+mn-ea"/>
                <a:cs typeface="Calibri"/>
              </a:rPr>
              <a:t> </a:t>
            </a: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Calibri"/>
              </a:rPr>
              <a:t>2022</a:t>
            </a:r>
            <a:endParaRPr kumimoji="0" lang="he-IL" sz="1600" b="0" i="0" u="none" strike="noStrike" kern="1200" cap="none" spc="0" normalizeH="0" baseline="0" noProof="0">
              <a:ln>
                <a:noFill/>
              </a:ln>
              <a:solidFill>
                <a:srgbClr val="424F58">
                  <a:lumMod val="60000"/>
                  <a:lumOff val="40000"/>
                </a:srgbClr>
              </a:solidFill>
              <a:effectLst/>
              <a:uLnTx/>
              <a:uFillTx/>
              <a:latin typeface="Calibri"/>
              <a:ea typeface="+mn-ea"/>
              <a:cs typeface="Calibri"/>
            </a:endParaRPr>
          </a:p>
        </p:txBody>
      </p:sp>
      <p:sp>
        <p:nvSpPr>
          <p:cNvPr id="2" name="מלבן 1"/>
          <p:cNvSpPr/>
          <p:nvPr/>
        </p:nvSpPr>
        <p:spPr>
          <a:xfrm>
            <a:off x="2289055" y="234527"/>
            <a:ext cx="6096000" cy="584775"/>
          </a:xfrm>
          <a:prstGeom prst="rect">
            <a:avLst/>
          </a:prstGeom>
        </p:spPr>
        <p:txBody>
          <a:bodyPr>
            <a:spAutoFit/>
          </a:bodyPr>
          <a:lstStyle/>
          <a:p>
            <a:r>
              <a:rPr lang="he-IL" sz="3200" b="1" dirty="0">
                <a:solidFill>
                  <a:srgbClr val="0070C0"/>
                </a:solidFill>
                <a:latin typeface="Calibri" panose="020F0502020204030204" pitchFamily="34" charset="0"/>
                <a:cs typeface="Calibri" panose="020F0502020204030204" pitchFamily="34" charset="0"/>
              </a:rPr>
              <a:t>האתגר בסיעוד 2024</a:t>
            </a:r>
            <a:endParaRPr lang="he-IL" sz="3200" dirty="0"/>
          </a:p>
        </p:txBody>
      </p:sp>
      <p:sp>
        <p:nvSpPr>
          <p:cNvPr id="18" name="מלבן 1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648746" y="68740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948834139"/>
      </p:ext>
    </p:extLst>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094014" y="77535"/>
            <a:ext cx="10515600" cy="1325563"/>
          </a:xfrm>
        </p:spPr>
        <p:txBody>
          <a:bodyPr>
            <a:normAutofit/>
          </a:bodyPr>
          <a:lstStyle/>
          <a:p>
            <a:pPr algn="ctr"/>
            <a:r>
              <a:rPr lang="he-IL" sz="4800" b="1" dirty="0">
                <a:solidFill>
                  <a:srgbClr val="002060"/>
                </a:solidFill>
                <a:latin typeface="Calibri" panose="020F0502020204030204" pitchFamily="34" charset="0"/>
                <a:ea typeface="+mn-ea"/>
                <a:cs typeface="Calibri" panose="020F0502020204030204" pitchFamily="34" charset="0"/>
              </a:rPr>
              <a:t>הפיצול בסיעוד</a:t>
            </a:r>
          </a:p>
        </p:txBody>
      </p:sp>
      <p:graphicFrame>
        <p:nvGraphicFramePr>
          <p:cNvPr id="4" name="תרשים 3"/>
          <p:cNvGraphicFramePr>
            <a:graphicFrameLocks/>
          </p:cNvGraphicFramePr>
          <p:nvPr/>
        </p:nvGraphicFramePr>
        <p:xfrm>
          <a:off x="5801166" y="1179576"/>
          <a:ext cx="6292863" cy="546998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תרשים 4"/>
          <p:cNvGraphicFramePr>
            <a:graphicFrameLocks/>
          </p:cNvGraphicFramePr>
          <p:nvPr/>
        </p:nvGraphicFramePr>
        <p:xfrm>
          <a:off x="0" y="1943101"/>
          <a:ext cx="6351814" cy="4002414"/>
        </p:xfrm>
        <a:graphic>
          <a:graphicData uri="http://schemas.openxmlformats.org/drawingml/2006/chart">
            <c:chart xmlns:c="http://schemas.openxmlformats.org/drawingml/2006/chart" xmlns:r="http://schemas.openxmlformats.org/officeDocument/2006/relationships" r:id="rId4"/>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7" name="תמונה 6"/>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a:xfrm>
            <a:off x="11223114" y="5783589"/>
            <a:ext cx="968886" cy="974186"/>
          </a:xfrm>
          <a:prstGeom prst="rect">
            <a:avLst/>
          </a:prstGeom>
        </p:spPr>
      </p:pic>
      <p:pic>
        <p:nvPicPr>
          <p:cNvPr id="8" name="תמונה 7" descr="C:\Users\USER\Downloads\עיצוב ללא שם (1).png"/>
          <p:cNvPicPr/>
          <p:nvPr/>
        </p:nvPicPr>
        <p:blipFill rotWithShape="1">
          <a:blip r:embed="rId6" cstate="print">
            <a:extLst>
              <a:ext uri="{28A0092B-C50C-407E-A947-70E740481C1C}">
                <a14:useLocalDpi xmlns:a14="http://schemas.microsoft.com/office/drawing/2010/main"/>
              </a:ext>
            </a:extLst>
          </a:blip>
          <a:srcRect/>
          <a:stretch/>
        </p:blipFill>
        <p:spPr bwMode="auto">
          <a:xfrm>
            <a:off x="9649931" y="5945514"/>
            <a:ext cx="1573183" cy="704047"/>
          </a:xfrm>
          <a:prstGeom prst="rect">
            <a:avLst/>
          </a:prstGeom>
          <a:noFill/>
          <a:ln>
            <a:noFill/>
          </a:ln>
          <a:extLst>
            <a:ext uri="{53640926-AAD7-44D8-BBD7-CCE9431645EC}">
              <a14:shadowObscured xmlns:a14="http://schemas.microsoft.com/office/drawing/2010/main"/>
            </a:ext>
          </a:extLst>
        </p:spPr>
      </p:pic>
      <p:pic>
        <p:nvPicPr>
          <p:cNvPr id="9" name="תמונה 8"/>
          <p:cNvPicPr>
            <a:picLocks noChangeAspect="1"/>
          </p:cNvPicPr>
          <p:nvPr/>
        </p:nvPicPr>
        <p:blipFill>
          <a:blip r:embed="rId7"/>
          <a:stretch>
            <a:fillRect/>
          </a:stretch>
        </p:blipFill>
        <p:spPr>
          <a:xfrm>
            <a:off x="1639502" y="1166898"/>
            <a:ext cx="8374831" cy="5056082"/>
          </a:xfrm>
          <a:prstGeom prst="rect">
            <a:avLst/>
          </a:prstGeom>
        </p:spPr>
      </p:pic>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64740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091062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64A95B-BEA6-4DE5-9687-A3EDED99027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5" name="Rectangle 14">
            <a:extLst>
              <a:ext uri="{FF2B5EF4-FFF2-40B4-BE49-F238E27FC236}">
                <a16:creationId xmlns:a16="http://schemas.microsoft.com/office/drawing/2014/main" id="{1BCB0404-0453-4AB5-ABEC-8685112412CB}"/>
              </a:ext>
            </a:extLst>
          </p:cNvPr>
          <p:cNvSpPr/>
          <p:nvPr/>
        </p:nvSpPr>
        <p:spPr>
          <a:xfrm>
            <a:off x="0" y="0"/>
            <a:ext cx="12192000" cy="6858000"/>
          </a:xfrm>
          <a:prstGeom prst="rect">
            <a:avLst/>
          </a:prstGeom>
          <a:solidFill>
            <a:schemeClr val="tx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L">
              <a:solidFill>
                <a:schemeClr val="bg1"/>
              </a:solidFill>
            </a:endParaRPr>
          </a:p>
        </p:txBody>
      </p:sp>
      <p:sp>
        <p:nvSpPr>
          <p:cNvPr id="4" name="TextBox 3">
            <a:extLst>
              <a:ext uri="{FF2B5EF4-FFF2-40B4-BE49-F238E27FC236}">
                <a16:creationId xmlns:a16="http://schemas.microsoft.com/office/drawing/2014/main" id="{2F6C1F90-1719-4D91-AC27-D1100E0DB772}"/>
              </a:ext>
            </a:extLst>
          </p:cNvPr>
          <p:cNvSpPr txBox="1"/>
          <p:nvPr/>
        </p:nvSpPr>
        <p:spPr>
          <a:xfrm>
            <a:off x="10186585" y="3078895"/>
            <a:ext cx="96051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בדידות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4A817F44-A6A2-4787-BD9C-F898F7081629}"/>
              </a:ext>
            </a:extLst>
          </p:cNvPr>
          <p:cNvSpPr txBox="1"/>
          <p:nvPr/>
        </p:nvSpPr>
        <p:spPr>
          <a:xfrm>
            <a:off x="2516741" y="3097097"/>
            <a:ext cx="102463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תרופות</a:t>
            </a:r>
            <a:endParaRPr lang="en-IL" sz="24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D23B14EA-D89F-4AF4-939D-6665D17727BA}"/>
              </a:ext>
            </a:extLst>
          </p:cNvPr>
          <p:cNvSpPr txBox="1"/>
          <p:nvPr/>
        </p:nvSpPr>
        <p:spPr>
          <a:xfrm>
            <a:off x="1162844" y="3678134"/>
            <a:ext cx="186621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פעילות ותנועה</a:t>
            </a:r>
            <a:endParaRPr lang="en-IL" sz="2400" b="1"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2DA54D98-D921-47BA-9049-59D585707A06}"/>
              </a:ext>
            </a:extLst>
          </p:cNvPr>
          <p:cNvSpPr txBox="1"/>
          <p:nvPr/>
        </p:nvSpPr>
        <p:spPr>
          <a:xfrm>
            <a:off x="4474572" y="4366918"/>
            <a:ext cx="9733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הכנסה</a:t>
            </a:r>
            <a:endParaRPr lang="en-IL" sz="24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B951F87-2E3C-46FD-9A6D-8D86EAA9C4CA}"/>
              </a:ext>
            </a:extLst>
          </p:cNvPr>
          <p:cNvSpPr txBox="1"/>
          <p:nvPr/>
        </p:nvSpPr>
        <p:spPr>
          <a:xfrm>
            <a:off x="1856755" y="4593020"/>
            <a:ext cx="176522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עזרי </a:t>
            </a:r>
            <a:r>
              <a:rPr lang="he-IL" sz="2400" b="1" dirty="0" err="1">
                <a:solidFill>
                  <a:schemeClr val="bg1"/>
                </a:solidFill>
                <a:latin typeface="Calibri" panose="020F0502020204030204" pitchFamily="34" charset="0"/>
                <a:cs typeface="Calibri" panose="020F0502020204030204" pitchFamily="34" charset="0"/>
              </a:rPr>
              <a:t>התניידות</a:t>
            </a:r>
            <a:endParaRPr lang="en-IL" sz="2400" b="1"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06A9C1C-887C-4CDA-AEE8-7A346445A8B7}"/>
              </a:ext>
            </a:extLst>
          </p:cNvPr>
          <p:cNvSpPr txBox="1"/>
          <p:nvPr/>
        </p:nvSpPr>
        <p:spPr>
          <a:xfrm>
            <a:off x="10061552" y="4712047"/>
            <a:ext cx="821059"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חברה</a:t>
            </a:r>
            <a:endParaRPr lang="en-IL" sz="2400" b="1" dirty="0">
              <a:solidFill>
                <a:schemeClr val="bg1"/>
              </a:solidFill>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2C646911-EF81-4B5E-92FD-691BB105FD97}"/>
              </a:ext>
            </a:extLst>
          </p:cNvPr>
          <p:cNvSpPr txBox="1"/>
          <p:nvPr/>
        </p:nvSpPr>
        <p:spPr>
          <a:xfrm>
            <a:off x="5154451" y="3216469"/>
            <a:ext cx="1479893"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מיצוי זכויות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7B64865F-AEC6-4B2E-AC75-8B3339597636}"/>
              </a:ext>
            </a:extLst>
          </p:cNvPr>
          <p:cNvSpPr txBox="1"/>
          <p:nvPr/>
        </p:nvSpPr>
        <p:spPr>
          <a:xfrm>
            <a:off x="7825598" y="3216469"/>
            <a:ext cx="81304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קניות</a:t>
            </a:r>
            <a:endParaRPr lang="en-IL" sz="2400" b="1"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270B0B41-1F0A-4E9F-91D2-2D9D9DD29184}"/>
              </a:ext>
            </a:extLst>
          </p:cNvPr>
          <p:cNvSpPr txBox="1"/>
          <p:nvPr/>
        </p:nvSpPr>
        <p:spPr>
          <a:xfrm>
            <a:off x="824929" y="5363135"/>
            <a:ext cx="208903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שירותים רפואיים</a:t>
            </a:r>
            <a:endParaRPr lang="en-IL" sz="2400" b="1"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6C017820-6272-49A4-89FC-3B3CFF0C67F9}"/>
              </a:ext>
            </a:extLst>
          </p:cNvPr>
          <p:cNvSpPr txBox="1"/>
          <p:nvPr/>
        </p:nvSpPr>
        <p:spPr>
          <a:xfrm>
            <a:off x="10530204" y="5532372"/>
            <a:ext cx="111440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משפחה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8FF82110-91CC-41C8-BF10-806CD4FBDFB9}"/>
              </a:ext>
            </a:extLst>
          </p:cNvPr>
          <p:cNvSpPr txBox="1"/>
          <p:nvPr/>
        </p:nvSpPr>
        <p:spPr>
          <a:xfrm>
            <a:off x="10844514" y="3998461"/>
            <a:ext cx="92525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הזנחה</a:t>
            </a:r>
            <a:endParaRPr lang="en-IL" sz="2400" b="1" dirty="0">
              <a:solidFill>
                <a:schemeClr val="bg1"/>
              </a:solidFill>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50108345-8D7A-4F6A-B9A5-C47A84F3CA97}"/>
              </a:ext>
            </a:extLst>
          </p:cNvPr>
          <p:cNvSpPr txBox="1"/>
          <p:nvPr/>
        </p:nvSpPr>
        <p:spPr>
          <a:xfrm>
            <a:off x="4480592" y="643673"/>
            <a:ext cx="7289176" cy="1077218"/>
          </a:xfrm>
          <a:prstGeom prst="rect">
            <a:avLst/>
          </a:prstGeom>
          <a:noFill/>
        </p:spPr>
        <p:txBody>
          <a:bodyPr wrap="none" rtlCol="0">
            <a:spAutoFit/>
          </a:bodyPr>
          <a:lstStyle/>
          <a:p>
            <a:pPr algn="r" rtl="1"/>
            <a:r>
              <a:rPr lang="he-IL" sz="3200" b="1" dirty="0">
                <a:solidFill>
                  <a:schemeClr val="bg1"/>
                </a:solidFill>
                <a:latin typeface="Calibri" panose="020F0502020204030204" pitchFamily="34" charset="0"/>
                <a:cs typeface="Calibri" panose="020F0502020204030204" pitchFamily="34" charset="0"/>
              </a:rPr>
              <a:t>ברמת הפרט - מענה לאזרח הקשיש דורש </a:t>
            </a:r>
            <a:r>
              <a:rPr lang="en-US" sz="3200" b="1" dirty="0">
                <a:solidFill>
                  <a:schemeClr val="bg1"/>
                </a:solidFill>
                <a:latin typeface="Calibri" panose="020F0502020204030204" pitchFamily="34" charset="0"/>
                <a:cs typeface="Calibri" panose="020F0502020204030204" pitchFamily="34" charset="0"/>
              </a:rPr>
              <a:t/>
            </a:r>
            <a:br>
              <a:rPr lang="en-US" sz="3200" b="1" dirty="0">
                <a:solidFill>
                  <a:schemeClr val="bg1"/>
                </a:solidFill>
                <a:latin typeface="Calibri" panose="020F0502020204030204" pitchFamily="34" charset="0"/>
                <a:cs typeface="Calibri" panose="020F0502020204030204" pitchFamily="34" charset="0"/>
              </a:rPr>
            </a:br>
            <a:r>
              <a:rPr lang="he-IL" sz="3200" b="1" dirty="0">
                <a:solidFill>
                  <a:schemeClr val="bg1"/>
                </a:solidFill>
                <a:latin typeface="Calibri" panose="020F0502020204030204" pitchFamily="34" charset="0"/>
                <a:cs typeface="Calibri" panose="020F0502020204030204" pitchFamily="34" charset="0"/>
              </a:rPr>
              <a:t>התמודדות מורכבת עם מגוון רחב של אתגרי חייו</a:t>
            </a:r>
            <a:endParaRPr lang="en-IL" sz="3200" b="1" dirty="0">
              <a:solidFill>
                <a:schemeClr val="bg1"/>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BFBF9DD-33FE-4672-A2C3-DC53800CD940}"/>
              </a:ext>
            </a:extLst>
          </p:cNvPr>
          <p:cNvSpPr txBox="1"/>
          <p:nvPr/>
        </p:nvSpPr>
        <p:spPr>
          <a:xfrm>
            <a:off x="8393340" y="4362188"/>
            <a:ext cx="615874"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דיור</a:t>
            </a:r>
            <a:endParaRPr lang="en-IL" sz="2400" b="1" dirty="0">
              <a:solidFill>
                <a:schemeClr val="bg1"/>
              </a:solidFill>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477A5E91-4C5C-4A85-A08A-2E635DB35746}"/>
              </a:ext>
            </a:extLst>
          </p:cNvPr>
          <p:cNvSpPr txBox="1"/>
          <p:nvPr/>
        </p:nvSpPr>
        <p:spPr>
          <a:xfrm>
            <a:off x="7923499" y="5173712"/>
            <a:ext cx="777778"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ניקיון</a:t>
            </a:r>
            <a:endParaRPr lang="en-IL" sz="2400" b="1" dirty="0">
              <a:solidFill>
                <a:schemeClr val="bg1"/>
              </a:solidFill>
              <a:latin typeface="Calibri" panose="020F0502020204030204" pitchFamily="34" charset="0"/>
              <a:cs typeface="Calibri" panose="020F0502020204030204" pitchFamily="34" charset="0"/>
            </a:endParaRPr>
          </a:p>
        </p:txBody>
      </p:sp>
      <p:sp>
        <p:nvSpPr>
          <p:cNvPr id="19" name="TextBox 18">
            <a:extLst>
              <a:ext uri="{FF2B5EF4-FFF2-40B4-BE49-F238E27FC236}">
                <a16:creationId xmlns:a16="http://schemas.microsoft.com/office/drawing/2014/main" id="{B83ADF57-A673-4479-8EFC-7EEC8D882648}"/>
              </a:ext>
            </a:extLst>
          </p:cNvPr>
          <p:cNvSpPr txBox="1"/>
          <p:nvPr/>
        </p:nvSpPr>
        <p:spPr>
          <a:xfrm>
            <a:off x="5476067" y="5340150"/>
            <a:ext cx="1087157" cy="461665"/>
          </a:xfrm>
          <a:prstGeom prst="rect">
            <a:avLst/>
          </a:prstGeom>
          <a:noFill/>
        </p:spPr>
        <p:txBody>
          <a:bodyPr wrap="none" rtlCol="0">
            <a:spAutoFit/>
          </a:bodyPr>
          <a:lstStyle/>
          <a:p>
            <a:pPr algn="r" rtl="1"/>
            <a:r>
              <a:rPr lang="he-IL" sz="2400" b="1" dirty="0">
                <a:solidFill>
                  <a:schemeClr val="bg1"/>
                </a:solidFill>
                <a:latin typeface="Calibri" panose="020F0502020204030204" pitchFamily="34" charset="0"/>
                <a:cs typeface="Calibri" panose="020F0502020204030204" pitchFamily="34" charset="0"/>
              </a:rPr>
              <a:t>תחבורה</a:t>
            </a:r>
            <a:endParaRPr lang="en-IL" sz="24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067582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C49B50A7-61E0-49CC-3311-BCF0B4EA3DBF}"/>
              </a:ext>
            </a:extLst>
          </p:cNvPr>
          <p:cNvSpPr>
            <a:spLocks noGrp="1"/>
          </p:cNvSpPr>
          <p:nvPr>
            <p:ph type="title"/>
          </p:nvPr>
        </p:nvSpPr>
        <p:spPr>
          <a:xfrm>
            <a:off x="1137139" y="118940"/>
            <a:ext cx="10515600" cy="1325563"/>
          </a:xfrm>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תמצית עיקרי הרפורמה:</a:t>
            </a:r>
          </a:p>
        </p:txBody>
      </p:sp>
      <p:sp>
        <p:nvSpPr>
          <p:cNvPr id="3" name="מציין מיקום תוכן 2">
            <a:extLst>
              <a:ext uri="{FF2B5EF4-FFF2-40B4-BE49-F238E27FC236}">
                <a16:creationId xmlns:a16="http://schemas.microsoft.com/office/drawing/2014/main" id="{90FB807F-3091-799F-0418-346E86C8A954}"/>
              </a:ext>
            </a:extLst>
          </p:cNvPr>
          <p:cNvSpPr>
            <a:spLocks noGrp="1"/>
          </p:cNvSpPr>
          <p:nvPr>
            <p:ph idx="1"/>
          </p:nvPr>
        </p:nvSpPr>
        <p:spPr>
          <a:xfrm>
            <a:off x="423746" y="1174067"/>
            <a:ext cx="11054610" cy="5032375"/>
          </a:xfrm>
        </p:spPr>
        <p:txBody>
          <a:bodyPr>
            <a:normAutofit/>
          </a:bodyPr>
          <a:lstStyle/>
          <a:p>
            <a:pPr marL="0" indent="0" algn="just">
              <a:lnSpc>
                <a:spcPct val="170000"/>
              </a:lnSpc>
              <a:buNone/>
            </a:pPr>
            <a:r>
              <a:rPr lang="he-IL" dirty="0">
                <a:latin typeface="Tahoma" panose="020B0604030504040204" pitchFamily="34" charset="0"/>
                <a:ea typeface="Tahoma" panose="020B0604030504040204" pitchFamily="34" charset="0"/>
              </a:rPr>
              <a:t>בנובמבר 2018 נכנסה לתוקף הרפורמה בביטוח סיעוד שכללה:</a:t>
            </a:r>
          </a:p>
          <a:p>
            <a:pPr algn="just">
              <a:lnSpc>
                <a:spcPct val="100000"/>
              </a:lnSpc>
            </a:pPr>
            <a:r>
              <a:rPr lang="he-IL" sz="3200" b="1" dirty="0">
                <a:latin typeface="Tahoma" panose="020B0604030504040204" pitchFamily="34" charset="0"/>
                <a:ea typeface="Tahoma" panose="020B0604030504040204" pitchFamily="34" charset="0"/>
              </a:rPr>
              <a:t>מעבר מ-3 רמות גמלה ל-6 רמות גמלה </a:t>
            </a:r>
          </a:p>
          <a:p>
            <a:pPr algn="just">
              <a:lnSpc>
                <a:spcPct val="100000"/>
              </a:lnSpc>
            </a:pPr>
            <a:r>
              <a:rPr lang="he-IL" sz="3200" b="1" dirty="0">
                <a:latin typeface="Tahoma" panose="020B0604030504040204" pitchFamily="34" charset="0"/>
                <a:ea typeface="Tahoma" panose="020B0604030504040204" pitchFamily="34" charset="0"/>
              </a:rPr>
              <a:t>גמלה בכסף</a:t>
            </a:r>
          </a:p>
          <a:p>
            <a:pPr marL="171450" indent="-171450" algn="just">
              <a:lnSpc>
                <a:spcPct val="100000"/>
              </a:lnSpc>
            </a:pPr>
            <a:r>
              <a:rPr lang="he-IL" sz="3200" b="1" dirty="0">
                <a:latin typeface="Tahoma" panose="020B0604030504040204" pitchFamily="34" charset="0"/>
                <a:ea typeface="Tahoma" panose="020B0604030504040204" pitchFamily="34" charset="0"/>
              </a:rPr>
              <a:t>יותר יחידות וכסף-</a:t>
            </a:r>
            <a:r>
              <a:rPr lang="he-IL" sz="200" b="1" dirty="0">
                <a:latin typeface="Tahoma" panose="020B0604030504040204" pitchFamily="34" charset="0"/>
                <a:ea typeface="Tahoma" panose="020B0604030504040204" pitchFamily="34" charset="0"/>
              </a:rPr>
              <a:t> </a:t>
            </a:r>
            <a:r>
              <a:rPr lang="he-IL" sz="1600" dirty="0">
                <a:latin typeface="Tahoma" panose="020B0604030504040204" pitchFamily="34" charset="0"/>
                <a:ea typeface="Tahoma" panose="020B0604030504040204" pitchFamily="34" charset="0"/>
              </a:rPr>
              <a:t>(טווח היחידות השבועיות הורחב מ-22-9.75 ב-3 רמות ל-30-5.5 יחידות שבועיות ב-6 רמות)</a:t>
            </a:r>
            <a:endParaRPr lang="he-IL" sz="1600" b="1" dirty="0">
              <a:latin typeface="Tahoma" panose="020B0604030504040204" pitchFamily="34" charset="0"/>
              <a:ea typeface="Tahoma" panose="020B0604030504040204" pitchFamily="34" charset="0"/>
            </a:endParaRPr>
          </a:p>
          <a:p>
            <a:pPr marL="171450" indent="-171450" algn="just">
              <a:lnSpc>
                <a:spcPct val="100000"/>
              </a:lnSpc>
            </a:pPr>
            <a:r>
              <a:rPr lang="he-IL" sz="3200" b="1" dirty="0">
                <a:latin typeface="Tahoma" panose="020B0604030504040204" pitchFamily="34" charset="0"/>
                <a:ea typeface="Tahoma" panose="020B0604030504040204" pitchFamily="34" charset="0"/>
              </a:rPr>
              <a:t>יותר הכרה ופחות בחינות פרטניות (שינוי רגולטורי אחרי)</a:t>
            </a:r>
          </a:p>
          <a:p>
            <a:pPr marL="171450" indent="-171450" algn="just">
              <a:lnSpc>
                <a:spcPct val="100000"/>
              </a:lnSpc>
            </a:pPr>
            <a:r>
              <a:rPr lang="he-IL" sz="3200" b="1" dirty="0"/>
              <a:t>בני משפחה מטפלים בשכר (בעקבות הקורונה)</a:t>
            </a:r>
          </a:p>
        </p:txBody>
      </p:sp>
      <p:pic>
        <p:nvPicPr>
          <p:cNvPr id="4" name="תמונה 3"/>
          <p:cNvPicPr>
            <a:picLocks noChangeAspect="1"/>
          </p:cNvPicPr>
          <p:nvPr/>
        </p:nvPicPr>
        <p:blipFill>
          <a:blip r:embed="rId3"/>
          <a:stretch>
            <a:fillRect/>
          </a:stretch>
        </p:blipFill>
        <p:spPr>
          <a:xfrm>
            <a:off x="322040" y="54342"/>
            <a:ext cx="1241400" cy="1241400"/>
          </a:xfrm>
          <a:prstGeom prst="rect">
            <a:avLst/>
          </a:prstGeom>
        </p:spPr>
      </p:pic>
      <p:sp>
        <p:nvSpPr>
          <p:cNvPr id="5" name="מלבן 4"/>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37235" y="624210"/>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
        <p:nvSpPr>
          <p:cNvPr id="9" name="מלבן 8"/>
          <p:cNvSpPr/>
          <p:nvPr/>
        </p:nvSpPr>
        <p:spPr>
          <a:xfrm>
            <a:off x="144966" y="6231610"/>
            <a:ext cx="12047034" cy="626390"/>
          </a:xfrm>
          <a:prstGeom prst="rect">
            <a:avLst/>
          </a:prstGeom>
          <a:ln w="19050">
            <a:solidFill>
              <a:srgbClr val="4472C4"/>
            </a:solidFill>
          </a:ln>
        </p:spPr>
        <p:txBody>
          <a:bodyPr wrap="square">
            <a:spAutoFit/>
          </a:bodyPr>
          <a:lstStyle/>
          <a:p>
            <a:pPr marL="171450" indent="-171450" algn="ctr">
              <a:lnSpc>
                <a:spcPct val="170000"/>
              </a:lnSpc>
            </a:pPr>
            <a:r>
              <a:rPr lang="he-IL" sz="2400" b="1" dirty="0">
                <a:solidFill>
                  <a:srgbClr val="002060"/>
                </a:solidFill>
                <a:latin typeface="Tahoma" panose="020B0604030504040204" pitchFamily="34" charset="0"/>
                <a:ea typeface="Tahoma" panose="020B0604030504040204" pitchFamily="34" charset="0"/>
                <a:cs typeface="Tahoma" panose="020B0604030504040204" pitchFamily="34" charset="0"/>
              </a:rPr>
              <a:t>מטרת הגדלת מספר הרמות הייתה להתאים את השירותים לצרכי הזכאים</a:t>
            </a:r>
          </a:p>
        </p:txBody>
      </p:sp>
    </p:spTree>
    <p:extLst>
      <p:ext uri="{BB962C8B-B14F-4D97-AF65-F5344CB8AC3E}">
        <p14:creationId xmlns:p14="http://schemas.microsoft.com/office/powerpoint/2010/main" val="859894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25478CA8-625F-2781-8B71-9C6EF5E4B58A}"/>
              </a:ext>
            </a:extLst>
          </p:cNvPr>
          <p:cNvSpPr>
            <a:spLocks noGrp="1"/>
          </p:cNvSpPr>
          <p:nvPr>
            <p:ph type="title"/>
          </p:nvPr>
        </p:nvSpPr>
        <p:spPr/>
        <p:txBody>
          <a:bodyPr>
            <a:normAutofit/>
          </a:bodyPr>
          <a:lstStyle/>
          <a:p>
            <a:pPr algn="ctr"/>
            <a:r>
              <a:rPr lang="he-IL" sz="3600" b="1" dirty="0">
                <a:latin typeface="Tahoma" panose="020B0604030504040204" pitchFamily="34" charset="0"/>
                <a:ea typeface="Tahoma" panose="020B0604030504040204" pitchFamily="34" charset="0"/>
                <a:cs typeface="Tahoma" panose="020B0604030504040204" pitchFamily="34" charset="0"/>
              </a:rPr>
              <a:t>רמות הגמלה לפני הרפורמה ואחריה</a:t>
            </a:r>
          </a:p>
        </p:txBody>
      </p:sp>
      <p:sp>
        <p:nvSpPr>
          <p:cNvPr id="3" name="מציין מיקום טקסט 2">
            <a:extLst>
              <a:ext uri="{FF2B5EF4-FFF2-40B4-BE49-F238E27FC236}">
                <a16:creationId xmlns:a16="http://schemas.microsoft.com/office/drawing/2014/main" id="{BA86B5EF-532D-4426-C6CC-98B4BEB5CEAA}"/>
              </a:ext>
            </a:extLst>
          </p:cNvPr>
          <p:cNvSpPr>
            <a:spLocks noGrp="1"/>
          </p:cNvSpPr>
          <p:nvPr>
            <p:ph type="body" idx="1"/>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לאחריה</a:t>
            </a:r>
          </a:p>
        </p:txBody>
      </p:sp>
      <p:graphicFrame>
        <p:nvGraphicFramePr>
          <p:cNvPr id="8" name="מציין מיקום תוכן 7">
            <a:extLst>
              <a:ext uri="{FF2B5EF4-FFF2-40B4-BE49-F238E27FC236}">
                <a16:creationId xmlns:a16="http://schemas.microsoft.com/office/drawing/2014/main" id="{F97F4E7E-CF48-7D21-0845-CECD575A1D76}"/>
              </a:ext>
            </a:extLst>
          </p:cNvPr>
          <p:cNvGraphicFramePr>
            <a:graphicFrameLocks noGrp="1"/>
          </p:cNvGraphicFramePr>
          <p:nvPr>
            <p:ph sz="half" idx="2"/>
          </p:nvPr>
        </p:nvGraphicFramePr>
        <p:xfrm>
          <a:off x="836611" y="2505073"/>
          <a:ext cx="5160964" cy="3993936"/>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05873336"/>
                    </a:ext>
                  </a:extLst>
                </a:gridCol>
                <a:gridCol w="1290241">
                  <a:extLst>
                    <a:ext uri="{9D8B030D-6E8A-4147-A177-3AD203B41FA5}">
                      <a16:colId xmlns:a16="http://schemas.microsoft.com/office/drawing/2014/main" val="2143514384"/>
                    </a:ext>
                  </a:extLst>
                </a:gridCol>
                <a:gridCol w="1290241">
                  <a:extLst>
                    <a:ext uri="{9D8B030D-6E8A-4147-A177-3AD203B41FA5}">
                      <a16:colId xmlns:a16="http://schemas.microsoft.com/office/drawing/2014/main" val="2495939580"/>
                    </a:ext>
                  </a:extLst>
                </a:gridCol>
                <a:gridCol w="1290241">
                  <a:extLst>
                    <a:ext uri="{9D8B030D-6E8A-4147-A177-3AD203B41FA5}">
                      <a16:colId xmlns:a16="http://schemas.microsoft.com/office/drawing/2014/main" val="827660209"/>
                    </a:ext>
                  </a:extLst>
                </a:gridCol>
              </a:tblGrid>
              <a:tr h="1311171">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41481940"/>
                  </a:ext>
                </a:extLst>
              </a:tr>
              <a:tr h="437056">
                <a:tc>
                  <a:txBody>
                    <a:bodyPr/>
                    <a:lstStyle/>
                    <a:p>
                      <a:pPr algn="r" rtl="1"/>
                      <a:r>
                        <a:rPr lang="he-IL" sz="1800">
                          <a:effectLst/>
                        </a:rPr>
                        <a:t>1</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5.5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5.5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4142276689"/>
                  </a:ext>
                </a:extLst>
              </a:tr>
              <a:tr h="437056">
                <a:tc>
                  <a:txBody>
                    <a:bodyPr/>
                    <a:lstStyle/>
                    <a:p>
                      <a:pPr algn="r" rtl="1"/>
                      <a:r>
                        <a:rPr lang="he-IL" sz="1800">
                          <a:effectLst/>
                        </a:rPr>
                        <a:t>2</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4.5-3.5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158634188"/>
                  </a:ext>
                </a:extLst>
              </a:tr>
              <a:tr h="437056">
                <a:tc>
                  <a:txBody>
                    <a:bodyPr/>
                    <a:lstStyle/>
                    <a:p>
                      <a:pPr algn="r" rtl="1"/>
                      <a:r>
                        <a:rPr lang="he-IL" sz="1800">
                          <a:effectLst/>
                        </a:rPr>
                        <a:t>3</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6-5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17</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710520045"/>
                  </a:ext>
                </a:extLst>
              </a:tr>
              <a:tr h="437056">
                <a:tc>
                  <a:txBody>
                    <a:bodyPr/>
                    <a:lstStyle/>
                    <a:p>
                      <a:pPr algn="r" rtl="1"/>
                      <a:r>
                        <a:rPr lang="he-IL" sz="1800">
                          <a:effectLst/>
                        </a:rPr>
                        <a:t>4</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7.5-6.5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21</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3093340514"/>
                  </a:ext>
                </a:extLst>
              </a:tr>
              <a:tr h="437056">
                <a:tc>
                  <a:txBody>
                    <a:bodyPr/>
                    <a:lstStyle/>
                    <a:p>
                      <a:pPr algn="r" rtl="1"/>
                      <a:r>
                        <a:rPr lang="he-IL" sz="1800">
                          <a:effectLst/>
                        </a:rPr>
                        <a:t>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9-8</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268801450"/>
                  </a:ext>
                </a:extLst>
              </a:tr>
              <a:tr h="437056">
                <a:tc>
                  <a:txBody>
                    <a:bodyPr/>
                    <a:lstStyle/>
                    <a:p>
                      <a:pPr algn="r" rtl="1"/>
                      <a:r>
                        <a:rPr lang="he-IL" sz="1800">
                          <a:effectLst/>
                        </a:rPr>
                        <a:t>6</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a:effectLst/>
                        </a:rPr>
                        <a:t>10.5-9.5</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30</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tc>
                  <a:txBody>
                    <a:bodyPr/>
                    <a:lstStyle/>
                    <a:p>
                      <a:pPr algn="ctr" rtl="1"/>
                      <a:r>
                        <a:rPr lang="he-IL" sz="1800" dirty="0">
                          <a:effectLst/>
                        </a:rPr>
                        <a:t>26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638" marR="33638" marT="0" marB="0"/>
                </a:tc>
                <a:extLst>
                  <a:ext uri="{0D108BD9-81ED-4DB2-BD59-A6C34878D82A}">
                    <a16:rowId xmlns:a16="http://schemas.microsoft.com/office/drawing/2014/main" val="872809904"/>
                  </a:ext>
                </a:extLst>
              </a:tr>
            </a:tbl>
          </a:graphicData>
        </a:graphic>
      </p:graphicFrame>
      <p:sp>
        <p:nvSpPr>
          <p:cNvPr id="5" name="מציין מיקום טקסט 4">
            <a:extLst>
              <a:ext uri="{FF2B5EF4-FFF2-40B4-BE49-F238E27FC236}">
                <a16:creationId xmlns:a16="http://schemas.microsoft.com/office/drawing/2014/main" id="{37B94A5C-5B6B-F77B-7EC3-AD83DFFA535E}"/>
              </a:ext>
            </a:extLst>
          </p:cNvPr>
          <p:cNvSpPr>
            <a:spLocks noGrp="1"/>
          </p:cNvSpPr>
          <p:nvPr>
            <p:ph type="body" sz="quarter" idx="3"/>
          </p:nvPr>
        </p:nvSpPr>
        <p:spPr/>
        <p:txBody>
          <a:bodyPr/>
          <a:lstStyle/>
          <a:p>
            <a:pPr algn="ctr"/>
            <a:r>
              <a:rPr lang="he-IL" dirty="0">
                <a:latin typeface="Tahoma" panose="020B0604030504040204" pitchFamily="34" charset="0"/>
                <a:ea typeface="Tahoma" panose="020B0604030504040204" pitchFamily="34" charset="0"/>
                <a:cs typeface="Tahoma" panose="020B0604030504040204" pitchFamily="34" charset="0"/>
              </a:rPr>
              <a:t>רמות הגמלה עד אוקטובר 2018</a:t>
            </a:r>
          </a:p>
        </p:txBody>
      </p:sp>
      <p:graphicFrame>
        <p:nvGraphicFramePr>
          <p:cNvPr id="7" name="מציין מיקום תוכן 6">
            <a:extLst>
              <a:ext uri="{FF2B5EF4-FFF2-40B4-BE49-F238E27FC236}">
                <a16:creationId xmlns:a16="http://schemas.microsoft.com/office/drawing/2014/main" id="{E703C9B4-7AB5-E957-D3D7-E6C2A5B2CEF7}"/>
              </a:ext>
            </a:extLst>
          </p:cNvPr>
          <p:cNvGraphicFramePr>
            <a:graphicFrameLocks noGrp="1"/>
          </p:cNvGraphicFramePr>
          <p:nvPr>
            <p:ph sz="quarter" idx="4"/>
          </p:nvPr>
        </p:nvGraphicFramePr>
        <p:xfrm>
          <a:off x="6194425" y="2505075"/>
          <a:ext cx="5160964" cy="3987801"/>
        </p:xfrm>
        <a:graphic>
          <a:graphicData uri="http://schemas.openxmlformats.org/drawingml/2006/table">
            <a:tbl>
              <a:tblPr rtl="1" firstRow="1" firstCol="1" bandRow="1">
                <a:tableStyleId>{5C22544A-7EE6-4342-B048-85BDC9FD1C3A}</a:tableStyleId>
              </a:tblPr>
              <a:tblGrid>
                <a:gridCol w="1290241">
                  <a:extLst>
                    <a:ext uri="{9D8B030D-6E8A-4147-A177-3AD203B41FA5}">
                      <a16:colId xmlns:a16="http://schemas.microsoft.com/office/drawing/2014/main" val="1987204195"/>
                    </a:ext>
                  </a:extLst>
                </a:gridCol>
                <a:gridCol w="1290241">
                  <a:extLst>
                    <a:ext uri="{9D8B030D-6E8A-4147-A177-3AD203B41FA5}">
                      <a16:colId xmlns:a16="http://schemas.microsoft.com/office/drawing/2014/main" val="471053899"/>
                    </a:ext>
                  </a:extLst>
                </a:gridCol>
                <a:gridCol w="1290241">
                  <a:extLst>
                    <a:ext uri="{9D8B030D-6E8A-4147-A177-3AD203B41FA5}">
                      <a16:colId xmlns:a16="http://schemas.microsoft.com/office/drawing/2014/main" val="1395733670"/>
                    </a:ext>
                  </a:extLst>
                </a:gridCol>
                <a:gridCol w="1290241">
                  <a:extLst>
                    <a:ext uri="{9D8B030D-6E8A-4147-A177-3AD203B41FA5}">
                      <a16:colId xmlns:a16="http://schemas.microsoft.com/office/drawing/2014/main" val="4014330054"/>
                    </a:ext>
                  </a:extLst>
                </a:gridCol>
              </a:tblGrid>
              <a:tr h="1638432">
                <a:tc>
                  <a:txBody>
                    <a:bodyPr/>
                    <a:lstStyle/>
                    <a:p>
                      <a:pPr algn="r" rtl="1"/>
                      <a:r>
                        <a:rPr lang="he-IL" sz="1800" dirty="0">
                          <a:effectLst/>
                        </a:rPr>
                        <a:t>רמת גמלה</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טווח ניקוד בציון התלות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ישראלי</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r" rtl="1"/>
                      <a:r>
                        <a:rPr lang="he-IL" sz="1800" dirty="0">
                          <a:effectLst/>
                        </a:rPr>
                        <a:t>מספר יחידות  שבועיות למעסיק מטפל זר</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90309848"/>
                  </a:ext>
                </a:extLst>
              </a:tr>
              <a:tr h="783123">
                <a:tc>
                  <a:txBody>
                    <a:bodyPr/>
                    <a:lstStyle/>
                    <a:p>
                      <a:pPr algn="r" rtl="1"/>
                      <a:r>
                        <a:rPr lang="he-IL" sz="1800">
                          <a:effectLst/>
                        </a:rPr>
                        <a:t>נמוכה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5.5-2.5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9.75</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945476692"/>
                  </a:ext>
                </a:extLst>
              </a:tr>
              <a:tr h="783123">
                <a:tc>
                  <a:txBody>
                    <a:bodyPr/>
                    <a:lstStyle/>
                    <a:p>
                      <a:pPr algn="r" rtl="1"/>
                      <a:r>
                        <a:rPr lang="he-IL" sz="1800" dirty="0">
                          <a:effectLst/>
                        </a:rPr>
                        <a:t>בינונית</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8.5-6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19</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16</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4034488144"/>
                  </a:ext>
                </a:extLst>
              </a:tr>
              <a:tr h="783123">
                <a:tc>
                  <a:txBody>
                    <a:bodyPr/>
                    <a:lstStyle/>
                    <a:p>
                      <a:pPr algn="r" rtl="1"/>
                      <a:r>
                        <a:rPr lang="he-IL" sz="1800">
                          <a:effectLst/>
                        </a:rPr>
                        <a:t>גבוהה</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a:effectLst/>
                        </a:rPr>
                        <a:t>11-9</a:t>
                      </a:r>
                      <a:endParaRPr lang="en-US" sz="180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22</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tc>
                  <a:txBody>
                    <a:bodyPr/>
                    <a:lstStyle/>
                    <a:p>
                      <a:pPr algn="ctr" rtl="1"/>
                      <a:r>
                        <a:rPr lang="he-IL" sz="1800" dirty="0">
                          <a:effectLst/>
                        </a:rPr>
                        <a:t>18</a:t>
                      </a:r>
                      <a:endParaRPr lang="en-US" sz="1800" dirty="0">
                        <a:effectLst/>
                        <a:latin typeface="Times New Roman" panose="02020603050405020304" pitchFamily="18" charset="0"/>
                        <a:ea typeface="Times New Roman" panose="02020603050405020304" pitchFamily="18" charset="0"/>
                        <a:cs typeface="David" panose="020E0502060401010101" pitchFamily="34" charset="-79"/>
                      </a:endParaRPr>
                    </a:p>
                  </a:txBody>
                  <a:tcPr marL="33803" marR="33803" marT="0" marB="0"/>
                </a:tc>
                <a:extLst>
                  <a:ext uri="{0D108BD9-81ED-4DB2-BD59-A6C34878D82A}">
                    <a16:rowId xmlns:a16="http://schemas.microsoft.com/office/drawing/2014/main" val="2404996164"/>
                  </a:ext>
                </a:extLst>
              </a:tr>
            </a:tbl>
          </a:graphicData>
        </a:graphic>
      </p:graphicFrame>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1704909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p:cNvGraphicFramePr>
            <a:graphicFrameLocks noGrp="1"/>
          </p:cNvGraphicFramePr>
          <p:nvPr>
            <p:extLst>
              <p:ext uri="{D42A27DB-BD31-4B8C-83A1-F6EECF244321}">
                <p14:modId xmlns:p14="http://schemas.microsoft.com/office/powerpoint/2010/main" val="3697865785"/>
              </p:ext>
            </p:extLst>
          </p:nvPr>
        </p:nvGraphicFramePr>
        <p:xfrm>
          <a:off x="1219200" y="839739"/>
          <a:ext cx="8128000" cy="503936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rtl="1"/>
                      <a:r>
                        <a:rPr lang="he-IL" dirty="0"/>
                        <a:t>המרכיב</a:t>
                      </a:r>
                    </a:p>
                  </a:txBody>
                  <a:tcPr/>
                </a:tc>
                <a:tc>
                  <a:txBody>
                    <a:bodyPr/>
                    <a:lstStyle/>
                    <a:p>
                      <a:pPr rtl="1"/>
                      <a:r>
                        <a:rPr lang="he-IL" dirty="0"/>
                        <a:t>מטפלת</a:t>
                      </a:r>
                    </a:p>
                  </a:txBody>
                  <a:tcPr/>
                </a:tc>
                <a:tc>
                  <a:txBody>
                    <a:bodyPr/>
                    <a:lstStyle/>
                    <a:p>
                      <a:pPr rtl="1"/>
                      <a:r>
                        <a:rPr lang="he-IL" dirty="0"/>
                        <a:t>כסף</a:t>
                      </a:r>
                    </a:p>
                  </a:txBody>
                  <a:tcPr/>
                </a:tc>
                <a:tc>
                  <a:txBody>
                    <a:bodyPr/>
                    <a:lstStyle/>
                    <a:p>
                      <a:pPr rtl="1"/>
                      <a:r>
                        <a:rPr lang="he-IL" dirty="0"/>
                        <a:t>מרכז</a:t>
                      </a:r>
                      <a:r>
                        <a:rPr lang="he-IL" baseline="0" dirty="0"/>
                        <a:t> יום</a:t>
                      </a:r>
                      <a:endParaRPr lang="he-IL" dirty="0"/>
                    </a:p>
                  </a:txBody>
                  <a:tcPr/>
                </a:tc>
                <a:extLst>
                  <a:ext uri="{0D108BD9-81ED-4DB2-BD59-A6C34878D82A}">
                    <a16:rowId xmlns:a16="http://schemas.microsoft.com/office/drawing/2014/main" val="2716684554"/>
                  </a:ext>
                </a:extLst>
              </a:tr>
              <a:tr h="370840">
                <a:tc>
                  <a:txBody>
                    <a:bodyPr/>
                    <a:lstStyle/>
                    <a:p>
                      <a:pPr rtl="1"/>
                      <a:r>
                        <a:rPr lang="he-IL" dirty="0">
                          <a:solidFill>
                            <a:schemeClr val="tx1"/>
                          </a:solidFill>
                        </a:rPr>
                        <a:t>2</a:t>
                      </a:r>
                      <a:r>
                        <a:rPr lang="he-IL" baseline="0" dirty="0">
                          <a:solidFill>
                            <a:schemeClr val="tx1"/>
                          </a:solidFill>
                        </a:rPr>
                        <a:t> שעות סיעוד</a:t>
                      </a:r>
                      <a:endParaRPr lang="he-IL" dirty="0">
                        <a:solidFill>
                          <a:schemeClr val="tx1"/>
                        </a:solidFill>
                      </a:endParaRPr>
                    </a:p>
                  </a:txBody>
                  <a:tcPr/>
                </a:tc>
                <a:tc>
                  <a:txBody>
                    <a:bodyPr/>
                    <a:lstStyle/>
                    <a:p>
                      <a:pPr rtl="1"/>
                      <a:r>
                        <a:rPr lang="he-IL" dirty="0">
                          <a:solidFill>
                            <a:schemeClr val="tx1"/>
                          </a:solidFill>
                        </a:rPr>
                        <a:t>כשעה </a:t>
                      </a:r>
                      <a:r>
                        <a:rPr lang="he-IL" sz="1400" dirty="0">
                          <a:solidFill>
                            <a:schemeClr val="tx1"/>
                          </a:solidFill>
                        </a:rPr>
                        <a:t>(נלקחות</a:t>
                      </a:r>
                      <a:r>
                        <a:rPr lang="he-IL" sz="1400" baseline="0" dirty="0">
                          <a:solidFill>
                            <a:schemeClr val="tx1"/>
                          </a:solidFill>
                        </a:rPr>
                        <a:t> שעות)</a:t>
                      </a:r>
                      <a:endParaRPr lang="he-IL" sz="1400" dirty="0">
                        <a:solidFill>
                          <a:schemeClr val="tx1"/>
                        </a:solidFill>
                      </a:endParaRPr>
                    </a:p>
                  </a:txBody>
                  <a:tcPr/>
                </a:tc>
                <a:tc>
                  <a:txBody>
                    <a:bodyPr/>
                    <a:lstStyle/>
                    <a:p>
                      <a:pPr rtl="1"/>
                      <a:r>
                        <a:rPr lang="he-IL" dirty="0"/>
                        <a:t>96 ש"ח</a:t>
                      </a:r>
                    </a:p>
                  </a:txBody>
                  <a:tcPr/>
                </a:tc>
                <a:tc>
                  <a:txBody>
                    <a:bodyPr/>
                    <a:lstStyle/>
                    <a:p>
                      <a:pPr rtl="1"/>
                      <a:r>
                        <a:rPr lang="he-IL" dirty="0"/>
                        <a:t>6 שעות</a:t>
                      </a:r>
                    </a:p>
                  </a:txBody>
                  <a:tcPr/>
                </a:tc>
                <a:extLst>
                  <a:ext uri="{0D108BD9-81ED-4DB2-BD59-A6C34878D82A}">
                    <a16:rowId xmlns:a16="http://schemas.microsoft.com/office/drawing/2014/main" val="599427766"/>
                  </a:ext>
                </a:extLst>
              </a:tr>
              <a:tr h="370840">
                <a:tc>
                  <a:txBody>
                    <a:bodyPr/>
                    <a:lstStyle/>
                    <a:p>
                      <a:pPr rtl="1"/>
                      <a:r>
                        <a:rPr lang="he-IL" dirty="0"/>
                        <a:t>הסיוע</a:t>
                      </a:r>
                    </a:p>
                  </a:txBody>
                  <a:tcPr/>
                </a:tc>
                <a:tc>
                  <a:txBody>
                    <a:bodyPr/>
                    <a:lstStyle/>
                    <a:p>
                      <a:pPr rtl="1"/>
                      <a:r>
                        <a:rPr lang="he-IL" dirty="0"/>
                        <a:t>עזרה בבית/ ניקיון</a:t>
                      </a:r>
                    </a:p>
                  </a:txBody>
                  <a:tcPr/>
                </a:tc>
                <a:tc>
                  <a:txBody>
                    <a:bodyPr/>
                    <a:lstStyle/>
                    <a:p>
                      <a:pPr rtl="1"/>
                      <a:r>
                        <a:rPr lang="he-IL" dirty="0"/>
                        <a:t>כספי</a:t>
                      </a:r>
                    </a:p>
                  </a:txBody>
                  <a:tcPr/>
                </a:tc>
                <a:tc>
                  <a:txBody>
                    <a:bodyPr/>
                    <a:lstStyle/>
                    <a:p>
                      <a:pPr rtl="1"/>
                      <a:r>
                        <a:rPr lang="he-IL" sz="1600" dirty="0"/>
                        <a:t>מפגש חברתי, חוגים, הסעה, גורמי מקצוע וטיפול: עו"ס, פיזיותרפיה,</a:t>
                      </a:r>
                      <a:r>
                        <a:rPr lang="he-IL" sz="1600" baseline="0" dirty="0"/>
                        <a:t> מדריך </a:t>
                      </a:r>
                      <a:endParaRPr lang="he-IL" sz="1600" dirty="0"/>
                    </a:p>
                  </a:txBody>
                  <a:tcPr/>
                </a:tc>
                <a:extLst>
                  <a:ext uri="{0D108BD9-81ED-4DB2-BD59-A6C34878D82A}">
                    <a16:rowId xmlns:a16="http://schemas.microsoft.com/office/drawing/2014/main" val="357535011"/>
                  </a:ext>
                </a:extLst>
              </a:tr>
              <a:tr h="370840">
                <a:tc>
                  <a:txBody>
                    <a:bodyPr/>
                    <a:lstStyle/>
                    <a:p>
                      <a:pPr rtl="1"/>
                      <a:r>
                        <a:rPr lang="he-IL" dirty="0"/>
                        <a:t>מחקר על דחיקת תלות</a:t>
                      </a:r>
                    </a:p>
                  </a:txBody>
                  <a:tcPr/>
                </a:tc>
                <a:tc>
                  <a:txBody>
                    <a:bodyPr/>
                    <a:lstStyle/>
                    <a:p>
                      <a:pPr rtl="1"/>
                      <a:r>
                        <a:rPr lang="he-IL" dirty="0"/>
                        <a:t>משתנה בין מקרים, לא נמצא כמועיל, טענות כמגביר</a:t>
                      </a:r>
                      <a:r>
                        <a:rPr lang="he-IL" baseline="0" dirty="0"/>
                        <a:t> תלות</a:t>
                      </a:r>
                      <a:endParaRPr lang="he-IL" dirty="0"/>
                    </a:p>
                  </a:txBody>
                  <a:tcPr/>
                </a:tc>
                <a:tc>
                  <a:txBody>
                    <a:bodyPr/>
                    <a:lstStyle/>
                    <a:p>
                      <a:pPr rtl="1"/>
                      <a:r>
                        <a:rPr lang="he-IL" dirty="0"/>
                        <a:t>לא רלוונטי</a:t>
                      </a:r>
                    </a:p>
                  </a:txBody>
                  <a:tcPr/>
                </a:tc>
                <a:tc>
                  <a:txBody>
                    <a:bodyPr/>
                    <a:lstStyle/>
                    <a:p>
                      <a:pPr rtl="1"/>
                      <a:r>
                        <a:rPr lang="he-IL" dirty="0"/>
                        <a:t>מוכח במחקר </a:t>
                      </a:r>
                      <a:r>
                        <a:rPr lang="he-IL" baseline="0" dirty="0"/>
                        <a:t>בארץ ובעולם </a:t>
                      </a:r>
                      <a:r>
                        <a:rPr lang="he-IL" dirty="0"/>
                        <a:t>כמועיל ודוחק תלות</a:t>
                      </a:r>
                    </a:p>
                  </a:txBody>
                  <a:tcPr/>
                </a:tc>
                <a:extLst>
                  <a:ext uri="{0D108BD9-81ED-4DB2-BD59-A6C34878D82A}">
                    <a16:rowId xmlns:a16="http://schemas.microsoft.com/office/drawing/2014/main" val="837185877"/>
                  </a:ext>
                </a:extLst>
              </a:tr>
              <a:tr h="370840">
                <a:tc>
                  <a:txBody>
                    <a:bodyPr/>
                    <a:lstStyle/>
                    <a:p>
                      <a:pPr rtl="1"/>
                      <a:r>
                        <a:rPr lang="he-IL" dirty="0"/>
                        <a:t>הכשרות והדרכות</a:t>
                      </a:r>
                    </a:p>
                  </a:txBody>
                  <a:tcPr/>
                </a:tc>
                <a:tc>
                  <a:txBody>
                    <a:bodyPr/>
                    <a:lstStyle/>
                    <a:p>
                      <a:pPr rtl="1"/>
                      <a:r>
                        <a:rPr lang="he-IL" dirty="0"/>
                        <a:t>בשוליים</a:t>
                      </a:r>
                    </a:p>
                  </a:txBody>
                  <a:tcPr/>
                </a:tc>
                <a:tc>
                  <a:txBody>
                    <a:bodyPr/>
                    <a:lstStyle/>
                    <a:p>
                      <a:pPr rtl="1"/>
                      <a:r>
                        <a:rPr lang="he-IL" dirty="0"/>
                        <a:t>לא רלוונטי</a:t>
                      </a:r>
                    </a:p>
                  </a:txBody>
                  <a:tcPr/>
                </a:tc>
                <a:tc>
                  <a:txBody>
                    <a:bodyPr/>
                    <a:lstStyle/>
                    <a:p>
                      <a:pPr rtl="1"/>
                      <a:r>
                        <a:rPr lang="he-IL" dirty="0"/>
                        <a:t>קיימת הכשרה מקצועית ושוטפת</a:t>
                      </a:r>
                    </a:p>
                  </a:txBody>
                  <a:tcPr/>
                </a:tc>
                <a:extLst>
                  <a:ext uri="{0D108BD9-81ED-4DB2-BD59-A6C34878D82A}">
                    <a16:rowId xmlns:a16="http://schemas.microsoft.com/office/drawing/2014/main" val="837517891"/>
                  </a:ext>
                </a:extLst>
              </a:tr>
              <a:tr h="370840">
                <a:tc>
                  <a:txBody>
                    <a:bodyPr/>
                    <a:lstStyle/>
                    <a:p>
                      <a:pPr rtl="1"/>
                      <a:r>
                        <a:rPr lang="he-IL" dirty="0"/>
                        <a:t>פיקוח</a:t>
                      </a:r>
                    </a:p>
                  </a:txBody>
                  <a:tcPr/>
                </a:tc>
                <a:tc>
                  <a:txBody>
                    <a:bodyPr/>
                    <a:lstStyle/>
                    <a:p>
                      <a:pPr rtl="1"/>
                      <a:r>
                        <a:rPr lang="he-IL" dirty="0"/>
                        <a:t>פיקוח מורכב</a:t>
                      </a:r>
                      <a:r>
                        <a:rPr lang="he-IL" baseline="0" dirty="0"/>
                        <a:t> על כ140 א' מטפלות בבתים</a:t>
                      </a:r>
                      <a:endParaRPr lang="he-IL" dirty="0"/>
                    </a:p>
                  </a:txBody>
                  <a:tcPr/>
                </a:tc>
                <a:tc>
                  <a:txBody>
                    <a:bodyPr/>
                    <a:lstStyle/>
                    <a:p>
                      <a:pPr rtl="1"/>
                      <a:r>
                        <a:rPr lang="he-IL" dirty="0"/>
                        <a:t>לא רלוונטי</a:t>
                      </a:r>
                    </a:p>
                  </a:txBody>
                  <a:tcPr/>
                </a:tc>
                <a:tc>
                  <a:txBody>
                    <a:bodyPr/>
                    <a:lstStyle/>
                    <a:p>
                      <a:pPr rtl="1"/>
                      <a:r>
                        <a:rPr lang="he-IL" dirty="0"/>
                        <a:t>קיים פיקוח מקצועי שוטף</a:t>
                      </a:r>
                    </a:p>
                  </a:txBody>
                  <a:tcPr/>
                </a:tc>
                <a:extLst>
                  <a:ext uri="{0D108BD9-81ED-4DB2-BD59-A6C34878D82A}">
                    <a16:rowId xmlns:a16="http://schemas.microsoft.com/office/drawing/2014/main" val="2841228541"/>
                  </a:ext>
                </a:extLst>
              </a:tr>
              <a:tr h="370840">
                <a:tc>
                  <a:txBody>
                    <a:bodyPr/>
                    <a:lstStyle/>
                    <a:p>
                      <a:pPr rtl="1"/>
                      <a:r>
                        <a:rPr lang="he-IL" dirty="0"/>
                        <a:t>הנגישות</a:t>
                      </a:r>
                    </a:p>
                  </a:txBody>
                  <a:tcPr/>
                </a:tc>
                <a:tc>
                  <a:txBody>
                    <a:bodyPr/>
                    <a:lstStyle/>
                    <a:p>
                      <a:pPr rtl="1"/>
                      <a:r>
                        <a:rPr lang="he-IL" dirty="0"/>
                        <a:t>משאב במחסור גורר תלות במטפלת</a:t>
                      </a:r>
                    </a:p>
                  </a:txBody>
                  <a:tcPr/>
                </a:tc>
                <a:tc>
                  <a:txBody>
                    <a:bodyPr/>
                    <a:lstStyle/>
                    <a:p>
                      <a:pPr rtl="1"/>
                      <a:r>
                        <a:rPr lang="he-IL" dirty="0"/>
                        <a:t>קל</a:t>
                      </a:r>
                      <a:r>
                        <a:rPr lang="he-IL" baseline="0" dirty="0"/>
                        <a:t> להעברה</a:t>
                      </a:r>
                      <a:endParaRPr lang="he-IL" dirty="0"/>
                    </a:p>
                  </a:txBody>
                  <a:tcPr/>
                </a:tc>
                <a:tc>
                  <a:txBody>
                    <a:bodyPr/>
                    <a:lstStyle/>
                    <a:p>
                      <a:pPr rtl="1"/>
                      <a:r>
                        <a:rPr lang="he-IL" dirty="0"/>
                        <a:t>יתרון משמעותי לגודל (180 מרכזים, לא בכל הארץ)</a:t>
                      </a:r>
                    </a:p>
                  </a:txBody>
                  <a:tcPr/>
                </a:tc>
                <a:extLst>
                  <a:ext uri="{0D108BD9-81ED-4DB2-BD59-A6C34878D82A}">
                    <a16:rowId xmlns:a16="http://schemas.microsoft.com/office/drawing/2014/main" val="3866147572"/>
                  </a:ext>
                </a:extLst>
              </a:tr>
              <a:tr h="370840">
                <a:tc>
                  <a:txBody>
                    <a:bodyPr/>
                    <a:lstStyle/>
                    <a:p>
                      <a:pPr rtl="1"/>
                      <a:r>
                        <a:rPr lang="he-IL" dirty="0"/>
                        <a:t>המצב בפועל</a:t>
                      </a:r>
                    </a:p>
                  </a:txBody>
                  <a:tcPr/>
                </a:tc>
                <a:tc>
                  <a:txBody>
                    <a:bodyPr/>
                    <a:lstStyle/>
                    <a:p>
                      <a:pPr rtl="1"/>
                      <a:r>
                        <a:rPr lang="he-IL" dirty="0"/>
                        <a:t>73% מהגמלאות</a:t>
                      </a:r>
                    </a:p>
                  </a:txBody>
                  <a:tcPr/>
                </a:tc>
                <a:tc>
                  <a:txBody>
                    <a:bodyPr/>
                    <a:lstStyle/>
                    <a:p>
                      <a:pPr rtl="1"/>
                      <a:r>
                        <a:rPr lang="he-IL" dirty="0"/>
                        <a:t>24% מהגמלאות</a:t>
                      </a:r>
                    </a:p>
                  </a:txBody>
                  <a:tcPr/>
                </a:tc>
                <a:tc>
                  <a:txBody>
                    <a:bodyPr/>
                    <a:lstStyle/>
                    <a:p>
                      <a:pPr rtl="1"/>
                      <a:r>
                        <a:rPr lang="he-IL" dirty="0"/>
                        <a:t>2% מהגמלאות</a:t>
                      </a:r>
                    </a:p>
                  </a:txBody>
                  <a:tcPr/>
                </a:tc>
                <a:extLst>
                  <a:ext uri="{0D108BD9-81ED-4DB2-BD59-A6C34878D82A}">
                    <a16:rowId xmlns:a16="http://schemas.microsoft.com/office/drawing/2014/main" val="3801169514"/>
                  </a:ext>
                </a:extLst>
              </a:tr>
            </a:tbl>
          </a:graphicData>
        </a:graphic>
      </p:graphicFrame>
      <p:sp>
        <p:nvSpPr>
          <p:cNvPr id="7" name="TextBox 6"/>
          <p:cNvSpPr txBox="1"/>
          <p:nvPr/>
        </p:nvSpPr>
        <p:spPr>
          <a:xfrm>
            <a:off x="1219200" y="470407"/>
            <a:ext cx="8128000" cy="36933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1">
            <a:spAutoFit/>
          </a:bodyPr>
          <a:lstStyle/>
          <a:p>
            <a:pPr algn="ctr"/>
            <a:r>
              <a:rPr lang="he-IL" b="1" dirty="0"/>
              <a:t>ניתוח חלופות כיום</a:t>
            </a:r>
          </a:p>
        </p:txBody>
      </p:sp>
      <p:sp>
        <p:nvSpPr>
          <p:cNvPr id="8" name="מלבן 7"/>
          <p:cNvSpPr/>
          <p:nvPr/>
        </p:nvSpPr>
        <p:spPr>
          <a:xfrm>
            <a:off x="9531926" y="470407"/>
            <a:ext cx="2558473" cy="1323439"/>
          </a:xfrm>
          <a:prstGeom prst="rect">
            <a:avLst/>
          </a:prstGeom>
          <a:ln w="12700"/>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1600" b="1" dirty="0">
                <a:ln w="0"/>
                <a:solidFill>
                  <a:schemeClr val="accent1">
                    <a:lumMod val="75000"/>
                  </a:schemeClr>
                </a:solidFill>
                <a:effectLst>
                  <a:outerShdw blurRad="38100" dist="25400" dir="5400000" algn="ctr" rotWithShape="0">
                    <a:srgbClr val="6E747A">
                      <a:alpha val="43000"/>
                    </a:srgbClr>
                  </a:outerShdw>
                </a:effectLst>
              </a:rPr>
              <a:t>מה ניתן ללמוד?</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יתרון לגודל בשירות</a:t>
            </a: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הבעיות </a:t>
            </a:r>
            <a:r>
              <a:rPr lang="he-IL" sz="1600" b="1" dirty="0" err="1">
                <a:ln w="0"/>
                <a:solidFill>
                  <a:schemeClr val="accent1">
                    <a:lumMod val="75000"/>
                  </a:schemeClr>
                </a:solidFill>
                <a:effectLst>
                  <a:outerShdw blurRad="38100" dist="25400" dir="5400000" algn="ctr" rotWithShape="0">
                    <a:srgbClr val="6E747A">
                      <a:alpha val="43000"/>
                    </a:srgbClr>
                  </a:outerShdw>
                </a:effectLst>
              </a:rPr>
              <a:t>והתמרוץ</a:t>
            </a:r>
            <a:endParaRPr lang="he-IL" sz="1600" b="1" dirty="0">
              <a:ln w="0"/>
              <a:solidFill>
                <a:schemeClr val="accent1">
                  <a:lumMod val="75000"/>
                </a:schemeClr>
              </a:solidFill>
              <a:effectLst>
                <a:outerShdw blurRad="38100" dist="25400" dir="5400000" algn="ctr" rotWithShape="0">
                  <a:srgbClr val="6E747A">
                    <a:alpha val="43000"/>
                  </a:srgbClr>
                </a:outerShdw>
              </a:effectLst>
            </a:endParaRPr>
          </a:p>
          <a:p>
            <a:pPr marL="514350" indent="-514350">
              <a:buFont typeface="+mj-lt"/>
              <a:buAutoNum type="arabicPeriod"/>
            </a:pPr>
            <a:r>
              <a:rPr lang="he-IL" sz="1600" b="1" dirty="0">
                <a:ln w="0"/>
                <a:solidFill>
                  <a:schemeClr val="accent1">
                    <a:lumMod val="75000"/>
                  </a:schemeClr>
                </a:solidFill>
                <a:effectLst>
                  <a:outerShdw blurRad="38100" dist="25400" dir="5400000" algn="ctr" rotWithShape="0">
                    <a:srgbClr val="6E747A">
                      <a:alpha val="43000"/>
                    </a:srgbClr>
                  </a:outerShdw>
                </a:effectLst>
              </a:rPr>
              <a:t>שירותים לא רלוונטיים לרמות הנמוכות</a:t>
            </a:r>
          </a:p>
        </p:txBody>
      </p:sp>
      <p:sp>
        <p:nvSpPr>
          <p:cNvPr id="2" name="מלבן 1"/>
          <p:cNvSpPr/>
          <p:nvPr/>
        </p:nvSpPr>
        <p:spPr>
          <a:xfrm>
            <a:off x="1219200" y="5879099"/>
            <a:ext cx="8128000" cy="461665"/>
          </a:xfrm>
          <a:prstGeom prst="rect">
            <a:avLst/>
          </a:prstGeom>
          <a:ln>
            <a:solidFill>
              <a:schemeClr val="accent1">
                <a:lumMod val="60000"/>
                <a:lumOff val="40000"/>
              </a:schemeClr>
            </a:solidFill>
          </a:ln>
        </p:spPr>
        <p:style>
          <a:lnRef idx="2">
            <a:schemeClr val="accent1"/>
          </a:lnRef>
          <a:fillRef idx="1">
            <a:schemeClr val="lt1"/>
          </a:fillRef>
          <a:effectRef idx="0">
            <a:schemeClr val="accent1"/>
          </a:effectRef>
          <a:fontRef idx="minor">
            <a:schemeClr val="dk1"/>
          </a:fontRef>
        </p:style>
        <p:txBody>
          <a:bodyPr wrap="square">
            <a:spAutoFit/>
          </a:bodyPr>
          <a:lstStyle/>
          <a:p>
            <a:pPr algn="ctr"/>
            <a:r>
              <a:rPr lang="he-IL" sz="2400" b="1" dirty="0">
                <a:ln w="0"/>
                <a:solidFill>
                  <a:schemeClr val="accent1">
                    <a:lumMod val="75000"/>
                  </a:schemeClr>
                </a:solidFill>
                <a:effectLst>
                  <a:outerShdw blurRad="38100" dist="25400" dir="5400000" algn="ctr" rotWithShape="0">
                    <a:srgbClr val="6E747A">
                      <a:alpha val="43000"/>
                    </a:srgbClr>
                  </a:outerShdw>
                </a:effectLst>
              </a:rPr>
              <a:t>מה ידחק את התלות?</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69370051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תרשים 19"/>
          <p:cNvGraphicFramePr>
            <a:graphicFrameLocks/>
          </p:cNvGraphicFramePr>
          <p:nvPr>
            <p:extLst>
              <p:ext uri="{D42A27DB-BD31-4B8C-83A1-F6EECF244321}">
                <p14:modId xmlns:p14="http://schemas.microsoft.com/office/powerpoint/2010/main" val="3488199536"/>
              </p:ext>
            </p:extLst>
          </p:nvPr>
        </p:nvGraphicFramePr>
        <p:xfrm>
          <a:off x="1940313" y="1491514"/>
          <a:ext cx="9960742" cy="4721545"/>
        </p:xfrm>
        <a:graphic>
          <a:graphicData uri="http://schemas.openxmlformats.org/drawingml/2006/chart">
            <c:chart xmlns:c="http://schemas.openxmlformats.org/drawingml/2006/chart" xmlns:r="http://schemas.openxmlformats.org/officeDocument/2006/relationships" r:id="rId3"/>
          </a:graphicData>
        </a:graphic>
      </p:graphicFrame>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5"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3346516" y="36528"/>
            <a:ext cx="6600052" cy="1325563"/>
          </a:xfrm>
        </p:spPr>
        <p:txBody>
          <a:bodyPr>
            <a:normAutofit/>
          </a:bodyPr>
          <a:lstStyle/>
          <a:p>
            <a:r>
              <a:rPr lang="he-IL" sz="4000" b="1" dirty="0">
                <a:solidFill>
                  <a:srgbClr val="002060"/>
                </a:solidFill>
                <a:latin typeface="Arial" panose="020B0604020202020204" pitchFamily="34" charset="0"/>
                <a:ea typeface="+mn-ea"/>
                <a:cs typeface="Arial" panose="020B0604020202020204" pitchFamily="34" charset="0"/>
              </a:rPr>
              <a:t>השפעות רפורמת 2018</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1138463" y="6213059"/>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cxnSp>
        <p:nvCxnSpPr>
          <p:cNvPr id="7" name="מחבר ישר 6"/>
          <p:cNvCxnSpPr/>
          <p:nvPr/>
        </p:nvCxnSpPr>
        <p:spPr>
          <a:xfrm flipH="1">
            <a:off x="4166648" y="2321903"/>
            <a:ext cx="9426" cy="3280528"/>
          </a:xfrm>
          <a:prstGeom prst="line">
            <a:avLst/>
          </a:prstGeom>
        </p:spPr>
        <p:style>
          <a:lnRef idx="3">
            <a:schemeClr val="accent1"/>
          </a:lnRef>
          <a:fillRef idx="0">
            <a:schemeClr val="accent1"/>
          </a:fillRef>
          <a:effectRef idx="2">
            <a:schemeClr val="accent1"/>
          </a:effectRef>
          <a:fontRef idx="minor">
            <a:schemeClr val="tx1"/>
          </a:fontRef>
        </p:style>
      </p:cxnSp>
      <p:sp>
        <p:nvSpPr>
          <p:cNvPr id="17" name="TextBox 10"/>
          <p:cNvSpPr txBox="1"/>
          <p:nvPr/>
        </p:nvSpPr>
        <p:spPr>
          <a:xfrm>
            <a:off x="2788773" y="1509305"/>
            <a:ext cx="771023"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2.5</a:t>
            </a:r>
          </a:p>
        </p:txBody>
      </p:sp>
      <p:sp>
        <p:nvSpPr>
          <p:cNvPr id="18" name="TextBox 10"/>
          <p:cNvSpPr txBox="1"/>
          <p:nvPr/>
        </p:nvSpPr>
        <p:spPr>
          <a:xfrm>
            <a:off x="6535949" y="4051144"/>
            <a:ext cx="769469" cy="340519"/>
          </a:xfrm>
          <a:prstGeom prst="wedgeRoundRectCallout">
            <a:avLst/>
          </a:prstGeom>
          <a:noFill/>
          <a:ln>
            <a:solidFill>
              <a:schemeClr val="bg2">
                <a:lumMod val="75000"/>
              </a:schemeClr>
            </a:solidFill>
          </a:ln>
        </p:spPr>
        <p:style>
          <a:lnRef idx="0">
            <a:scrgbClr r="0" g="0" b="0"/>
          </a:lnRef>
          <a:fillRef idx="0">
            <a:scrgbClr r="0" g="0" b="0"/>
          </a:fillRef>
          <a:effectRef idx="0">
            <a:scrgbClr r="0" g="0" b="0"/>
          </a:effectRef>
          <a:fontRef idx="minor">
            <a:schemeClr val="tx1"/>
          </a:fontRef>
        </p:style>
        <p:txBody>
          <a:bodyPr wrap="square" rtlCol="1" anchor="t">
            <a:spAutoFit/>
          </a:bodyPr>
          <a:lstStyle>
            <a:lvl1pPr marL="0" indent="0">
              <a:defRPr sz="1100">
                <a:solidFill>
                  <a:schemeClr val="tx1"/>
                </a:solidFill>
                <a:latin typeface="+mn-lt"/>
                <a:ea typeface="+mn-ea"/>
                <a:cs typeface="+mn-cs"/>
              </a:defRPr>
            </a:lvl1pPr>
            <a:lvl2pPr marL="457200" indent="0">
              <a:defRPr sz="1100">
                <a:solidFill>
                  <a:schemeClr val="tx1"/>
                </a:solidFill>
                <a:latin typeface="+mn-lt"/>
                <a:ea typeface="+mn-ea"/>
                <a:cs typeface="+mn-cs"/>
              </a:defRPr>
            </a:lvl2pPr>
            <a:lvl3pPr marL="914400" indent="0">
              <a:defRPr sz="1100">
                <a:solidFill>
                  <a:schemeClr val="tx1"/>
                </a:solidFill>
                <a:latin typeface="+mn-lt"/>
                <a:ea typeface="+mn-ea"/>
                <a:cs typeface="+mn-cs"/>
              </a:defRPr>
            </a:lvl3pPr>
            <a:lvl4pPr marL="1371600" indent="0">
              <a:defRPr sz="1100">
                <a:solidFill>
                  <a:schemeClr val="tx1"/>
                </a:solidFill>
                <a:latin typeface="+mn-lt"/>
                <a:ea typeface="+mn-ea"/>
                <a:cs typeface="+mn-cs"/>
              </a:defRPr>
            </a:lvl4pPr>
            <a:lvl5pPr marL="1828800" indent="0">
              <a:defRPr sz="1100">
                <a:solidFill>
                  <a:schemeClr val="tx1"/>
                </a:solidFill>
                <a:latin typeface="+mn-lt"/>
                <a:ea typeface="+mn-ea"/>
                <a:cs typeface="+mn-cs"/>
              </a:defRPr>
            </a:lvl5pPr>
            <a:lvl6pPr marL="2286000" indent="0">
              <a:defRPr sz="1100">
                <a:solidFill>
                  <a:schemeClr val="tx1"/>
                </a:solidFill>
                <a:latin typeface="+mn-lt"/>
                <a:ea typeface="+mn-ea"/>
                <a:cs typeface="+mn-cs"/>
              </a:defRPr>
            </a:lvl6pPr>
            <a:lvl7pPr marL="2743200" indent="0">
              <a:defRPr sz="1100">
                <a:solidFill>
                  <a:schemeClr val="tx1"/>
                </a:solidFill>
                <a:latin typeface="+mn-lt"/>
                <a:ea typeface="+mn-ea"/>
                <a:cs typeface="+mn-cs"/>
              </a:defRPr>
            </a:lvl7pPr>
            <a:lvl8pPr marL="3200400" indent="0">
              <a:defRPr sz="1100">
                <a:solidFill>
                  <a:schemeClr val="tx1"/>
                </a:solidFill>
                <a:latin typeface="+mn-lt"/>
                <a:ea typeface="+mn-ea"/>
                <a:cs typeface="+mn-cs"/>
              </a:defRPr>
            </a:lvl8pPr>
            <a:lvl9pPr marL="3657600" indent="0">
              <a:defRPr sz="1100">
                <a:solidFill>
                  <a:schemeClr val="tx1"/>
                </a:solidFill>
                <a:latin typeface="+mn-lt"/>
                <a:ea typeface="+mn-ea"/>
                <a:cs typeface="+mn-cs"/>
              </a:defRPr>
            </a:lvl9pPr>
          </a:lstStyle>
          <a:p>
            <a:pPr algn="ctr" rtl="1"/>
            <a:r>
              <a:rPr lang="he-IL" sz="1400" b="1" dirty="0">
                <a:solidFill>
                  <a:srgbClr val="002060"/>
                </a:solidFill>
                <a:latin typeface="Arial" panose="020B0604020202020204" pitchFamily="34" charset="0"/>
                <a:cs typeface="Arial" panose="020B0604020202020204" pitchFamily="34" charset="0"/>
              </a:rPr>
              <a:t>פי 22</a:t>
            </a:r>
          </a:p>
        </p:txBody>
      </p:sp>
      <p:sp>
        <p:nvSpPr>
          <p:cNvPr id="22" name="Rectangle 7">
            <a:extLst>
              <a:ext uri="{FF2B5EF4-FFF2-40B4-BE49-F238E27FC236}">
                <a16:creationId xmlns:a16="http://schemas.microsoft.com/office/drawing/2014/main" id="{46AD47CF-DF28-4A8A-A9B9-814AB784C8A4}"/>
              </a:ext>
            </a:extLst>
          </p:cNvPr>
          <p:cNvSpPr/>
          <p:nvPr/>
        </p:nvSpPr>
        <p:spPr>
          <a:xfrm>
            <a:off x="492301" y="165951"/>
            <a:ext cx="3424334" cy="908705"/>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rtl="1"/>
            <a:r>
              <a:rPr lang="he-IL" sz="2000" dirty="0"/>
              <a:t>10.7 מיליארד מחולק בכסף </a:t>
            </a:r>
          </a:p>
          <a:p>
            <a:pPr algn="ctr" rtl="1"/>
            <a:r>
              <a:rPr lang="he-IL" sz="2000" b="1" dirty="0"/>
              <a:t>פי 63 מ2018</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3448" y="606396"/>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247142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מלבן 5"/>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8" name="תמונה 7"/>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11144274" y="5883813"/>
            <a:ext cx="968886" cy="974186"/>
          </a:xfrm>
          <a:prstGeom prst="rect">
            <a:avLst/>
          </a:prstGeom>
        </p:spPr>
      </p:pic>
      <p:pic>
        <p:nvPicPr>
          <p:cNvPr id="11" name="תמונה 10" descr="C:\Users\USER\Downloads\עיצוב ללא שם (1).png"/>
          <p:cNvPicPr/>
          <p:nvPr/>
        </p:nvPicPr>
        <p:blipFill rotWithShape="1">
          <a:blip r:embed="rId4" cstate="print">
            <a:extLst>
              <a:ext uri="{28A0092B-C50C-407E-A947-70E740481C1C}">
                <a14:useLocalDpi xmlns:a14="http://schemas.microsoft.com/office/drawing/2010/main"/>
              </a:ext>
            </a:extLst>
          </a:blip>
          <a:srcRect/>
          <a:stretch/>
        </p:blipFill>
        <p:spPr bwMode="auto">
          <a:xfrm>
            <a:off x="9547534" y="6065845"/>
            <a:ext cx="1573183" cy="704047"/>
          </a:xfrm>
          <a:prstGeom prst="rect">
            <a:avLst/>
          </a:prstGeom>
          <a:noFill/>
          <a:ln>
            <a:noFill/>
          </a:ln>
          <a:extLst>
            <a:ext uri="{53640926-AAD7-44D8-BBD7-CCE9431645EC}">
              <a14:shadowObscured xmlns:a14="http://schemas.microsoft.com/office/drawing/2010/main"/>
            </a:ext>
          </a:extLst>
        </p:spPr>
      </p:pic>
      <p:sp>
        <p:nvSpPr>
          <p:cNvPr id="2" name="כותרת 1"/>
          <p:cNvSpPr>
            <a:spLocks noGrp="1"/>
          </p:cNvSpPr>
          <p:nvPr>
            <p:ph type="title"/>
          </p:nvPr>
        </p:nvSpPr>
        <p:spPr>
          <a:xfrm>
            <a:off x="4197299" y="145268"/>
            <a:ext cx="6430073" cy="1325563"/>
          </a:xfrm>
        </p:spPr>
        <p:txBody>
          <a:bodyPr>
            <a:normAutofit/>
          </a:bodyPr>
          <a:lstStyle/>
          <a:p>
            <a:r>
              <a:rPr lang="he-IL" sz="3600" b="1" dirty="0">
                <a:solidFill>
                  <a:srgbClr val="002060"/>
                </a:solidFill>
                <a:latin typeface="Arial" panose="020B0604020202020204" pitchFamily="34" charset="0"/>
                <a:ea typeface="+mn-ea"/>
                <a:cs typeface="Arial" panose="020B0604020202020204" pitchFamily="34" charset="0"/>
              </a:rPr>
              <a:t>אחוז המרה לפי שירותים 2024</a:t>
            </a:r>
          </a:p>
        </p:txBody>
      </p:sp>
      <p:sp>
        <p:nvSpPr>
          <p:cNvPr id="9" name="Title 1">
            <a:extLst>
              <a:ext uri="{FF2B5EF4-FFF2-40B4-BE49-F238E27FC236}">
                <a16:creationId xmlns:a16="http://schemas.microsoft.com/office/drawing/2014/main" id="{E0DA82B0-6AAD-4FB1-8122-13E88F23FD3E}"/>
              </a:ext>
            </a:extLst>
          </p:cNvPr>
          <p:cNvSpPr txBox="1">
            <a:spLocks/>
          </p:cNvSpPr>
          <p:nvPr/>
        </p:nvSpPr>
        <p:spPr>
          <a:xfrm>
            <a:off x="271197" y="5771417"/>
            <a:ext cx="9503232" cy="376239"/>
          </a:xfrm>
          <a:prstGeom prst="rect">
            <a:avLst/>
          </a:prstGeom>
        </p:spPr>
        <p:txBody>
          <a:bodyPr vert="horz" lIns="91440" tIns="45720" rIns="91440" bIns="45720" rtlCol="1" anchor="ctr">
            <a:noAutofit/>
          </a:bodyPr>
          <a:lstStyle>
            <a:lvl1pPr algn="r" defTabSz="914400" rtl="1" eaLnBrk="1" latinLnBrk="0" hangingPunct="1">
              <a:lnSpc>
                <a:spcPct val="80000"/>
              </a:lnSpc>
              <a:spcBef>
                <a:spcPct val="0"/>
              </a:spcBef>
              <a:buNone/>
              <a:defRPr sz="4800" kern="1200">
                <a:solidFill>
                  <a:schemeClr val="accent3"/>
                </a:solidFill>
                <a:latin typeface="Calibri" panose="020F0502020204030204" pitchFamily="34" charset="0"/>
                <a:ea typeface="+mj-ea"/>
                <a:cs typeface="Calibri" panose="020F0502020204030204" pitchFamily="34" charset="0"/>
              </a:defRPr>
            </a:lvl1pPr>
          </a:lstStyle>
          <a:p>
            <a:endParaRPr lang="he-IL" sz="2400" dirty="0">
              <a:solidFill>
                <a:srgbClr val="FF0000"/>
              </a:solidFill>
              <a:latin typeface="Arial" panose="020B0604020202020204" pitchFamily="34" charset="0"/>
              <a:cs typeface="Arial" panose="020B0604020202020204" pitchFamily="34" charset="0"/>
            </a:endParaRPr>
          </a:p>
        </p:txBody>
      </p:sp>
      <p:graphicFrame>
        <p:nvGraphicFramePr>
          <p:cNvPr id="14" name="טבלה 13"/>
          <p:cNvGraphicFramePr>
            <a:graphicFrameLocks noGrp="1"/>
          </p:cNvGraphicFramePr>
          <p:nvPr>
            <p:extLst>
              <p:ext uri="{D42A27DB-BD31-4B8C-83A1-F6EECF244321}">
                <p14:modId xmlns:p14="http://schemas.microsoft.com/office/powerpoint/2010/main" val="1752442078"/>
              </p:ext>
            </p:extLst>
          </p:nvPr>
        </p:nvGraphicFramePr>
        <p:xfrm>
          <a:off x="486909" y="121125"/>
          <a:ext cx="2133600" cy="1139190"/>
        </p:xfrm>
        <a:graphic>
          <a:graphicData uri="http://schemas.openxmlformats.org/drawingml/2006/table">
            <a:tbl>
              <a:tblPr rtl="1"/>
              <a:tblGrid>
                <a:gridCol w="1244600">
                  <a:extLst>
                    <a:ext uri="{9D8B030D-6E8A-4147-A177-3AD203B41FA5}">
                      <a16:colId xmlns:a16="http://schemas.microsoft.com/office/drawing/2014/main" val="531752868"/>
                    </a:ext>
                  </a:extLst>
                </a:gridCol>
                <a:gridCol w="889000">
                  <a:extLst>
                    <a:ext uri="{9D8B030D-6E8A-4147-A177-3AD203B41FA5}">
                      <a16:colId xmlns:a16="http://schemas.microsoft.com/office/drawing/2014/main" val="2430981515"/>
                    </a:ext>
                  </a:extLst>
                </a:gridCol>
              </a:tblGrid>
              <a:tr h="0">
                <a:tc>
                  <a:txBody>
                    <a:bodyPr/>
                    <a:lstStyle/>
                    <a:p>
                      <a:pPr algn="ctr" rtl="1" fontAlgn="ctr"/>
                      <a:r>
                        <a:rPr lang="he-IL" sz="1100" b="1" i="0" u="none" strike="noStrike" dirty="0">
                          <a:solidFill>
                            <a:srgbClr val="000000"/>
                          </a:solidFill>
                          <a:effectLst/>
                          <a:latin typeface="Arial" panose="020B0604020202020204" pitchFamily="34" charset="0"/>
                        </a:rPr>
                        <a:t>שירות</a:t>
                      </a:r>
                    </a:p>
                  </a:txBody>
                  <a:tcPr marL="9525" marR="9525" marT="9525"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ctr" rtl="1" fontAlgn="ctr"/>
                      <a:r>
                        <a:rPr lang="he-IL" sz="1100" b="1" i="0" u="none" strike="noStrike">
                          <a:solidFill>
                            <a:srgbClr val="000000"/>
                          </a:solidFill>
                          <a:effectLst/>
                          <a:latin typeface="Arial" panose="020B0604020202020204" pitchFamily="34" charset="0"/>
                        </a:rPr>
                        <a:t>באחוזים 2024</a:t>
                      </a:r>
                    </a:p>
                  </a:txBody>
                  <a:tcPr marL="9525" marR="9525" marT="9525"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667402133"/>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ישראלית</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21%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437806897"/>
                  </a:ext>
                </a:extLst>
              </a:tr>
              <a:tr h="190500">
                <a:tc>
                  <a:txBody>
                    <a:bodyPr/>
                    <a:lstStyle/>
                    <a:p>
                      <a:pPr algn="r" rtl="1" fontAlgn="b"/>
                      <a:r>
                        <a:rPr lang="he-IL" sz="1100" b="1" i="0" u="none" strike="noStrike">
                          <a:solidFill>
                            <a:srgbClr val="000000"/>
                          </a:solidFill>
                          <a:effectLst/>
                          <a:latin typeface="Arial" panose="020B0604020202020204" pitchFamily="34" charset="0"/>
                        </a:rPr>
                        <a:t>מטפלת זרה</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100" b="0" i="0" u="none" strike="noStrike">
                          <a:solidFill>
                            <a:srgbClr val="000000"/>
                          </a:solidFill>
                          <a:effectLst/>
                          <a:latin typeface="Arial" panose="020B0604020202020204" pitchFamily="34" charset="0"/>
                        </a:rPr>
                        <a:t>14%</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48922666"/>
                  </a:ext>
                </a:extLst>
              </a:tr>
              <a:tr h="190500">
                <a:tc>
                  <a:txBody>
                    <a:bodyPr/>
                    <a:lstStyle/>
                    <a:p>
                      <a:pPr algn="r" rtl="1" fontAlgn="b"/>
                      <a:r>
                        <a:rPr lang="he-IL" sz="1100" b="1" i="0" u="none" strike="noStrike">
                          <a:solidFill>
                            <a:srgbClr val="000000"/>
                          </a:solidFill>
                          <a:effectLst/>
                          <a:latin typeface="Arial" panose="020B0604020202020204" pitchFamily="34" charset="0"/>
                        </a:rPr>
                        <a:t>בני משפחה מטפלים</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41%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2738512730"/>
                  </a:ext>
                </a:extLst>
              </a:tr>
              <a:tr h="190500">
                <a:tc>
                  <a:txBody>
                    <a:bodyPr/>
                    <a:lstStyle/>
                    <a:p>
                      <a:pPr algn="r" rtl="1" fontAlgn="b"/>
                      <a:r>
                        <a:rPr lang="he-IL" sz="1100" b="1" i="0" u="none" strike="noStrike">
                          <a:solidFill>
                            <a:srgbClr val="000000"/>
                          </a:solidFill>
                          <a:effectLst/>
                          <a:latin typeface="Arial" panose="020B0604020202020204" pitchFamily="34" charset="0"/>
                        </a:rPr>
                        <a:t>גמלה בכסף</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solidFill>
                      <a:srgbClr val="FFE699"/>
                    </a:solidFill>
                  </a:tcPr>
                </a:tc>
                <a:tc>
                  <a:txBody>
                    <a:bodyPr/>
                    <a:lstStyle/>
                    <a:p>
                      <a:pPr algn="r" rtl="0" fontAlgn="b"/>
                      <a:r>
                        <a:rPr lang="he-IL" sz="1100" b="1" i="0" u="none" strike="noStrike">
                          <a:solidFill>
                            <a:srgbClr val="000000"/>
                          </a:solidFill>
                          <a:effectLst/>
                          <a:latin typeface="Arial" panose="020B0604020202020204" pitchFamily="34" charset="0"/>
                        </a:rPr>
                        <a:t>22%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solidFill>
                      <a:srgbClr val="FFE699"/>
                    </a:solidFill>
                  </a:tcPr>
                </a:tc>
                <a:extLst>
                  <a:ext uri="{0D108BD9-81ED-4DB2-BD59-A6C34878D82A}">
                    <a16:rowId xmlns:a16="http://schemas.microsoft.com/office/drawing/2014/main" val="3151792669"/>
                  </a:ext>
                </a:extLst>
              </a:tr>
              <a:tr h="200025">
                <a:tc>
                  <a:txBody>
                    <a:bodyPr/>
                    <a:lstStyle/>
                    <a:p>
                      <a:pPr algn="r" rtl="1" fontAlgn="b"/>
                      <a:r>
                        <a:rPr lang="he-IL" sz="1100" b="1" i="0" u="none" strike="noStrike" dirty="0">
                          <a:solidFill>
                            <a:srgbClr val="000000"/>
                          </a:solidFill>
                          <a:effectLst/>
                          <a:latin typeface="Arial" panose="020B0604020202020204" pitchFamily="34" charset="0"/>
                        </a:rPr>
                        <a:t>מרכז יום</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100" b="0" i="0" u="none" strike="noStrike" dirty="0">
                          <a:solidFill>
                            <a:srgbClr val="000000"/>
                          </a:solidFill>
                          <a:effectLst/>
                          <a:latin typeface="Arial" panose="020B0604020202020204" pitchFamily="34" charset="0"/>
                        </a:rPr>
                        <a:t>2%</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0690847"/>
                  </a:ext>
                </a:extLst>
              </a:tr>
            </a:tbl>
          </a:graphicData>
        </a:graphic>
      </p:graphicFrame>
      <p:graphicFrame>
        <p:nvGraphicFramePr>
          <p:cNvPr id="10" name="תרשים 9"/>
          <p:cNvGraphicFramePr>
            <a:graphicFrameLocks/>
          </p:cNvGraphicFramePr>
          <p:nvPr>
            <p:extLst>
              <p:ext uri="{D42A27DB-BD31-4B8C-83A1-F6EECF244321}">
                <p14:modId xmlns:p14="http://schemas.microsoft.com/office/powerpoint/2010/main" val="648565606"/>
              </p:ext>
            </p:extLst>
          </p:nvPr>
        </p:nvGraphicFramePr>
        <p:xfrm>
          <a:off x="3433164" y="1136074"/>
          <a:ext cx="7711109" cy="4929772"/>
        </p:xfrm>
        <a:graphic>
          <a:graphicData uri="http://schemas.openxmlformats.org/drawingml/2006/chart">
            <c:chart xmlns:c="http://schemas.openxmlformats.org/drawingml/2006/chart" xmlns:r="http://schemas.openxmlformats.org/officeDocument/2006/relationships" r:id="rId5"/>
          </a:graphicData>
        </a:graphic>
      </p:graphicFrame>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35079270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78FBB-1903-1F57-3490-7DC7484B1CA7}"/>
            </a:ext>
          </a:extLst>
        </p:cNvPr>
        <p:cNvGrpSpPr/>
        <p:nvPr/>
      </p:nvGrpSpPr>
      <p:grpSpPr>
        <a:xfrm>
          <a:off x="0" y="0"/>
          <a:ext cx="0" cy="0"/>
          <a:chOff x="0" y="0"/>
          <a:chExt cx="0" cy="0"/>
        </a:xfrm>
      </p:grpSpPr>
      <p:sp>
        <p:nvSpPr>
          <p:cNvPr id="6" name="מלבן 5">
            <a:extLst>
              <a:ext uri="{FF2B5EF4-FFF2-40B4-BE49-F238E27FC236}">
                <a16:creationId xmlns:a16="http://schemas.microsoft.com/office/drawing/2014/main" id="{007D5769-54A2-74AF-B16F-9EF808DF7FB6}"/>
              </a:ext>
            </a:extLst>
          </p:cNvPr>
          <p:cNvSpPr/>
          <p:nvPr/>
        </p:nvSpPr>
        <p:spPr>
          <a:xfrm>
            <a:off x="3093" y="0"/>
            <a:ext cx="244547" cy="6857999"/>
          </a:xfrm>
          <a:prstGeom prst="rect">
            <a:avLst/>
          </a:prstGeom>
          <a:solidFill>
            <a:srgbClr val="8C8D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5" name="טבלה 4">
            <a:extLst>
              <a:ext uri="{FF2B5EF4-FFF2-40B4-BE49-F238E27FC236}">
                <a16:creationId xmlns:a16="http://schemas.microsoft.com/office/drawing/2014/main" id="{C0EFC859-1CBB-691D-9E73-D6DE33C581DD}"/>
              </a:ext>
            </a:extLst>
          </p:cNvPr>
          <p:cNvGraphicFramePr>
            <a:graphicFrameLocks noGrp="1"/>
          </p:cNvGraphicFramePr>
          <p:nvPr>
            <p:extLst>
              <p:ext uri="{D42A27DB-BD31-4B8C-83A1-F6EECF244321}">
                <p14:modId xmlns:p14="http://schemas.microsoft.com/office/powerpoint/2010/main" val="2754884324"/>
              </p:ext>
            </p:extLst>
          </p:nvPr>
        </p:nvGraphicFramePr>
        <p:xfrm>
          <a:off x="1954882" y="2484945"/>
          <a:ext cx="8128000" cy="1376680"/>
        </p:xfrm>
        <a:graphic>
          <a:graphicData uri="http://schemas.openxmlformats.org/drawingml/2006/table">
            <a:tbl>
              <a:tblPr rtl="1" firstRow="1" bandRow="1">
                <a:tableStyleId>{5C22544A-7EE6-4342-B048-85BDC9FD1C3A}</a:tableStyleId>
              </a:tblPr>
              <a:tblGrid>
                <a:gridCol w="1864412">
                  <a:extLst>
                    <a:ext uri="{9D8B030D-6E8A-4147-A177-3AD203B41FA5}">
                      <a16:colId xmlns:a16="http://schemas.microsoft.com/office/drawing/2014/main" val="3096615907"/>
                    </a:ext>
                  </a:extLst>
                </a:gridCol>
                <a:gridCol w="2199588">
                  <a:extLst>
                    <a:ext uri="{9D8B030D-6E8A-4147-A177-3AD203B41FA5}">
                      <a16:colId xmlns:a16="http://schemas.microsoft.com/office/drawing/2014/main" val="2141136333"/>
                    </a:ext>
                  </a:extLst>
                </a:gridCol>
                <a:gridCol w="1495720">
                  <a:extLst>
                    <a:ext uri="{9D8B030D-6E8A-4147-A177-3AD203B41FA5}">
                      <a16:colId xmlns:a16="http://schemas.microsoft.com/office/drawing/2014/main" val="877654959"/>
                    </a:ext>
                  </a:extLst>
                </a:gridCol>
                <a:gridCol w="2568280">
                  <a:extLst>
                    <a:ext uri="{9D8B030D-6E8A-4147-A177-3AD203B41FA5}">
                      <a16:colId xmlns:a16="http://schemas.microsoft.com/office/drawing/2014/main" val="3524324189"/>
                    </a:ext>
                  </a:extLst>
                </a:gridCol>
              </a:tblGrid>
              <a:tr h="370840">
                <a:tc>
                  <a:txBody>
                    <a:bodyPr/>
                    <a:lstStyle/>
                    <a:p>
                      <a:pPr algn="ctr" rtl="1"/>
                      <a:r>
                        <a:rPr lang="he-IL" b="1" dirty="0"/>
                        <a:t>השנה</a:t>
                      </a:r>
                    </a:p>
                  </a:txBody>
                  <a:tcPr/>
                </a:tc>
                <a:tc>
                  <a:txBody>
                    <a:bodyPr/>
                    <a:lstStyle/>
                    <a:p>
                      <a:pPr algn="ctr" rtl="1"/>
                      <a:r>
                        <a:rPr lang="he-IL" b="1" dirty="0"/>
                        <a:t>ההשקעה</a:t>
                      </a:r>
                    </a:p>
                  </a:txBody>
                  <a:tcPr/>
                </a:tc>
                <a:tc>
                  <a:txBody>
                    <a:bodyPr/>
                    <a:lstStyle/>
                    <a:p>
                      <a:pPr algn="ctr" rtl="1"/>
                      <a:r>
                        <a:rPr lang="he-IL" sz="1600" b="1" dirty="0"/>
                        <a:t>מספר הזכאים</a:t>
                      </a:r>
                      <a:endParaRPr lang="he-IL" b="1" dirty="0"/>
                    </a:p>
                  </a:txBody>
                  <a:tcPr/>
                </a:tc>
                <a:tc>
                  <a:txBody>
                    <a:bodyPr/>
                    <a:lstStyle/>
                    <a:p>
                      <a:pPr algn="ctr" rtl="1"/>
                      <a:r>
                        <a:rPr lang="he-IL" b="1" dirty="0"/>
                        <a:t>הבחירה האפשרית</a:t>
                      </a:r>
                    </a:p>
                  </a:txBody>
                  <a:tcPr/>
                </a:tc>
                <a:extLst>
                  <a:ext uri="{0D108BD9-81ED-4DB2-BD59-A6C34878D82A}">
                    <a16:rowId xmlns:a16="http://schemas.microsoft.com/office/drawing/2014/main" val="3801169514"/>
                  </a:ext>
                </a:extLst>
              </a:tr>
              <a:tr h="370840">
                <a:tc>
                  <a:txBody>
                    <a:bodyPr/>
                    <a:lstStyle/>
                    <a:p>
                      <a:pPr algn="ctr" rtl="1"/>
                      <a:r>
                        <a:rPr lang="he-IL" b="1" dirty="0"/>
                        <a:t>2018</a:t>
                      </a:r>
                    </a:p>
                  </a:txBody>
                  <a:tcPr/>
                </a:tc>
                <a:tc>
                  <a:txBody>
                    <a:bodyPr/>
                    <a:lstStyle/>
                    <a:p>
                      <a:pPr algn="ctr" rtl="1"/>
                      <a:r>
                        <a:rPr lang="he-IL" b="1" dirty="0"/>
                        <a:t>7 מיליארד ₪</a:t>
                      </a:r>
                    </a:p>
                  </a:txBody>
                  <a:tcPr/>
                </a:tc>
                <a:tc>
                  <a:txBody>
                    <a:bodyPr/>
                    <a:lstStyle/>
                    <a:p>
                      <a:pPr algn="ctr" rtl="1"/>
                      <a:r>
                        <a:rPr lang="he-IL" b="1" dirty="0"/>
                        <a:t>175,000</a:t>
                      </a:r>
                    </a:p>
                  </a:txBody>
                  <a:tcPr/>
                </a:tc>
                <a:tc rowSpan="2">
                  <a:txBody>
                    <a:bodyPr/>
                    <a:lstStyle/>
                    <a:p>
                      <a:pPr algn="ctr" rtl="1"/>
                      <a:r>
                        <a:rPr lang="he-IL" sz="2000" b="1" dirty="0"/>
                        <a:t>מטפלת-73%</a:t>
                      </a:r>
                    </a:p>
                    <a:p>
                      <a:pPr algn="ctr" rtl="1"/>
                      <a:r>
                        <a:rPr lang="he-IL" sz="2000" b="1" dirty="0"/>
                        <a:t>כסף- 23%</a:t>
                      </a:r>
                    </a:p>
                    <a:p>
                      <a:pPr algn="ctr" rtl="1"/>
                      <a:r>
                        <a:rPr lang="he-IL" sz="2000" b="1" dirty="0"/>
                        <a:t>מרכז יום- 2%</a:t>
                      </a:r>
                    </a:p>
                  </a:txBody>
                  <a:tcPr/>
                </a:tc>
                <a:extLst>
                  <a:ext uri="{0D108BD9-81ED-4DB2-BD59-A6C34878D82A}">
                    <a16:rowId xmlns:a16="http://schemas.microsoft.com/office/drawing/2014/main" val="604244769"/>
                  </a:ext>
                </a:extLst>
              </a:tr>
              <a:tr h="370840">
                <a:tc>
                  <a:txBody>
                    <a:bodyPr/>
                    <a:lstStyle/>
                    <a:p>
                      <a:pPr algn="ctr" rtl="1"/>
                      <a:r>
                        <a:rPr lang="he-IL" b="1" dirty="0"/>
                        <a:t>2024</a:t>
                      </a:r>
                    </a:p>
                  </a:txBody>
                  <a:tcPr/>
                </a:tc>
                <a:tc>
                  <a:txBody>
                    <a:bodyPr/>
                    <a:lstStyle/>
                    <a:p>
                      <a:pPr algn="ctr" rtl="1"/>
                      <a:r>
                        <a:rPr lang="en-US" b="1" dirty="0"/>
                        <a:t>17</a:t>
                      </a:r>
                      <a:r>
                        <a:rPr lang="he-IL" b="1" dirty="0"/>
                        <a:t> מיליארד ₪ </a:t>
                      </a:r>
                    </a:p>
                  </a:txBody>
                  <a:tcPr/>
                </a:tc>
                <a:tc>
                  <a:txBody>
                    <a:bodyPr/>
                    <a:lstStyle/>
                    <a:p>
                      <a:pPr algn="ctr" rtl="1"/>
                      <a:r>
                        <a:rPr lang="he-IL" b="1" dirty="0"/>
                        <a:t>360,000</a:t>
                      </a:r>
                    </a:p>
                  </a:txBody>
                  <a:tcPr/>
                </a:tc>
                <a:tc vMerge="1">
                  <a:txBody>
                    <a:bodyPr/>
                    <a:lstStyle/>
                    <a:p>
                      <a:pPr algn="ctr" rtl="1"/>
                      <a:endParaRPr lang="he-IL" b="1" dirty="0"/>
                    </a:p>
                  </a:txBody>
                  <a:tcPr/>
                </a:tc>
                <a:extLst>
                  <a:ext uri="{0D108BD9-81ED-4DB2-BD59-A6C34878D82A}">
                    <a16:rowId xmlns:a16="http://schemas.microsoft.com/office/drawing/2014/main" val="3563191535"/>
                  </a:ext>
                </a:extLst>
              </a:tr>
            </a:tbl>
          </a:graphicData>
        </a:graphic>
      </p:graphicFrame>
      <p:sp>
        <p:nvSpPr>
          <p:cNvPr id="8" name="מלבן 7">
            <a:extLst>
              <a:ext uri="{FF2B5EF4-FFF2-40B4-BE49-F238E27FC236}">
                <a16:creationId xmlns:a16="http://schemas.microsoft.com/office/drawing/2014/main" id="{DF0E1C70-7628-5D32-4812-ED7D90BD30DE}"/>
              </a:ext>
            </a:extLst>
          </p:cNvPr>
          <p:cNvSpPr/>
          <p:nvPr/>
        </p:nvSpPr>
        <p:spPr>
          <a:xfrm>
            <a:off x="1868274" y="3823522"/>
            <a:ext cx="8301216" cy="646331"/>
          </a:xfrm>
          <a:prstGeom prst="rect">
            <a:avLst/>
          </a:prstGeom>
          <a:ln w="12700">
            <a:solidFill>
              <a:schemeClr val="bg1"/>
            </a:solidFill>
          </a:ln>
        </p:spPr>
        <p:style>
          <a:lnRef idx="2">
            <a:schemeClr val="accent5"/>
          </a:lnRef>
          <a:fillRef idx="1">
            <a:schemeClr val="lt1"/>
          </a:fillRef>
          <a:effectRef idx="0">
            <a:schemeClr val="accent5"/>
          </a:effectRef>
          <a:fontRef idx="minor">
            <a:schemeClr val="dk1"/>
          </a:fontRef>
        </p:style>
        <p:txBody>
          <a:bodyPr wrap="square" lIns="91440" tIns="45720" rIns="91440" bIns="45720">
            <a:spAutoFit/>
          </a:bodyPr>
          <a:lstStyle/>
          <a:p>
            <a:pPr algn="ctr"/>
            <a:r>
              <a:rPr lang="he-IL" sz="3600" b="1" dirty="0">
                <a:ln w="0"/>
                <a:solidFill>
                  <a:schemeClr val="accent1">
                    <a:lumMod val="75000"/>
                  </a:schemeClr>
                </a:solidFill>
                <a:effectLst>
                  <a:outerShdw blurRad="38100" dist="25400" dir="5400000" algn="ctr" rotWithShape="0">
                    <a:srgbClr val="6E747A">
                      <a:alpha val="43000"/>
                    </a:srgbClr>
                  </a:outerShdw>
                </a:effectLst>
              </a:rPr>
              <a:t>ישראל משקיעה הכי הרבה, והתוצאות?</a:t>
            </a:r>
          </a:p>
        </p:txBody>
      </p:sp>
      <p:sp>
        <p:nvSpPr>
          <p:cNvPr id="18" name="תיבת טקסט 17">
            <a:extLst>
              <a:ext uri="{FF2B5EF4-FFF2-40B4-BE49-F238E27FC236}">
                <a16:creationId xmlns:a16="http://schemas.microsoft.com/office/drawing/2014/main" id="{461E4C1F-2142-6570-D6F2-9CB71F00AE14}"/>
              </a:ext>
            </a:extLst>
          </p:cNvPr>
          <p:cNvSpPr txBox="1"/>
          <p:nvPr/>
        </p:nvSpPr>
        <p:spPr>
          <a:xfrm>
            <a:off x="2868058" y="1530838"/>
            <a:ext cx="6301648" cy="954107"/>
          </a:xfrm>
          <a:prstGeom prst="rect">
            <a:avLst/>
          </a:prstGeom>
          <a:noFill/>
        </p:spPr>
        <p:txBody>
          <a:bodyPr wrap="square">
            <a:spAutoFit/>
          </a:bodyPr>
          <a:lstStyle/>
          <a:p>
            <a:pPr algn="ctr" rtl="1"/>
            <a:r>
              <a:rPr lang="he-IL" sz="2800" b="1" dirty="0">
                <a:solidFill>
                  <a:schemeClr val="tx2">
                    <a:lumMod val="75000"/>
                  </a:schemeClr>
                </a:solidFill>
                <a:latin typeface="Calibri" panose="020F0502020204030204" pitchFamily="34" charset="0"/>
                <a:cs typeface="Calibri" panose="020F0502020204030204" pitchFamily="34" charset="0"/>
              </a:rPr>
              <a:t>רפורמת סיעוד 2018</a:t>
            </a:r>
          </a:p>
          <a:p>
            <a:pPr algn="ctr" rtl="1"/>
            <a:r>
              <a:rPr lang="he-IL" sz="2800" b="1" dirty="0">
                <a:solidFill>
                  <a:schemeClr val="tx2">
                    <a:lumMod val="75000"/>
                  </a:schemeClr>
                </a:solidFill>
                <a:latin typeface="Calibri" panose="020F0502020204030204" pitchFamily="34" charset="0"/>
                <a:cs typeface="Calibri" panose="020F0502020204030204" pitchFamily="34" charset="0"/>
              </a:rPr>
              <a:t>השקעה גבוהה, בחירה נמוכה, תוצאות?</a:t>
            </a:r>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13779"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1883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p:txBody>
          <a:bodyPr>
            <a:normAutofit/>
          </a:bodyPr>
          <a:lstStyle/>
          <a:p>
            <a:r>
              <a:rPr lang="he-IL" sz="3200" dirty="0">
                <a:solidFill>
                  <a:schemeClr val="tx1"/>
                </a:solidFill>
              </a:rPr>
              <a:t>אחוז זקנים המקבלים סיעוד בעולם</a:t>
            </a:r>
            <a:r>
              <a:rPr lang="he-IL" sz="1600" dirty="0">
                <a:solidFill>
                  <a:schemeClr val="tx1"/>
                </a:solidFill>
              </a:rPr>
              <a:t> 2018</a:t>
            </a:r>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3365096594"/>
              </p:ext>
            </p:extLst>
          </p:nvPr>
        </p:nvGraphicFramePr>
        <p:xfrm>
          <a:off x="440654" y="2251436"/>
          <a:ext cx="10074945" cy="4351338"/>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8" name="Rectangle 7">
            <a:extLst>
              <a:ext uri="{FF2B5EF4-FFF2-40B4-BE49-F238E27FC236}">
                <a16:creationId xmlns:a16="http://schemas.microsoft.com/office/drawing/2014/main" id="{46AD47CF-DF28-4A8A-A9B9-814AB784C8A4}"/>
              </a:ext>
            </a:extLst>
          </p:cNvPr>
          <p:cNvSpPr/>
          <p:nvPr/>
        </p:nvSpPr>
        <p:spPr>
          <a:xfrm>
            <a:off x="492301" y="165951"/>
            <a:ext cx="3424334" cy="1285778"/>
          </a:xfrm>
          <a:prstGeom prst="rect">
            <a:avLst/>
          </a:prstGeom>
          <a:solidFill>
            <a:srgbClr val="0070C0"/>
          </a:solidFill>
          <a:ln>
            <a:noFill/>
          </a:ln>
        </p:spPr>
        <p:style>
          <a:lnRef idx="0">
            <a:scrgbClr r="0" g="0" b="0"/>
          </a:lnRef>
          <a:fillRef idx="0">
            <a:scrgbClr r="0" g="0" b="0"/>
          </a:fillRef>
          <a:effectRef idx="0">
            <a:scrgbClr r="0" g="0" b="0"/>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rtl="1"/>
            <a:r>
              <a:rPr lang="he-IL" sz="2400" dirty="0"/>
              <a:t>שיעור הזקנים בישראל המקבלים טיפול בקהילה הוא הגבוה בעולם </a:t>
            </a:r>
            <a:r>
              <a:rPr lang="he-IL" sz="1200" dirty="0"/>
              <a:t>(טרום הרפורמה)</a:t>
            </a:r>
            <a:endParaRPr lang="he-IL" sz="2400" dirty="0"/>
          </a:p>
        </p:txBody>
      </p:sp>
      <p:sp>
        <p:nvSpPr>
          <p:cNvPr id="3" name="חץ: ימינה 2">
            <a:extLst>
              <a:ext uri="{FF2B5EF4-FFF2-40B4-BE49-F238E27FC236}">
                <a16:creationId xmlns:a16="http://schemas.microsoft.com/office/drawing/2014/main" id="{670A6B35-230A-7F3A-6051-CFBB20404161}"/>
              </a:ext>
            </a:extLst>
          </p:cNvPr>
          <p:cNvSpPr/>
          <p:nvPr/>
        </p:nvSpPr>
        <p:spPr>
          <a:xfrm rot="18614174">
            <a:off x="9277112" y="2186496"/>
            <a:ext cx="1063365" cy="4432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endParaRPr lang="he-IL"/>
          </a:p>
        </p:txBody>
      </p:sp>
      <p:sp>
        <p:nvSpPr>
          <p:cNvPr id="4" name="תיבת טקסט 3">
            <a:extLst>
              <a:ext uri="{FF2B5EF4-FFF2-40B4-BE49-F238E27FC236}">
                <a16:creationId xmlns:a16="http://schemas.microsoft.com/office/drawing/2014/main" id="{5421E4F7-A230-58B0-9974-75783F11DF47}"/>
              </a:ext>
            </a:extLst>
          </p:cNvPr>
          <p:cNvSpPr txBox="1"/>
          <p:nvPr/>
        </p:nvSpPr>
        <p:spPr>
          <a:xfrm>
            <a:off x="10321435" y="1631635"/>
            <a:ext cx="646331" cy="369332"/>
          </a:xfrm>
          <a:prstGeom prst="rect">
            <a:avLst/>
          </a:prstGeom>
          <a:solidFill>
            <a:srgbClr val="5B9BD5"/>
          </a:solidFill>
        </p:spPr>
        <p:txBody>
          <a:bodyPr wrap="none" rtlCol="1">
            <a:spAutoFit/>
          </a:bodyPr>
          <a:lstStyle/>
          <a:p>
            <a:r>
              <a:rPr lang="he-IL" dirty="0"/>
              <a:t>29%</a:t>
            </a:r>
          </a:p>
        </p:txBody>
      </p:sp>
      <p:sp>
        <p:nvSpPr>
          <p:cNvPr id="9" name="מלבן 8"/>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638055" y="63956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59211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E8B9-29CD-4BA7-A48C-B6FCEEF306E2}"/>
              </a:ext>
            </a:extLst>
          </p:cNvPr>
          <p:cNvSpPr>
            <a:spLocks noGrp="1"/>
          </p:cNvSpPr>
          <p:nvPr>
            <p:ph type="title"/>
          </p:nvPr>
        </p:nvSpPr>
        <p:spPr>
          <a:xfrm>
            <a:off x="180870" y="458070"/>
            <a:ext cx="10140565" cy="1325563"/>
          </a:xfrm>
        </p:spPr>
        <p:txBody>
          <a:bodyPr>
            <a:normAutofit/>
          </a:bodyPr>
          <a:lstStyle/>
          <a:p>
            <a:r>
              <a:rPr lang="he-IL" sz="4400" dirty="0">
                <a:solidFill>
                  <a:schemeClr val="tx1"/>
                </a:solidFill>
              </a:rPr>
              <a:t>אחוז בני +65 אשר מקבלים טיפול במוסד </a:t>
            </a:r>
            <a:r>
              <a:rPr lang="he-IL" sz="4000" b="0" dirty="0">
                <a:solidFill>
                  <a:schemeClr val="tx1"/>
                </a:solidFill>
              </a:rPr>
              <a:t>(2018</a:t>
            </a:r>
            <a:r>
              <a:rPr lang="he-IL" sz="4000" b="0" dirty="0"/>
              <a:t>)</a:t>
            </a:r>
            <a:endParaRPr lang="he-IL" sz="4400" b="0" dirty="0"/>
          </a:p>
        </p:txBody>
      </p:sp>
      <p:graphicFrame>
        <p:nvGraphicFramePr>
          <p:cNvPr id="6" name="Content Placeholder 5">
            <a:extLst>
              <a:ext uri="{FF2B5EF4-FFF2-40B4-BE49-F238E27FC236}">
                <a16:creationId xmlns:a16="http://schemas.microsoft.com/office/drawing/2014/main" id="{A9AB55E6-0079-453B-9BC8-A76EFDCB5076}"/>
              </a:ext>
            </a:extLst>
          </p:cNvPr>
          <p:cNvGraphicFramePr>
            <a:graphicFrameLocks noGrp="1"/>
          </p:cNvGraphicFramePr>
          <p:nvPr>
            <p:ph sz="half" idx="1"/>
            <p:extLst>
              <p:ext uri="{D42A27DB-BD31-4B8C-83A1-F6EECF244321}">
                <p14:modId xmlns:p14="http://schemas.microsoft.com/office/powerpoint/2010/main" val="812708763"/>
              </p:ext>
            </p:extLst>
          </p:nvPr>
        </p:nvGraphicFramePr>
        <p:xfrm>
          <a:off x="1047036" y="2617814"/>
          <a:ext cx="9217191" cy="3951393"/>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C1782F1-8B4D-4C11-A073-833337E7B2AD}"/>
              </a:ext>
            </a:extLst>
          </p:cNvPr>
          <p:cNvSpPr txBox="1"/>
          <p:nvPr/>
        </p:nvSpPr>
        <p:spPr>
          <a:xfrm>
            <a:off x="5237806" y="6399930"/>
            <a:ext cx="5083629" cy="338554"/>
          </a:xfrm>
          <a:prstGeom prst="rect">
            <a:avLst/>
          </a:prstGeom>
          <a:noFill/>
        </p:spPr>
        <p:txBody>
          <a:bodyPr wrap="square" rtlCol="1">
            <a:spAutoFit/>
          </a:bodyPr>
          <a:lstStyle/>
          <a:p>
            <a:pPr algn="r" rtl="1"/>
            <a:r>
              <a:rPr lang="he-IL" sz="1600" dirty="0">
                <a:solidFill>
                  <a:srgbClr val="B1B3B6"/>
                </a:solidFill>
              </a:rPr>
              <a:t>מקור: </a:t>
            </a:r>
            <a:r>
              <a:rPr lang="en-US" sz="1600" dirty="0" err="1">
                <a:solidFill>
                  <a:srgbClr val="B1B3B6"/>
                </a:solidFill>
              </a:rPr>
              <a:t>OECD.stat</a:t>
            </a:r>
            <a:r>
              <a:rPr lang="he-IL" sz="1600" dirty="0">
                <a:solidFill>
                  <a:srgbClr val="B1B3B6"/>
                </a:solidFill>
              </a:rPr>
              <a:t>, הנתונים בסלובניה והולנד הם ל-2017</a:t>
            </a:r>
          </a:p>
        </p:txBody>
      </p:sp>
      <p:sp>
        <p:nvSpPr>
          <p:cNvPr id="5" name="Rectangle 4">
            <a:extLst>
              <a:ext uri="{FF2B5EF4-FFF2-40B4-BE49-F238E27FC236}">
                <a16:creationId xmlns:a16="http://schemas.microsoft.com/office/drawing/2014/main" id="{4CB87CA1-C087-444D-89B6-53B9A22D55A7}"/>
              </a:ext>
            </a:extLst>
          </p:cNvPr>
          <p:cNvSpPr/>
          <p:nvPr/>
        </p:nvSpPr>
        <p:spPr>
          <a:xfrm>
            <a:off x="320511" y="1659750"/>
            <a:ext cx="2987381" cy="70378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אחוז זקנים המטופלים במוסדות הנמוך בעולם</a:t>
            </a:r>
          </a:p>
        </p:txBody>
      </p:sp>
      <p:sp>
        <p:nvSpPr>
          <p:cNvPr id="8" name="מלבן 7"/>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17773862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74321"/>
            <a:ext cx="10657351" cy="720000"/>
          </a:xfrm>
        </p:spPr>
        <p:txBody>
          <a:bodyPr>
            <a:normAutofit fontScale="90000"/>
          </a:bodyPr>
          <a:lstStyle/>
          <a:p>
            <a:r>
              <a:rPr lang="he-IL">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נשים</a:t>
            </a:r>
            <a:br>
              <a:rPr lang="he-IL">
                <a:solidFill>
                  <a:schemeClr val="tx1">
                    <a:lumMod val="75000"/>
                    <a:lumOff val="25000"/>
                  </a:schemeClr>
                </a:solidFill>
                <a:latin typeface="Calibri Light" panose="020F0302020204030204" pitchFamily="34" charset="0"/>
                <a:cs typeface="Calibri Light" panose="020F0302020204030204" pitchFamily="34" charset="0"/>
              </a:rPr>
            </a:br>
            <a:r>
              <a:rPr lang="he-IL" sz="310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nvGraphicFramePr>
        <p:xfrm>
          <a:off x="-94528" y="1943303"/>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343633" y="1943302"/>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Box 1">
            <a:extLst>
              <a:ext uri="{FF2B5EF4-FFF2-40B4-BE49-F238E27FC236}">
                <a16:creationId xmlns:a16="http://schemas.microsoft.com/office/drawing/2014/main" id="{3F2EE287-1B97-49E9-A56E-10073DB0BD48}"/>
              </a:ext>
            </a:extLst>
          </p:cNvPr>
          <p:cNvSpPr txBox="1"/>
          <p:nvPr/>
        </p:nvSpPr>
        <p:spPr>
          <a:xfrm>
            <a:off x="3819547" y="5544389"/>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Rectangle 8">
            <a:extLst>
              <a:ext uri="{FF2B5EF4-FFF2-40B4-BE49-F238E27FC236}">
                <a16:creationId xmlns:a16="http://schemas.microsoft.com/office/drawing/2014/main" id="{F35CAC1E-C81D-42EE-903D-8CF813F29894}"/>
              </a:ext>
            </a:extLst>
          </p:cNvPr>
          <p:cNvSpPr/>
          <p:nvPr/>
        </p:nvSpPr>
        <p:spPr>
          <a:xfrm>
            <a:off x="1944863" y="6161239"/>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נשים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47%</a:t>
            </a:r>
            <a:r>
              <a:rPr kumimoji="0" lang="he-IL" sz="2000" b="0" i="0" u="none" strike="noStrike" kern="1200" cap="none" spc="0" normalizeH="0" baseline="0" noProof="0">
                <a:ln>
                  <a:noFill/>
                </a:ln>
                <a:solidFill>
                  <a:srgbClr val="008DA8"/>
                </a:solidFill>
                <a:effectLst/>
                <a:uLnTx/>
                <a:uFillTx/>
                <a:latin typeface="Calibri"/>
                <a:ea typeface="+mn-ea"/>
                <a:cs typeface="Arial"/>
              </a:rPr>
              <a:t> (10.6 שנים)</a:t>
            </a:r>
          </a:p>
        </p:txBody>
      </p:sp>
      <p:sp>
        <p:nvSpPr>
          <p:cNvPr id="10" name="Arrow: Down 10">
            <a:extLst>
              <a:ext uri="{FF2B5EF4-FFF2-40B4-BE49-F238E27FC236}">
                <a16:creationId xmlns:a16="http://schemas.microsoft.com/office/drawing/2014/main" id="{E80945E7-42A5-4B60-9627-AA57215D1880}"/>
              </a:ext>
            </a:extLst>
          </p:cNvPr>
          <p:cNvSpPr/>
          <p:nvPr/>
        </p:nvSpPr>
        <p:spPr>
          <a:xfrm rot="5400000">
            <a:off x="10684654" y="5999344"/>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8" name="TextBox 7">
            <a:extLst>
              <a:ext uri="{FF2B5EF4-FFF2-40B4-BE49-F238E27FC236}">
                <a16:creationId xmlns:a16="http://schemas.microsoft.com/office/drawing/2014/main" id="{96159013-4E89-495D-A506-C803F4E0D5B7}"/>
              </a:ext>
            </a:extLst>
          </p:cNvPr>
          <p:cNvSpPr txBox="1"/>
          <p:nvPr/>
        </p:nvSpPr>
        <p:spPr>
          <a:xfrm>
            <a:off x="1410967" y="6510006"/>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2" name="מלבן 11"/>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4" name="TextBox 13"/>
          <p:cNvSpPr txBox="1"/>
          <p:nvPr/>
        </p:nvSpPr>
        <p:spPr>
          <a:xfrm rot="16200000">
            <a:off x="-660782" y="650913"/>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7632577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767324" y="227496"/>
            <a:ext cx="10657351" cy="720000"/>
          </a:xfrm>
        </p:spPr>
        <p:txBody>
          <a:bodyPr>
            <a:normAutofit fontScale="90000"/>
          </a:bodyPr>
          <a:lstStyle/>
          <a:p>
            <a:r>
              <a:rPr lang="he-IL" dirty="0">
                <a:solidFill>
                  <a:schemeClr val="tx1">
                    <a:lumMod val="75000"/>
                    <a:lumOff val="25000"/>
                  </a:schemeClr>
                </a:solidFill>
                <a:latin typeface="Calibri Light" panose="020F0302020204030204" pitchFamily="34" charset="0"/>
                <a:cs typeface="Calibri Light" panose="020F0302020204030204" pitchFamily="34" charset="0"/>
              </a:rPr>
              <a:t>בריאות – שנות חיים בריאים בגיל 65  - גברים</a:t>
            </a:r>
            <a:br>
              <a:rPr lang="he-IL" dirty="0">
                <a:solidFill>
                  <a:schemeClr val="tx1">
                    <a:lumMod val="75000"/>
                    <a:lumOff val="25000"/>
                  </a:schemeClr>
                </a:solidFill>
                <a:latin typeface="Calibri Light" panose="020F0302020204030204" pitchFamily="34" charset="0"/>
                <a:cs typeface="Calibri Light" panose="020F0302020204030204" pitchFamily="34" charset="0"/>
              </a:rPr>
            </a:br>
            <a:r>
              <a:rPr lang="he-IL" sz="3100" dirty="0">
                <a:solidFill>
                  <a:schemeClr val="tx1">
                    <a:lumMod val="75000"/>
                    <a:lumOff val="25000"/>
                  </a:schemeClr>
                </a:solidFill>
                <a:latin typeface="Calibri Light" panose="020F0302020204030204" pitchFamily="34" charset="0"/>
                <a:cs typeface="Calibri Light" panose="020F0302020204030204" pitchFamily="34" charset="0"/>
              </a:rPr>
              <a:t>המדד המוצע: אחוז השנים הבריאות בגיל 65</a:t>
            </a:r>
            <a:endParaRPr lang="en-US" b="0" dirty="0">
              <a:solidFill>
                <a:srgbClr val="687D8B"/>
              </a:solidFill>
            </a:endParaRPr>
          </a:p>
        </p:txBody>
      </p:sp>
      <p:graphicFrame>
        <p:nvGraphicFramePr>
          <p:cNvPr id="13" name="Chart 12">
            <a:extLst>
              <a:ext uri="{FF2B5EF4-FFF2-40B4-BE49-F238E27FC236}">
                <a16:creationId xmlns:a16="http://schemas.microsoft.com/office/drawing/2014/main" id="{FBEF7369-5941-4F84-B72B-41A89DA633C4}"/>
              </a:ext>
            </a:extLst>
          </p:cNvPr>
          <p:cNvGraphicFramePr/>
          <p:nvPr>
            <p:extLst>
              <p:ext uri="{D42A27DB-BD31-4B8C-83A1-F6EECF244321}">
                <p14:modId xmlns:p14="http://schemas.microsoft.com/office/powerpoint/2010/main" val="1832955312"/>
              </p:ext>
            </p:extLst>
          </p:nvPr>
        </p:nvGraphicFramePr>
        <p:xfrm>
          <a:off x="97970" y="1787675"/>
          <a:ext cx="9548037" cy="365254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a:extLst>
              <a:ext uri="{FF2B5EF4-FFF2-40B4-BE49-F238E27FC236}">
                <a16:creationId xmlns:a16="http://schemas.microsoft.com/office/drawing/2014/main" id="{FBEF7369-5941-4F84-B72B-41A89DA633C4}"/>
              </a:ext>
            </a:extLst>
          </p:cNvPr>
          <p:cNvGraphicFramePr/>
          <p:nvPr/>
        </p:nvGraphicFramePr>
        <p:xfrm>
          <a:off x="9426256" y="1787675"/>
          <a:ext cx="2705492" cy="3652547"/>
        </p:xfrm>
        <a:graphic>
          <a:graphicData uri="http://schemas.openxmlformats.org/drawingml/2006/chart">
            <c:chart xmlns:c="http://schemas.openxmlformats.org/drawingml/2006/chart" xmlns:r="http://schemas.openxmlformats.org/officeDocument/2006/relationships" r:id="rId4"/>
          </a:graphicData>
        </a:graphic>
      </p:graphicFrame>
      <p:sp>
        <p:nvSpPr>
          <p:cNvPr id="5" name="Rectangle 4">
            <a:extLst>
              <a:ext uri="{FF2B5EF4-FFF2-40B4-BE49-F238E27FC236}">
                <a16:creationId xmlns:a16="http://schemas.microsoft.com/office/drawing/2014/main" id="{7E5EC7E6-E846-4AE9-9944-B9527070E881}"/>
              </a:ext>
            </a:extLst>
          </p:cNvPr>
          <p:cNvSpPr/>
          <p:nvPr/>
        </p:nvSpPr>
        <p:spPr>
          <a:xfrm>
            <a:off x="2090786" y="5843390"/>
            <a:ext cx="8830331" cy="400110"/>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a:ln>
                  <a:noFill/>
                </a:ln>
                <a:solidFill>
                  <a:srgbClr val="008DA8"/>
                </a:solidFill>
                <a:effectLst/>
                <a:uLnTx/>
                <a:uFillTx/>
                <a:latin typeface="Calibri"/>
                <a:ea typeface="+mn-ea"/>
                <a:cs typeface="Arial"/>
              </a:rPr>
              <a:t>אחוז השנים הבריאות בגיל 65  - גברים - 2018 : </a:t>
            </a:r>
            <a:r>
              <a:rPr kumimoji="0" lang="he-IL" sz="2000" b="1" i="0" u="none" strike="noStrike" kern="1200" cap="none" spc="0" normalizeH="0" baseline="0" noProof="0">
                <a:ln>
                  <a:noFill/>
                </a:ln>
                <a:solidFill>
                  <a:srgbClr val="008DA8"/>
                </a:solidFill>
                <a:effectLst/>
                <a:uLnTx/>
                <a:uFillTx/>
                <a:latin typeface="Calibri"/>
                <a:ea typeface="+mn-ea"/>
                <a:cs typeface="Arial"/>
              </a:rPr>
              <a:t>56%</a:t>
            </a:r>
            <a:r>
              <a:rPr kumimoji="0" lang="he-IL" sz="2000" b="0" i="0" u="none" strike="noStrike" kern="1200" cap="none" spc="0" normalizeH="0" baseline="0" noProof="0">
                <a:ln>
                  <a:noFill/>
                </a:ln>
                <a:solidFill>
                  <a:srgbClr val="008DA8"/>
                </a:solidFill>
                <a:effectLst/>
                <a:uLnTx/>
                <a:uFillTx/>
                <a:latin typeface="Calibri"/>
                <a:ea typeface="+mn-ea"/>
                <a:cs typeface="Arial"/>
              </a:rPr>
              <a:t> (11.2 שנים)</a:t>
            </a:r>
          </a:p>
        </p:txBody>
      </p:sp>
      <p:sp>
        <p:nvSpPr>
          <p:cNvPr id="6" name="TextBox 5">
            <a:extLst>
              <a:ext uri="{FF2B5EF4-FFF2-40B4-BE49-F238E27FC236}">
                <a16:creationId xmlns:a16="http://schemas.microsoft.com/office/drawing/2014/main" id="{EC42BFF8-1DC8-4AD2-87DC-7075B6ED8ED6}"/>
              </a:ext>
            </a:extLst>
          </p:cNvPr>
          <p:cNvSpPr txBox="1"/>
          <p:nvPr/>
        </p:nvSpPr>
        <p:spPr>
          <a:xfrm>
            <a:off x="3350391" y="5410808"/>
            <a:ext cx="2847254" cy="307777"/>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1400" b="0" i="0" u="none" strike="noStrike" kern="1200" cap="none" spc="0" normalizeH="0" baseline="0" noProof="0">
                <a:ln>
                  <a:noFill/>
                </a:ln>
                <a:solidFill>
                  <a:srgbClr val="424F58">
                    <a:lumMod val="60000"/>
                    <a:lumOff val="40000"/>
                  </a:srgbClr>
                </a:solidFill>
                <a:effectLst/>
                <a:uLnTx/>
                <a:uFillTx/>
                <a:latin typeface="Calibri"/>
                <a:ea typeface="+mn-ea"/>
                <a:cs typeface="Arial"/>
              </a:rPr>
              <a:t>לפי תוחלת חיים ואחוז השנים הבריאות</a:t>
            </a:r>
          </a:p>
        </p:txBody>
      </p:sp>
      <p:sp>
        <p:nvSpPr>
          <p:cNvPr id="9" name="Arrow: Down 10">
            <a:extLst>
              <a:ext uri="{FF2B5EF4-FFF2-40B4-BE49-F238E27FC236}">
                <a16:creationId xmlns:a16="http://schemas.microsoft.com/office/drawing/2014/main" id="{E80945E7-42A5-4B60-9627-AA57215D1880}"/>
              </a:ext>
            </a:extLst>
          </p:cNvPr>
          <p:cNvSpPr/>
          <p:nvPr/>
        </p:nvSpPr>
        <p:spPr>
          <a:xfrm rot="5400000">
            <a:off x="10827529" y="5681495"/>
            <a:ext cx="444769" cy="72390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Arial"/>
            </a:endParaRPr>
          </a:p>
        </p:txBody>
      </p:sp>
      <p:sp>
        <p:nvSpPr>
          <p:cNvPr id="2" name="TextBox 1">
            <a:extLst>
              <a:ext uri="{FF2B5EF4-FFF2-40B4-BE49-F238E27FC236}">
                <a16:creationId xmlns:a16="http://schemas.microsoft.com/office/drawing/2014/main" id="{22044022-5434-413B-BB1D-05C6865CD830}"/>
              </a:ext>
            </a:extLst>
          </p:cNvPr>
          <p:cNvSpPr txBox="1"/>
          <p:nvPr/>
        </p:nvSpPr>
        <p:spPr>
          <a:xfrm>
            <a:off x="1410967" y="6445838"/>
            <a:ext cx="10514417" cy="369332"/>
          </a:xfrm>
          <a:prstGeom prst="rect">
            <a:avLst/>
          </a:prstGeom>
          <a:noFill/>
        </p:spPr>
        <p:txBody>
          <a:bodyPr wrap="none" rtlCol="1">
            <a:spAutoFit/>
          </a:bodyPr>
          <a:lstStyle/>
          <a:p>
            <a:pPr algn="r" rtl="1"/>
            <a:r>
              <a:rPr lang="he-IL" dirty="0"/>
              <a:t>המוגבלות מבוססת על שאלת </a:t>
            </a:r>
            <a:r>
              <a:rPr lang="en-US" dirty="0"/>
              <a:t>GALI</a:t>
            </a:r>
            <a:r>
              <a:rPr lang="he-IL" dirty="0"/>
              <a:t> (באיזה מידה היו לך בעיות בריאות המפריעות לתפקוד) הנשאלת בסקר החברתי</a:t>
            </a:r>
          </a:p>
        </p:txBody>
      </p:sp>
      <p:sp>
        <p:nvSpPr>
          <p:cNvPr id="10" name="מלבן 9"/>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2" name="TextBox 11"/>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07581656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467" y="705720"/>
            <a:ext cx="9385267" cy="1325563"/>
          </a:xfrm>
        </p:spPr>
        <p:txBody>
          <a:bodyPr/>
          <a:lstStyle/>
          <a:p>
            <a:r>
              <a:rPr lang="he-IL" dirty="0"/>
              <a:t>בריאות –תפקוד </a:t>
            </a:r>
            <a:r>
              <a:rPr lang="en-US" dirty="0"/>
              <a:t>ADL</a:t>
            </a:r>
          </a:p>
        </p:txBody>
      </p:sp>
      <p:sp>
        <p:nvSpPr>
          <p:cNvPr id="2" name="Rectangle 1">
            <a:extLst>
              <a:ext uri="{FF2B5EF4-FFF2-40B4-BE49-F238E27FC236}">
                <a16:creationId xmlns:a16="http://schemas.microsoft.com/office/drawing/2014/main" id="{EC14B4DC-62C7-4788-ABA2-4368D0591622}"/>
              </a:ext>
            </a:extLst>
          </p:cNvPr>
          <p:cNvSpPr/>
          <p:nvPr/>
        </p:nvSpPr>
        <p:spPr>
          <a:xfrm>
            <a:off x="1411206" y="1839884"/>
            <a:ext cx="9141305" cy="382797"/>
          </a:xfrm>
          <a:prstGeom prst="rect">
            <a:avLst/>
          </a:prstGeom>
        </p:spPr>
        <p:txBody>
          <a:bodyPr wrap="square">
            <a:spAutoFit/>
          </a:bodyPr>
          <a:lstStyle/>
          <a:p>
            <a:pPr marL="271463" marR="0" lvl="0" indent="0" algn="r" defTabSz="914400" rtl="1" eaLnBrk="1" fontAlgn="auto" latinLnBrk="0" hangingPunct="1">
              <a:lnSpc>
                <a:spcPts val="22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9" name="Chart 8"/>
          <p:cNvGraphicFramePr/>
          <p:nvPr>
            <p:extLst>
              <p:ext uri="{D42A27DB-BD31-4B8C-83A1-F6EECF244321}">
                <p14:modId xmlns:p14="http://schemas.microsoft.com/office/powerpoint/2010/main" val="958011382"/>
              </p:ext>
            </p:extLst>
          </p:nvPr>
        </p:nvGraphicFramePr>
        <p:xfrm>
          <a:off x="490172" y="2531273"/>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5" name="מלבן 4"/>
          <p:cNvSpPr/>
          <p:nvPr/>
        </p:nvSpPr>
        <p:spPr>
          <a:xfrm>
            <a:off x="0"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616871" y="56986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628017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he-IL" sz="4800" dirty="0">
                <a:solidFill>
                  <a:srgbClr val="A82172"/>
                </a:solidFill>
                <a:latin typeface="Calibri" panose="020F0502020204030204" pitchFamily="34" charset="0"/>
                <a:cs typeface="Calibri" panose="020F0502020204030204" pitchFamily="34" charset="0"/>
              </a:rPr>
              <a:t>בריאות –תפקוד </a:t>
            </a:r>
            <a:r>
              <a:rPr lang="en-US" sz="4800" dirty="0">
                <a:solidFill>
                  <a:srgbClr val="A82172"/>
                </a:solidFill>
                <a:latin typeface="Calibri" panose="020F0502020204030204" pitchFamily="34" charset="0"/>
                <a:cs typeface="Calibri" panose="020F0502020204030204" pitchFamily="34" charset="0"/>
              </a:rPr>
              <a:t>IADL</a:t>
            </a:r>
          </a:p>
        </p:txBody>
      </p:sp>
      <p:sp>
        <p:nvSpPr>
          <p:cNvPr id="5" name="Rectangle 4">
            <a:extLst>
              <a:ext uri="{FF2B5EF4-FFF2-40B4-BE49-F238E27FC236}">
                <a16:creationId xmlns:a16="http://schemas.microsoft.com/office/drawing/2014/main" id="{3407A74C-E92D-40DF-A8D4-AB6FBE1ACB26}"/>
              </a:ext>
            </a:extLst>
          </p:cNvPr>
          <p:cNvSpPr/>
          <p:nvPr/>
        </p:nvSpPr>
        <p:spPr>
          <a:xfrm>
            <a:off x="1050368" y="1519529"/>
            <a:ext cx="9537530" cy="461665"/>
          </a:xfrm>
          <a:prstGeom prst="rect">
            <a:avLst/>
          </a:prstGeom>
        </p:spPr>
        <p:txBody>
          <a:bodyPr wrap="square">
            <a:spAutoFit/>
          </a:bodyPr>
          <a:lstStyle/>
          <a:p>
            <a:pPr marL="271463" marR="0" lvl="0" indent="0" algn="r" defTabSz="914400" rtl="1"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424F58"/>
                </a:solidFill>
                <a:effectLst/>
                <a:uLnTx/>
                <a:uFillTx/>
                <a:latin typeface="Calibri"/>
                <a:ea typeface="+mn-ea"/>
                <a:cs typeface="Arial"/>
              </a:rPr>
              <a:t>שיעור בני 65+ המוגבלים בלפחות אחת מפעולות </a:t>
            </a:r>
            <a:r>
              <a:rPr kumimoji="0" lang="en-US" sz="2400" b="0" i="0" u="none" strike="noStrike" kern="1200" cap="none" spc="0" normalizeH="0" baseline="0" noProof="0" dirty="0">
                <a:ln>
                  <a:noFill/>
                </a:ln>
                <a:solidFill>
                  <a:srgbClr val="424F58"/>
                </a:solidFill>
                <a:effectLst/>
                <a:uLnTx/>
                <a:uFillTx/>
                <a:latin typeface="Calibri"/>
                <a:ea typeface="+mn-ea"/>
                <a:cs typeface="Arial"/>
              </a:rPr>
              <a:t>IADL</a:t>
            </a:r>
            <a:endParaRPr kumimoji="0" lang="he-IL" sz="2400" b="0" i="0" u="none" strike="noStrike" kern="1200" cap="none" spc="0" normalizeH="0" baseline="0" noProof="0" dirty="0">
              <a:ln>
                <a:noFill/>
              </a:ln>
              <a:solidFill>
                <a:srgbClr val="424F58"/>
              </a:solidFill>
              <a:effectLst/>
              <a:uLnTx/>
              <a:uFillTx/>
              <a:latin typeface="Calibri"/>
              <a:ea typeface="+mn-ea"/>
              <a:cs typeface="Arial"/>
            </a:endParaRPr>
          </a:p>
        </p:txBody>
      </p:sp>
      <p:graphicFrame>
        <p:nvGraphicFramePr>
          <p:cNvPr id="11" name="Chart 10"/>
          <p:cNvGraphicFramePr/>
          <p:nvPr>
            <p:extLst>
              <p:ext uri="{D42A27DB-BD31-4B8C-83A1-F6EECF244321}">
                <p14:modId xmlns:p14="http://schemas.microsoft.com/office/powerpoint/2010/main" val="3768619553"/>
              </p:ext>
            </p:extLst>
          </p:nvPr>
        </p:nvGraphicFramePr>
        <p:xfrm>
          <a:off x="518344" y="2178756"/>
          <a:ext cx="9720000" cy="4574377"/>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4">
            <a:extLst>
              <a:ext uri="{FF2B5EF4-FFF2-40B4-BE49-F238E27FC236}">
                <a16:creationId xmlns:a16="http://schemas.microsoft.com/office/drawing/2014/main" id="{4CB87CA1-C087-444D-89B6-53B9A22D55A7}"/>
              </a:ext>
            </a:extLst>
          </p:cNvPr>
          <p:cNvSpPr/>
          <p:nvPr/>
        </p:nvSpPr>
        <p:spPr>
          <a:xfrm>
            <a:off x="377073" y="565609"/>
            <a:ext cx="2507530" cy="65728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r" rtl="1"/>
            <a:r>
              <a:rPr lang="he-IL" sz="2400" dirty="0"/>
              <a:t>ישראל מקום אחרון ב </a:t>
            </a:r>
            <a:r>
              <a:rPr lang="en-US" sz="2400" dirty="0"/>
              <a:t>IADL</a:t>
            </a:r>
            <a:endParaRPr lang="he-IL" sz="2400" dirty="0"/>
          </a:p>
        </p:txBody>
      </p:sp>
      <p:sp>
        <p:nvSpPr>
          <p:cNvPr id="7" name="מלבן 6"/>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745218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181203" y="329203"/>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3" name="מלבן 2"/>
          <p:cNvSpPr/>
          <p:nvPr/>
        </p:nvSpPr>
        <p:spPr>
          <a:xfrm>
            <a:off x="1297575" y="2740103"/>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חלק ניכר מזכאי סיעוד לא מקבל מענה מותאם למצבו</a:t>
            </a:r>
            <a:endParaRPr lang="he-IL" sz="2800" dirty="0">
              <a:solidFill>
                <a:schemeClr val="bg1"/>
              </a:solidFill>
              <a:latin typeface="Calibri" panose="020F0502020204030204" pitchFamily="34" charset="0"/>
              <a:cs typeface="Calibri" panose="020F0502020204030204" pitchFamily="34" charset="0"/>
            </a:endParaRPr>
          </a:p>
        </p:txBody>
      </p:sp>
      <p:sp>
        <p:nvSpPr>
          <p:cNvPr id="7" name="מלבן 6"/>
          <p:cNvSpPr/>
          <p:nvPr/>
        </p:nvSpPr>
        <p:spPr>
          <a:xfrm>
            <a:off x="9054403" y="222329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800" b="1" dirty="0">
                <a:latin typeface="Calibri" panose="020F0502020204030204" pitchFamily="34" charset="0"/>
                <a:cs typeface="Calibri" panose="020F0502020204030204" pitchFamily="34" charset="0"/>
              </a:rPr>
              <a:t>האתגר:</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1297576" y="4367735"/>
            <a:ext cx="8673737" cy="1377792"/>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dirty="0">
                <a:solidFill>
                  <a:schemeClr val="bg1"/>
                </a:solidFill>
                <a:latin typeface="Calibri" panose="020F0502020204030204" pitchFamily="34" charset="0"/>
                <a:cs typeface="Calibri" panose="020F0502020204030204" pitchFamily="34" charset="0"/>
              </a:rPr>
              <a:t>תעדוף נמוך של שירותים חברתיים שהוכחו כמונעי התדרדרות, </a:t>
            </a:r>
            <a:r>
              <a:rPr lang="en-US" sz="2800" dirty="0">
                <a:solidFill>
                  <a:schemeClr val="bg1"/>
                </a:solidFill>
                <a:latin typeface="Calibri" panose="020F0502020204030204" pitchFamily="34" charset="0"/>
                <a:cs typeface="Calibri" panose="020F0502020204030204" pitchFamily="34" charset="0"/>
              </a:rPr>
              <a:t/>
            </a:r>
            <a:br>
              <a:rPr lang="en-US" sz="2800" dirty="0">
                <a:solidFill>
                  <a:schemeClr val="bg1"/>
                </a:solidFill>
                <a:latin typeface="Calibri" panose="020F0502020204030204" pitchFamily="34" charset="0"/>
                <a:cs typeface="Calibri" panose="020F0502020204030204" pitchFamily="34" charset="0"/>
              </a:rPr>
            </a:br>
            <a:r>
              <a:rPr lang="he-IL" sz="2800" dirty="0">
                <a:solidFill>
                  <a:schemeClr val="bg1"/>
                </a:solidFill>
                <a:latin typeface="Calibri" panose="020F0502020204030204" pitchFamily="34" charset="0"/>
                <a:cs typeface="Calibri" panose="020F0502020204030204" pitchFamily="34" charset="0"/>
              </a:rPr>
              <a:t>מעבר לגמלה בכסף בעין והמחסור במטפלות</a:t>
            </a:r>
          </a:p>
        </p:txBody>
      </p:sp>
      <p:pic>
        <p:nvPicPr>
          <p:cNvPr id="13" name="תמונה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63616" y="5967176"/>
            <a:ext cx="2685360" cy="727906"/>
          </a:xfrm>
          <a:prstGeom prst="rect">
            <a:avLst/>
          </a:prstGeom>
        </p:spPr>
      </p:pic>
      <p:grpSp>
        <p:nvGrpSpPr>
          <p:cNvPr id="15" name="קבוצה 14"/>
          <p:cNvGrpSpPr/>
          <p:nvPr/>
        </p:nvGrpSpPr>
        <p:grpSpPr>
          <a:xfrm>
            <a:off x="676004" y="950720"/>
            <a:ext cx="1563719" cy="1307858"/>
            <a:chOff x="1670079" y="2140313"/>
            <a:chExt cx="1642835" cy="1642835"/>
          </a:xfrm>
          <a:solidFill>
            <a:srgbClr val="D8BEEC"/>
          </a:solidFill>
        </p:grpSpPr>
        <p:sp>
          <p:nvSpPr>
            <p:cNvPr id="17" name="אליפסה 16"/>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18"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19" name="אליפסה 18"/>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0" name="קבוצה 19"/>
          <p:cNvGrpSpPr/>
          <p:nvPr/>
        </p:nvGrpSpPr>
        <p:grpSpPr>
          <a:xfrm>
            <a:off x="676004" y="247315"/>
            <a:ext cx="3383279" cy="2680688"/>
            <a:chOff x="4003932" y="140625"/>
            <a:chExt cx="3347849" cy="3401935"/>
          </a:xfrm>
        </p:grpSpPr>
        <p:sp>
          <p:nvSpPr>
            <p:cNvPr id="21" name="אליפסה 20"/>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2"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23" name="מלבן מעוגל 22"/>
          <p:cNvSpPr/>
          <p:nvPr/>
        </p:nvSpPr>
        <p:spPr>
          <a:xfrm>
            <a:off x="321597" y="5967176"/>
            <a:ext cx="2700961" cy="890823"/>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4" name="מלבן 23"/>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25" name="TextBox 24"/>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299790780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extBox 5"/>
          <p:cNvSpPr txBox="1"/>
          <p:nvPr/>
        </p:nvSpPr>
        <p:spPr>
          <a:xfrm>
            <a:off x="4059283" y="200512"/>
            <a:ext cx="7282543" cy="584775"/>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00B0F0"/>
                </a:solidFill>
                <a:effectLst/>
                <a:uLnTx/>
                <a:uFillTx/>
                <a:latin typeface="Calibri" panose="020F0502020204030204" pitchFamily="34" charset="0"/>
                <a:cs typeface="Calibri" panose="020F0502020204030204" pitchFamily="34" charset="0"/>
              </a:rPr>
              <a:t>תמונת המצב בסיעוד</a:t>
            </a:r>
          </a:p>
        </p:txBody>
      </p:sp>
      <p:sp>
        <p:nvSpPr>
          <p:cNvPr id="8" name="מלבן 7"/>
          <p:cNvSpPr/>
          <p:nvPr/>
        </p:nvSpPr>
        <p:spPr>
          <a:xfrm>
            <a:off x="9690027" y="2526395"/>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כסף</a:t>
            </a:r>
          </a:p>
        </p:txBody>
      </p:sp>
      <p:sp>
        <p:nvSpPr>
          <p:cNvPr id="9" name="מלבן 8"/>
          <p:cNvSpPr/>
          <p:nvPr/>
        </p:nvSpPr>
        <p:spPr>
          <a:xfrm>
            <a:off x="676005" y="2526395"/>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תמריץ שלילי לשירותים, כיצד לתמרץ את הוותיקים לצרוך שירותים דוחקי תלות?</a:t>
            </a:r>
          </a:p>
        </p:txBody>
      </p:sp>
      <p:sp>
        <p:nvSpPr>
          <p:cNvPr id="10" name="מלבן 9"/>
          <p:cNvSpPr/>
          <p:nvPr/>
        </p:nvSpPr>
        <p:spPr>
          <a:xfrm>
            <a:off x="676004" y="4847212"/>
            <a:ext cx="8880781"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cs typeface="Calibri" panose="020F0502020204030204" pitchFamily="34" charset="0"/>
              </a:rPr>
              <a:t>כיצד להרחיב ולהתאים את המענים לזכאי סיעוד לצורך שימור תפקוד ודחיקת תלות?</a:t>
            </a:r>
          </a:p>
        </p:txBody>
      </p:sp>
      <p:sp>
        <p:nvSpPr>
          <p:cNvPr id="11" name="מלבן 10"/>
          <p:cNvSpPr/>
          <p:nvPr/>
        </p:nvSpPr>
        <p:spPr>
          <a:xfrm>
            <a:off x="676005" y="3698062"/>
            <a:ext cx="8880782" cy="902604"/>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r>
              <a:rPr lang="he-IL" sz="2200" dirty="0">
                <a:solidFill>
                  <a:schemeClr val="tx1"/>
                </a:solidFill>
                <a:latin typeface="Calibri" panose="020F0502020204030204" pitchFamily="34" charset="0"/>
                <a:cs typeface="Calibri" panose="020F0502020204030204" pitchFamily="34" charset="0"/>
              </a:rPr>
              <a:t>טיפול בית – משאב במחסור, למי נועד הסיוע ומה הערך שטיפול בבית ייתן לו? </a:t>
            </a:r>
          </a:p>
        </p:txBody>
      </p:sp>
      <p:sp>
        <p:nvSpPr>
          <p:cNvPr id="16" name="מלבן 1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מלבן 11"/>
          <p:cNvSpPr/>
          <p:nvPr/>
        </p:nvSpPr>
        <p:spPr>
          <a:xfrm>
            <a:off x="9690027" y="3698062"/>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מטפלות</a:t>
            </a:r>
          </a:p>
        </p:txBody>
      </p:sp>
      <p:sp>
        <p:nvSpPr>
          <p:cNvPr id="13" name="מלבן 12"/>
          <p:cNvSpPr/>
          <p:nvPr/>
        </p:nvSpPr>
        <p:spPr>
          <a:xfrm>
            <a:off x="9690027" y="4869729"/>
            <a:ext cx="2099854" cy="902604"/>
          </a:xfrm>
          <a:prstGeom prst="rect">
            <a:avLst/>
          </a:prstGeom>
          <a:ln w="38100">
            <a:solidFill>
              <a:schemeClr val="accent1"/>
            </a:solidFill>
          </a:ln>
        </p:spPr>
        <p:style>
          <a:lnRef idx="2">
            <a:schemeClr val="accent1"/>
          </a:lnRef>
          <a:fillRef idx="1">
            <a:schemeClr val="lt1"/>
          </a:fillRef>
          <a:effectRef idx="0">
            <a:schemeClr val="accent1"/>
          </a:effectRef>
          <a:fontRef idx="minor">
            <a:schemeClr val="dk1"/>
          </a:fontRef>
        </p:style>
        <p:txBody>
          <a:bodyPr rtlCol="1" anchor="ctr"/>
          <a:lstStyle/>
          <a:p>
            <a:pPr algn="ctr"/>
            <a:r>
              <a:rPr lang="he-IL" sz="2200" b="1" dirty="0">
                <a:latin typeface="Calibri" panose="020F0502020204030204" pitchFamily="34" charset="0"/>
                <a:cs typeface="Calibri" panose="020F0502020204030204" pitchFamily="34" charset="0"/>
              </a:rPr>
              <a:t>שירותים</a:t>
            </a:r>
          </a:p>
        </p:txBody>
      </p:sp>
      <p:sp>
        <p:nvSpPr>
          <p:cNvPr id="15" name="מלבן 14"/>
          <p:cNvSpPr/>
          <p:nvPr/>
        </p:nvSpPr>
        <p:spPr>
          <a:xfrm>
            <a:off x="9690027" y="1323847"/>
            <a:ext cx="2099854" cy="929689"/>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a:r>
              <a:rPr lang="he-IL" sz="2800" b="1" dirty="0">
                <a:solidFill>
                  <a:schemeClr val="bg1"/>
                </a:solidFill>
                <a:latin typeface="Calibri" panose="020F0502020204030204" pitchFamily="34" charset="0"/>
                <a:cs typeface="Calibri" panose="020F0502020204030204" pitchFamily="34" charset="0"/>
              </a:rPr>
              <a:t>סוגיות:</a:t>
            </a:r>
            <a:endParaRPr lang="he-IL" sz="2800" dirty="0">
              <a:solidFill>
                <a:schemeClr val="bg1"/>
              </a:solidFill>
              <a:latin typeface="Calibri" panose="020F0502020204030204" pitchFamily="34" charset="0"/>
              <a:cs typeface="Calibri" panose="020F0502020204030204" pitchFamily="34" charset="0"/>
            </a:endParaRPr>
          </a:p>
        </p:txBody>
      </p:sp>
      <p:pic>
        <p:nvPicPr>
          <p:cNvPr id="17" name="תמונה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97274" y="6041396"/>
            <a:ext cx="2685360" cy="727906"/>
          </a:xfrm>
          <a:prstGeom prst="rect">
            <a:avLst/>
          </a:prstGeom>
        </p:spPr>
      </p:pic>
      <p:grpSp>
        <p:nvGrpSpPr>
          <p:cNvPr id="22" name="קבוצה 21"/>
          <p:cNvGrpSpPr/>
          <p:nvPr/>
        </p:nvGrpSpPr>
        <p:grpSpPr>
          <a:xfrm>
            <a:off x="676004" y="950720"/>
            <a:ext cx="1563719" cy="1307858"/>
            <a:chOff x="1670079" y="2140313"/>
            <a:chExt cx="1642835" cy="1642835"/>
          </a:xfrm>
          <a:solidFill>
            <a:srgbClr val="D8BEEC"/>
          </a:solidFill>
        </p:grpSpPr>
        <p:sp>
          <p:nvSpPr>
            <p:cNvPr id="23" name="אליפסה 22"/>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24"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25" name="אליפסה 24"/>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26" name="קבוצה 25"/>
          <p:cNvGrpSpPr/>
          <p:nvPr/>
        </p:nvGrpSpPr>
        <p:grpSpPr>
          <a:xfrm>
            <a:off x="676004" y="247315"/>
            <a:ext cx="3383279" cy="2680688"/>
            <a:chOff x="4003932" y="140625"/>
            <a:chExt cx="3347849" cy="3401935"/>
          </a:xfrm>
        </p:grpSpPr>
        <p:sp>
          <p:nvSpPr>
            <p:cNvPr id="27" name="אליפסה 26"/>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28"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19" name="מלבן מעוגל 18"/>
          <p:cNvSpPr/>
          <p:nvPr/>
        </p:nvSpPr>
        <p:spPr>
          <a:xfrm>
            <a:off x="370991" y="6094158"/>
            <a:ext cx="2967644" cy="767362"/>
          </a:xfrm>
          <a:prstGeom prst="round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TextBox 24">
            <a:extLst>
              <a:ext uri="{FF2B5EF4-FFF2-40B4-BE49-F238E27FC236}">
                <a16:creationId xmlns:a16="http://schemas.microsoft.com/office/drawing/2014/main" id="{84EB62BF-5F14-021E-1A2F-14A6FF1B18DD}"/>
              </a:ext>
            </a:extLst>
          </p:cNvPr>
          <p:cNvSpPr txBox="1"/>
          <p:nvPr/>
        </p:nvSpPr>
        <p:spPr>
          <a:xfrm rot="16200000">
            <a:off x="-641174" y="889037"/>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17156541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6607278" y="222470"/>
            <a:ext cx="5446721" cy="4678204"/>
          </a:xfrm>
          <a:prstGeom prst="rect">
            <a:avLst/>
          </a:prstGeom>
          <a:noFill/>
        </p:spPr>
        <p:txBody>
          <a:bodyPr wrap="square">
            <a:spAutoFit/>
          </a:bodyPr>
          <a:lstStyle/>
          <a:p>
            <a:r>
              <a:rPr lang="he-IL" b="1" dirty="0"/>
              <a:t>פנינה, אישה בת 71, רמת סיעוד 2 </a:t>
            </a:r>
          </a:p>
          <a:p>
            <a:r>
              <a:rPr lang="he-IL" sz="1400" b="1" dirty="0"/>
              <a:t>(מייצגת 20% מהזקנים בישראל ברמות הנמוכות)</a:t>
            </a:r>
          </a:p>
          <a:p>
            <a:endParaRPr lang="he-IL" sz="1000" b="1" dirty="0"/>
          </a:p>
          <a:p>
            <a:r>
              <a:rPr lang="he-IL" b="1" dirty="0"/>
              <a:t>רקע:</a:t>
            </a:r>
            <a:endParaRPr lang="he-IL" dirty="0"/>
          </a:p>
          <a:p>
            <a:pPr>
              <a:buFont typeface="Arial" panose="020B0604020202020204" pitchFamily="34" charset="0"/>
              <a:buChar char="•"/>
            </a:pPr>
            <a:r>
              <a:rPr lang="he-IL" dirty="0"/>
              <a:t>גיל: 71</a:t>
            </a:r>
          </a:p>
          <a:p>
            <a:pPr>
              <a:buFont typeface="Arial" panose="020B0604020202020204" pitchFamily="34" charset="0"/>
              <a:buChar char="•"/>
            </a:pPr>
            <a:r>
              <a:rPr lang="he-IL" dirty="0"/>
              <a:t>מצב משפחתי: אלמנה</a:t>
            </a:r>
          </a:p>
          <a:p>
            <a:pPr>
              <a:buFont typeface="Arial" panose="020B0604020202020204" pitchFamily="34" charset="0"/>
              <a:buChar char="•"/>
            </a:pPr>
            <a:r>
              <a:rPr lang="he-IL" dirty="0"/>
              <a:t>מקום מגורים: </a:t>
            </a:r>
          </a:p>
          <a:p>
            <a:r>
              <a:rPr lang="he-IL" dirty="0"/>
              <a:t>גרה בביתה עם בנה הגרוש</a:t>
            </a:r>
          </a:p>
          <a:p>
            <a:pPr>
              <a:buFont typeface="Arial" panose="020B0604020202020204" pitchFamily="34" charset="0"/>
              <a:buChar char="•"/>
            </a:pPr>
            <a:r>
              <a:rPr lang="he-IL" sz="1600" b="1" dirty="0"/>
              <a:t>מצב בריאות:</a:t>
            </a:r>
          </a:p>
          <a:p>
            <a:pPr marL="742950" lvl="1" indent="-285750">
              <a:buFont typeface="Arial" panose="020B0604020202020204" pitchFamily="34" charset="0"/>
              <a:buChar char="•"/>
            </a:pPr>
            <a:r>
              <a:rPr lang="he-IL" sz="1600" dirty="0"/>
              <a:t>סוכרת</a:t>
            </a:r>
          </a:p>
          <a:p>
            <a:pPr marL="742950" lvl="1" indent="-285750">
              <a:buFont typeface="Arial" panose="020B0604020202020204" pitchFamily="34" charset="0"/>
              <a:buChar char="•"/>
            </a:pPr>
            <a:r>
              <a:rPr lang="he-IL" sz="1600" dirty="0"/>
              <a:t>לחץ דם גבוה</a:t>
            </a:r>
          </a:p>
          <a:p>
            <a:pPr marL="742950" lvl="1" indent="-285750">
              <a:buFont typeface="Arial" panose="020B0604020202020204" pitchFamily="34" charset="0"/>
              <a:buChar char="•"/>
            </a:pPr>
            <a:r>
              <a:rPr lang="he-IL" sz="1600" dirty="0"/>
              <a:t>דלקת מפרקים ניוונית</a:t>
            </a:r>
          </a:p>
          <a:p>
            <a:pPr marL="742950" lvl="1" indent="-285750">
              <a:buFont typeface="Arial" panose="020B0604020202020204" pitchFamily="34" charset="0"/>
              <a:buChar char="•"/>
            </a:pPr>
            <a:r>
              <a:rPr lang="he-IL" sz="1600" dirty="0"/>
              <a:t>קושי בהליכה</a:t>
            </a:r>
          </a:p>
          <a:p>
            <a:pPr marL="742950" lvl="1" indent="-285750">
              <a:buFont typeface="Arial" panose="020B0604020202020204" pitchFamily="34" charset="0"/>
              <a:buChar char="•"/>
            </a:pPr>
            <a:r>
              <a:rPr lang="he-IL" sz="1600" dirty="0"/>
              <a:t>ירידה בכוח אחיזה</a:t>
            </a:r>
          </a:p>
          <a:p>
            <a:pPr marL="742950" lvl="1" indent="-285750">
              <a:buFont typeface="Arial" panose="020B0604020202020204" pitchFamily="34" charset="0"/>
              <a:buChar char="•"/>
            </a:pPr>
            <a:r>
              <a:rPr lang="he-IL" sz="1600" dirty="0"/>
              <a:t>קשיים קלים בביצוע פעולות יומיומיות, כמו רחצה, התלבשות, בישול וקניות</a:t>
            </a:r>
          </a:p>
          <a:p>
            <a:endParaRPr lang="he-IL" b="1" dirty="0"/>
          </a:p>
          <a:p>
            <a:endParaRPr lang="he-IL" dirty="0"/>
          </a:p>
        </p:txBody>
      </p:sp>
      <p:pic>
        <p:nvPicPr>
          <p:cNvPr id="1026" name="Picture 2" descr="הלם הפרישה - רותם מוצרי ספיגה">
            <a:extLst>
              <a:ext uri="{FF2B5EF4-FFF2-40B4-BE49-F238E27FC236}">
                <a16:creationId xmlns:a16="http://schemas.microsoft.com/office/drawing/2014/main" id="{9F17C421-A018-6C31-8BA3-0C9016DB4CE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56439" y="882081"/>
            <a:ext cx="2861187" cy="160941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דיאגרמה 3">
            <a:extLst>
              <a:ext uri="{FF2B5EF4-FFF2-40B4-BE49-F238E27FC236}">
                <a16:creationId xmlns:a16="http://schemas.microsoft.com/office/drawing/2014/main" id="{8C79B7A8-EA7E-43AF-9CC4-B2EC0BF053DF}"/>
              </a:ext>
            </a:extLst>
          </p:cNvPr>
          <p:cNvGraphicFramePr/>
          <p:nvPr/>
        </p:nvGraphicFramePr>
        <p:xfrm>
          <a:off x="1845188" y="4081707"/>
          <a:ext cx="6895690" cy="35721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תיבת טקסט 9">
            <a:extLst>
              <a:ext uri="{FF2B5EF4-FFF2-40B4-BE49-F238E27FC236}">
                <a16:creationId xmlns:a16="http://schemas.microsoft.com/office/drawing/2014/main" id="{7E5247A0-2741-6994-E305-894A06B331FE}"/>
              </a:ext>
            </a:extLst>
          </p:cNvPr>
          <p:cNvSpPr txBox="1"/>
          <p:nvPr/>
        </p:nvSpPr>
        <p:spPr>
          <a:xfrm>
            <a:off x="285486" y="636506"/>
            <a:ext cx="5810514" cy="3139321"/>
          </a:xfrm>
          <a:prstGeom prst="rect">
            <a:avLst/>
          </a:prstGeom>
          <a:noFill/>
        </p:spPr>
        <p:txBody>
          <a:bodyPr wrap="square">
            <a:spAutoFit/>
          </a:bodyPr>
          <a:lstStyle/>
          <a:p>
            <a:r>
              <a:rPr lang="he-IL" b="1" dirty="0"/>
              <a:t>בעיות:</a:t>
            </a:r>
            <a:endParaRPr lang="he-IL" dirty="0"/>
          </a:p>
          <a:p>
            <a:pPr>
              <a:buFont typeface="Arial" panose="020B0604020202020204" pitchFamily="34" charset="0"/>
              <a:buChar char="•"/>
            </a:pPr>
            <a:r>
              <a:rPr lang="he-IL" b="1" dirty="0"/>
              <a:t>קשיי תפקוד: </a:t>
            </a:r>
            <a:r>
              <a:rPr lang="he-IL" dirty="0"/>
              <a:t>פנינה יוצאת מעט מביתה, מה שפוגע ביכולתה לחיות חיים מלאים ועצמאיים.</a:t>
            </a:r>
          </a:p>
          <a:p>
            <a:pPr>
              <a:buFont typeface="Arial" panose="020B0604020202020204" pitchFamily="34" charset="0"/>
              <a:buChar char="•"/>
            </a:pPr>
            <a:r>
              <a:rPr lang="he-IL" b="1" dirty="0"/>
              <a:t>בדידות: </a:t>
            </a:r>
            <a:r>
              <a:rPr lang="he-IL" dirty="0"/>
              <a:t>פנינה מרגישה בודדה ומבודדת, בעיקר עקב קשיי </a:t>
            </a:r>
            <a:r>
              <a:rPr lang="he-IL" dirty="0" err="1"/>
              <a:t>התניידות</a:t>
            </a:r>
            <a:r>
              <a:rPr lang="he-IL" dirty="0"/>
              <a:t> ומגבלות חברתיות.</a:t>
            </a:r>
          </a:p>
          <a:p>
            <a:pPr>
              <a:buFont typeface="Arial" panose="020B0604020202020204" pitchFamily="34" charset="0"/>
              <a:buChar char="•"/>
            </a:pPr>
            <a:r>
              <a:rPr lang="he-IL" b="1" dirty="0"/>
              <a:t>תלות בבן: </a:t>
            </a:r>
            <a:r>
              <a:rPr lang="he-IL" dirty="0"/>
              <a:t>פנינה תלויה רבות בבנה, מה שגורם לה להרגיש אשמה ומעמיס עליו קשיים רבים.</a:t>
            </a:r>
          </a:p>
          <a:p>
            <a:pPr>
              <a:buFont typeface="Arial" panose="020B0604020202020204" pitchFamily="34" charset="0"/>
              <a:buChar char="•"/>
            </a:pPr>
            <a:r>
              <a:rPr lang="he-IL" b="1" dirty="0"/>
              <a:t>חשש מנפילות: </a:t>
            </a:r>
            <a:r>
              <a:rPr lang="he-IL" dirty="0"/>
              <a:t>פנינה חוששת מנפילות, מה שמונע ממנה לצאת מהבית וליהנות מפעילויות חברתיות.</a:t>
            </a:r>
          </a:p>
          <a:p>
            <a:pPr>
              <a:buFont typeface="Arial" panose="020B0604020202020204" pitchFamily="34" charset="0"/>
              <a:buChar char="•"/>
            </a:pPr>
            <a:r>
              <a:rPr lang="he-IL" b="1" dirty="0"/>
              <a:t>ירידה במוטיבציה: </a:t>
            </a:r>
            <a:r>
              <a:rPr lang="he-IL" dirty="0"/>
              <a:t>פנינה מרגישה חסרת תקווה וחיוניות, מה שמשפיע לרעה על בריאותה הנפשית והפיזית.</a:t>
            </a:r>
          </a:p>
        </p:txBody>
      </p:sp>
      <p:sp>
        <p:nvSpPr>
          <p:cNvPr id="13" name="תיבת טקסט 12">
            <a:extLst>
              <a:ext uri="{FF2B5EF4-FFF2-40B4-BE49-F238E27FC236}">
                <a16:creationId xmlns:a16="http://schemas.microsoft.com/office/drawing/2014/main" id="{8B38939D-9FB0-76F3-254A-62ABE3FFF063}"/>
              </a:ext>
            </a:extLst>
          </p:cNvPr>
          <p:cNvSpPr txBox="1"/>
          <p:nvPr/>
        </p:nvSpPr>
        <p:spPr>
          <a:xfrm>
            <a:off x="1845188" y="4327206"/>
            <a:ext cx="6895690" cy="646331"/>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1">
            <a:spAutoFit/>
          </a:bodyPr>
          <a:lstStyle/>
          <a:p>
            <a:r>
              <a:rPr lang="he-IL" b="1" dirty="0">
                <a:solidFill>
                  <a:schemeClr val="tx1"/>
                </a:solidFill>
              </a:rPr>
              <a:t>האם זה הסל שצריכה לקבל יחד עם כ240,000 זכאים ברמות הנמוכות?</a:t>
            </a:r>
          </a:p>
          <a:p>
            <a:r>
              <a:rPr lang="he-IL" b="1" dirty="0">
                <a:solidFill>
                  <a:schemeClr val="tx1"/>
                </a:solidFill>
              </a:rPr>
              <a:t>האם זה מה שימנע את ההידרדרות שלה?</a:t>
            </a:r>
          </a:p>
        </p:txBody>
      </p:sp>
      <p:sp>
        <p:nvSpPr>
          <p:cNvPr id="14" name="מלבן 13">
            <a:extLst>
              <a:ext uri="{FF2B5EF4-FFF2-40B4-BE49-F238E27FC236}">
                <a16:creationId xmlns:a16="http://schemas.microsoft.com/office/drawing/2014/main" id="{E23FD695-54DE-847A-8A1B-D432A7EAF58B}"/>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5" name="TextBox 7">
            <a:extLst>
              <a:ext uri="{FF2B5EF4-FFF2-40B4-BE49-F238E27FC236}">
                <a16:creationId xmlns:a16="http://schemas.microsoft.com/office/drawing/2014/main" id="{04DEBE81-FD89-7382-F4F6-23F91C8E6E5C}"/>
              </a:ext>
            </a:extLst>
          </p:cNvPr>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411131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תיבת טקסט 5">
            <a:extLst>
              <a:ext uri="{FF2B5EF4-FFF2-40B4-BE49-F238E27FC236}">
                <a16:creationId xmlns:a16="http://schemas.microsoft.com/office/drawing/2014/main" id="{4CCDC711-627C-F516-2CB4-03FD436CA5F4}"/>
              </a:ext>
            </a:extLst>
          </p:cNvPr>
          <p:cNvSpPr txBox="1"/>
          <p:nvPr/>
        </p:nvSpPr>
        <p:spPr>
          <a:xfrm>
            <a:off x="5810865" y="255571"/>
            <a:ext cx="6226843" cy="3693319"/>
          </a:xfrm>
          <a:prstGeom prst="rect">
            <a:avLst/>
          </a:prstGeom>
          <a:noFill/>
        </p:spPr>
        <p:txBody>
          <a:bodyPr wrap="square">
            <a:spAutoFit/>
          </a:bodyPr>
          <a:lstStyle/>
          <a:p>
            <a:r>
              <a:rPr lang="he-IL" b="1" dirty="0"/>
              <a:t>פנינה, אישה בת 71, רמת סיעוד </a:t>
            </a:r>
            <a:r>
              <a:rPr lang="he-IL" sz="1200" b="1" dirty="0">
                <a:solidFill>
                  <a:prstClr val="black"/>
                </a:solidFill>
              </a:rPr>
              <a:t>(מייצגת 20% מהזקנים בישראל ברמות הנמוכות)</a:t>
            </a:r>
          </a:p>
          <a:p>
            <a:endParaRPr lang="he-IL" b="1" dirty="0"/>
          </a:p>
          <a:p>
            <a:r>
              <a:rPr lang="he-IL" b="1" dirty="0"/>
              <a:t>המלצות לסל שירותים:</a:t>
            </a:r>
            <a:endParaRPr lang="he-IL" dirty="0"/>
          </a:p>
          <a:p>
            <a:pPr>
              <a:buFont typeface="Arial" panose="020B0604020202020204" pitchFamily="34" charset="0"/>
              <a:buChar char="•"/>
            </a:pPr>
            <a:r>
              <a:rPr lang="he-IL" b="1" dirty="0"/>
              <a:t>חיבור חברתי:</a:t>
            </a:r>
            <a:r>
              <a:rPr lang="he-IL" dirty="0"/>
              <a:t> פעילויות חברתיות בקהילה, מפגשים עם חברים, קבוצות תמיכה, פעילויות פנאי.</a:t>
            </a:r>
          </a:p>
          <a:p>
            <a:pPr>
              <a:buFont typeface="Arial" panose="020B0604020202020204" pitchFamily="34" charset="0"/>
              <a:buChar char="•"/>
            </a:pPr>
            <a:r>
              <a:rPr lang="he-IL" b="1" dirty="0"/>
              <a:t>פיזיותרפיה:</a:t>
            </a:r>
            <a:r>
              <a:rPr lang="he-IL" dirty="0"/>
              <a:t> טיפולים לחיזוק השרירים, שיפור שיווי המשקל והתנועתיות, והפחתת הסיכון לנפילות.</a:t>
            </a:r>
          </a:p>
          <a:p>
            <a:pPr>
              <a:buFont typeface="Arial" panose="020B0604020202020204" pitchFamily="34" charset="0"/>
              <a:buChar char="•"/>
            </a:pPr>
            <a:r>
              <a:rPr lang="he-IL" b="1" dirty="0"/>
              <a:t>טיפול רגשי:</a:t>
            </a:r>
            <a:r>
              <a:rPr lang="he-IL" dirty="0"/>
              <a:t> סיוע להתמודדות עם קשיים רגשיים, בדידות, דיכאון, וחששות.</a:t>
            </a:r>
          </a:p>
          <a:p>
            <a:pPr>
              <a:buFont typeface="Arial" panose="020B0604020202020204" pitchFamily="34" charset="0"/>
              <a:buChar char="•"/>
            </a:pPr>
            <a:r>
              <a:rPr lang="he-IL" b="1" dirty="0"/>
              <a:t>הדרכה וייעוץ:</a:t>
            </a:r>
            <a:r>
              <a:rPr lang="he-IL" dirty="0"/>
              <a:t> הדרכה לבני המשפחה בנוגע לטיפול נכון בפנינה, ייעוץ בנוגע לזכויותיה והטבות המגיעות לה.</a:t>
            </a:r>
          </a:p>
          <a:p>
            <a:endParaRPr lang="he-IL" b="1" dirty="0"/>
          </a:p>
          <a:p>
            <a:endParaRPr lang="he-IL" dirty="0"/>
          </a:p>
        </p:txBody>
      </p:sp>
      <p:sp>
        <p:nvSpPr>
          <p:cNvPr id="12" name="תיבת טקסט 11">
            <a:extLst>
              <a:ext uri="{FF2B5EF4-FFF2-40B4-BE49-F238E27FC236}">
                <a16:creationId xmlns:a16="http://schemas.microsoft.com/office/drawing/2014/main" id="{989D5D1B-948C-CF8C-4CFE-F86AA54017FB}"/>
              </a:ext>
            </a:extLst>
          </p:cNvPr>
          <p:cNvSpPr txBox="1"/>
          <p:nvPr/>
        </p:nvSpPr>
        <p:spPr>
          <a:xfrm>
            <a:off x="3780126" y="5040271"/>
            <a:ext cx="8018584" cy="1200329"/>
          </a:xfrm>
          <a:prstGeom prst="rect">
            <a:avLst/>
          </a:prstGeom>
          <a:solidFill>
            <a:srgbClr val="5EC5C5"/>
          </a:solidFill>
          <a:ln>
            <a:solidFill>
              <a:srgbClr val="4472C4"/>
            </a:solidFill>
          </a:ln>
        </p:spPr>
        <p:txBody>
          <a:bodyPr wrap="square">
            <a:spAutoFit/>
          </a:bodyPr>
          <a:lstStyle/>
          <a:p>
            <a:r>
              <a:rPr lang="he-IL" b="1" dirty="0"/>
              <a:t>דגשים חשובים:</a:t>
            </a:r>
            <a:endParaRPr lang="he-IL" dirty="0"/>
          </a:p>
          <a:p>
            <a:pPr>
              <a:buFont typeface="Arial" panose="020B0604020202020204" pitchFamily="34" charset="0"/>
              <a:buChar char="•"/>
            </a:pPr>
            <a:r>
              <a:rPr lang="he-IL" dirty="0"/>
              <a:t>סל השירותים המומלץ צריך להיות מותאם אישית לצרכיה הייחודיים של פנינה.</a:t>
            </a:r>
          </a:p>
          <a:p>
            <a:pPr>
              <a:buFont typeface="Arial" panose="020B0604020202020204" pitchFamily="34" charset="0"/>
              <a:buChar char="•"/>
            </a:pPr>
            <a:r>
              <a:rPr lang="he-IL" dirty="0"/>
              <a:t>רצוי שפנינה תהיה מעורבת בתהליך קבלת ההחלטות בנוגע לסל השירותים שיוענק לה.</a:t>
            </a:r>
          </a:p>
          <a:p>
            <a:pPr>
              <a:buFont typeface="Arial" panose="020B0604020202020204" pitchFamily="34" charset="0"/>
              <a:buChar char="•"/>
            </a:pPr>
            <a:r>
              <a:rPr lang="he-IL" dirty="0"/>
              <a:t>חשוב לתעד את התקדמותה של פנינה ולעדכן את סל השירותים בהתאם לצורך.</a:t>
            </a:r>
          </a:p>
        </p:txBody>
      </p:sp>
      <p:sp>
        <p:nvSpPr>
          <p:cNvPr id="3" name="תיבת טקסט 2">
            <a:extLst>
              <a:ext uri="{FF2B5EF4-FFF2-40B4-BE49-F238E27FC236}">
                <a16:creationId xmlns:a16="http://schemas.microsoft.com/office/drawing/2014/main" id="{1BBDCCE0-0CA5-FA69-CA6F-DE3A715936E5}"/>
              </a:ext>
            </a:extLst>
          </p:cNvPr>
          <p:cNvSpPr txBox="1"/>
          <p:nvPr/>
        </p:nvSpPr>
        <p:spPr>
          <a:xfrm>
            <a:off x="-2076876" y="831220"/>
            <a:ext cx="8018584" cy="1477328"/>
          </a:xfrm>
          <a:prstGeom prst="rect">
            <a:avLst/>
          </a:prstGeom>
          <a:noFill/>
        </p:spPr>
        <p:txBody>
          <a:bodyPr wrap="square">
            <a:spAutoFit/>
          </a:bodyPr>
          <a:lstStyle/>
          <a:p>
            <a:r>
              <a:rPr lang="he-IL" b="1" dirty="0"/>
              <a:t>מטרת סל השירותים:</a:t>
            </a:r>
            <a:endParaRPr lang="he-IL" dirty="0"/>
          </a:p>
          <a:p>
            <a:pPr>
              <a:buFont typeface="Arial" panose="020B0604020202020204" pitchFamily="34" charset="0"/>
              <a:buChar char="•"/>
            </a:pPr>
            <a:r>
              <a:rPr lang="he-IL" dirty="0"/>
              <a:t>לשפר את איכות חייה של פנינה ולעזור לה לשמור על עצמאותה.</a:t>
            </a:r>
          </a:p>
          <a:p>
            <a:pPr>
              <a:buFont typeface="Arial" panose="020B0604020202020204" pitchFamily="34" charset="0"/>
              <a:buChar char="•"/>
            </a:pPr>
            <a:r>
              <a:rPr lang="he-IL" dirty="0"/>
              <a:t>להפחית את תחושת הבדידות והתלות בבן.</a:t>
            </a:r>
          </a:p>
          <a:p>
            <a:pPr>
              <a:buFont typeface="Arial" panose="020B0604020202020204" pitchFamily="34" charset="0"/>
              <a:buChar char="•"/>
            </a:pPr>
            <a:r>
              <a:rPr lang="he-IL" dirty="0"/>
              <a:t>לחזק את בריאותה הנפשית והפיזית.</a:t>
            </a:r>
          </a:p>
          <a:p>
            <a:pPr>
              <a:buFont typeface="Arial" panose="020B0604020202020204" pitchFamily="34" charset="0"/>
              <a:buChar char="•"/>
            </a:pPr>
            <a:r>
              <a:rPr lang="he-IL" dirty="0"/>
              <a:t>לאפשר לה ליהנות מחיים מלאים ומשמעותיים.</a:t>
            </a:r>
          </a:p>
        </p:txBody>
      </p:sp>
      <p:pic>
        <p:nvPicPr>
          <p:cNvPr id="5" name="Picture 2" descr="הלם הפרישה - רותם מוצרי ספיגה">
            <a:extLst>
              <a:ext uri="{FF2B5EF4-FFF2-40B4-BE49-F238E27FC236}">
                <a16:creationId xmlns:a16="http://schemas.microsoft.com/office/drawing/2014/main" id="{AB2C3BED-B606-FB77-B8C4-5ACB9D4D3C3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6352" y="4759427"/>
            <a:ext cx="2861187" cy="1609418"/>
          </a:xfrm>
          <a:prstGeom prst="rect">
            <a:avLst/>
          </a:prstGeom>
          <a:noFill/>
          <a:extLst>
            <a:ext uri="{909E8E84-426E-40DD-AFC4-6F175D3DCCD1}">
              <a14:hiddenFill xmlns:a14="http://schemas.microsoft.com/office/drawing/2010/main">
                <a:solidFill>
                  <a:srgbClr val="FFFFFF"/>
                </a:solidFill>
              </a14:hiddenFill>
            </a:ext>
          </a:extLst>
        </p:spPr>
      </p:pic>
      <p:sp>
        <p:nvSpPr>
          <p:cNvPr id="7" name="מלבן 6">
            <a:extLst>
              <a:ext uri="{FF2B5EF4-FFF2-40B4-BE49-F238E27FC236}">
                <a16:creationId xmlns:a16="http://schemas.microsoft.com/office/drawing/2014/main" id="{9079C5C4-FF00-B341-CD7D-5CF40746F4E6}"/>
              </a:ext>
            </a:extLst>
          </p:cNvPr>
          <p:cNvSpPr/>
          <p:nvPr/>
        </p:nvSpPr>
        <p:spPr>
          <a:xfrm>
            <a:off x="3093" y="0"/>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a:extLst>
              <a:ext uri="{FF2B5EF4-FFF2-40B4-BE49-F238E27FC236}">
                <a16:creationId xmlns:a16="http://schemas.microsoft.com/office/drawing/2014/main" id="{67455870-164A-9D98-0914-8122C6F9D320}"/>
              </a:ext>
            </a:extLst>
          </p:cNvPr>
          <p:cNvSpPr txBox="1"/>
          <p:nvPr/>
        </p:nvSpPr>
        <p:spPr>
          <a:xfrm rot="16200000">
            <a:off x="-628535" y="570738"/>
            <a:ext cx="1478289" cy="338554"/>
          </a:xfrm>
          <a:prstGeom prst="rect">
            <a:avLst/>
          </a:prstGeom>
          <a:noFill/>
        </p:spPr>
        <p:txBody>
          <a:bodyPr wrap="none" rtlCol="1">
            <a:spAutoFit/>
          </a:bodyPr>
          <a:lstStyle/>
          <a:p>
            <a:r>
              <a:rPr lang="he-IL" sz="1600" b="1" dirty="0">
                <a:solidFill>
                  <a:schemeClr val="bg1"/>
                </a:solidFill>
                <a:cs typeface="Calibri"/>
              </a:rPr>
              <a:t>רקע </a:t>
            </a:r>
            <a:r>
              <a:rPr lang="he-IL" sz="1600" b="1" dirty="0" err="1">
                <a:solidFill>
                  <a:schemeClr val="bg1"/>
                </a:solidFill>
                <a:cs typeface="Calibri"/>
              </a:rPr>
              <a:t>ןתמונת</a:t>
            </a:r>
            <a:r>
              <a:rPr lang="he-IL" sz="1600" b="1" dirty="0">
                <a:solidFill>
                  <a:schemeClr val="bg1"/>
                </a:solidFill>
                <a:cs typeface="Calibri"/>
              </a:rPr>
              <a:t> מצב</a:t>
            </a:r>
          </a:p>
        </p:txBody>
      </p:sp>
    </p:spTree>
    <p:extLst>
      <p:ext uri="{BB962C8B-B14F-4D97-AF65-F5344CB8AC3E}">
        <p14:creationId xmlns:p14="http://schemas.microsoft.com/office/powerpoint/2010/main" val="3590463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1339392" y="299138"/>
            <a:ext cx="10515600" cy="850789"/>
          </a:xfrm>
        </p:spPr>
        <p:txBody>
          <a:bodyPr>
            <a:normAutofit fontScale="90000"/>
          </a:bodyPr>
          <a:lstStyle/>
          <a:p>
            <a:r>
              <a:rPr lang="he-IL" b="1" dirty="0">
                <a:latin typeface="Calibri" panose="020F0502020204030204" pitchFamily="34" charset="0"/>
                <a:ea typeface="Calibri" panose="020F0502020204030204" pitchFamily="34" charset="0"/>
              </a:rPr>
              <a:t>בעיות עיקריות בחוק סיעוד 2024:</a:t>
            </a:r>
            <a:r>
              <a:rPr lang="en-US" dirty="0">
                <a:latin typeface="Calibri" panose="020F0502020204030204" pitchFamily="34" charset="0"/>
                <a:ea typeface="Calibri" panose="020F0502020204030204" pitchFamily="34" charset="0"/>
                <a:cs typeface="Arial" panose="020B0604020202020204" pitchFamily="34" charset="0"/>
              </a:rPr>
              <a:t/>
            </a:r>
            <a:br>
              <a:rPr lang="en-US" dirty="0">
                <a:latin typeface="Calibri" panose="020F0502020204030204" pitchFamily="34" charset="0"/>
                <a:ea typeface="Calibri" panose="020F0502020204030204" pitchFamily="34" charset="0"/>
                <a:cs typeface="Arial" panose="020B0604020202020204" pitchFamily="34" charset="0"/>
              </a:rPr>
            </a:br>
            <a:endParaRPr lang="he-IL" dirty="0"/>
          </a:p>
        </p:txBody>
      </p:sp>
      <p:sp>
        <p:nvSpPr>
          <p:cNvPr id="6" name="מלבן 5"/>
          <p:cNvSpPr/>
          <p:nvPr/>
        </p:nvSpPr>
        <p:spPr>
          <a:xfrm>
            <a:off x="1590125" y="1149927"/>
            <a:ext cx="10007558" cy="5684633"/>
          </a:xfrm>
          <a:prstGeom prst="rect">
            <a:avLst/>
          </a:prstGeom>
        </p:spPr>
        <p:txBody>
          <a:bodyPr wrap="square">
            <a:spAutoFit/>
          </a:bodyPr>
          <a:lstStyle/>
          <a:p>
            <a:pPr marL="514350" indent="-514350">
              <a:lnSpc>
                <a:spcPct val="115000"/>
              </a:lnSpc>
              <a:buFont typeface="+mj-lt"/>
              <a:buAutoNum type="arabicPeriod"/>
            </a:pPr>
            <a:r>
              <a:rPr lang="he-IL" sz="2400" b="1" dirty="0">
                <a:latin typeface="Calibri" panose="020F0502020204030204" pitchFamily="34" charset="0"/>
                <a:ea typeface="Calibri" panose="020F0502020204030204" pitchFamily="34" charset="0"/>
              </a:rPr>
              <a:t>השקעה בטיפול ולא במניעה</a:t>
            </a:r>
            <a:endParaRPr lang="en-US" sz="2400" b="1"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מיצוי תקציבי מופרז ותוצאות מוטלות בספק</a:t>
            </a: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סל שירותים מצומצם שאינו מותאם לצרכים</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הערכות תלות שאינן משקפות מצב </a:t>
            </a:r>
            <a:r>
              <a:rPr lang="he-IL" sz="2400" dirty="0" err="1">
                <a:latin typeface="Calibri" panose="020F0502020204030204" pitchFamily="34" charset="0"/>
                <a:ea typeface="Calibri" panose="020F0502020204030204" pitchFamily="34" charset="0"/>
              </a:rPr>
              <a:t>תיפקודי</a:t>
            </a:r>
            <a:endParaRPr lang="he-IL" sz="2400" dirty="0">
              <a:latin typeface="Calibri" panose="020F0502020204030204" pitchFamily="34" charset="0"/>
              <a:ea typeface="Calibri" panose="020F0502020204030204" pitchFamily="34" charset="0"/>
            </a:endParaRP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היעדר מידע מסודר, שקוף ונגיש ומדידה שוטפת</a:t>
            </a:r>
          </a:p>
          <a:p>
            <a:pPr marL="514350" lvl="0" indent="-514350">
              <a:lnSpc>
                <a:spcPct val="115000"/>
              </a:lnSpc>
              <a:buFont typeface="+mj-lt"/>
              <a:buAutoNum type="arabicPeriod"/>
            </a:pPr>
            <a:r>
              <a:rPr lang="he-IL" sz="2400" dirty="0">
                <a:latin typeface="Calibri" panose="020F0502020204030204" pitchFamily="34" charset="0"/>
                <a:ea typeface="Calibri" panose="020F0502020204030204" pitchFamily="34" charset="0"/>
              </a:rPr>
              <a:t>הגמלה בכסף יוצרת </a:t>
            </a:r>
            <a:r>
              <a:rPr lang="he-IL" sz="2400" dirty="0" err="1">
                <a:latin typeface="Calibri" panose="020F0502020204030204" pitchFamily="34" charset="0"/>
                <a:ea typeface="Calibri" panose="020F0502020204030204" pitchFamily="34" charset="0"/>
              </a:rPr>
              <a:t>תמרוץ</a:t>
            </a:r>
            <a:r>
              <a:rPr lang="he-IL" sz="2400" dirty="0">
                <a:latin typeface="Calibri" panose="020F0502020204030204" pitchFamily="34" charset="0"/>
                <a:ea typeface="Calibri" panose="020F0502020204030204" pitchFamily="34" charset="0"/>
              </a:rPr>
              <a:t> שלילי למניעת הדרדרות לחברות הסיעוד ולזקן</a:t>
            </a:r>
          </a:p>
          <a:p>
            <a:pPr lvl="0">
              <a:lnSpc>
                <a:spcPct val="115000"/>
              </a:lnSpc>
            </a:pPr>
            <a:r>
              <a:rPr lang="he-IL" sz="2400" b="1" dirty="0">
                <a:latin typeface="Calibri" panose="020F0502020204030204" pitchFamily="34" charset="0"/>
                <a:ea typeface="Calibri" panose="020F0502020204030204" pitchFamily="34" charset="0"/>
              </a:rPr>
              <a:t>7. </a:t>
            </a:r>
            <a:r>
              <a:rPr lang="he-IL" sz="3200" b="1" dirty="0">
                <a:latin typeface="Calibri" panose="020F0502020204030204" pitchFamily="34" charset="0"/>
                <a:ea typeface="Calibri" panose="020F0502020204030204" pitchFamily="34" charset="0"/>
              </a:rPr>
              <a:t>מחסור במטפלות </a:t>
            </a:r>
            <a:r>
              <a:rPr lang="he-IL" sz="2800" dirty="0">
                <a:latin typeface="Calibri" panose="020F0502020204030204" pitchFamily="34" charset="0"/>
                <a:ea typeface="Calibri" panose="020F0502020204030204" pitchFamily="34" charset="0"/>
              </a:rPr>
              <a:t>שגורם ל: </a:t>
            </a:r>
            <a:endParaRPr lang="en-US" sz="28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b="1" dirty="0">
                <a:latin typeface="Calibri" panose="020F0502020204030204" pitchFamily="34" charset="0"/>
                <a:ea typeface="Calibri" panose="020F0502020204030204" pitchFamily="34" charset="0"/>
              </a:rPr>
              <a:t>כ-63% מהגמלה בכסף </a:t>
            </a:r>
            <a:r>
              <a:rPr lang="he-IL" sz="2400" dirty="0">
                <a:latin typeface="Calibri" panose="020F0502020204030204" pitchFamily="34" charset="0"/>
                <a:ea typeface="Calibri" panose="020F0502020204030204" pitchFamily="34" charset="0"/>
              </a:rPr>
              <a:t>שאין הוכחה לדחיקת תלות ותפקוד</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בני משפחה מטפלים בשכר (כ-7 מיליארד ₪  ובתיווך 20% לחברות הסיעוד)</a:t>
            </a:r>
            <a:endParaRPr lang="en-US" sz="2400" dirty="0">
              <a:latin typeface="Calibri" panose="020F0502020204030204" pitchFamily="34" charset="0"/>
              <a:ea typeface="Calibri" panose="020F0502020204030204" pitchFamily="34" charset="0"/>
              <a:cs typeface="Arial" panose="020B0604020202020204" pitchFamily="34" charset="0"/>
            </a:endParaRP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כ-50% מהשעות נלקחות ע"י המטפלות</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חוסר הכשרה והדרכה</a:t>
            </a:r>
          </a:p>
          <a:p>
            <a:pPr marL="742950" indent="-285750">
              <a:lnSpc>
                <a:spcPct val="115000"/>
              </a:lnSpc>
              <a:buFont typeface="Arial" panose="020B0604020202020204" pitchFamily="34" charset="0"/>
              <a:buChar char="•"/>
            </a:pPr>
            <a:r>
              <a:rPr lang="he-IL" sz="2400" dirty="0">
                <a:latin typeface="Calibri" panose="020F0502020204030204" pitchFamily="34" charset="0"/>
                <a:ea typeface="Calibri" panose="020F0502020204030204" pitchFamily="34" charset="0"/>
              </a:rPr>
              <a:t>פגיעה באיכות השירות ומקרי הזנחה, ניצול והתעללות</a:t>
            </a:r>
            <a:endParaRPr lang="en-US" sz="2400" dirty="0">
              <a:latin typeface="Calibri" panose="020F0502020204030204" pitchFamily="34" charset="0"/>
              <a:ea typeface="Calibri" panose="020F0502020204030204" pitchFamily="34" charset="0"/>
              <a:cs typeface="Arial" panose="020B0604020202020204" pitchFamily="34" charset="0"/>
            </a:endParaRPr>
          </a:p>
          <a:p>
            <a:pPr marL="514350" lvl="0" indent="-514350">
              <a:lnSpc>
                <a:spcPct val="115000"/>
              </a:lnSpc>
              <a:buFont typeface="+mj-lt"/>
              <a:buAutoNum type="arabicPeriod"/>
            </a:pPr>
            <a:endParaRPr lang="en-US" sz="2000" dirty="0">
              <a:latin typeface="Calibri" panose="020F0502020204030204" pitchFamily="34" charset="0"/>
              <a:ea typeface="Calibri" panose="020F0502020204030204" pitchFamily="34" charset="0"/>
              <a:cs typeface="Arial" panose="020B0604020202020204" pitchFamily="34" charset="0"/>
            </a:endParaRPr>
          </a:p>
        </p:txBody>
      </p:sp>
      <p:sp>
        <p:nvSpPr>
          <p:cNvPr id="7" name="מלבן 6"/>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8" name="מלבן 7"/>
          <p:cNvSpPr/>
          <p:nvPr/>
        </p:nvSpPr>
        <p:spPr>
          <a:xfrm>
            <a:off x="3093" y="0"/>
            <a:ext cx="264155" cy="6857999"/>
          </a:xfrm>
          <a:prstGeom prst="rect">
            <a:avLst/>
          </a:prstGeom>
          <a:solidFill>
            <a:srgbClr val="F2F2F2"/>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
        <p:nvSpPr>
          <p:cNvPr id="10" name="מלבן 9"/>
          <p:cNvSpPr/>
          <p:nvPr/>
        </p:nvSpPr>
        <p:spPr>
          <a:xfrm>
            <a:off x="-16515" y="-1"/>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1003530" y="774605"/>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329166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499268" y="202564"/>
            <a:ext cx="11353800" cy="1325563"/>
          </a:xfrm>
        </p:spPr>
        <p:txBody>
          <a:bodyPr>
            <a:normAutofit/>
          </a:bodyPr>
          <a:lstStyle/>
          <a:p>
            <a:r>
              <a:rPr lang="he-IL" sz="4000" dirty="0"/>
              <a:t>המלצות ועדה בין משרדית למניעת הדרדרות תפקודית</a:t>
            </a:r>
            <a:r>
              <a:rPr lang="he-IL" sz="2000" dirty="0"/>
              <a:t> (</a:t>
            </a:r>
            <a:r>
              <a:rPr lang="he-IL" sz="1800" dirty="0"/>
              <a:t>דו"ח קידר) 9.2022</a:t>
            </a:r>
            <a:endParaRPr lang="he-IL" sz="2000" dirty="0"/>
          </a:p>
        </p:txBody>
      </p:sp>
      <p:sp>
        <p:nvSpPr>
          <p:cNvPr id="3" name="מציין מיקום תוכן 2"/>
          <p:cNvSpPr>
            <a:spLocks noGrp="1"/>
          </p:cNvSpPr>
          <p:nvPr>
            <p:ph idx="1"/>
          </p:nvPr>
        </p:nvSpPr>
        <p:spPr/>
        <p:txBody>
          <a:bodyPr>
            <a:normAutofit fontScale="85000" lnSpcReduction="20000"/>
          </a:bodyPr>
          <a:lstStyle/>
          <a:p>
            <a:pPr marL="0" indent="0">
              <a:buNone/>
            </a:pPr>
            <a:r>
              <a:rPr lang="he-IL" sz="3100" b="1" dirty="0"/>
              <a:t>מסקנות עיקריות:</a:t>
            </a:r>
          </a:p>
          <a:p>
            <a:r>
              <a:rPr lang="he-IL" dirty="0"/>
              <a:t>נדרש להשקיע בשירותי מניעת הדרדרות בדגש על רמות סיעוד הנמוכות (1-2)</a:t>
            </a:r>
          </a:p>
          <a:p>
            <a:r>
              <a:rPr lang="he-IL" dirty="0"/>
              <a:t>פיצול שירותים בין גורמים רבים וצורך ב</a:t>
            </a:r>
            <a:r>
              <a:rPr lang="he-IL" b="1" dirty="0"/>
              <a:t>תמריץ</a:t>
            </a:r>
            <a:r>
              <a:rPr lang="he-IL" dirty="0"/>
              <a:t> לדחיקת תלות </a:t>
            </a:r>
          </a:p>
          <a:p>
            <a:r>
              <a:rPr lang="he-IL" dirty="0"/>
              <a:t>המערכת משקיעה בטיפול במקום במניעה.</a:t>
            </a:r>
          </a:p>
          <a:p>
            <a:endParaRPr lang="he-IL" sz="1200" dirty="0"/>
          </a:p>
          <a:p>
            <a:pPr marL="0" indent="0">
              <a:buNone/>
            </a:pPr>
            <a:r>
              <a:rPr lang="he-IL" b="1" dirty="0"/>
              <a:t>עקרונות מרכזיים:</a:t>
            </a:r>
            <a:endParaRPr lang="he-IL" dirty="0"/>
          </a:p>
          <a:p>
            <a:r>
              <a:rPr lang="he-IL" dirty="0"/>
              <a:t>שילוב דחיקת תלות בגמלת הסיעוד.</a:t>
            </a:r>
          </a:p>
          <a:p>
            <a:r>
              <a:rPr lang="he-IL" dirty="0"/>
              <a:t>שיתוף קופ"ח במניעת הידרדרות.</a:t>
            </a:r>
          </a:p>
          <a:p>
            <a:r>
              <a:rPr lang="he-IL" dirty="0"/>
              <a:t>הרחבת שירותי הרווחה בגמלת הסיעוד.</a:t>
            </a:r>
          </a:p>
          <a:p>
            <a:r>
              <a:rPr lang="he-IL" dirty="0"/>
              <a:t>שינוי מבנה התמריצים בגמלת הסיעוד.</a:t>
            </a:r>
          </a:p>
          <a:p>
            <a:r>
              <a:rPr lang="he-IL" dirty="0"/>
              <a:t>הגברת שיתוף הפעולה, </a:t>
            </a:r>
            <a:r>
              <a:rPr lang="he-IL" dirty="0" err="1"/>
              <a:t>הדאטה</a:t>
            </a:r>
            <a:r>
              <a:rPr lang="he-IL" dirty="0"/>
              <a:t> והסנכרון.</a:t>
            </a:r>
          </a:p>
          <a:p>
            <a:endParaRPr lang="he-IL" dirty="0"/>
          </a:p>
          <a:p>
            <a:endParaRPr lang="he-IL" dirty="0"/>
          </a:p>
          <a:p>
            <a:endParaRPr lang="he-IL" dirty="0"/>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1404561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latin typeface="Arial" panose="020B0604020202020204" pitchFamily="34" charset="0"/>
                <a:cs typeface="Arial" panose="020B0604020202020204" pitchFamily="34" charset="0"/>
              </a:rPr>
              <a:t>דו"ח רשת הביטחון הסיעודית בישראל </a:t>
            </a:r>
            <a:r>
              <a:rPr lang="he-IL" sz="2000" dirty="0">
                <a:latin typeface="Arial" panose="020B0604020202020204" pitchFamily="34" charset="0"/>
                <a:cs typeface="Arial" panose="020B0604020202020204" pitchFamily="34" charset="0"/>
              </a:rPr>
              <a:t>אורי </a:t>
            </a:r>
            <a:r>
              <a:rPr lang="he-IL" sz="2000" dirty="0" err="1">
                <a:latin typeface="Arial" panose="020B0604020202020204" pitchFamily="34" charset="0"/>
                <a:cs typeface="Arial" panose="020B0604020202020204" pitchFamily="34" charset="0"/>
              </a:rPr>
              <a:t>אוליאל</a:t>
            </a:r>
            <a:r>
              <a:rPr lang="he-IL" sz="2000" dirty="0">
                <a:latin typeface="Arial" panose="020B0604020202020204" pitchFamily="34" charset="0"/>
                <a:cs typeface="Arial" panose="020B0604020202020204" pitchFamily="34" charset="0"/>
              </a:rPr>
              <a:t> 10.2022</a:t>
            </a:r>
            <a:endParaRPr lang="he-IL" sz="2400" dirty="0">
              <a:latin typeface="Arial" panose="020B0604020202020204" pitchFamily="34" charset="0"/>
              <a:cs typeface="Arial" panose="020B0604020202020204" pitchFamily="34" charset="0"/>
            </a:endParaRPr>
          </a:p>
        </p:txBody>
      </p:sp>
      <p:sp>
        <p:nvSpPr>
          <p:cNvPr id="3" name="מציין מיקום תוכן 2"/>
          <p:cNvSpPr>
            <a:spLocks noGrp="1"/>
          </p:cNvSpPr>
          <p:nvPr>
            <p:ph idx="1"/>
          </p:nvPr>
        </p:nvSpPr>
        <p:spPr>
          <a:xfrm>
            <a:off x="838199" y="1386348"/>
            <a:ext cx="10763865" cy="5309420"/>
          </a:xfrm>
        </p:spPr>
        <p:txBody>
          <a:bodyPr>
            <a:normAutofit lnSpcReduction="10000"/>
          </a:bodyPr>
          <a:lstStyle/>
          <a:p>
            <a:pPr marL="0" indent="0">
              <a:buNone/>
            </a:pPr>
            <a:r>
              <a:rPr lang="he-IL" sz="2000" b="1" dirty="0"/>
              <a:t>מצב קיים:</a:t>
            </a:r>
          </a:p>
          <a:p>
            <a:r>
              <a:rPr lang="he-IL" sz="2000" dirty="0"/>
              <a:t>פיצול אחריות וקשיי תיאום בין גופים.</a:t>
            </a:r>
          </a:p>
          <a:p>
            <a:r>
              <a:rPr lang="he-IL" sz="2000" dirty="0"/>
              <a:t>חוסר תמריץ למניעת הידרדרות.</a:t>
            </a:r>
          </a:p>
          <a:p>
            <a:r>
              <a:rPr lang="he-IL" sz="2000" dirty="0"/>
              <a:t>פגיעה באיכות חיי הקשישים ועלויות עודפות.</a:t>
            </a:r>
          </a:p>
          <a:p>
            <a:pPr marL="0" indent="0">
              <a:buNone/>
            </a:pPr>
            <a:r>
              <a:rPr lang="he-IL" sz="2000" b="1" dirty="0"/>
              <a:t>המלצות:</a:t>
            </a:r>
          </a:p>
          <a:p>
            <a:r>
              <a:rPr lang="he-IL" sz="2000" dirty="0"/>
              <a:t>איחוד אחריות תחת גוף אחד.</a:t>
            </a:r>
          </a:p>
          <a:p>
            <a:r>
              <a:rPr lang="he-IL" sz="2000" dirty="0"/>
              <a:t>העברת משקל מ"אחזקת שבר" ל"רפואה מונעת".</a:t>
            </a:r>
          </a:p>
          <a:p>
            <a:r>
              <a:rPr lang="he-IL" sz="2000" dirty="0"/>
              <a:t>תמריצים כלכליים לקופות החולים ולחברות הסיעוד.</a:t>
            </a:r>
          </a:p>
          <a:p>
            <a:r>
              <a:rPr lang="he-IL" sz="2000" dirty="0"/>
              <a:t>עדכון חלוקת אחריות בין הגורמים.</a:t>
            </a:r>
          </a:p>
          <a:p>
            <a:r>
              <a:rPr lang="he-IL" sz="2000" dirty="0"/>
              <a:t>הגדלת השקעה בקידום פתרונות חברתיים.</a:t>
            </a:r>
          </a:p>
          <a:p>
            <a:pPr marL="0" indent="0">
              <a:buNone/>
            </a:pPr>
            <a:r>
              <a:rPr lang="he-IL" sz="2000" b="1" dirty="0"/>
              <a:t>תוצאות צפויות:</a:t>
            </a:r>
          </a:p>
          <a:p>
            <a:r>
              <a:rPr lang="he-IL" sz="2000" dirty="0"/>
              <a:t>שיפור איכות חיי הקשישים.</a:t>
            </a:r>
          </a:p>
          <a:p>
            <a:r>
              <a:rPr lang="he-IL" sz="2000" dirty="0"/>
              <a:t>הפחתת עלויות מערכת הבריאות.</a:t>
            </a:r>
          </a:p>
          <a:p>
            <a:r>
              <a:rPr lang="he-IL" sz="2000" dirty="0"/>
              <a:t>חיזוק הקהילה.</a:t>
            </a:r>
          </a:p>
        </p:txBody>
      </p:sp>
      <p:sp>
        <p:nvSpPr>
          <p:cNvPr id="5" name="מלבן 4"/>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6" name="מלבן 5"/>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642441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חוק ההסדרים גרסה ב' </a:t>
            </a:r>
            <a:r>
              <a:rPr lang="he-IL" sz="2800" dirty="0"/>
              <a:t>(2.2023)</a:t>
            </a:r>
          </a:p>
        </p:txBody>
      </p:sp>
      <p:sp>
        <p:nvSpPr>
          <p:cNvPr id="3" name="מציין מיקום תוכן 2"/>
          <p:cNvSpPr>
            <a:spLocks noGrp="1"/>
          </p:cNvSpPr>
          <p:nvPr>
            <p:ph idx="1"/>
          </p:nvPr>
        </p:nvSpPr>
        <p:spPr>
          <a:xfrm>
            <a:off x="653473" y="1856943"/>
            <a:ext cx="11353800" cy="4351338"/>
          </a:xfrm>
        </p:spPr>
        <p:txBody>
          <a:bodyPr>
            <a:normAutofit/>
          </a:bodyPr>
          <a:lstStyle/>
          <a:p>
            <a:pPr marL="514350" indent="-514350">
              <a:buFont typeface="+mj-lt"/>
              <a:buAutoNum type="arabicPeriod"/>
            </a:pPr>
            <a:r>
              <a:rPr lang="he-IL" sz="2600" dirty="0"/>
              <a:t>אימוץ המלצות ועדת קידר למניעת הידרדרות</a:t>
            </a:r>
          </a:p>
          <a:p>
            <a:pPr marL="514350" indent="-514350">
              <a:buFont typeface="+mj-lt"/>
              <a:buAutoNum type="arabicPeriod"/>
            </a:pPr>
            <a:r>
              <a:rPr lang="he-IL" sz="2600" dirty="0"/>
              <a:t>הוספת שירותי מניעת הידרדרות לגמלת הסיעוד שיסופקו ע"י קופות החולים</a:t>
            </a:r>
          </a:p>
          <a:p>
            <a:pPr marL="514350" indent="-514350">
              <a:buFont typeface="+mj-lt"/>
              <a:buAutoNum type="arabicPeriod"/>
            </a:pPr>
            <a:r>
              <a:rPr lang="he-IL" sz="2600" b="1" dirty="0"/>
              <a:t>הרחבת שירותי הקהילה התומכת </a:t>
            </a:r>
            <a:r>
              <a:rPr lang="he-IL" sz="2600" dirty="0"/>
              <a:t>כמו מניעת בדידות, יצירת משמעות ושימור תפקוד</a:t>
            </a:r>
          </a:p>
          <a:p>
            <a:pPr marL="514350" indent="-514350">
              <a:buFont typeface="+mj-lt"/>
              <a:buAutoNum type="arabicPeriod"/>
            </a:pPr>
            <a:r>
              <a:rPr lang="he-IL" sz="2600" b="1" dirty="0"/>
              <a:t>הגברת הפיקוח </a:t>
            </a:r>
            <a:r>
              <a:rPr lang="he-IL" sz="2600" dirty="0"/>
              <a:t>על איכות שירותי הטיפול בבית</a:t>
            </a:r>
          </a:p>
          <a:p>
            <a:pPr marL="514350" indent="-514350">
              <a:buFont typeface="+mj-lt"/>
              <a:buAutoNum type="arabicPeriod"/>
            </a:pPr>
            <a:r>
              <a:rPr lang="he-IL" sz="2600" b="1" dirty="0"/>
              <a:t>פרסום נתונים </a:t>
            </a:r>
            <a:r>
              <a:rPr lang="he-IL" sz="2600" dirty="0"/>
              <a:t>על הידרדרות ואיכות השירותים לציבור הזכאים</a:t>
            </a:r>
          </a:p>
          <a:p>
            <a:pPr marL="514350" indent="-514350">
              <a:buFont typeface="+mj-lt"/>
              <a:buAutoNum type="arabicPeriod"/>
            </a:pPr>
            <a:r>
              <a:rPr lang="he-IL" sz="2600" b="1" dirty="0"/>
              <a:t>שינוי תמריצים </a:t>
            </a:r>
            <a:r>
              <a:rPr lang="he-IL" sz="2600" dirty="0"/>
              <a:t>בהסכם הסיעוד להעדפת מניעת הידרדרות</a:t>
            </a:r>
          </a:p>
          <a:p>
            <a:pPr marL="514350" indent="-514350">
              <a:buFont typeface="+mj-lt"/>
              <a:buAutoNum type="arabicPeriod"/>
            </a:pPr>
            <a:r>
              <a:rPr lang="he-IL" sz="2600" dirty="0"/>
              <a:t>שיפור שיתוף הפעולה </a:t>
            </a:r>
            <a:r>
              <a:rPr lang="he-IL" sz="2600" b="1" dirty="0"/>
              <a:t>וזרימת המידע </a:t>
            </a:r>
            <a:r>
              <a:rPr lang="he-IL" sz="2600" dirty="0"/>
              <a:t>בין ביטוח לאומי לקופות החולים </a:t>
            </a:r>
          </a:p>
          <a:p>
            <a:pPr marL="514350" indent="-514350">
              <a:buFont typeface="+mj-lt"/>
              <a:buAutoNum type="arabicPeriod"/>
            </a:pPr>
            <a:r>
              <a:rPr lang="he-IL" sz="2600" b="1" dirty="0"/>
              <a:t>המטרה המרכזית: </a:t>
            </a:r>
            <a:r>
              <a:rPr lang="he-IL" sz="2600" dirty="0"/>
              <a:t>שיפור השירותים הסיעודיים תוך דגש על מניעת הידרדרות ודחיקת תלות של האזרחים הוותיקים.</a:t>
            </a:r>
          </a:p>
          <a:p>
            <a:pPr marL="514350" indent="-514350">
              <a:buFont typeface="+mj-lt"/>
              <a:buAutoNum type="arabicPeriod"/>
            </a:pPr>
            <a:endParaRPr lang="he-IL" dirty="0"/>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7030A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23138" y="774604"/>
            <a:ext cx="2064989" cy="515782"/>
          </a:xfrm>
          <a:prstGeom prst="rect">
            <a:avLst/>
          </a:prstGeom>
          <a:noFill/>
        </p:spPr>
        <p:txBody>
          <a:bodyPr wrap="none" rtlCol="1">
            <a:spAutoFit/>
          </a:bodyPr>
          <a:lstStyle/>
          <a:p>
            <a:pPr lvl="0">
              <a:lnSpc>
                <a:spcPct val="200000"/>
              </a:lnSpc>
              <a:defRPr/>
            </a:pPr>
            <a:r>
              <a:rPr lang="he-IL" sz="1600" b="1" dirty="0">
                <a:solidFill>
                  <a:schemeClr val="bg1"/>
                </a:solidFill>
                <a:latin typeface="Calibri" panose="020F0502020204030204" pitchFamily="34" charset="0"/>
                <a:ea typeface="Open Sans" panose="020B0606030504020204" pitchFamily="34" charset="0"/>
                <a:cs typeface="Calibri" panose="020F0502020204030204" pitchFamily="34" charset="0"/>
              </a:rPr>
              <a:t>האתגר ומה נעשה עד כה</a:t>
            </a:r>
          </a:p>
        </p:txBody>
      </p:sp>
    </p:spTree>
    <p:extLst>
      <p:ext uri="{BB962C8B-B14F-4D97-AF65-F5344CB8AC3E}">
        <p14:creationId xmlns:p14="http://schemas.microsoft.com/office/powerpoint/2010/main" val="8045883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grpSp>
        <p:nvGrpSpPr>
          <p:cNvPr id="8" name="Group 2">
            <a:extLst>
              <a:ext uri="{FF2B5EF4-FFF2-40B4-BE49-F238E27FC236}">
                <a16:creationId xmlns:a16="http://schemas.microsoft.com/office/drawing/2014/main" id="{402920BF-53F5-114C-98CB-2E5C9CFBAC55}"/>
              </a:ext>
            </a:extLst>
          </p:cNvPr>
          <p:cNvGrpSpPr/>
          <p:nvPr/>
        </p:nvGrpSpPr>
        <p:grpSpPr>
          <a:xfrm>
            <a:off x="299931" y="1476958"/>
            <a:ext cx="7831448" cy="4873660"/>
            <a:chOff x="-281492" y="1069469"/>
            <a:chExt cx="6403376" cy="3602856"/>
          </a:xfrm>
        </p:grpSpPr>
        <p:sp>
          <p:nvSpPr>
            <p:cNvPr id="18" name="Rectangle 27">
              <a:extLst>
                <a:ext uri="{FF2B5EF4-FFF2-40B4-BE49-F238E27FC236}">
                  <a16:creationId xmlns:a16="http://schemas.microsoft.com/office/drawing/2014/main" id="{BF17684F-9A2D-B548-82B1-605024D36161}"/>
                </a:ext>
              </a:extLst>
            </p:cNvPr>
            <p:cNvSpPr/>
            <p:nvPr/>
          </p:nvSpPr>
          <p:spPr>
            <a:xfrm>
              <a:off x="924748" y="2088663"/>
              <a:ext cx="1271659"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בתים חמים</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19" name="Rectangle 28">
              <a:extLst>
                <a:ext uri="{FF2B5EF4-FFF2-40B4-BE49-F238E27FC236}">
                  <a16:creationId xmlns:a16="http://schemas.microsoft.com/office/drawing/2014/main" id="{DB1DFB53-998F-C540-B005-E2A93650AE71}"/>
                </a:ext>
              </a:extLst>
            </p:cNvPr>
            <p:cNvSpPr/>
            <p:nvPr/>
          </p:nvSpPr>
          <p:spPr>
            <a:xfrm>
              <a:off x="3882493" y="1111789"/>
              <a:ext cx="726027"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תומכת</a:t>
              </a:r>
            </a:p>
          </p:txBody>
        </p:sp>
        <p:sp>
          <p:nvSpPr>
            <p:cNvPr id="20" name="Rectangle 30">
              <a:extLst>
                <a:ext uri="{FF2B5EF4-FFF2-40B4-BE49-F238E27FC236}">
                  <a16:creationId xmlns:a16="http://schemas.microsoft.com/office/drawing/2014/main" id="{023C4DE6-9869-6645-BDE5-07E9A688F8A3}"/>
                </a:ext>
              </a:extLst>
            </p:cNvPr>
            <p:cNvSpPr/>
            <p:nvPr/>
          </p:nvSpPr>
          <p:spPr>
            <a:xfrm>
              <a:off x="2559317" y="1134621"/>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 יום </a:t>
              </a:r>
            </a:p>
          </p:txBody>
        </p:sp>
        <p:sp>
          <p:nvSpPr>
            <p:cNvPr id="21" name="Rectangle 39">
              <a:extLst>
                <a:ext uri="{FF2B5EF4-FFF2-40B4-BE49-F238E27FC236}">
                  <a16:creationId xmlns:a16="http://schemas.microsoft.com/office/drawing/2014/main" id="{4B51991E-10F3-054B-AC81-031353995CDE}"/>
                </a:ext>
              </a:extLst>
            </p:cNvPr>
            <p:cNvSpPr/>
            <p:nvPr/>
          </p:nvSpPr>
          <p:spPr>
            <a:xfrm>
              <a:off x="901407" y="1069469"/>
              <a:ext cx="149155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מופ"ת ומועדונים מועשרים</a:t>
              </a:r>
            </a:p>
          </p:txBody>
        </p:sp>
        <p:sp>
          <p:nvSpPr>
            <p:cNvPr id="22" name="Rectangle 40">
              <a:extLst>
                <a:ext uri="{FF2B5EF4-FFF2-40B4-BE49-F238E27FC236}">
                  <a16:creationId xmlns:a16="http://schemas.microsoft.com/office/drawing/2014/main" id="{25F1A7D2-11CF-8041-A81F-454CBDE94DD5}"/>
                </a:ext>
              </a:extLst>
            </p:cNvPr>
            <p:cNvSpPr/>
            <p:nvPr/>
          </p:nvSpPr>
          <p:spPr>
            <a:xfrm>
              <a:off x="-281492" y="4194524"/>
              <a:ext cx="125295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פיקוח על הדיור המוגן </a:t>
              </a:r>
            </a:p>
          </p:txBody>
        </p:sp>
        <p:sp>
          <p:nvSpPr>
            <p:cNvPr id="23" name="Rectangle 41">
              <a:extLst>
                <a:ext uri="{FF2B5EF4-FFF2-40B4-BE49-F238E27FC236}">
                  <a16:creationId xmlns:a16="http://schemas.microsoft.com/office/drawing/2014/main" id="{2A080D4B-F25F-B24F-8AE4-962B4DA6480D}"/>
                </a:ext>
              </a:extLst>
            </p:cNvPr>
            <p:cNvSpPr/>
            <p:nvPr/>
          </p:nvSpPr>
          <p:spPr>
            <a:xfrm>
              <a:off x="2347632" y="3136241"/>
              <a:ext cx="1014633"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קידום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זיקנה</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פעילה</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24" name="Rectangle 42">
              <a:extLst>
                <a:ext uri="{FF2B5EF4-FFF2-40B4-BE49-F238E27FC236}">
                  <a16:creationId xmlns:a16="http://schemas.microsoft.com/office/drawing/2014/main" id="{105869BF-9FBD-474E-979A-460926775701}"/>
                </a:ext>
              </a:extLst>
            </p:cNvPr>
            <p:cNvSpPr/>
            <p:nvPr/>
          </p:nvSpPr>
          <p:spPr>
            <a:xfrm>
              <a:off x="3631204" y="3140033"/>
              <a:ext cx="1078247"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רווחה מרחוק</a:t>
              </a:r>
            </a:p>
          </p:txBody>
        </p:sp>
        <p:sp>
          <p:nvSpPr>
            <p:cNvPr id="26" name="Rectangle 44">
              <a:extLst>
                <a:ext uri="{FF2B5EF4-FFF2-40B4-BE49-F238E27FC236}">
                  <a16:creationId xmlns:a16="http://schemas.microsoft.com/office/drawing/2014/main" id="{B80A9F55-53FD-5C48-953B-35F88C39DF03}"/>
                </a:ext>
              </a:extLst>
            </p:cNvPr>
            <p:cNvSpPr/>
            <p:nvPr/>
          </p:nvSpPr>
          <p:spPr>
            <a:xfrm>
              <a:off x="5055142" y="2145283"/>
              <a:ext cx="872938"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 תעסוקה</a:t>
              </a:r>
            </a:p>
          </p:txBody>
        </p:sp>
        <p:sp>
          <p:nvSpPr>
            <p:cNvPr id="27" name="Rectangle 45">
              <a:extLst>
                <a:ext uri="{FF2B5EF4-FFF2-40B4-BE49-F238E27FC236}">
                  <a16:creationId xmlns:a16="http://schemas.microsoft.com/office/drawing/2014/main" id="{9A33BFB3-2113-454D-AC98-B07767525B2A}"/>
                </a:ext>
              </a:extLst>
            </p:cNvPr>
            <p:cNvSpPr/>
            <p:nvPr/>
          </p:nvSpPr>
          <p:spPr>
            <a:xfrm>
              <a:off x="906777" y="3176116"/>
              <a:ext cx="126044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מרכזים רב תכליתיים</a:t>
              </a:r>
            </a:p>
          </p:txBody>
        </p:sp>
        <p:sp>
          <p:nvSpPr>
            <p:cNvPr id="28" name="Rectangle 46">
              <a:extLst>
                <a:ext uri="{FF2B5EF4-FFF2-40B4-BE49-F238E27FC236}">
                  <a16:creationId xmlns:a16="http://schemas.microsoft.com/office/drawing/2014/main" id="{2204FB96-DCA2-A643-8EAE-B1B13835EDEC}"/>
                </a:ext>
              </a:extLst>
            </p:cNvPr>
            <p:cNvSpPr/>
            <p:nvPr/>
          </p:nvSpPr>
          <p:spPr>
            <a:xfrm>
              <a:off x="4858520" y="3094610"/>
              <a:ext cx="1263364"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תוכנית</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a:t>
              </a:r>
              <a:r>
                <a:rPr kumimoji="0" lang="he-IL" b="0" i="0" strike="noStrike" kern="1200" cap="none" spc="0" normalizeH="0" baseline="0" noProof="0" dirty="0" err="1">
                  <a:ln>
                    <a:noFill/>
                  </a:ln>
                  <a:solidFill>
                    <a:srgbClr val="0070C0"/>
                  </a:solidFill>
                  <a:effectLst/>
                  <a:uLnTx/>
                  <a:uFillTx/>
                  <a:latin typeface="Calibri" panose="020F0502020204030204" pitchFamily="34" charset="0"/>
                  <a:cs typeface="Calibri" panose="020F0502020204030204" pitchFamily="34" charset="0"/>
                  <a:sym typeface="Arial"/>
                </a:rPr>
                <a:t>למרותקי</a:t>
              </a: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 בית </a:t>
              </a:r>
            </a:p>
          </p:txBody>
        </p:sp>
        <p:sp>
          <p:nvSpPr>
            <p:cNvPr id="29" name="Rectangle 47">
              <a:extLst>
                <a:ext uri="{FF2B5EF4-FFF2-40B4-BE49-F238E27FC236}">
                  <a16:creationId xmlns:a16="http://schemas.microsoft.com/office/drawing/2014/main" id="{0620CAA2-C475-4644-A9DE-21A1C7CE79F0}"/>
                </a:ext>
              </a:extLst>
            </p:cNvPr>
            <p:cNvSpPr/>
            <p:nvPr/>
          </p:nvSpPr>
          <p:spPr>
            <a:xfrm>
              <a:off x="2256115" y="2063366"/>
              <a:ext cx="134186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להפגת הבדידות </a:t>
              </a:r>
            </a:p>
          </p:txBody>
        </p:sp>
        <p:sp>
          <p:nvSpPr>
            <p:cNvPr id="30" name="Rectangle 49">
              <a:extLst>
                <a:ext uri="{FF2B5EF4-FFF2-40B4-BE49-F238E27FC236}">
                  <a16:creationId xmlns:a16="http://schemas.microsoft.com/office/drawing/2014/main" id="{76EFF97A-A41E-4444-947E-5B33B278AB5C}"/>
                </a:ext>
              </a:extLst>
            </p:cNvPr>
            <p:cNvSpPr/>
            <p:nvPr/>
          </p:nvSpPr>
          <p:spPr>
            <a:xfrm>
              <a:off x="3420995" y="4170709"/>
              <a:ext cx="1163380"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קהילה לדורות</a:t>
              </a:r>
            </a:p>
          </p:txBody>
        </p:sp>
        <p:sp>
          <p:nvSpPr>
            <p:cNvPr id="31" name="Rectangle 52">
              <a:extLst>
                <a:ext uri="{FF2B5EF4-FFF2-40B4-BE49-F238E27FC236}">
                  <a16:creationId xmlns:a16="http://schemas.microsoft.com/office/drawing/2014/main" id="{43332FE1-EDA0-8E49-9FA2-DF2D3A32BFCB}"/>
                </a:ext>
              </a:extLst>
            </p:cNvPr>
            <p:cNvSpPr/>
            <p:nvPr/>
          </p:nvSpPr>
          <p:spPr>
            <a:xfrm>
              <a:off x="1960327" y="4170709"/>
              <a:ext cx="1366838" cy="273029"/>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תיאום טיפול</a:t>
              </a:r>
              <a:endParaRPr kumimoji="0" lang="en-US"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sp>
          <p:nvSpPr>
            <p:cNvPr id="32" name="Rectangle 53">
              <a:extLst>
                <a:ext uri="{FF2B5EF4-FFF2-40B4-BE49-F238E27FC236}">
                  <a16:creationId xmlns:a16="http://schemas.microsoft.com/office/drawing/2014/main" id="{D8F31B09-C660-2744-A924-EC18F2FAEE42}"/>
                </a:ext>
              </a:extLst>
            </p:cNvPr>
            <p:cNvSpPr/>
            <p:nvPr/>
          </p:nvSpPr>
          <p:spPr>
            <a:xfrm>
              <a:off x="3533682" y="2222554"/>
              <a:ext cx="1407046"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תכניות לבני משפחה מטפלים </a:t>
              </a:r>
            </a:p>
          </p:txBody>
        </p:sp>
        <p:sp>
          <p:nvSpPr>
            <p:cNvPr id="41" name="Rectangle 51">
              <a:extLst>
                <a:ext uri="{FF2B5EF4-FFF2-40B4-BE49-F238E27FC236}">
                  <a16:creationId xmlns:a16="http://schemas.microsoft.com/office/drawing/2014/main" id="{D4CAAD3A-4136-0D44-A438-3CBE8A09AA19}"/>
                </a:ext>
              </a:extLst>
            </p:cNvPr>
            <p:cNvSpPr/>
            <p:nvPr/>
          </p:nvSpPr>
          <p:spPr>
            <a:xfrm>
              <a:off x="4850173" y="1111790"/>
              <a:ext cx="1013479" cy="47780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מועדונים חברתיים</a:t>
              </a:r>
            </a:p>
          </p:txBody>
        </p:sp>
      </p:grpSp>
      <p:sp>
        <p:nvSpPr>
          <p:cNvPr id="46" name="Rectangle 26">
            <a:extLst>
              <a:ext uri="{FF2B5EF4-FFF2-40B4-BE49-F238E27FC236}">
                <a16:creationId xmlns:a16="http://schemas.microsoft.com/office/drawing/2014/main" id="{DC216453-99CB-AA4B-978B-E098E9977E4D}"/>
              </a:ext>
            </a:extLst>
          </p:cNvPr>
          <p:cNvSpPr/>
          <p:nvPr/>
        </p:nvSpPr>
        <p:spPr>
          <a:xfrm>
            <a:off x="6533860" y="5709019"/>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נופשונים</a:t>
            </a:r>
          </a:p>
        </p:txBody>
      </p:sp>
      <p:sp>
        <p:nvSpPr>
          <p:cNvPr id="47" name="Rectangle 26">
            <a:extLst>
              <a:ext uri="{FF2B5EF4-FFF2-40B4-BE49-F238E27FC236}">
                <a16:creationId xmlns:a16="http://schemas.microsoft.com/office/drawing/2014/main" id="{DC216453-99CB-AA4B-978B-E098E9977E4D}"/>
              </a:ext>
            </a:extLst>
          </p:cNvPr>
          <p:cNvSpPr/>
          <p:nvPr/>
        </p:nvSpPr>
        <p:spPr>
          <a:xfrm>
            <a:off x="329214" y="4334603"/>
            <a:ext cx="1491439" cy="369332"/>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בתי אבות</a:t>
            </a:r>
          </a:p>
        </p:txBody>
      </p:sp>
      <p:sp>
        <p:nvSpPr>
          <p:cNvPr id="48" name="Rectangle 26">
            <a:extLst>
              <a:ext uri="{FF2B5EF4-FFF2-40B4-BE49-F238E27FC236}">
                <a16:creationId xmlns:a16="http://schemas.microsoft.com/office/drawing/2014/main" id="{DC216453-99CB-AA4B-978B-E098E9977E4D}"/>
              </a:ext>
            </a:extLst>
          </p:cNvPr>
          <p:cNvSpPr/>
          <p:nvPr/>
        </p:nvSpPr>
        <p:spPr>
          <a:xfrm>
            <a:off x="202542" y="2869685"/>
            <a:ext cx="1634777"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מניעת התעללות והזנחה</a:t>
            </a:r>
          </a:p>
        </p:txBody>
      </p:sp>
      <p:sp>
        <p:nvSpPr>
          <p:cNvPr id="49" name="Rectangle 26">
            <a:extLst>
              <a:ext uri="{FF2B5EF4-FFF2-40B4-BE49-F238E27FC236}">
                <a16:creationId xmlns:a16="http://schemas.microsoft.com/office/drawing/2014/main" id="{DC216453-99CB-AA4B-978B-E098E9977E4D}"/>
              </a:ext>
            </a:extLst>
          </p:cNvPr>
          <p:cNvSpPr/>
          <p:nvPr/>
        </p:nvSpPr>
        <p:spPr>
          <a:xfrm>
            <a:off x="190521" y="1534207"/>
            <a:ext cx="1491439" cy="646331"/>
          </a:xfrm>
          <a:prstGeom prst="rect">
            <a:avLst/>
          </a:prstGeom>
        </p:spPr>
        <p:txBody>
          <a:bodyPr wrap="squar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שירותים לניצולי שואה</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0044" y="1064035"/>
            <a:ext cx="794124" cy="45642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0097" y="2405001"/>
            <a:ext cx="715321" cy="480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959" y="3835608"/>
            <a:ext cx="438917" cy="403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05514" y="5061182"/>
            <a:ext cx="498465" cy="468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19937" y="1075712"/>
            <a:ext cx="612889" cy="43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8642" y="5180369"/>
            <a:ext cx="713760" cy="430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45449" y="3662871"/>
            <a:ext cx="497612" cy="5678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3" name="Picture 9"/>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02531" y="1053547"/>
            <a:ext cx="320565" cy="455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4" name="Picture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52073" y="2437120"/>
            <a:ext cx="693027" cy="4158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5"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21294" y="3536333"/>
            <a:ext cx="510877" cy="66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6" name="Picture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08478" y="2305810"/>
            <a:ext cx="609195" cy="491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7" name="Picture 13"/>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7090292" y="5170175"/>
            <a:ext cx="454929" cy="389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8" name="Picture 14"/>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33478" y="3908672"/>
            <a:ext cx="502420" cy="430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1" name="Picture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00075" y="5096664"/>
            <a:ext cx="476503" cy="4765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3"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375058" y="95514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4" name="Picture 2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6326" y="3814480"/>
            <a:ext cx="469301" cy="4786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5" name="Picture 21"/>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2310788" y="2398529"/>
            <a:ext cx="512233"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6" name="Picture 22"/>
          <p:cNvPicPr>
            <a:picLocks noChangeAspect="1" noChangeArrowheads="1"/>
          </p:cNvPicPr>
          <p:nvPr/>
        </p:nvPicPr>
        <p:blipFill>
          <a:blip r:embed="rId20">
            <a:biLevel thresh="75000"/>
            <a:extLst>
              <a:ext uri="{28A0092B-C50C-407E-A947-70E740481C1C}">
                <a14:useLocalDpi xmlns:a14="http://schemas.microsoft.com/office/drawing/2010/main" val="0"/>
              </a:ext>
            </a:extLst>
          </a:blip>
          <a:srcRect/>
          <a:stretch>
            <a:fillRect/>
          </a:stretch>
        </p:blipFill>
        <p:spPr bwMode="auto">
          <a:xfrm>
            <a:off x="5008954" y="2024741"/>
            <a:ext cx="1528821" cy="1454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48" name="Picture 24"/>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87193" y="998633"/>
            <a:ext cx="505473" cy="505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19"/>
          <p:cNvPicPr>
            <a:picLocks noChangeAspect="1" noChangeArrowheads="1"/>
          </p:cNvPicPr>
          <p:nvPr/>
        </p:nvPicPr>
        <p:blipFill>
          <a:blip r:embed="rId17">
            <a:biLevel thresh="75000"/>
            <a:extLst>
              <a:ext uri="{28A0092B-C50C-407E-A947-70E740481C1C}">
                <a14:useLocalDpi xmlns:a14="http://schemas.microsoft.com/office/drawing/2010/main" val="0"/>
              </a:ext>
            </a:extLst>
          </a:blip>
          <a:srcRect/>
          <a:stretch>
            <a:fillRect/>
          </a:stretch>
        </p:blipFill>
        <p:spPr bwMode="auto">
          <a:xfrm>
            <a:off x="2098834" y="5104624"/>
            <a:ext cx="552449" cy="455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מלבן 1"/>
          <p:cNvSpPr/>
          <p:nvPr/>
        </p:nvSpPr>
        <p:spPr>
          <a:xfrm>
            <a:off x="1782624" y="5703318"/>
            <a:ext cx="1170513" cy="400110"/>
          </a:xfrm>
          <a:prstGeom prst="rect">
            <a:avLst/>
          </a:prstGeom>
        </p:spPr>
        <p:txBody>
          <a:bodyPr wrap="none">
            <a:spAutoFit/>
          </a:bodyPr>
          <a:lstStyle/>
          <a:p>
            <a:pPr marL="0" marR="0" lvl="0" indent="0" algn="ctr" defTabSz="914377" rtl="1" eaLnBrk="1" fontAlgn="auto" latinLnBrk="0" hangingPunct="1">
              <a:lnSpc>
                <a:spcPct val="100000"/>
              </a:lnSpc>
              <a:spcBef>
                <a:spcPts val="0"/>
              </a:spcBef>
              <a:spcAft>
                <a:spcPts val="800"/>
              </a:spcAft>
              <a:buClr>
                <a:srgbClr val="ACC741"/>
              </a:buClr>
              <a:buSzTx/>
              <a:buFontTx/>
              <a:buNone/>
              <a:tabLst/>
              <a:defRPr/>
            </a:pPr>
            <a:r>
              <a:rPr kumimoji="0" lang="he-IL"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rPr>
              <a:t>סיוע חומרי</a:t>
            </a:r>
            <a:endParaRPr kumimoji="0" lang="en-US" sz="2000" b="0" i="0" strike="noStrike" kern="1200" cap="none" spc="0" normalizeH="0" baseline="0" noProof="0" dirty="0">
              <a:ln>
                <a:noFill/>
              </a:ln>
              <a:solidFill>
                <a:srgbClr val="0070C0"/>
              </a:solidFill>
              <a:effectLst/>
              <a:uLnTx/>
              <a:uFillTx/>
              <a:latin typeface="Calibri" panose="020F0502020204030204" pitchFamily="34" charset="0"/>
              <a:cs typeface="Calibri" panose="020F0502020204030204" pitchFamily="34" charset="0"/>
              <a:sym typeface="Arial"/>
            </a:endParaRPr>
          </a:p>
        </p:txBody>
      </p:sp>
      <p:pic>
        <p:nvPicPr>
          <p:cNvPr id="45" name="תמונה 44"/>
          <p:cNvPicPr>
            <a:picLocks noChangeAspect="1"/>
          </p:cNvPicPr>
          <p:nvPr/>
        </p:nvPicPr>
        <p:blipFill rotWithShape="1">
          <a:blip r:embed="rId22"/>
          <a:srcRect l="19841"/>
          <a:stretch/>
        </p:blipFill>
        <p:spPr>
          <a:xfrm>
            <a:off x="9663964" y="5752892"/>
            <a:ext cx="2528036" cy="1052142"/>
          </a:xfrm>
          <a:prstGeom prst="rect">
            <a:avLst/>
          </a:prstGeom>
        </p:spPr>
      </p:pic>
      <p:sp>
        <p:nvSpPr>
          <p:cNvPr id="50" name="מלבן 49"/>
          <p:cNvSpPr/>
          <p:nvPr/>
        </p:nvSpPr>
        <p:spPr>
          <a:xfrm>
            <a:off x="3093" y="0"/>
            <a:ext cx="244547" cy="6857999"/>
          </a:xfrm>
          <a:prstGeom prst="rect">
            <a:avLst/>
          </a:prstGeom>
          <a:solidFill>
            <a:srgbClr val="8C8DC5"/>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2000"/>
          </a:p>
        </p:txBody>
      </p:sp>
      <p:sp>
        <p:nvSpPr>
          <p:cNvPr id="51" name="מלבן 50"/>
          <p:cNvSpPr/>
          <p:nvPr/>
        </p:nvSpPr>
        <p:spPr>
          <a:xfrm>
            <a:off x="8745174" y="1687401"/>
            <a:ext cx="3106024" cy="3939540"/>
          </a:xfrm>
          <a:prstGeom prst="rect">
            <a:avLst/>
          </a:prstGeom>
          <a:noFill/>
        </p:spPr>
        <p:txBody>
          <a:bodyPr wrap="square" lIns="91440" tIns="45720" rIns="91440" bIns="45720">
            <a:spAutoFit/>
          </a:bodyPr>
          <a:lstStyle/>
          <a:p>
            <a:pPr algn="ctr"/>
            <a:r>
              <a:rPr lang="he-IL" sz="5400" dirty="0">
                <a:solidFill>
                  <a:srgbClr val="0070C0"/>
                </a:solidFill>
                <a:latin typeface="Calibri" panose="020F0502020204030204" pitchFamily="34" charset="0"/>
                <a:cs typeface="Calibri" panose="020F0502020204030204" pitchFamily="34" charset="0"/>
              </a:rPr>
              <a:t>שירותים להזדקנות מיטבית</a:t>
            </a:r>
          </a:p>
          <a:p>
            <a:pPr algn="ctr"/>
            <a:r>
              <a:rPr lang="he-IL" sz="4400" b="1" dirty="0">
                <a:solidFill>
                  <a:srgbClr val="7030A0"/>
                </a:solidFill>
                <a:latin typeface="Calibri" panose="020F0502020204030204" pitchFamily="34" charset="0"/>
                <a:cs typeface="Calibri" panose="020F0502020204030204" pitchFamily="34" charset="0"/>
              </a:rPr>
              <a:t>שיתוף פעולה רווחה </a:t>
            </a:r>
            <a:r>
              <a:rPr lang="he-IL" sz="4400" b="1" dirty="0" err="1">
                <a:solidFill>
                  <a:srgbClr val="7030A0"/>
                </a:solidFill>
                <a:latin typeface="Calibri" panose="020F0502020204030204" pitchFamily="34" charset="0"/>
                <a:cs typeface="Calibri" panose="020F0502020204030204" pitchFamily="34" charset="0"/>
              </a:rPr>
              <a:t>ובטל"א</a:t>
            </a:r>
            <a:endParaRPr lang="he-IL" sz="4400" b="1" dirty="0">
              <a:solidFill>
                <a:srgbClr val="7030A0"/>
              </a:solidFill>
              <a:latin typeface="Calibri" panose="020F0502020204030204" pitchFamily="34" charset="0"/>
              <a:cs typeface="Calibri" panose="020F0502020204030204" pitchFamily="34" charset="0"/>
            </a:endParaRPr>
          </a:p>
        </p:txBody>
      </p:sp>
      <p:sp>
        <p:nvSpPr>
          <p:cNvPr id="3" name="מלבן 2"/>
          <p:cNvSpPr/>
          <p:nvPr/>
        </p:nvSpPr>
        <p:spPr>
          <a:xfrm>
            <a:off x="9154282" y="1119384"/>
            <a:ext cx="2287807" cy="769441"/>
          </a:xfrm>
          <a:prstGeom prst="rect">
            <a:avLst/>
          </a:prstGeom>
        </p:spPr>
        <p:txBody>
          <a:bodyPr wrap="none">
            <a:spAutoFit/>
          </a:bodyPr>
          <a:lstStyle/>
          <a:p>
            <a:r>
              <a:rPr lang="he-IL" sz="4400" b="1" dirty="0">
                <a:solidFill>
                  <a:srgbClr val="7030A0"/>
                </a:solidFill>
                <a:latin typeface="Calibri" panose="020F0502020204030204" pitchFamily="34" charset="0"/>
                <a:cs typeface="Calibri" panose="020F0502020204030204" pitchFamily="34" charset="0"/>
              </a:rPr>
              <a:t>ההזדמנות</a:t>
            </a:r>
            <a:endParaRPr lang="he-IL" sz="4000" dirty="0">
              <a:solidFill>
                <a:srgbClr val="7030A0"/>
              </a:solidFill>
            </a:endParaRPr>
          </a:p>
        </p:txBody>
      </p:sp>
      <p:sp>
        <p:nvSpPr>
          <p:cNvPr id="52" name="מלבן 51"/>
          <p:cNvSpPr/>
          <p:nvPr/>
        </p:nvSpPr>
        <p:spPr>
          <a:xfrm>
            <a:off x="-1994" y="-7546"/>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3" name="מלבן 52"/>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31988169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Shape 282"/>
          <p:cNvSpPr txBox="1">
            <a:spLocks noGrp="1"/>
          </p:cNvSpPr>
          <p:nvPr>
            <p:ph type="title"/>
          </p:nvPr>
        </p:nvSpPr>
        <p:spPr>
          <a:xfrm>
            <a:off x="9224034" y="377496"/>
            <a:ext cx="2964873" cy="970400"/>
          </a:xfrm>
          <a:prstGeom prst="rect">
            <a:avLst/>
          </a:prstGeom>
        </p:spPr>
        <p:txBody>
          <a:bodyPr lIns="121900" tIns="121900" rIns="121900" bIns="121900" anchor="b" anchorCtr="0">
            <a:noAutofit/>
          </a:bodyPr>
          <a:lstStyle/>
          <a:p>
            <a:pPr algn="ctr" rtl="1">
              <a:lnSpc>
                <a:spcPct val="100000"/>
              </a:lnSpc>
            </a:pPr>
            <a:r>
              <a:rPr lang="he-IL"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rPr>
              <a:t>כיוון משותף של מערכת הרווחה: </a:t>
            </a:r>
            <a:endParaRPr lang="en" sz="3600" b="1" kern="1200" dirty="0">
              <a:solidFill>
                <a:srgbClr val="0070C0"/>
              </a:solidFill>
              <a:latin typeface="Calibri Light" panose="020F0302020204030204" pitchFamily="34" charset="0"/>
              <a:ea typeface="Droid Serif" panose="020B0604020202020204" charset="0"/>
              <a:cs typeface="Calibri Light" panose="020F0302020204030204" pitchFamily="34" charset="0"/>
            </a:endParaRPr>
          </a:p>
        </p:txBody>
      </p:sp>
      <p:sp>
        <p:nvSpPr>
          <p:cNvPr id="283" name="Shape 283"/>
          <p:cNvSpPr txBox="1">
            <a:spLocks noGrp="1"/>
          </p:cNvSpPr>
          <p:nvPr>
            <p:ph type="body" idx="1"/>
          </p:nvPr>
        </p:nvSpPr>
        <p:spPr>
          <a:xfrm>
            <a:off x="6621610" y="4336428"/>
            <a:ext cx="2278400" cy="607638"/>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חליפה אישית לכל לקוח </a:t>
            </a:r>
            <a:endParaRPr lang="en" sz="2400" dirty="0">
              <a:latin typeface="Calibri Light" panose="020F0302020204030204" pitchFamily="34" charset="0"/>
              <a:cs typeface="Calibri Light" panose="020F0302020204030204" pitchFamily="34" charset="0"/>
            </a:endParaRPr>
          </a:p>
        </p:txBody>
      </p:sp>
      <p:sp>
        <p:nvSpPr>
          <p:cNvPr id="285" name="Shape 285"/>
          <p:cNvSpPr txBox="1">
            <a:spLocks noGrp="1"/>
          </p:cNvSpPr>
          <p:nvPr>
            <p:ph type="body" idx="3"/>
          </p:nvPr>
        </p:nvSpPr>
        <p:spPr>
          <a:xfrm>
            <a:off x="9314524" y="4231202"/>
            <a:ext cx="2524096" cy="860620"/>
          </a:xfrm>
          <a:prstGeom prst="rect">
            <a:avLst/>
          </a:prstGeom>
        </p:spPr>
        <p:txBody>
          <a:bodyPr lIns="121900" tIns="121900" rIns="121900" bIns="121900" anchor="t" anchorCtr="0">
            <a:noAutofit/>
          </a:bodyPr>
          <a:lstStyle/>
          <a:p>
            <a:pPr algn="ctr">
              <a:lnSpc>
                <a:spcPct val="100000"/>
              </a:lnSpc>
              <a:buNone/>
            </a:pPr>
            <a:r>
              <a:rPr lang="he-IL" sz="2400" dirty="0">
                <a:latin typeface="Calibri Light" panose="020F0302020204030204" pitchFamily="34" charset="0"/>
                <a:cs typeface="Calibri Light" panose="020F0302020204030204" pitchFamily="34" charset="0"/>
              </a:rPr>
              <a:t>תשתיות דאטה לתכנון והתאמת השירותים</a:t>
            </a:r>
            <a:endParaRPr sz="2400" dirty="0">
              <a:latin typeface="Calibri Light" panose="020F0302020204030204" pitchFamily="34" charset="0"/>
              <a:cs typeface="Calibri Light" panose="020F0302020204030204" pitchFamily="34" charset="0"/>
            </a:endParaRPr>
          </a:p>
        </p:txBody>
      </p:sp>
      <p:sp>
        <p:nvSpPr>
          <p:cNvPr id="290" name="Shape 290"/>
          <p:cNvSpPr txBox="1">
            <a:spLocks noGrp="1"/>
          </p:cNvSpPr>
          <p:nvPr>
            <p:ph type="body" idx="4294967295"/>
          </p:nvPr>
        </p:nvSpPr>
        <p:spPr>
          <a:xfrm>
            <a:off x="3589309" y="4344861"/>
            <a:ext cx="2617787" cy="921283"/>
          </a:xfrm>
          <a:prstGeom prst="rect">
            <a:avLst/>
          </a:prstGeom>
        </p:spPr>
        <p:txBody>
          <a:bodyPr lIns="121900" tIns="121900" rIns="121900" bIns="121900" anchor="t" anchorCtr="0">
            <a:noAutofit/>
          </a:bodyPr>
          <a:lstStyle/>
          <a:p>
            <a:pPr algn="ctr" rtl="1">
              <a:lnSpc>
                <a:spcPct val="100000"/>
              </a:lnSpc>
              <a:buNone/>
            </a:pPr>
            <a:r>
              <a:rPr lang="he-IL" sz="2400" dirty="0">
                <a:latin typeface="Calibri Light" panose="020F0302020204030204" pitchFamily="34" charset="0"/>
                <a:cs typeface="Calibri Light" panose="020F0302020204030204" pitchFamily="34" charset="0"/>
              </a:rPr>
              <a:t>גמישות מרבית במתן השירותים </a:t>
            </a:r>
            <a:endParaRPr lang="en" sz="2400" dirty="0">
              <a:latin typeface="Calibri Light" panose="020F0302020204030204" pitchFamily="34" charset="0"/>
              <a:cs typeface="Calibri Light" panose="020F0302020204030204" pitchFamily="34" charset="0"/>
            </a:endParaRPr>
          </a:p>
          <a:p>
            <a:pPr algn="ctr">
              <a:lnSpc>
                <a:spcPct val="100000"/>
              </a:lnSpc>
              <a:buNone/>
            </a:pPr>
            <a:endParaRPr sz="2400" dirty="0">
              <a:latin typeface="Calibri Light" panose="020F0302020204030204" pitchFamily="34" charset="0"/>
              <a:cs typeface="Calibri Light" panose="020F0302020204030204" pitchFamily="34" charset="0"/>
            </a:endParaRPr>
          </a:p>
        </p:txBody>
      </p:sp>
      <p:pic>
        <p:nvPicPr>
          <p:cNvPr id="2050" name="Picture 2"/>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7247458" y="2918284"/>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70129" y="3252862"/>
            <a:ext cx="576064" cy="5510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3"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1308" y="2997705"/>
            <a:ext cx="1341967" cy="1276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73608" y="3250376"/>
            <a:ext cx="617496"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90810" y="5634509"/>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6"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14591" y="5634509"/>
            <a:ext cx="723961"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314524" y="2087287"/>
            <a:ext cx="2877476" cy="1154162"/>
          </a:xfrm>
          <a:prstGeom prst="rect">
            <a:avLst/>
          </a:prstGeom>
          <a:noFill/>
        </p:spPr>
        <p:txBody>
          <a:bodyPr wrap="square" rtlCol="1">
            <a:spAutoFit/>
          </a:bodyPr>
          <a:lstStyle/>
          <a:p>
            <a:pPr algn="ctr"/>
            <a:r>
              <a:rPr lang="he-IL" sz="2300" dirty="0">
                <a:latin typeface="Calibri Light" panose="020F0302020204030204" pitchFamily="34" charset="0"/>
                <a:ea typeface="Pontano Sans"/>
                <a:cs typeface="Calibri Light" panose="020F0302020204030204" pitchFamily="34" charset="0"/>
                <a:sym typeface="Pontano Sans"/>
              </a:rPr>
              <a:t>שיתוף פעולה עם הרשויות המקומיות למענה לכלל הזקנים ברשות</a:t>
            </a:r>
          </a:p>
        </p:txBody>
      </p:sp>
      <p:sp>
        <p:nvSpPr>
          <p:cNvPr id="3" name="מלבן 2"/>
          <p:cNvSpPr/>
          <p:nvPr/>
        </p:nvSpPr>
        <p:spPr>
          <a:xfrm>
            <a:off x="3908938" y="2022066"/>
            <a:ext cx="2203650"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מנטל לנכס-  קידום זקנה פעילה</a:t>
            </a:r>
          </a:p>
        </p:txBody>
      </p:sp>
      <p:sp>
        <p:nvSpPr>
          <p:cNvPr id="18" name="מלבן 17"/>
          <p:cNvSpPr/>
          <p:nvPr/>
        </p:nvSpPr>
        <p:spPr>
          <a:xfrm>
            <a:off x="481881" y="2003364"/>
            <a:ext cx="2767612" cy="830997"/>
          </a:xfrm>
          <a:prstGeom prst="rect">
            <a:avLst/>
          </a:prstGeom>
        </p:spPr>
        <p:txBody>
          <a:bodyPr wrap="square">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קידום מניעה, הגברת השייכות ודחיקת התלות</a:t>
            </a:r>
          </a:p>
        </p:txBody>
      </p:sp>
      <p:sp>
        <p:nvSpPr>
          <p:cNvPr id="4" name="מלבן 3"/>
          <p:cNvSpPr/>
          <p:nvPr/>
        </p:nvSpPr>
        <p:spPr>
          <a:xfrm>
            <a:off x="481881" y="4344861"/>
            <a:ext cx="2590027" cy="1200329"/>
          </a:xfrm>
          <a:prstGeom prst="rect">
            <a:avLst/>
          </a:prstGeom>
        </p:spPr>
        <p:txBody>
          <a:bodyPr wrap="square">
            <a:spAutoFit/>
          </a:bodyPr>
          <a:lstStyle/>
          <a:p>
            <a:pPr algn="ctr" rtl="1">
              <a:buNone/>
            </a:pPr>
            <a:r>
              <a:rPr lang="he-IL" sz="2400" dirty="0">
                <a:latin typeface="Calibri Light" panose="020F0302020204030204" pitchFamily="34" charset="0"/>
                <a:cs typeface="Calibri Light" panose="020F0302020204030204" pitchFamily="34" charset="0"/>
              </a:rPr>
              <a:t>ראיה מערכתית של האזרח הוותיק ומשפחתו</a:t>
            </a:r>
            <a:endParaRPr lang="en" dirty="0">
              <a:latin typeface="Calibri Light" panose="020F0302020204030204" pitchFamily="34" charset="0"/>
              <a:cs typeface="Calibri Light" panose="020F0302020204030204" pitchFamily="34" charset="0"/>
            </a:endParaRPr>
          </a:p>
        </p:txBody>
      </p:sp>
      <p:sp>
        <p:nvSpPr>
          <p:cNvPr id="19" name="TextBox 18"/>
          <p:cNvSpPr txBox="1"/>
          <p:nvPr/>
        </p:nvSpPr>
        <p:spPr>
          <a:xfrm>
            <a:off x="6750610" y="2063015"/>
            <a:ext cx="2335665" cy="830997"/>
          </a:xfrm>
          <a:prstGeom prst="rect">
            <a:avLst/>
          </a:prstGeom>
          <a:noFill/>
        </p:spPr>
        <p:txBody>
          <a:bodyPr wrap="square" rtlCol="1">
            <a:spAutoFit/>
          </a:bodyPr>
          <a:lstStyle/>
          <a:p>
            <a:pPr algn="ctr"/>
            <a:r>
              <a:rPr lang="he-IL" sz="2400" dirty="0">
                <a:latin typeface="Calibri Light" panose="020F0302020204030204" pitchFamily="34" charset="0"/>
                <a:ea typeface="Pontano Sans"/>
                <a:cs typeface="Calibri Light" panose="020F0302020204030204" pitchFamily="34" charset="0"/>
                <a:sym typeface="Pontano Sans"/>
              </a:rPr>
              <a:t>הזדקנות בקהילה</a:t>
            </a:r>
            <a:r>
              <a:rPr lang="en-US" sz="2400" dirty="0">
                <a:latin typeface="Calibri Light" panose="020F0302020204030204" pitchFamily="34" charset="0"/>
                <a:ea typeface="Pontano Sans"/>
                <a:cs typeface="Calibri Light" panose="020F0302020204030204" pitchFamily="34" charset="0"/>
                <a:sym typeface="Pontano Sans"/>
              </a:rPr>
              <a:t/>
            </a:r>
            <a:br>
              <a:rPr lang="en-US" sz="2400" dirty="0">
                <a:latin typeface="Calibri Light" panose="020F0302020204030204" pitchFamily="34" charset="0"/>
                <a:ea typeface="Pontano Sans"/>
                <a:cs typeface="Calibri Light" panose="020F0302020204030204" pitchFamily="34" charset="0"/>
                <a:sym typeface="Pontano Sans"/>
              </a:rPr>
            </a:br>
            <a:r>
              <a:rPr lang="he-IL" sz="2400" dirty="0">
                <a:latin typeface="Calibri Light" panose="020F0302020204030204" pitchFamily="34" charset="0"/>
                <a:ea typeface="Pontano Sans"/>
                <a:cs typeface="Calibri Light" panose="020F0302020204030204" pitchFamily="34" charset="0"/>
                <a:sym typeface="Pontano Sans"/>
              </a:rPr>
              <a:t>ודחיקת המיסוד</a:t>
            </a:r>
          </a:p>
        </p:txBody>
      </p:sp>
      <p:pic>
        <p:nvPicPr>
          <p:cNvPr id="21" name="Picture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25465" y="5640878"/>
            <a:ext cx="540000" cy="54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2" name="Shape 614"/>
          <p:cNvGrpSpPr/>
          <p:nvPr/>
        </p:nvGrpSpPr>
        <p:grpSpPr>
          <a:xfrm>
            <a:off x="4474801" y="5561725"/>
            <a:ext cx="780888" cy="645739"/>
            <a:chOff x="5241175" y="4959100"/>
            <a:chExt cx="539775" cy="517775"/>
          </a:xfrm>
        </p:grpSpPr>
        <p:sp>
          <p:nvSpPr>
            <p:cNvPr id="23" name="Shape 615"/>
            <p:cNvSpPr/>
            <p:nvPr/>
          </p:nvSpPr>
          <p:spPr>
            <a:xfrm>
              <a:off x="5575150" y="4959100"/>
              <a:ext cx="161225" cy="178300"/>
            </a:xfrm>
            <a:custGeom>
              <a:avLst/>
              <a:gdLst/>
              <a:ahLst/>
              <a:cxnLst/>
              <a:rect l="0" t="0" r="0" b="0"/>
              <a:pathLst>
                <a:path w="6449" h="7132" extrusionOk="0">
                  <a:moveTo>
                    <a:pt x="4641" y="0"/>
                  </a:moveTo>
                  <a:lnTo>
                    <a:pt x="4470" y="25"/>
                  </a:lnTo>
                  <a:lnTo>
                    <a:pt x="4299" y="49"/>
                  </a:lnTo>
                  <a:lnTo>
                    <a:pt x="4128" y="98"/>
                  </a:lnTo>
                  <a:lnTo>
                    <a:pt x="3957" y="147"/>
                  </a:lnTo>
                  <a:lnTo>
                    <a:pt x="3786" y="220"/>
                  </a:lnTo>
                  <a:lnTo>
                    <a:pt x="3640" y="318"/>
                  </a:lnTo>
                  <a:lnTo>
                    <a:pt x="3517" y="415"/>
                  </a:lnTo>
                  <a:lnTo>
                    <a:pt x="3395" y="538"/>
                  </a:lnTo>
                  <a:lnTo>
                    <a:pt x="3273" y="660"/>
                  </a:lnTo>
                  <a:lnTo>
                    <a:pt x="3175" y="806"/>
                  </a:lnTo>
                  <a:lnTo>
                    <a:pt x="3078" y="953"/>
                  </a:lnTo>
                  <a:lnTo>
                    <a:pt x="3005" y="1099"/>
                  </a:lnTo>
                  <a:lnTo>
                    <a:pt x="2931" y="1270"/>
                  </a:lnTo>
                  <a:lnTo>
                    <a:pt x="2907" y="1441"/>
                  </a:lnTo>
                  <a:lnTo>
                    <a:pt x="2882" y="1612"/>
                  </a:lnTo>
                  <a:lnTo>
                    <a:pt x="2858" y="1808"/>
                  </a:lnTo>
                  <a:lnTo>
                    <a:pt x="2882" y="2076"/>
                  </a:lnTo>
                  <a:lnTo>
                    <a:pt x="2956" y="2345"/>
                  </a:lnTo>
                  <a:lnTo>
                    <a:pt x="3053" y="2589"/>
                  </a:lnTo>
                  <a:lnTo>
                    <a:pt x="3175" y="2809"/>
                  </a:lnTo>
                  <a:lnTo>
                    <a:pt x="0" y="6546"/>
                  </a:lnTo>
                  <a:lnTo>
                    <a:pt x="367" y="6814"/>
                  </a:lnTo>
                  <a:lnTo>
                    <a:pt x="709" y="7132"/>
                  </a:lnTo>
                  <a:lnTo>
                    <a:pt x="3884" y="3419"/>
                  </a:lnTo>
                  <a:lnTo>
                    <a:pt x="4055" y="3493"/>
                  </a:lnTo>
                  <a:lnTo>
                    <a:pt x="4250" y="3542"/>
                  </a:lnTo>
                  <a:lnTo>
                    <a:pt x="4445" y="3566"/>
                  </a:lnTo>
                  <a:lnTo>
                    <a:pt x="4641" y="3590"/>
                  </a:lnTo>
                  <a:lnTo>
                    <a:pt x="4836" y="3566"/>
                  </a:lnTo>
                  <a:lnTo>
                    <a:pt x="5007" y="3542"/>
                  </a:lnTo>
                  <a:lnTo>
                    <a:pt x="5178" y="3517"/>
                  </a:lnTo>
                  <a:lnTo>
                    <a:pt x="5349" y="3444"/>
                  </a:lnTo>
                  <a:lnTo>
                    <a:pt x="5496" y="3371"/>
                  </a:lnTo>
                  <a:lnTo>
                    <a:pt x="5642" y="3273"/>
                  </a:lnTo>
                  <a:lnTo>
                    <a:pt x="5789" y="3175"/>
                  </a:lnTo>
                  <a:lnTo>
                    <a:pt x="5911" y="3053"/>
                  </a:lnTo>
                  <a:lnTo>
                    <a:pt x="6033" y="2931"/>
                  </a:lnTo>
                  <a:lnTo>
                    <a:pt x="6131" y="2809"/>
                  </a:lnTo>
                  <a:lnTo>
                    <a:pt x="6228" y="2638"/>
                  </a:lnTo>
                  <a:lnTo>
                    <a:pt x="6302" y="2491"/>
                  </a:lnTo>
                  <a:lnTo>
                    <a:pt x="6350" y="2320"/>
                  </a:lnTo>
                  <a:lnTo>
                    <a:pt x="6399" y="2149"/>
                  </a:lnTo>
                  <a:lnTo>
                    <a:pt x="6424" y="1979"/>
                  </a:lnTo>
                  <a:lnTo>
                    <a:pt x="6448" y="1808"/>
                  </a:lnTo>
                  <a:lnTo>
                    <a:pt x="6424" y="1612"/>
                  </a:lnTo>
                  <a:lnTo>
                    <a:pt x="6399" y="1441"/>
                  </a:lnTo>
                  <a:lnTo>
                    <a:pt x="6350" y="1270"/>
                  </a:lnTo>
                  <a:lnTo>
                    <a:pt x="6302" y="1099"/>
                  </a:lnTo>
                  <a:lnTo>
                    <a:pt x="6228" y="953"/>
                  </a:lnTo>
                  <a:lnTo>
                    <a:pt x="6131" y="806"/>
                  </a:lnTo>
                  <a:lnTo>
                    <a:pt x="6033" y="660"/>
                  </a:lnTo>
                  <a:lnTo>
                    <a:pt x="5911" y="538"/>
                  </a:lnTo>
                  <a:lnTo>
                    <a:pt x="5789" y="415"/>
                  </a:lnTo>
                  <a:lnTo>
                    <a:pt x="5642" y="318"/>
                  </a:lnTo>
                  <a:lnTo>
                    <a:pt x="5496" y="220"/>
                  </a:lnTo>
                  <a:lnTo>
                    <a:pt x="5349" y="147"/>
                  </a:lnTo>
                  <a:lnTo>
                    <a:pt x="5178" y="98"/>
                  </a:lnTo>
                  <a:lnTo>
                    <a:pt x="5007" y="49"/>
                  </a:lnTo>
                  <a:lnTo>
                    <a:pt x="4836" y="25"/>
                  </a:lnTo>
                  <a:lnTo>
                    <a:pt x="464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4" name="Shape 616"/>
            <p:cNvSpPr/>
            <p:nvPr/>
          </p:nvSpPr>
          <p:spPr>
            <a:xfrm>
              <a:off x="5330925" y="4985350"/>
              <a:ext cx="128250" cy="148400"/>
            </a:xfrm>
            <a:custGeom>
              <a:avLst/>
              <a:gdLst/>
              <a:ahLst/>
              <a:cxnLst/>
              <a:rect l="0" t="0" r="0" b="0"/>
              <a:pathLst>
                <a:path w="5130" h="5936" extrusionOk="0">
                  <a:moveTo>
                    <a:pt x="1563" y="0"/>
                  </a:moveTo>
                  <a:lnTo>
                    <a:pt x="1392" y="25"/>
                  </a:lnTo>
                  <a:lnTo>
                    <a:pt x="1221" y="74"/>
                  </a:lnTo>
                  <a:lnTo>
                    <a:pt x="1075" y="147"/>
                  </a:lnTo>
                  <a:lnTo>
                    <a:pt x="904" y="220"/>
                  </a:lnTo>
                  <a:lnTo>
                    <a:pt x="757" y="318"/>
                  </a:lnTo>
                  <a:lnTo>
                    <a:pt x="635" y="416"/>
                  </a:lnTo>
                  <a:lnTo>
                    <a:pt x="513" y="538"/>
                  </a:lnTo>
                  <a:lnTo>
                    <a:pt x="391" y="660"/>
                  </a:lnTo>
                  <a:lnTo>
                    <a:pt x="293" y="806"/>
                  </a:lnTo>
                  <a:lnTo>
                    <a:pt x="196" y="953"/>
                  </a:lnTo>
                  <a:lnTo>
                    <a:pt x="122" y="1099"/>
                  </a:lnTo>
                  <a:lnTo>
                    <a:pt x="74" y="1270"/>
                  </a:lnTo>
                  <a:lnTo>
                    <a:pt x="25" y="1466"/>
                  </a:lnTo>
                  <a:lnTo>
                    <a:pt x="0" y="1637"/>
                  </a:lnTo>
                  <a:lnTo>
                    <a:pt x="0" y="1808"/>
                  </a:lnTo>
                  <a:lnTo>
                    <a:pt x="0" y="2003"/>
                  </a:lnTo>
                  <a:lnTo>
                    <a:pt x="25" y="2174"/>
                  </a:lnTo>
                  <a:lnTo>
                    <a:pt x="74" y="2345"/>
                  </a:lnTo>
                  <a:lnTo>
                    <a:pt x="147" y="2492"/>
                  </a:lnTo>
                  <a:lnTo>
                    <a:pt x="220" y="2663"/>
                  </a:lnTo>
                  <a:lnTo>
                    <a:pt x="318" y="2785"/>
                  </a:lnTo>
                  <a:lnTo>
                    <a:pt x="415" y="2931"/>
                  </a:lnTo>
                  <a:lnTo>
                    <a:pt x="538" y="3053"/>
                  </a:lnTo>
                  <a:lnTo>
                    <a:pt x="660" y="3175"/>
                  </a:lnTo>
                  <a:lnTo>
                    <a:pt x="806" y="3273"/>
                  </a:lnTo>
                  <a:lnTo>
                    <a:pt x="953" y="3371"/>
                  </a:lnTo>
                  <a:lnTo>
                    <a:pt x="1099" y="3444"/>
                  </a:lnTo>
                  <a:lnTo>
                    <a:pt x="1270" y="3493"/>
                  </a:lnTo>
                  <a:lnTo>
                    <a:pt x="1466" y="3542"/>
                  </a:lnTo>
                  <a:lnTo>
                    <a:pt x="1710" y="3566"/>
                  </a:lnTo>
                  <a:lnTo>
                    <a:pt x="1979" y="3566"/>
                  </a:lnTo>
                  <a:lnTo>
                    <a:pt x="2223" y="3517"/>
                  </a:lnTo>
                  <a:lnTo>
                    <a:pt x="2467" y="3444"/>
                  </a:lnTo>
                  <a:lnTo>
                    <a:pt x="4396" y="5935"/>
                  </a:lnTo>
                  <a:lnTo>
                    <a:pt x="4738" y="5642"/>
                  </a:lnTo>
                  <a:lnTo>
                    <a:pt x="5129" y="5374"/>
                  </a:lnTo>
                  <a:lnTo>
                    <a:pt x="3200" y="2858"/>
                  </a:lnTo>
                  <a:lnTo>
                    <a:pt x="3322" y="2687"/>
                  </a:lnTo>
                  <a:lnTo>
                    <a:pt x="3419" y="2516"/>
                  </a:lnTo>
                  <a:lnTo>
                    <a:pt x="3493" y="2321"/>
                  </a:lnTo>
                  <a:lnTo>
                    <a:pt x="3542" y="2101"/>
                  </a:lnTo>
                  <a:lnTo>
                    <a:pt x="3566" y="1930"/>
                  </a:lnTo>
                  <a:lnTo>
                    <a:pt x="3566" y="1734"/>
                  </a:lnTo>
                  <a:lnTo>
                    <a:pt x="3566" y="1564"/>
                  </a:lnTo>
                  <a:lnTo>
                    <a:pt x="3517" y="1393"/>
                  </a:lnTo>
                  <a:lnTo>
                    <a:pt x="3468" y="1222"/>
                  </a:lnTo>
                  <a:lnTo>
                    <a:pt x="3419" y="1075"/>
                  </a:lnTo>
                  <a:lnTo>
                    <a:pt x="3346" y="904"/>
                  </a:lnTo>
                  <a:lnTo>
                    <a:pt x="3249" y="758"/>
                  </a:lnTo>
                  <a:lnTo>
                    <a:pt x="3151" y="635"/>
                  </a:lnTo>
                  <a:lnTo>
                    <a:pt x="3029" y="513"/>
                  </a:lnTo>
                  <a:lnTo>
                    <a:pt x="2907" y="391"/>
                  </a:lnTo>
                  <a:lnTo>
                    <a:pt x="2760" y="294"/>
                  </a:lnTo>
                  <a:lnTo>
                    <a:pt x="2614" y="196"/>
                  </a:lnTo>
                  <a:lnTo>
                    <a:pt x="2443" y="123"/>
                  </a:lnTo>
                  <a:lnTo>
                    <a:pt x="2272" y="74"/>
                  </a:lnTo>
                  <a:lnTo>
                    <a:pt x="2101" y="25"/>
                  </a:lnTo>
                  <a:lnTo>
                    <a:pt x="1930"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5" name="Shape 617"/>
            <p:cNvSpPr/>
            <p:nvPr/>
          </p:nvSpPr>
          <p:spPr>
            <a:xfrm>
              <a:off x="5241175" y="5241175"/>
              <a:ext cx="180125" cy="109325"/>
            </a:xfrm>
            <a:custGeom>
              <a:avLst/>
              <a:gdLst/>
              <a:ahLst/>
              <a:cxnLst/>
              <a:rect l="0" t="0" r="0" b="0"/>
              <a:pathLst>
                <a:path w="7205" h="4373" extrusionOk="0">
                  <a:moveTo>
                    <a:pt x="6839" y="1"/>
                  </a:moveTo>
                  <a:lnTo>
                    <a:pt x="3224" y="1491"/>
                  </a:lnTo>
                  <a:lnTo>
                    <a:pt x="3102" y="1368"/>
                  </a:lnTo>
                  <a:lnTo>
                    <a:pt x="2980" y="1246"/>
                  </a:lnTo>
                  <a:lnTo>
                    <a:pt x="2858" y="1124"/>
                  </a:lnTo>
                  <a:lnTo>
                    <a:pt x="2687" y="1026"/>
                  </a:lnTo>
                  <a:lnTo>
                    <a:pt x="2540" y="953"/>
                  </a:lnTo>
                  <a:lnTo>
                    <a:pt x="2369" y="880"/>
                  </a:lnTo>
                  <a:lnTo>
                    <a:pt x="2198" y="831"/>
                  </a:lnTo>
                  <a:lnTo>
                    <a:pt x="2027" y="807"/>
                  </a:lnTo>
                  <a:lnTo>
                    <a:pt x="1856" y="782"/>
                  </a:lnTo>
                  <a:lnTo>
                    <a:pt x="1685" y="807"/>
                  </a:lnTo>
                  <a:lnTo>
                    <a:pt x="1514" y="807"/>
                  </a:lnTo>
                  <a:lnTo>
                    <a:pt x="1343" y="856"/>
                  </a:lnTo>
                  <a:lnTo>
                    <a:pt x="1172" y="904"/>
                  </a:lnTo>
                  <a:lnTo>
                    <a:pt x="1026" y="978"/>
                  </a:lnTo>
                  <a:lnTo>
                    <a:pt x="879" y="1051"/>
                  </a:lnTo>
                  <a:lnTo>
                    <a:pt x="733" y="1149"/>
                  </a:lnTo>
                  <a:lnTo>
                    <a:pt x="586" y="1271"/>
                  </a:lnTo>
                  <a:lnTo>
                    <a:pt x="464" y="1393"/>
                  </a:lnTo>
                  <a:lnTo>
                    <a:pt x="342" y="1515"/>
                  </a:lnTo>
                  <a:lnTo>
                    <a:pt x="244" y="1686"/>
                  </a:lnTo>
                  <a:lnTo>
                    <a:pt x="171" y="1832"/>
                  </a:lnTo>
                  <a:lnTo>
                    <a:pt x="98" y="2003"/>
                  </a:lnTo>
                  <a:lnTo>
                    <a:pt x="49" y="2174"/>
                  </a:lnTo>
                  <a:lnTo>
                    <a:pt x="25" y="2345"/>
                  </a:lnTo>
                  <a:lnTo>
                    <a:pt x="0" y="2516"/>
                  </a:lnTo>
                  <a:lnTo>
                    <a:pt x="0" y="2687"/>
                  </a:lnTo>
                  <a:lnTo>
                    <a:pt x="25" y="2858"/>
                  </a:lnTo>
                  <a:lnTo>
                    <a:pt x="73" y="3029"/>
                  </a:lnTo>
                  <a:lnTo>
                    <a:pt x="122" y="3200"/>
                  </a:lnTo>
                  <a:lnTo>
                    <a:pt x="195" y="3347"/>
                  </a:lnTo>
                  <a:lnTo>
                    <a:pt x="269" y="3518"/>
                  </a:lnTo>
                  <a:lnTo>
                    <a:pt x="366" y="3640"/>
                  </a:lnTo>
                  <a:lnTo>
                    <a:pt x="464" y="3786"/>
                  </a:lnTo>
                  <a:lnTo>
                    <a:pt x="611" y="3908"/>
                  </a:lnTo>
                  <a:lnTo>
                    <a:pt x="733" y="4031"/>
                  </a:lnTo>
                  <a:lnTo>
                    <a:pt x="904" y="4128"/>
                  </a:lnTo>
                  <a:lnTo>
                    <a:pt x="1050" y="4201"/>
                  </a:lnTo>
                  <a:lnTo>
                    <a:pt x="1221" y="4275"/>
                  </a:lnTo>
                  <a:lnTo>
                    <a:pt x="1392" y="4324"/>
                  </a:lnTo>
                  <a:lnTo>
                    <a:pt x="1563" y="4348"/>
                  </a:lnTo>
                  <a:lnTo>
                    <a:pt x="1734" y="4372"/>
                  </a:lnTo>
                  <a:lnTo>
                    <a:pt x="1905" y="4372"/>
                  </a:lnTo>
                  <a:lnTo>
                    <a:pt x="2076" y="4348"/>
                  </a:lnTo>
                  <a:lnTo>
                    <a:pt x="2247" y="4299"/>
                  </a:lnTo>
                  <a:lnTo>
                    <a:pt x="2418" y="4250"/>
                  </a:lnTo>
                  <a:lnTo>
                    <a:pt x="2565" y="4201"/>
                  </a:lnTo>
                  <a:lnTo>
                    <a:pt x="2711" y="4104"/>
                  </a:lnTo>
                  <a:lnTo>
                    <a:pt x="2858" y="4006"/>
                  </a:lnTo>
                  <a:lnTo>
                    <a:pt x="3004" y="3908"/>
                  </a:lnTo>
                  <a:lnTo>
                    <a:pt x="3126" y="3786"/>
                  </a:lnTo>
                  <a:lnTo>
                    <a:pt x="3248" y="3640"/>
                  </a:lnTo>
                  <a:lnTo>
                    <a:pt x="3346" y="3493"/>
                  </a:lnTo>
                  <a:lnTo>
                    <a:pt x="3468" y="3200"/>
                  </a:lnTo>
                  <a:lnTo>
                    <a:pt x="3541" y="2931"/>
                  </a:lnTo>
                  <a:lnTo>
                    <a:pt x="3590" y="2638"/>
                  </a:lnTo>
                  <a:lnTo>
                    <a:pt x="3566" y="2345"/>
                  </a:lnTo>
                  <a:lnTo>
                    <a:pt x="7205" y="856"/>
                  </a:lnTo>
                  <a:lnTo>
                    <a:pt x="6985" y="440"/>
                  </a:lnTo>
                  <a:lnTo>
                    <a:pt x="6839"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6" name="Shape 618"/>
            <p:cNvSpPr/>
            <p:nvPr/>
          </p:nvSpPr>
          <p:spPr>
            <a:xfrm>
              <a:off x="5461575" y="5316900"/>
              <a:ext cx="89175" cy="159975"/>
            </a:xfrm>
            <a:custGeom>
              <a:avLst/>
              <a:gdLst/>
              <a:ahLst/>
              <a:cxnLst/>
              <a:rect l="0" t="0" r="0" b="0"/>
              <a:pathLst>
                <a:path w="3567" h="6399" extrusionOk="0">
                  <a:moveTo>
                    <a:pt x="1491" y="0"/>
                  </a:moveTo>
                  <a:lnTo>
                    <a:pt x="1393" y="2858"/>
                  </a:lnTo>
                  <a:lnTo>
                    <a:pt x="1198" y="2907"/>
                  </a:lnTo>
                  <a:lnTo>
                    <a:pt x="1002" y="3004"/>
                  </a:lnTo>
                  <a:lnTo>
                    <a:pt x="807" y="3102"/>
                  </a:lnTo>
                  <a:lnTo>
                    <a:pt x="636" y="3224"/>
                  </a:lnTo>
                  <a:lnTo>
                    <a:pt x="489" y="3346"/>
                  </a:lnTo>
                  <a:lnTo>
                    <a:pt x="392" y="3493"/>
                  </a:lnTo>
                  <a:lnTo>
                    <a:pt x="269" y="3639"/>
                  </a:lnTo>
                  <a:lnTo>
                    <a:pt x="196" y="3786"/>
                  </a:lnTo>
                  <a:lnTo>
                    <a:pt x="123" y="3932"/>
                  </a:lnTo>
                  <a:lnTo>
                    <a:pt x="74" y="4103"/>
                  </a:lnTo>
                  <a:lnTo>
                    <a:pt x="25" y="4274"/>
                  </a:lnTo>
                  <a:lnTo>
                    <a:pt x="1" y="4445"/>
                  </a:lnTo>
                  <a:lnTo>
                    <a:pt x="1" y="4616"/>
                  </a:lnTo>
                  <a:lnTo>
                    <a:pt x="1" y="4787"/>
                  </a:lnTo>
                  <a:lnTo>
                    <a:pt x="25" y="4958"/>
                  </a:lnTo>
                  <a:lnTo>
                    <a:pt x="74" y="5129"/>
                  </a:lnTo>
                  <a:lnTo>
                    <a:pt x="123" y="5276"/>
                  </a:lnTo>
                  <a:lnTo>
                    <a:pt x="196" y="5447"/>
                  </a:lnTo>
                  <a:lnTo>
                    <a:pt x="294" y="5593"/>
                  </a:lnTo>
                  <a:lnTo>
                    <a:pt x="416" y="5740"/>
                  </a:lnTo>
                  <a:lnTo>
                    <a:pt x="538" y="5886"/>
                  </a:lnTo>
                  <a:lnTo>
                    <a:pt x="660" y="6008"/>
                  </a:lnTo>
                  <a:lnTo>
                    <a:pt x="807" y="6106"/>
                  </a:lnTo>
                  <a:lnTo>
                    <a:pt x="953" y="6179"/>
                  </a:lnTo>
                  <a:lnTo>
                    <a:pt x="1124" y="6252"/>
                  </a:lnTo>
                  <a:lnTo>
                    <a:pt x="1271" y="6326"/>
                  </a:lnTo>
                  <a:lnTo>
                    <a:pt x="1442" y="6350"/>
                  </a:lnTo>
                  <a:lnTo>
                    <a:pt x="1613" y="6375"/>
                  </a:lnTo>
                  <a:lnTo>
                    <a:pt x="1784" y="6399"/>
                  </a:lnTo>
                  <a:lnTo>
                    <a:pt x="1955" y="6375"/>
                  </a:lnTo>
                  <a:lnTo>
                    <a:pt x="2126" y="6350"/>
                  </a:lnTo>
                  <a:lnTo>
                    <a:pt x="2297" y="6301"/>
                  </a:lnTo>
                  <a:lnTo>
                    <a:pt x="2468" y="6252"/>
                  </a:lnTo>
                  <a:lnTo>
                    <a:pt x="2614" y="6179"/>
                  </a:lnTo>
                  <a:lnTo>
                    <a:pt x="2785" y="6082"/>
                  </a:lnTo>
                  <a:lnTo>
                    <a:pt x="2932" y="5984"/>
                  </a:lnTo>
                  <a:lnTo>
                    <a:pt x="3054" y="5862"/>
                  </a:lnTo>
                  <a:lnTo>
                    <a:pt x="3176" y="5715"/>
                  </a:lnTo>
                  <a:lnTo>
                    <a:pt x="3273" y="5569"/>
                  </a:lnTo>
                  <a:lnTo>
                    <a:pt x="3371" y="5422"/>
                  </a:lnTo>
                  <a:lnTo>
                    <a:pt x="3444" y="5276"/>
                  </a:lnTo>
                  <a:lnTo>
                    <a:pt x="3493" y="5105"/>
                  </a:lnTo>
                  <a:lnTo>
                    <a:pt x="3542" y="4934"/>
                  </a:lnTo>
                  <a:lnTo>
                    <a:pt x="3567" y="4763"/>
                  </a:lnTo>
                  <a:lnTo>
                    <a:pt x="3567" y="4592"/>
                  </a:lnTo>
                  <a:lnTo>
                    <a:pt x="3567" y="4421"/>
                  </a:lnTo>
                  <a:lnTo>
                    <a:pt x="3542" y="4250"/>
                  </a:lnTo>
                  <a:lnTo>
                    <a:pt x="3493" y="4079"/>
                  </a:lnTo>
                  <a:lnTo>
                    <a:pt x="3420" y="3908"/>
                  </a:lnTo>
                  <a:lnTo>
                    <a:pt x="3347" y="3761"/>
                  </a:lnTo>
                  <a:lnTo>
                    <a:pt x="3273" y="3615"/>
                  </a:lnTo>
                  <a:lnTo>
                    <a:pt x="3151" y="3468"/>
                  </a:lnTo>
                  <a:lnTo>
                    <a:pt x="2980" y="3273"/>
                  </a:lnTo>
                  <a:lnTo>
                    <a:pt x="2761" y="3102"/>
                  </a:lnTo>
                  <a:lnTo>
                    <a:pt x="2541" y="2980"/>
                  </a:lnTo>
                  <a:lnTo>
                    <a:pt x="2321" y="2907"/>
                  </a:lnTo>
                  <a:lnTo>
                    <a:pt x="2419" y="25"/>
                  </a:lnTo>
                  <a:lnTo>
                    <a:pt x="2419" y="25"/>
                  </a:lnTo>
                  <a:lnTo>
                    <a:pt x="2126" y="49"/>
                  </a:lnTo>
                  <a:lnTo>
                    <a:pt x="1808" y="25"/>
                  </a:lnTo>
                  <a:lnTo>
                    <a:pt x="1491"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7" name="Shape 619"/>
            <p:cNvSpPr/>
            <p:nvPr/>
          </p:nvSpPr>
          <p:spPr>
            <a:xfrm>
              <a:off x="5619100" y="5194175"/>
              <a:ext cx="161850" cy="89775"/>
            </a:xfrm>
            <a:custGeom>
              <a:avLst/>
              <a:gdLst/>
              <a:ahLst/>
              <a:cxnLst/>
              <a:rect l="0" t="0" r="0" b="0"/>
              <a:pathLst>
                <a:path w="6474" h="3591" extrusionOk="0">
                  <a:moveTo>
                    <a:pt x="4592" y="0"/>
                  </a:moveTo>
                  <a:lnTo>
                    <a:pt x="4422" y="25"/>
                  </a:lnTo>
                  <a:lnTo>
                    <a:pt x="4251" y="73"/>
                  </a:lnTo>
                  <a:lnTo>
                    <a:pt x="4080" y="122"/>
                  </a:lnTo>
                  <a:lnTo>
                    <a:pt x="3884" y="196"/>
                  </a:lnTo>
                  <a:lnTo>
                    <a:pt x="3713" y="293"/>
                  </a:lnTo>
                  <a:lnTo>
                    <a:pt x="3567" y="391"/>
                  </a:lnTo>
                  <a:lnTo>
                    <a:pt x="3420" y="513"/>
                  </a:lnTo>
                  <a:lnTo>
                    <a:pt x="3298" y="660"/>
                  </a:lnTo>
                  <a:lnTo>
                    <a:pt x="3200" y="806"/>
                  </a:lnTo>
                  <a:lnTo>
                    <a:pt x="3103" y="953"/>
                  </a:lnTo>
                  <a:lnTo>
                    <a:pt x="3029" y="1124"/>
                  </a:lnTo>
                  <a:lnTo>
                    <a:pt x="99" y="757"/>
                  </a:lnTo>
                  <a:lnTo>
                    <a:pt x="74" y="1221"/>
                  </a:lnTo>
                  <a:lnTo>
                    <a:pt x="1" y="1661"/>
                  </a:lnTo>
                  <a:lnTo>
                    <a:pt x="2907" y="2027"/>
                  </a:lnTo>
                  <a:lnTo>
                    <a:pt x="2932" y="2223"/>
                  </a:lnTo>
                  <a:lnTo>
                    <a:pt x="3005" y="2418"/>
                  </a:lnTo>
                  <a:lnTo>
                    <a:pt x="3078" y="2565"/>
                  </a:lnTo>
                  <a:lnTo>
                    <a:pt x="3152" y="2736"/>
                  </a:lnTo>
                  <a:lnTo>
                    <a:pt x="3249" y="2882"/>
                  </a:lnTo>
                  <a:lnTo>
                    <a:pt x="3371" y="3004"/>
                  </a:lnTo>
                  <a:lnTo>
                    <a:pt x="3493" y="3126"/>
                  </a:lnTo>
                  <a:lnTo>
                    <a:pt x="3616" y="3248"/>
                  </a:lnTo>
                  <a:lnTo>
                    <a:pt x="3762" y="3346"/>
                  </a:lnTo>
                  <a:lnTo>
                    <a:pt x="3909" y="3419"/>
                  </a:lnTo>
                  <a:lnTo>
                    <a:pt x="4080" y="3493"/>
                  </a:lnTo>
                  <a:lnTo>
                    <a:pt x="4251" y="3541"/>
                  </a:lnTo>
                  <a:lnTo>
                    <a:pt x="4422" y="3566"/>
                  </a:lnTo>
                  <a:lnTo>
                    <a:pt x="4592" y="3590"/>
                  </a:lnTo>
                  <a:lnTo>
                    <a:pt x="4763" y="3590"/>
                  </a:lnTo>
                  <a:lnTo>
                    <a:pt x="4934" y="3566"/>
                  </a:lnTo>
                  <a:lnTo>
                    <a:pt x="5105" y="3541"/>
                  </a:lnTo>
                  <a:lnTo>
                    <a:pt x="5276" y="3468"/>
                  </a:lnTo>
                  <a:lnTo>
                    <a:pt x="5447" y="3419"/>
                  </a:lnTo>
                  <a:lnTo>
                    <a:pt x="5618" y="3322"/>
                  </a:lnTo>
                  <a:lnTo>
                    <a:pt x="5765" y="3224"/>
                  </a:lnTo>
                  <a:lnTo>
                    <a:pt x="5887" y="3102"/>
                  </a:lnTo>
                  <a:lnTo>
                    <a:pt x="6009" y="2980"/>
                  </a:lnTo>
                  <a:lnTo>
                    <a:pt x="6131" y="2858"/>
                  </a:lnTo>
                  <a:lnTo>
                    <a:pt x="6204" y="2711"/>
                  </a:lnTo>
                  <a:lnTo>
                    <a:pt x="6302" y="2565"/>
                  </a:lnTo>
                  <a:lnTo>
                    <a:pt x="6351" y="2394"/>
                  </a:lnTo>
                  <a:lnTo>
                    <a:pt x="6400" y="2223"/>
                  </a:lnTo>
                  <a:lnTo>
                    <a:pt x="6449" y="2076"/>
                  </a:lnTo>
                  <a:lnTo>
                    <a:pt x="6473" y="1881"/>
                  </a:lnTo>
                  <a:lnTo>
                    <a:pt x="6473" y="1710"/>
                  </a:lnTo>
                  <a:lnTo>
                    <a:pt x="6449" y="1539"/>
                  </a:lnTo>
                  <a:lnTo>
                    <a:pt x="6424" y="1368"/>
                  </a:lnTo>
                  <a:lnTo>
                    <a:pt x="6351" y="1197"/>
                  </a:lnTo>
                  <a:lnTo>
                    <a:pt x="6278" y="1026"/>
                  </a:lnTo>
                  <a:lnTo>
                    <a:pt x="6204" y="855"/>
                  </a:lnTo>
                  <a:lnTo>
                    <a:pt x="6107" y="708"/>
                  </a:lnTo>
                  <a:lnTo>
                    <a:pt x="5985" y="586"/>
                  </a:lnTo>
                  <a:lnTo>
                    <a:pt x="5862" y="464"/>
                  </a:lnTo>
                  <a:lnTo>
                    <a:pt x="5740" y="342"/>
                  </a:lnTo>
                  <a:lnTo>
                    <a:pt x="5594" y="269"/>
                  </a:lnTo>
                  <a:lnTo>
                    <a:pt x="5447" y="171"/>
                  </a:lnTo>
                  <a:lnTo>
                    <a:pt x="5276" y="122"/>
                  </a:lnTo>
                  <a:lnTo>
                    <a:pt x="5105" y="73"/>
                  </a:lnTo>
                  <a:lnTo>
                    <a:pt x="4934" y="25"/>
                  </a:lnTo>
                  <a:lnTo>
                    <a:pt x="4763" y="25"/>
                  </a:lnTo>
                  <a:lnTo>
                    <a:pt x="4592" y="0"/>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sp>
          <p:nvSpPr>
            <p:cNvPr id="28" name="Shape 620"/>
            <p:cNvSpPr/>
            <p:nvPr/>
          </p:nvSpPr>
          <p:spPr>
            <a:xfrm>
              <a:off x="5420075" y="5116000"/>
              <a:ext cx="189300" cy="189925"/>
            </a:xfrm>
            <a:custGeom>
              <a:avLst/>
              <a:gdLst/>
              <a:ahLst/>
              <a:cxnLst/>
              <a:rect l="0" t="0" r="0" b="0"/>
              <a:pathLst>
                <a:path w="7572" h="7597" extrusionOk="0">
                  <a:moveTo>
                    <a:pt x="3786" y="1"/>
                  </a:moveTo>
                  <a:lnTo>
                    <a:pt x="3395" y="25"/>
                  </a:lnTo>
                  <a:lnTo>
                    <a:pt x="3028" y="74"/>
                  </a:lnTo>
                  <a:lnTo>
                    <a:pt x="2662" y="172"/>
                  </a:lnTo>
                  <a:lnTo>
                    <a:pt x="2320" y="294"/>
                  </a:lnTo>
                  <a:lnTo>
                    <a:pt x="1978" y="465"/>
                  </a:lnTo>
                  <a:lnTo>
                    <a:pt x="1661" y="660"/>
                  </a:lnTo>
                  <a:lnTo>
                    <a:pt x="1392" y="880"/>
                  </a:lnTo>
                  <a:lnTo>
                    <a:pt x="1123" y="1124"/>
                  </a:lnTo>
                  <a:lnTo>
                    <a:pt x="879" y="1393"/>
                  </a:lnTo>
                  <a:lnTo>
                    <a:pt x="659" y="1686"/>
                  </a:lnTo>
                  <a:lnTo>
                    <a:pt x="464" y="1979"/>
                  </a:lnTo>
                  <a:lnTo>
                    <a:pt x="293" y="2321"/>
                  </a:lnTo>
                  <a:lnTo>
                    <a:pt x="171" y="2663"/>
                  </a:lnTo>
                  <a:lnTo>
                    <a:pt x="73" y="3029"/>
                  </a:lnTo>
                  <a:lnTo>
                    <a:pt x="24" y="3420"/>
                  </a:lnTo>
                  <a:lnTo>
                    <a:pt x="0" y="3787"/>
                  </a:lnTo>
                  <a:lnTo>
                    <a:pt x="24" y="4177"/>
                  </a:lnTo>
                  <a:lnTo>
                    <a:pt x="73" y="4568"/>
                  </a:lnTo>
                  <a:lnTo>
                    <a:pt x="171" y="4934"/>
                  </a:lnTo>
                  <a:lnTo>
                    <a:pt x="293" y="5276"/>
                  </a:lnTo>
                  <a:lnTo>
                    <a:pt x="464" y="5594"/>
                  </a:lnTo>
                  <a:lnTo>
                    <a:pt x="659" y="5911"/>
                  </a:lnTo>
                  <a:lnTo>
                    <a:pt x="879" y="6204"/>
                  </a:lnTo>
                  <a:lnTo>
                    <a:pt x="1123" y="6473"/>
                  </a:lnTo>
                  <a:lnTo>
                    <a:pt x="1392" y="6717"/>
                  </a:lnTo>
                  <a:lnTo>
                    <a:pt x="1661" y="6937"/>
                  </a:lnTo>
                  <a:lnTo>
                    <a:pt x="1978" y="7133"/>
                  </a:lnTo>
                  <a:lnTo>
                    <a:pt x="2320" y="7279"/>
                  </a:lnTo>
                  <a:lnTo>
                    <a:pt x="2662" y="7426"/>
                  </a:lnTo>
                  <a:lnTo>
                    <a:pt x="3028" y="7499"/>
                  </a:lnTo>
                  <a:lnTo>
                    <a:pt x="3395" y="7572"/>
                  </a:lnTo>
                  <a:lnTo>
                    <a:pt x="3786" y="7597"/>
                  </a:lnTo>
                  <a:lnTo>
                    <a:pt x="4176" y="7572"/>
                  </a:lnTo>
                  <a:lnTo>
                    <a:pt x="4567" y="7499"/>
                  </a:lnTo>
                  <a:lnTo>
                    <a:pt x="4909" y="7426"/>
                  </a:lnTo>
                  <a:lnTo>
                    <a:pt x="5275" y="7279"/>
                  </a:lnTo>
                  <a:lnTo>
                    <a:pt x="5593" y="7133"/>
                  </a:lnTo>
                  <a:lnTo>
                    <a:pt x="5910" y="6937"/>
                  </a:lnTo>
                  <a:lnTo>
                    <a:pt x="6203" y="6717"/>
                  </a:lnTo>
                  <a:lnTo>
                    <a:pt x="6472" y="6473"/>
                  </a:lnTo>
                  <a:lnTo>
                    <a:pt x="6716" y="6204"/>
                  </a:lnTo>
                  <a:lnTo>
                    <a:pt x="6936" y="5911"/>
                  </a:lnTo>
                  <a:lnTo>
                    <a:pt x="7132" y="5594"/>
                  </a:lnTo>
                  <a:lnTo>
                    <a:pt x="7278" y="5276"/>
                  </a:lnTo>
                  <a:lnTo>
                    <a:pt x="7425" y="4934"/>
                  </a:lnTo>
                  <a:lnTo>
                    <a:pt x="7498" y="4568"/>
                  </a:lnTo>
                  <a:lnTo>
                    <a:pt x="7571" y="4177"/>
                  </a:lnTo>
                  <a:lnTo>
                    <a:pt x="7571" y="3787"/>
                  </a:lnTo>
                  <a:lnTo>
                    <a:pt x="7571" y="3420"/>
                  </a:lnTo>
                  <a:lnTo>
                    <a:pt x="7498" y="3029"/>
                  </a:lnTo>
                  <a:lnTo>
                    <a:pt x="7425" y="2663"/>
                  </a:lnTo>
                  <a:lnTo>
                    <a:pt x="7278" y="2321"/>
                  </a:lnTo>
                  <a:lnTo>
                    <a:pt x="7132" y="1979"/>
                  </a:lnTo>
                  <a:lnTo>
                    <a:pt x="6936" y="1686"/>
                  </a:lnTo>
                  <a:lnTo>
                    <a:pt x="6716" y="1393"/>
                  </a:lnTo>
                  <a:lnTo>
                    <a:pt x="6472" y="1124"/>
                  </a:lnTo>
                  <a:lnTo>
                    <a:pt x="6203" y="880"/>
                  </a:lnTo>
                  <a:lnTo>
                    <a:pt x="5910" y="660"/>
                  </a:lnTo>
                  <a:lnTo>
                    <a:pt x="5593" y="465"/>
                  </a:lnTo>
                  <a:lnTo>
                    <a:pt x="5275" y="294"/>
                  </a:lnTo>
                  <a:lnTo>
                    <a:pt x="4909" y="172"/>
                  </a:lnTo>
                  <a:lnTo>
                    <a:pt x="4567" y="74"/>
                  </a:lnTo>
                  <a:lnTo>
                    <a:pt x="4176" y="25"/>
                  </a:lnTo>
                  <a:lnTo>
                    <a:pt x="3786" y="1"/>
                  </a:lnTo>
                  <a:close/>
                </a:path>
              </a:pathLst>
            </a:custGeom>
            <a:solidFill>
              <a:srgbClr val="33CCFF"/>
            </a:solidFill>
            <a:ln>
              <a:noFill/>
            </a:ln>
          </p:spPr>
          <p:txBody>
            <a:bodyPr lIns="121900" tIns="121900" rIns="121900" bIns="121900" anchor="ctr" anchorCtr="0">
              <a:noAutofit/>
            </a:bodyPr>
            <a:lstStyle/>
            <a:p>
              <a:pPr defTabSz="1219170"/>
              <a:endParaRPr sz="2400" kern="0">
                <a:solidFill>
                  <a:srgbClr val="000000"/>
                </a:solidFill>
                <a:latin typeface="Arial"/>
                <a:cs typeface="Arial"/>
                <a:sym typeface="Arial"/>
              </a:endParaRPr>
            </a:p>
          </p:txBody>
        </p:sp>
      </p:grpSp>
      <p:grpSp>
        <p:nvGrpSpPr>
          <p:cNvPr id="29" name="קבוצה 28"/>
          <p:cNvGrpSpPr/>
          <p:nvPr/>
        </p:nvGrpSpPr>
        <p:grpSpPr>
          <a:xfrm>
            <a:off x="109693" y="6086096"/>
            <a:ext cx="2347757" cy="803852"/>
            <a:chOff x="7978579" y="5322849"/>
            <a:chExt cx="4188021" cy="1431385"/>
          </a:xfrm>
        </p:grpSpPr>
        <p:pic>
          <p:nvPicPr>
            <p:cNvPr id="30" name="תמונה 29"/>
            <p:cNvPicPr>
              <a:picLocks noChangeAspect="1"/>
            </p:cNvPicPr>
            <p:nvPr/>
          </p:nvPicPr>
          <p:blipFill rotWithShape="1">
            <a:blip r:embed="rId11"/>
            <a:srcRect l="19841" r="9340"/>
            <a:stretch/>
          </p:blipFill>
          <p:spPr>
            <a:xfrm>
              <a:off x="9663964" y="5575300"/>
              <a:ext cx="2502636" cy="1178934"/>
            </a:xfrm>
            <a:prstGeom prst="rect">
              <a:avLst/>
            </a:prstGeom>
          </p:spPr>
        </p:pic>
        <p:pic>
          <p:nvPicPr>
            <p:cNvPr id="31" name="Picture 2" descr="צור קשר שירות לקוחות ביטוח לאומי טלפון » שירות בקליק"/>
            <p:cNvPicPr>
              <a:picLocks noChangeAspect="1" noChangeArrowheads="1"/>
            </p:cNvPicPr>
            <p:nvPr/>
          </p:nvPicPr>
          <p:blipFill rotWithShape="1">
            <a:blip r:embed="rId12" cstate="print">
              <a:extLst>
                <a:ext uri="{28A0092B-C50C-407E-A947-70E740481C1C}">
                  <a14:useLocalDpi xmlns:a14="http://schemas.microsoft.com/office/drawing/2010/main" val="0"/>
                </a:ext>
              </a:extLst>
            </a:blip>
            <a:srcRect b="15070"/>
            <a:stretch/>
          </p:blipFill>
          <p:spPr bwMode="auto">
            <a:xfrm>
              <a:off x="7978579" y="5322849"/>
              <a:ext cx="1685385" cy="1431385"/>
            </a:xfrm>
            <a:prstGeom prst="rect">
              <a:avLst/>
            </a:prstGeom>
            <a:noFill/>
            <a:extLst>
              <a:ext uri="{909E8E84-426E-40DD-AFC4-6F175D3DCCD1}">
                <a14:hiddenFill xmlns:a14="http://schemas.microsoft.com/office/drawing/2010/main">
                  <a:solidFill>
                    <a:srgbClr val="FFFFFF"/>
                  </a:solidFill>
                </a14:hiddenFill>
              </a:ext>
            </a:extLst>
          </p:spPr>
        </p:pic>
      </p:grpSp>
      <p:sp>
        <p:nvSpPr>
          <p:cNvPr id="6" name="TextBox 5"/>
          <p:cNvSpPr txBox="1"/>
          <p:nvPr/>
        </p:nvSpPr>
        <p:spPr>
          <a:xfrm>
            <a:off x="603963" y="54331"/>
            <a:ext cx="2523448" cy="369332"/>
          </a:xfrm>
          <a:prstGeom prst="rect">
            <a:avLst/>
          </a:prstGeom>
          <a:noFill/>
        </p:spPr>
        <p:txBody>
          <a:bodyPr wrap="none" rtlCol="1">
            <a:spAutoFit/>
          </a:bodyPr>
          <a:lstStyle/>
          <a:p>
            <a:r>
              <a:rPr lang="he-IL" dirty="0" err="1"/>
              <a:t>תמרוץ</a:t>
            </a:r>
            <a:r>
              <a:rPr lang="he-IL" dirty="0"/>
              <a:t> שירותים חברתיים </a:t>
            </a:r>
          </a:p>
        </p:txBody>
      </p:sp>
      <p:sp>
        <p:nvSpPr>
          <p:cNvPr id="5" name="מלבן 4"/>
          <p:cNvSpPr/>
          <p:nvPr/>
        </p:nvSpPr>
        <p:spPr>
          <a:xfrm>
            <a:off x="6857464" y="95311"/>
            <a:ext cx="2042546" cy="369332"/>
          </a:xfrm>
          <a:prstGeom prst="rect">
            <a:avLst/>
          </a:prstGeom>
        </p:spPr>
        <p:txBody>
          <a:bodyPr wrap="none">
            <a:spAutoFit/>
          </a:bodyPr>
          <a:lstStyle/>
          <a:p>
            <a:r>
              <a:rPr lang="he-IL" dirty="0"/>
              <a:t>מענה אוניברסלי רחב</a:t>
            </a:r>
          </a:p>
        </p:txBody>
      </p:sp>
      <p:sp>
        <p:nvSpPr>
          <p:cNvPr id="7" name="מלבן 6"/>
          <p:cNvSpPr/>
          <p:nvPr/>
        </p:nvSpPr>
        <p:spPr>
          <a:xfrm>
            <a:off x="3768986" y="54331"/>
            <a:ext cx="2307349" cy="646331"/>
          </a:xfrm>
          <a:prstGeom prst="rect">
            <a:avLst/>
          </a:prstGeom>
        </p:spPr>
        <p:txBody>
          <a:bodyPr wrap="square">
            <a:spAutoFit/>
          </a:bodyPr>
          <a:lstStyle/>
          <a:p>
            <a:r>
              <a:rPr lang="he-IL" dirty="0" err="1"/>
              <a:t>תיעדוף</a:t>
            </a:r>
            <a:r>
              <a:rPr lang="he-IL" dirty="0"/>
              <a:t> מענה חברתי רחב על מענה פרטני</a:t>
            </a:r>
          </a:p>
        </p:txBody>
      </p:sp>
      <p:sp>
        <p:nvSpPr>
          <p:cNvPr id="33" name="Rectangle 16">
            <a:extLst>
              <a:ext uri="{FF2B5EF4-FFF2-40B4-BE49-F238E27FC236}">
                <a16:creationId xmlns:a16="http://schemas.microsoft.com/office/drawing/2014/main" id="{0D33B8D0-699E-42C3-8D4E-28D828460313}"/>
              </a:ext>
            </a:extLst>
          </p:cNvPr>
          <p:cNvSpPr/>
          <p:nvPr/>
        </p:nvSpPr>
        <p:spPr>
          <a:xfrm rot="2700000">
            <a:off x="4829793" y="708510"/>
            <a:ext cx="591100" cy="959774"/>
          </a:xfrm>
          <a:custGeom>
            <a:avLst/>
            <a:gdLst/>
            <a:ahLst/>
            <a:cxnLst/>
            <a:rect l="l" t="t" r="r" b="b"/>
            <a:pathLst>
              <a:path w="2232248" h="4001999">
                <a:moveTo>
                  <a:pt x="1116887" y="0"/>
                </a:moveTo>
                <a:cubicBezTo>
                  <a:pt x="1270748" y="4762"/>
                  <a:pt x="1433283" y="120651"/>
                  <a:pt x="1447291" y="308459"/>
                </a:cubicBezTo>
                <a:cubicBezTo>
                  <a:pt x="1483174" y="544979"/>
                  <a:pt x="1283237" y="603082"/>
                  <a:pt x="1339988" y="887363"/>
                </a:cubicBezTo>
                <a:lnTo>
                  <a:pt x="2232248" y="887363"/>
                </a:lnTo>
                <a:lnTo>
                  <a:pt x="2232248" y="1778237"/>
                </a:lnTo>
                <a:cubicBezTo>
                  <a:pt x="1956566" y="1829261"/>
                  <a:pt x="1897086" y="1634366"/>
                  <a:pt x="1663321" y="1669832"/>
                </a:cubicBezTo>
                <a:cubicBezTo>
                  <a:pt x="1475513" y="1683840"/>
                  <a:pt x="1359624" y="1846375"/>
                  <a:pt x="1354862" y="2000236"/>
                </a:cubicBezTo>
                <a:cubicBezTo>
                  <a:pt x="1358037" y="2135389"/>
                  <a:pt x="1477787" y="2334920"/>
                  <a:pt x="1701420" y="2336507"/>
                </a:cubicBezTo>
                <a:cubicBezTo>
                  <a:pt x="1972077" y="2308709"/>
                  <a:pt x="1932339" y="2176007"/>
                  <a:pt x="2232248" y="2187989"/>
                </a:cubicBezTo>
                <a:lnTo>
                  <a:pt x="2232248" y="3119611"/>
                </a:lnTo>
                <a:lnTo>
                  <a:pt x="1303259" y="3119611"/>
                </a:lnTo>
                <a:cubicBezTo>
                  <a:pt x="1289664" y="3424971"/>
                  <a:pt x="1423682" y="3383289"/>
                  <a:pt x="1451633" y="3655441"/>
                </a:cubicBezTo>
                <a:cubicBezTo>
                  <a:pt x="1450046" y="3879074"/>
                  <a:pt x="1250515" y="3998824"/>
                  <a:pt x="1115362" y="4001999"/>
                </a:cubicBezTo>
                <a:cubicBezTo>
                  <a:pt x="961501" y="3997237"/>
                  <a:pt x="798966" y="3881348"/>
                  <a:pt x="784958" y="3693540"/>
                </a:cubicBezTo>
                <a:cubicBezTo>
                  <a:pt x="749282" y="3458385"/>
                  <a:pt x="946712" y="3399594"/>
                  <a:pt x="892811" y="3119611"/>
                </a:cubicBezTo>
                <a:lnTo>
                  <a:pt x="0" y="3119611"/>
                </a:lnTo>
                <a:lnTo>
                  <a:pt x="0" y="2203607"/>
                </a:lnTo>
                <a:cubicBezTo>
                  <a:pt x="285884" y="2145799"/>
                  <a:pt x="343730" y="2346665"/>
                  <a:pt x="580754" y="2310706"/>
                </a:cubicBezTo>
                <a:cubicBezTo>
                  <a:pt x="768562" y="2296698"/>
                  <a:pt x="884451" y="2134163"/>
                  <a:pt x="889213" y="1980302"/>
                </a:cubicBezTo>
                <a:cubicBezTo>
                  <a:pt x="886038" y="1845149"/>
                  <a:pt x="766288" y="1645618"/>
                  <a:pt x="542655" y="1644031"/>
                </a:cubicBezTo>
                <a:cubicBezTo>
                  <a:pt x="268493" y="1672188"/>
                  <a:pt x="312817" y="1807984"/>
                  <a:pt x="0" y="1792208"/>
                </a:cubicBezTo>
                <a:lnTo>
                  <a:pt x="0" y="887363"/>
                </a:lnTo>
                <a:lnTo>
                  <a:pt x="928847" y="887363"/>
                </a:lnTo>
                <a:cubicBezTo>
                  <a:pt x="944034" y="576570"/>
                  <a:pt x="808718" y="620178"/>
                  <a:pt x="780616" y="346558"/>
                </a:cubicBezTo>
                <a:cubicBezTo>
                  <a:pt x="782203" y="122925"/>
                  <a:pt x="981734" y="3175"/>
                  <a:pt x="1116887" y="0"/>
                </a:cubicBezTo>
                <a:close/>
              </a:path>
            </a:pathLst>
          </a:custGeom>
          <a:solidFill>
            <a:srgbClr val="00B0F0"/>
          </a:solidFill>
          <a:ln w="25400" cap="flat" cmpd="sng" algn="ctr">
            <a:noFill/>
            <a:prstDash val="solid"/>
          </a:ln>
          <a:effectLst/>
        </p:spPr>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a:cs typeface="+mn-cs"/>
            </a:endParaRPr>
          </a:p>
        </p:txBody>
      </p:sp>
      <p:sp>
        <p:nvSpPr>
          <p:cNvPr id="34" name="Block Arc 41">
            <a:extLst>
              <a:ext uri="{FF2B5EF4-FFF2-40B4-BE49-F238E27FC236}">
                <a16:creationId xmlns:a16="http://schemas.microsoft.com/office/drawing/2014/main" id="{B3B25E34-8ABE-4D0C-9A57-89485104BAD1}"/>
              </a:ext>
            </a:extLst>
          </p:cNvPr>
          <p:cNvSpPr/>
          <p:nvPr/>
        </p:nvSpPr>
        <p:spPr>
          <a:xfrm>
            <a:off x="7490811" y="700662"/>
            <a:ext cx="855167" cy="903911"/>
          </a:xfrm>
          <a:custGeom>
            <a:avLst/>
            <a:gdLst/>
            <a:ahLst/>
            <a:cxnLst/>
            <a:rect l="l" t="t" r="r" b="b"/>
            <a:pathLst>
              <a:path w="2512265" h="3505352">
                <a:moveTo>
                  <a:pt x="1276582" y="2106401"/>
                </a:moveTo>
                <a:cubicBezTo>
                  <a:pt x="1154832" y="2195007"/>
                  <a:pt x="1018024" y="2262207"/>
                  <a:pt x="871321" y="2302645"/>
                </a:cubicBezTo>
                <a:cubicBezTo>
                  <a:pt x="1041049" y="2346709"/>
                  <a:pt x="1216984" y="2342691"/>
                  <a:pt x="1380867" y="2295542"/>
                </a:cubicBezTo>
                <a:cubicBezTo>
                  <a:pt x="1352791" y="2227964"/>
                  <a:pt x="1317377" y="2164934"/>
                  <a:pt x="1276582" y="2106401"/>
                </a:cubicBezTo>
                <a:close/>
                <a:moveTo>
                  <a:pt x="931061" y="1768598"/>
                </a:moveTo>
                <a:lnTo>
                  <a:pt x="785084" y="2021438"/>
                </a:lnTo>
                <a:lnTo>
                  <a:pt x="684448" y="2196711"/>
                </a:lnTo>
                <a:cubicBezTo>
                  <a:pt x="868931" y="2169533"/>
                  <a:pt x="1041385" y="2098006"/>
                  <a:pt x="1189228" y="1991290"/>
                </a:cubicBezTo>
                <a:cubicBezTo>
                  <a:pt x="1113839" y="1904543"/>
                  <a:pt x="1026949" y="1829435"/>
                  <a:pt x="931061" y="1768598"/>
                </a:cubicBezTo>
                <a:close/>
                <a:moveTo>
                  <a:pt x="1626242" y="1739577"/>
                </a:moveTo>
                <a:cubicBezTo>
                  <a:pt x="1556851" y="1850020"/>
                  <a:pt x="1471526" y="1947792"/>
                  <a:pt x="1374302" y="2030973"/>
                </a:cubicBezTo>
                <a:cubicBezTo>
                  <a:pt x="1422822" y="2099916"/>
                  <a:pt x="1464618" y="2174537"/>
                  <a:pt x="1497466" y="2254701"/>
                </a:cubicBezTo>
                <a:cubicBezTo>
                  <a:pt x="1664534" y="2184833"/>
                  <a:pt x="1813198" y="2068027"/>
                  <a:pt x="1922549" y="1910651"/>
                </a:cubicBezTo>
                <a:close/>
                <a:moveTo>
                  <a:pt x="531158" y="1601275"/>
                </a:moveTo>
                <a:cubicBezTo>
                  <a:pt x="514831" y="1769123"/>
                  <a:pt x="535254" y="1939877"/>
                  <a:pt x="594029" y="2101141"/>
                </a:cubicBezTo>
                <a:lnTo>
                  <a:pt x="822377" y="1705631"/>
                </a:lnTo>
                <a:cubicBezTo>
                  <a:pt x="730789" y="1658398"/>
                  <a:pt x="632873" y="1623335"/>
                  <a:pt x="531158" y="1601275"/>
                </a:cubicBezTo>
                <a:close/>
                <a:moveTo>
                  <a:pt x="270885" y="1572115"/>
                </a:moveTo>
                <a:cubicBezTo>
                  <a:pt x="231457" y="1572339"/>
                  <a:pt x="191799" y="1574812"/>
                  <a:pt x="152057" y="1579894"/>
                </a:cubicBezTo>
                <a:cubicBezTo>
                  <a:pt x="195418" y="1760005"/>
                  <a:pt x="289893" y="1927350"/>
                  <a:pt x="428945" y="2058945"/>
                </a:cubicBezTo>
                <a:cubicBezTo>
                  <a:pt x="384418" y="1901749"/>
                  <a:pt x="371313" y="1738504"/>
                  <a:pt x="388331" y="1577832"/>
                </a:cubicBezTo>
                <a:cubicBezTo>
                  <a:pt x="349511" y="1573916"/>
                  <a:pt x="310313" y="1571891"/>
                  <a:pt x="270885" y="1572115"/>
                </a:cubicBezTo>
                <a:close/>
                <a:moveTo>
                  <a:pt x="1117422" y="1445810"/>
                </a:moveTo>
                <a:lnTo>
                  <a:pt x="992684" y="1661863"/>
                </a:lnTo>
                <a:cubicBezTo>
                  <a:pt x="1102065" y="1730612"/>
                  <a:pt x="1200940" y="1816138"/>
                  <a:pt x="1286200" y="1915345"/>
                </a:cubicBezTo>
                <a:cubicBezTo>
                  <a:pt x="1368713" y="1844119"/>
                  <a:pt x="1441290" y="1760865"/>
                  <a:pt x="1500981" y="1667258"/>
                </a:cubicBezTo>
                <a:close/>
                <a:moveTo>
                  <a:pt x="2092402" y="1221082"/>
                </a:moveTo>
                <a:cubicBezTo>
                  <a:pt x="2001593" y="1234047"/>
                  <a:pt x="1911092" y="1235450"/>
                  <a:pt x="1822337" y="1227227"/>
                </a:cubicBezTo>
                <a:cubicBezTo>
                  <a:pt x="1800443" y="1366691"/>
                  <a:pt x="1756170" y="1503162"/>
                  <a:pt x="1688847" y="1630684"/>
                </a:cubicBezTo>
                <a:lnTo>
                  <a:pt x="1987299" y="1802996"/>
                </a:lnTo>
                <a:cubicBezTo>
                  <a:pt x="2084887" y="1618081"/>
                  <a:pt x="2117858" y="1415133"/>
                  <a:pt x="2092402" y="1221082"/>
                </a:cubicBezTo>
                <a:close/>
                <a:moveTo>
                  <a:pt x="649579" y="1175701"/>
                </a:moveTo>
                <a:cubicBezTo>
                  <a:pt x="600911" y="1272240"/>
                  <a:pt x="566994" y="1374279"/>
                  <a:pt x="548013" y="1478728"/>
                </a:cubicBezTo>
                <a:cubicBezTo>
                  <a:pt x="665588" y="1503392"/>
                  <a:pt x="778659" y="1543786"/>
                  <a:pt x="883938" y="1599004"/>
                </a:cubicBezTo>
                <a:lnTo>
                  <a:pt x="1008644" y="1383007"/>
                </a:lnTo>
                <a:close/>
                <a:moveTo>
                  <a:pt x="1325201" y="1085928"/>
                </a:moveTo>
                <a:lnTo>
                  <a:pt x="1180226" y="1337032"/>
                </a:lnTo>
                <a:lnTo>
                  <a:pt x="1563461" y="1558293"/>
                </a:lnTo>
                <a:cubicBezTo>
                  <a:pt x="1621429" y="1447029"/>
                  <a:pt x="1659763" y="1328223"/>
                  <a:pt x="1679185" y="1206861"/>
                </a:cubicBezTo>
                <a:cubicBezTo>
                  <a:pt x="1555153" y="1183834"/>
                  <a:pt x="1435895" y="1143161"/>
                  <a:pt x="1325201" y="1085928"/>
                </a:cubicBezTo>
                <a:close/>
                <a:moveTo>
                  <a:pt x="216369" y="925587"/>
                </a:moveTo>
                <a:cubicBezTo>
                  <a:pt x="135862" y="1096620"/>
                  <a:pt x="108667" y="1281041"/>
                  <a:pt x="130011" y="1458436"/>
                </a:cubicBezTo>
                <a:cubicBezTo>
                  <a:pt x="222591" y="1446071"/>
                  <a:pt x="314795" y="1446181"/>
                  <a:pt x="405131" y="1455463"/>
                </a:cubicBezTo>
                <a:cubicBezTo>
                  <a:pt x="426945" y="1333935"/>
                  <a:pt x="466667" y="1215249"/>
                  <a:pt x="524206" y="1103317"/>
                </a:cubicBezTo>
                <a:close/>
                <a:moveTo>
                  <a:pt x="943246" y="797103"/>
                </a:moveTo>
                <a:cubicBezTo>
                  <a:pt x="853400" y="873630"/>
                  <a:pt x="774733" y="963960"/>
                  <a:pt x="711316" y="1066306"/>
                </a:cubicBezTo>
                <a:lnTo>
                  <a:pt x="1071447" y="1274228"/>
                </a:lnTo>
                <a:lnTo>
                  <a:pt x="1215869" y="1024081"/>
                </a:lnTo>
                <a:cubicBezTo>
                  <a:pt x="1115458" y="961776"/>
                  <a:pt x="1023809" y="885272"/>
                  <a:pt x="943246" y="797103"/>
                </a:cubicBezTo>
                <a:close/>
                <a:moveTo>
                  <a:pt x="1777831" y="614825"/>
                </a:moveTo>
                <a:cubicBezTo>
                  <a:pt x="1828108" y="774217"/>
                  <a:pt x="1847177" y="940426"/>
                  <a:pt x="1835302" y="1104709"/>
                </a:cubicBezTo>
                <a:cubicBezTo>
                  <a:pt x="1912529" y="1111680"/>
                  <a:pt x="1991200" y="1110618"/>
                  <a:pt x="2070135" y="1099634"/>
                </a:cubicBezTo>
                <a:cubicBezTo>
                  <a:pt x="2023430" y="916066"/>
                  <a:pt x="1923963" y="746103"/>
                  <a:pt x="1777831" y="614825"/>
                </a:cubicBezTo>
                <a:close/>
                <a:moveTo>
                  <a:pt x="1613169" y="587153"/>
                </a:moveTo>
                <a:lnTo>
                  <a:pt x="1386789" y="979253"/>
                </a:lnTo>
                <a:cubicBezTo>
                  <a:pt x="1482593" y="1028182"/>
                  <a:pt x="1585369" y="1063521"/>
                  <a:pt x="1692132" y="1084514"/>
                </a:cubicBezTo>
                <a:cubicBezTo>
                  <a:pt x="1702376" y="916614"/>
                  <a:pt x="1676765" y="746730"/>
                  <a:pt x="1613169" y="587153"/>
                </a:cubicBezTo>
                <a:close/>
                <a:moveTo>
                  <a:pt x="1500307" y="531421"/>
                </a:moveTo>
                <a:cubicBezTo>
                  <a:pt x="1333628" y="560682"/>
                  <a:pt x="1177718" y="626786"/>
                  <a:pt x="1041762" y="721997"/>
                </a:cubicBezTo>
                <a:cubicBezTo>
                  <a:pt x="1111912" y="797410"/>
                  <a:pt x="1191076" y="863204"/>
                  <a:pt x="1277416" y="917480"/>
                </a:cubicBezTo>
                <a:close/>
                <a:moveTo>
                  <a:pt x="708730" y="442269"/>
                </a:moveTo>
                <a:cubicBezTo>
                  <a:pt x="536145" y="518354"/>
                  <a:pt x="384460" y="645249"/>
                  <a:pt x="277225" y="815684"/>
                </a:cubicBezTo>
                <a:lnTo>
                  <a:pt x="586010" y="993961"/>
                </a:lnTo>
                <a:cubicBezTo>
                  <a:pt x="658009" y="876621"/>
                  <a:pt x="747803" y="773217"/>
                  <a:pt x="850548" y="685844"/>
                </a:cubicBezTo>
                <a:cubicBezTo>
                  <a:pt x="795399" y="611028"/>
                  <a:pt x="747545" y="529652"/>
                  <a:pt x="708730" y="442269"/>
                </a:cubicBezTo>
                <a:close/>
                <a:moveTo>
                  <a:pt x="1114411" y="355452"/>
                </a:moveTo>
                <a:cubicBezTo>
                  <a:pt x="1016499" y="355167"/>
                  <a:pt x="919324" y="369705"/>
                  <a:pt x="826255" y="398131"/>
                </a:cubicBezTo>
                <a:cubicBezTo>
                  <a:pt x="858722" y="474940"/>
                  <a:pt x="900618" y="545829"/>
                  <a:pt x="948599" y="611249"/>
                </a:cubicBezTo>
                <a:cubicBezTo>
                  <a:pt x="1085375" y="512974"/>
                  <a:pt x="1240825" y="441488"/>
                  <a:pt x="1406980" y="401715"/>
                </a:cubicBezTo>
                <a:cubicBezTo>
                  <a:pt x="1310969" y="370847"/>
                  <a:pt x="1212322" y="355738"/>
                  <a:pt x="1114411" y="355452"/>
                </a:cubicBezTo>
                <a:close/>
                <a:moveTo>
                  <a:pt x="1776283" y="295101"/>
                </a:moveTo>
                <a:lnTo>
                  <a:pt x="1710896" y="408983"/>
                </a:lnTo>
                <a:cubicBezTo>
                  <a:pt x="2209777" y="726145"/>
                  <a:pt x="2373723" y="1383396"/>
                  <a:pt x="2075153" y="1900534"/>
                </a:cubicBezTo>
                <a:cubicBezTo>
                  <a:pt x="1777480" y="2416119"/>
                  <a:pt x="1129323" y="2603192"/>
                  <a:pt x="606057" y="2333243"/>
                </a:cubicBezTo>
                <a:lnTo>
                  <a:pt x="534769" y="2457402"/>
                </a:lnTo>
                <a:cubicBezTo>
                  <a:pt x="1115347" y="2755664"/>
                  <a:pt x="1834151" y="2554240"/>
                  <a:pt x="2173557" y="1987198"/>
                </a:cubicBezTo>
                <a:cubicBezTo>
                  <a:pt x="2520801" y="1407062"/>
                  <a:pt x="2343129" y="657734"/>
                  <a:pt x="1776283" y="295101"/>
                </a:cubicBezTo>
                <a:close/>
                <a:moveTo>
                  <a:pt x="1831804" y="0"/>
                </a:moveTo>
                <a:cubicBezTo>
                  <a:pt x="1881515" y="0"/>
                  <a:pt x="1921814" y="40299"/>
                  <a:pt x="1921814" y="90010"/>
                </a:cubicBezTo>
                <a:cubicBezTo>
                  <a:pt x="1921814" y="123853"/>
                  <a:pt x="1903137" y="153333"/>
                  <a:pt x="1874873" y="167531"/>
                </a:cubicBezTo>
                <a:cubicBezTo>
                  <a:pt x="2505724" y="579432"/>
                  <a:pt x="2701456" y="1419035"/>
                  <a:pt x="2311836" y="2069966"/>
                </a:cubicBezTo>
                <a:cubicBezTo>
                  <a:pt x="2067801" y="2477672"/>
                  <a:pt x="1650037" y="2717958"/>
                  <a:pt x="1209422" y="2750781"/>
                </a:cubicBezTo>
                <a:lnTo>
                  <a:pt x="1209422" y="3191198"/>
                </a:lnTo>
                <a:cubicBezTo>
                  <a:pt x="1228953" y="3190691"/>
                  <a:pt x="1248332" y="3191937"/>
                  <a:pt x="1267595" y="3193449"/>
                </a:cubicBezTo>
                <a:cubicBezTo>
                  <a:pt x="1660899" y="3224325"/>
                  <a:pt x="1926978" y="3358049"/>
                  <a:pt x="1884661" y="3503570"/>
                </a:cubicBezTo>
                <a:lnTo>
                  <a:pt x="318693" y="3505352"/>
                </a:lnTo>
                <a:cubicBezTo>
                  <a:pt x="273700" y="3359367"/>
                  <a:pt x="539657" y="3224666"/>
                  <a:pt x="934393" y="3193515"/>
                </a:cubicBezTo>
                <a:lnTo>
                  <a:pt x="993398" y="3191208"/>
                </a:lnTo>
                <a:lnTo>
                  <a:pt x="993398" y="2750894"/>
                </a:lnTo>
                <a:cubicBezTo>
                  <a:pt x="812915" y="2737642"/>
                  <a:pt x="632784" y="2688481"/>
                  <a:pt x="463078" y="2601537"/>
                </a:cubicBezTo>
                <a:cubicBezTo>
                  <a:pt x="463677" y="2602537"/>
                  <a:pt x="463694" y="2603560"/>
                  <a:pt x="463694" y="2604587"/>
                </a:cubicBezTo>
                <a:cubicBezTo>
                  <a:pt x="463694" y="2654298"/>
                  <a:pt x="423395" y="2694597"/>
                  <a:pt x="373684" y="2694597"/>
                </a:cubicBezTo>
                <a:cubicBezTo>
                  <a:pt x="323973" y="2694597"/>
                  <a:pt x="283674" y="2654298"/>
                  <a:pt x="283674" y="2604587"/>
                </a:cubicBezTo>
                <a:cubicBezTo>
                  <a:pt x="283674" y="2554876"/>
                  <a:pt x="323973" y="2514577"/>
                  <a:pt x="373684" y="2514577"/>
                </a:cubicBezTo>
                <a:lnTo>
                  <a:pt x="377019" y="2515250"/>
                </a:lnTo>
                <a:lnTo>
                  <a:pt x="511820" y="2280472"/>
                </a:lnTo>
                <a:lnTo>
                  <a:pt x="495824" y="2271237"/>
                </a:lnTo>
                <a:lnTo>
                  <a:pt x="496783" y="2269575"/>
                </a:lnTo>
                <a:cubicBezTo>
                  <a:pt x="34226" y="1964050"/>
                  <a:pt x="-130424" y="1362029"/>
                  <a:pt x="110016" y="864184"/>
                </a:cubicBezTo>
                <a:lnTo>
                  <a:pt x="106296" y="862036"/>
                </a:lnTo>
                <a:lnTo>
                  <a:pt x="148828" y="788370"/>
                </a:lnTo>
                <a:lnTo>
                  <a:pt x="169099" y="753258"/>
                </a:lnTo>
                <a:lnTo>
                  <a:pt x="170873" y="754281"/>
                </a:lnTo>
                <a:cubicBezTo>
                  <a:pt x="475914" y="264737"/>
                  <a:pt x="1106018" y="92008"/>
                  <a:pt x="1617242" y="355196"/>
                </a:cubicBezTo>
                <a:lnTo>
                  <a:pt x="1748044" y="127384"/>
                </a:lnTo>
                <a:lnTo>
                  <a:pt x="1751959" y="129632"/>
                </a:lnTo>
                <a:cubicBezTo>
                  <a:pt x="1745165" y="117975"/>
                  <a:pt x="1741794" y="104386"/>
                  <a:pt x="1741794" y="90010"/>
                </a:cubicBezTo>
                <a:cubicBezTo>
                  <a:pt x="1741794" y="40299"/>
                  <a:pt x="1782093" y="0"/>
                  <a:pt x="1831804" y="0"/>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solidFill>
                <a:schemeClr val="tx1"/>
              </a:solidFill>
            </a:endParaRPr>
          </a:p>
        </p:txBody>
      </p:sp>
      <p:sp>
        <p:nvSpPr>
          <p:cNvPr id="35" name="Donut 24">
            <a:extLst>
              <a:ext uri="{FF2B5EF4-FFF2-40B4-BE49-F238E27FC236}">
                <a16:creationId xmlns:a16="http://schemas.microsoft.com/office/drawing/2014/main" id="{81F49C7C-DFCA-4FDE-AB0D-42B8F72E9478}"/>
              </a:ext>
            </a:extLst>
          </p:cNvPr>
          <p:cNvSpPr/>
          <p:nvPr/>
        </p:nvSpPr>
        <p:spPr>
          <a:xfrm>
            <a:off x="1321724" y="842164"/>
            <a:ext cx="843741" cy="742698"/>
          </a:xfrm>
          <a:custGeom>
            <a:avLst/>
            <a:gdLst/>
            <a:ahLst/>
            <a:cxnLst/>
            <a:rect l="l" t="t" r="r" b="b"/>
            <a:pathLst>
              <a:path w="3208412" h="3234532">
                <a:moveTo>
                  <a:pt x="1561445" y="1065858"/>
                </a:moveTo>
                <a:cubicBezTo>
                  <a:pt x="1654998" y="1065858"/>
                  <a:pt x="1743610" y="1087015"/>
                  <a:pt x="1821879" y="1126644"/>
                </a:cubicBezTo>
                <a:lnTo>
                  <a:pt x="1611352" y="1337172"/>
                </a:lnTo>
                <a:cubicBezTo>
                  <a:pt x="1595200" y="1333388"/>
                  <a:pt x="1578468" y="1332141"/>
                  <a:pt x="1561445" y="1332141"/>
                </a:cubicBezTo>
                <a:cubicBezTo>
                  <a:pt x="1373145" y="1332141"/>
                  <a:pt x="1220499" y="1484787"/>
                  <a:pt x="1220499" y="1673087"/>
                </a:cubicBezTo>
                <a:cubicBezTo>
                  <a:pt x="1220499" y="1861387"/>
                  <a:pt x="1373145" y="2014033"/>
                  <a:pt x="1561445" y="2014033"/>
                </a:cubicBezTo>
                <a:cubicBezTo>
                  <a:pt x="1749745" y="2014033"/>
                  <a:pt x="1902391" y="1861387"/>
                  <a:pt x="1902391" y="1673087"/>
                </a:cubicBezTo>
                <a:cubicBezTo>
                  <a:pt x="1902391" y="1643675"/>
                  <a:pt x="1898667" y="1615133"/>
                  <a:pt x="1890450" y="1588219"/>
                </a:cubicBezTo>
                <a:lnTo>
                  <a:pt x="2093156" y="1385512"/>
                </a:lnTo>
                <a:cubicBezTo>
                  <a:pt x="2142229" y="1470075"/>
                  <a:pt x="2168674" y="1568493"/>
                  <a:pt x="2168674" y="1673087"/>
                </a:cubicBezTo>
                <a:cubicBezTo>
                  <a:pt x="2168674" y="2008450"/>
                  <a:pt x="1896808" y="2280316"/>
                  <a:pt x="1561445" y="2280316"/>
                </a:cubicBezTo>
                <a:cubicBezTo>
                  <a:pt x="1226082" y="2280316"/>
                  <a:pt x="954217" y="2008450"/>
                  <a:pt x="954217" y="1673087"/>
                </a:cubicBezTo>
                <a:cubicBezTo>
                  <a:pt x="954217" y="1337724"/>
                  <a:pt x="1226082" y="1065858"/>
                  <a:pt x="1561445" y="1065858"/>
                </a:cubicBezTo>
                <a:close/>
                <a:moveTo>
                  <a:pt x="1561445" y="580076"/>
                </a:moveTo>
                <a:cubicBezTo>
                  <a:pt x="1790175" y="580076"/>
                  <a:pt x="2002494" y="650333"/>
                  <a:pt x="2177834" y="770690"/>
                </a:cubicBezTo>
                <a:lnTo>
                  <a:pt x="1968030" y="980494"/>
                </a:lnTo>
                <a:cubicBezTo>
                  <a:pt x="1849962" y="907198"/>
                  <a:pt x="1710422" y="866794"/>
                  <a:pt x="1561445" y="866794"/>
                </a:cubicBezTo>
                <a:cubicBezTo>
                  <a:pt x="1116142" y="866794"/>
                  <a:pt x="755153" y="1227784"/>
                  <a:pt x="755153" y="1673087"/>
                </a:cubicBezTo>
                <a:cubicBezTo>
                  <a:pt x="755153" y="2118390"/>
                  <a:pt x="1116142" y="2479380"/>
                  <a:pt x="1561445" y="2479380"/>
                </a:cubicBezTo>
                <a:cubicBezTo>
                  <a:pt x="2006748" y="2479380"/>
                  <a:pt x="2367738" y="2118390"/>
                  <a:pt x="2367738" y="1673087"/>
                </a:cubicBezTo>
                <a:cubicBezTo>
                  <a:pt x="2367738" y="1513043"/>
                  <a:pt x="2321108" y="1363890"/>
                  <a:pt x="2239307" y="1239362"/>
                </a:cubicBezTo>
                <a:lnTo>
                  <a:pt x="2445928" y="1032741"/>
                </a:lnTo>
                <a:cubicBezTo>
                  <a:pt x="2577451" y="1212149"/>
                  <a:pt x="2654457" y="1433625"/>
                  <a:pt x="2654457" y="1673087"/>
                </a:cubicBezTo>
                <a:cubicBezTo>
                  <a:pt x="2654457" y="2276741"/>
                  <a:pt x="2165099" y="2766099"/>
                  <a:pt x="1561445" y="2766099"/>
                </a:cubicBezTo>
                <a:cubicBezTo>
                  <a:pt x="957792" y="2766099"/>
                  <a:pt x="468434" y="2276741"/>
                  <a:pt x="468434" y="1673087"/>
                </a:cubicBezTo>
                <a:cubicBezTo>
                  <a:pt x="468434" y="1069433"/>
                  <a:pt x="957792" y="580076"/>
                  <a:pt x="1561445" y="580076"/>
                </a:cubicBezTo>
                <a:close/>
                <a:moveTo>
                  <a:pt x="1561445" y="111642"/>
                </a:moveTo>
                <a:cubicBezTo>
                  <a:pt x="1890473" y="111642"/>
                  <a:pt x="2195731" y="213411"/>
                  <a:pt x="2447076" y="387744"/>
                </a:cubicBezTo>
                <a:lnTo>
                  <a:pt x="2453780" y="494744"/>
                </a:lnTo>
                <a:lnTo>
                  <a:pt x="2309436" y="639088"/>
                </a:lnTo>
                <a:cubicBezTo>
                  <a:pt x="2099826" y="485554"/>
                  <a:pt x="1841132" y="395669"/>
                  <a:pt x="1561445" y="395669"/>
                </a:cubicBezTo>
                <a:cubicBezTo>
                  <a:pt x="855947" y="395669"/>
                  <a:pt x="284027" y="967589"/>
                  <a:pt x="284027" y="1673087"/>
                </a:cubicBezTo>
                <a:cubicBezTo>
                  <a:pt x="284027" y="2378585"/>
                  <a:pt x="855947" y="2950505"/>
                  <a:pt x="1561445" y="2950505"/>
                </a:cubicBezTo>
                <a:cubicBezTo>
                  <a:pt x="2266943" y="2950505"/>
                  <a:pt x="2838863" y="2378585"/>
                  <a:pt x="2838863" y="1673087"/>
                </a:cubicBezTo>
                <a:cubicBezTo>
                  <a:pt x="2838863" y="1382650"/>
                  <a:pt x="2741936" y="1114852"/>
                  <a:pt x="2577529" y="901139"/>
                </a:cubicBezTo>
                <a:lnTo>
                  <a:pt x="2706681" y="771988"/>
                </a:lnTo>
                <a:lnTo>
                  <a:pt x="2841540" y="780437"/>
                </a:lnTo>
                <a:cubicBezTo>
                  <a:pt x="3019168" y="1032973"/>
                  <a:pt x="3122890" y="1340917"/>
                  <a:pt x="3122890" y="1673087"/>
                </a:cubicBezTo>
                <a:cubicBezTo>
                  <a:pt x="3122890" y="2535449"/>
                  <a:pt x="2423807" y="3234532"/>
                  <a:pt x="1561445" y="3234532"/>
                </a:cubicBezTo>
                <a:cubicBezTo>
                  <a:pt x="699083" y="3234532"/>
                  <a:pt x="0" y="2535449"/>
                  <a:pt x="0" y="1673087"/>
                </a:cubicBezTo>
                <a:cubicBezTo>
                  <a:pt x="0" y="810725"/>
                  <a:pt x="699083" y="111642"/>
                  <a:pt x="1561445" y="111642"/>
                </a:cubicBezTo>
                <a:close/>
                <a:moveTo>
                  <a:pt x="2909110" y="0"/>
                </a:moveTo>
                <a:lnTo>
                  <a:pt x="2926757" y="281655"/>
                </a:lnTo>
                <a:lnTo>
                  <a:pt x="3208412" y="299301"/>
                </a:lnTo>
                <a:lnTo>
                  <a:pt x="2863230" y="644483"/>
                </a:lnTo>
                <a:lnTo>
                  <a:pt x="2685547" y="633351"/>
                </a:lnTo>
                <a:lnTo>
                  <a:pt x="1718098" y="1600799"/>
                </a:lnTo>
                <a:cubicBezTo>
                  <a:pt x="1729236" y="1622491"/>
                  <a:pt x="1734939" y="1647123"/>
                  <a:pt x="1734939" y="1673087"/>
                </a:cubicBezTo>
                <a:cubicBezTo>
                  <a:pt x="1734939" y="1768905"/>
                  <a:pt x="1657263" y="1846581"/>
                  <a:pt x="1561445" y="1846581"/>
                </a:cubicBezTo>
                <a:cubicBezTo>
                  <a:pt x="1465627" y="1846581"/>
                  <a:pt x="1387951" y="1768905"/>
                  <a:pt x="1387951" y="1673087"/>
                </a:cubicBezTo>
                <a:cubicBezTo>
                  <a:pt x="1387951" y="1577269"/>
                  <a:pt x="1465627" y="1499593"/>
                  <a:pt x="1561445" y="1499593"/>
                </a:cubicBezTo>
                <a:lnTo>
                  <a:pt x="1591006" y="1505561"/>
                </a:lnTo>
                <a:lnTo>
                  <a:pt x="2574981" y="521587"/>
                </a:lnTo>
                <a:lnTo>
                  <a:pt x="2563928" y="345182"/>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36" name="מלבן 35"/>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7" name="TextBox 36"/>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
        <p:nvSpPr>
          <p:cNvPr id="38" name="מלבן 3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39" name="TextBox 38"/>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569729984"/>
      </p:ext>
    </p:extLst>
  </p:cSld>
  <p:clrMapOvr>
    <a:masterClrMapping/>
  </p:clrMapOvr>
  <p:transition spd="slow">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275526" y="406463"/>
            <a:ext cx="1784360" cy="584775"/>
          </a:xfrm>
          <a:prstGeom prst="rect">
            <a:avLst/>
          </a:prstGeom>
          <a:noFill/>
        </p:spPr>
        <p:txBody>
          <a:bodyPr wrap="square" rtlCol="1">
            <a:spAutoFit/>
          </a:bodyPr>
          <a:lstStyle/>
          <a:p>
            <a:pPr algn="ctr"/>
            <a:r>
              <a:rPr lang="he-IL" sz="1600" b="1" dirty="0">
                <a:solidFill>
                  <a:srgbClr val="0070C0"/>
                </a:solidFill>
                <a:latin typeface="Calibri" panose="020F0502020204030204" pitchFamily="34" charset="0"/>
                <a:cs typeface="Calibri" panose="020F0502020204030204" pitchFamily="34" charset="0"/>
              </a:rPr>
              <a:t>* דרך גמלת הסיעוד</a:t>
            </a:r>
            <a:r>
              <a:rPr lang="en-US" sz="1600" b="1" dirty="0">
                <a:solidFill>
                  <a:srgbClr val="0070C0"/>
                </a:solidFill>
                <a:latin typeface="Calibri" panose="020F0502020204030204" pitchFamily="34" charset="0"/>
                <a:cs typeface="Calibri" panose="020F0502020204030204" pitchFamily="34" charset="0"/>
              </a:rPr>
              <a:t/>
            </a:r>
            <a:br>
              <a:rPr lang="en-US" sz="1600" b="1" dirty="0">
                <a:solidFill>
                  <a:srgbClr val="0070C0"/>
                </a:solidFill>
                <a:latin typeface="Calibri" panose="020F0502020204030204" pitchFamily="34" charset="0"/>
                <a:cs typeface="Calibri" panose="020F0502020204030204" pitchFamily="34" charset="0"/>
              </a:rPr>
            </a:br>
            <a:r>
              <a:rPr lang="he-IL" sz="1600" b="1" dirty="0">
                <a:solidFill>
                  <a:srgbClr val="0070C0"/>
                </a:solidFill>
                <a:latin typeface="Calibri" panose="020F0502020204030204" pitchFamily="34" charset="0"/>
                <a:cs typeface="Calibri" panose="020F0502020204030204" pitchFamily="34" charset="0"/>
              </a:rPr>
              <a:t>* 3 ימים בשבוע</a:t>
            </a:r>
          </a:p>
        </p:txBody>
      </p:sp>
      <p:sp>
        <p:nvSpPr>
          <p:cNvPr id="6" name="מלבן 5"/>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graphicFrame>
        <p:nvGraphicFramePr>
          <p:cNvPr id="10" name="תרשים 9"/>
          <p:cNvGraphicFramePr>
            <a:graphicFrameLocks/>
          </p:cNvGraphicFramePr>
          <p:nvPr>
            <p:extLst>
              <p:ext uri="{D42A27DB-BD31-4B8C-83A1-F6EECF244321}">
                <p14:modId xmlns:p14="http://schemas.microsoft.com/office/powerpoint/2010/main" val="2737684686"/>
              </p:ext>
            </p:extLst>
          </p:nvPr>
        </p:nvGraphicFramePr>
        <p:xfrm>
          <a:off x="792952" y="249806"/>
          <a:ext cx="11116018" cy="6358385"/>
        </p:xfrm>
        <a:graphic>
          <a:graphicData uri="http://schemas.openxmlformats.org/drawingml/2006/chart">
            <c:chart xmlns:c="http://schemas.openxmlformats.org/drawingml/2006/chart" xmlns:r="http://schemas.openxmlformats.org/officeDocument/2006/relationships" r:id="rId3"/>
          </a:graphicData>
        </a:graphic>
      </p:graphicFrame>
      <p:sp>
        <p:nvSpPr>
          <p:cNvPr id="3" name="חץ ימינה 2"/>
          <p:cNvSpPr/>
          <p:nvPr/>
        </p:nvSpPr>
        <p:spPr>
          <a:xfrm rot="18705618">
            <a:off x="8306867" y="4390313"/>
            <a:ext cx="1340101" cy="661540"/>
          </a:xfrm>
          <a:prstGeom prst="rightArrow">
            <a:avLst/>
          </a:prstGeom>
          <a:solidFill>
            <a:srgbClr val="FFC000"/>
          </a:solidFill>
        </p:spPr>
        <p:style>
          <a:lnRef idx="3">
            <a:schemeClr val="lt1"/>
          </a:lnRef>
          <a:fillRef idx="1">
            <a:schemeClr val="accent2"/>
          </a:fillRef>
          <a:effectRef idx="1">
            <a:schemeClr val="accent2"/>
          </a:effectRef>
          <a:fontRef idx="minor">
            <a:schemeClr val="lt1"/>
          </a:fontRef>
        </p:style>
        <p:txBody>
          <a:bodyPr rtlCol="1" anchor="ctr"/>
          <a:lstStyle/>
          <a:p>
            <a:pPr algn="ctr"/>
            <a:r>
              <a:rPr lang="he-IL" b="1" dirty="0">
                <a:solidFill>
                  <a:schemeClr val="tx1"/>
                </a:solidFill>
                <a:latin typeface="Calibri" panose="020F0502020204030204" pitchFamily="34" charset="0"/>
                <a:cs typeface="Calibri" panose="020F0502020204030204" pitchFamily="34" charset="0"/>
              </a:rPr>
              <a:t>פי 17</a:t>
            </a:r>
          </a:p>
        </p:txBody>
      </p:sp>
      <p:sp>
        <p:nvSpPr>
          <p:cNvPr id="5" name="TextBox 4"/>
          <p:cNvSpPr txBox="1"/>
          <p:nvPr/>
        </p:nvSpPr>
        <p:spPr>
          <a:xfrm>
            <a:off x="1876696" y="1371089"/>
            <a:ext cx="2752626" cy="923330"/>
          </a:xfrm>
          <a:prstGeom prst="rect">
            <a:avLst/>
          </a:prstGeom>
          <a:solidFill>
            <a:srgbClr val="FFC000"/>
          </a:solidFill>
          <a:ln>
            <a:solidFill>
              <a:srgbClr val="FFC000"/>
            </a:solidFill>
          </a:ln>
        </p:spPr>
        <p:style>
          <a:lnRef idx="2">
            <a:schemeClr val="dk1">
              <a:shade val="50000"/>
            </a:schemeClr>
          </a:lnRef>
          <a:fillRef idx="1">
            <a:schemeClr val="dk1"/>
          </a:fillRef>
          <a:effectRef idx="0">
            <a:schemeClr val="dk1"/>
          </a:effectRef>
          <a:fontRef idx="minor">
            <a:schemeClr val="lt1"/>
          </a:fontRef>
        </p:style>
        <p:txBody>
          <a:bodyPr wrap="square" rtlCol="1">
            <a:spAutoFit/>
          </a:bodyPr>
          <a:lstStyle/>
          <a:p>
            <a:r>
              <a:rPr lang="he-IL" dirty="0">
                <a:solidFill>
                  <a:schemeClr val="tx1"/>
                </a:solidFill>
              </a:rPr>
              <a:t>שירותי רווחה ובריאות ניתנים כמעט בחינם, בגיל 80 נצפה שהזקן יתחיל לשלם??</a:t>
            </a:r>
          </a:p>
        </p:txBody>
      </p:sp>
      <p:sp>
        <p:nvSpPr>
          <p:cNvPr id="7" name="מלבן 6"/>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8" name="TextBox 7"/>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36826506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93109DC6-B38C-1970-58FE-DE059CBAD3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66" y="0"/>
            <a:ext cx="12178468" cy="6858000"/>
          </a:xfrm>
          <a:prstGeom prst="rect">
            <a:avLst/>
          </a:prstGeom>
          <a:solidFill>
            <a:schemeClr val="tx1"/>
          </a:solidFill>
          <a:effectLst>
            <a:reflection blurRad="1257300" stA="0" endPos="65000" dist="1270000" dir="5400000" sy="-100000" algn="bl" rotWithShape="0"/>
          </a:effectLst>
        </p:spPr>
      </p:pic>
      <p:sp>
        <p:nvSpPr>
          <p:cNvPr id="8" name="מלבן 7">
            <a:extLst>
              <a:ext uri="{FF2B5EF4-FFF2-40B4-BE49-F238E27FC236}">
                <a16:creationId xmlns:a16="http://schemas.microsoft.com/office/drawing/2014/main" id="{6EC5129C-E0D7-1E68-C5B8-2E4DE42FBCCD}"/>
              </a:ext>
            </a:extLst>
          </p:cNvPr>
          <p:cNvSpPr/>
          <p:nvPr/>
        </p:nvSpPr>
        <p:spPr>
          <a:xfrm>
            <a:off x="6766" y="0"/>
            <a:ext cx="12192000" cy="6858000"/>
          </a:xfrm>
          <a:prstGeom prst="rect">
            <a:avLst/>
          </a:prstGeom>
          <a:solidFill>
            <a:schemeClr val="dk1">
              <a:alpha val="63000"/>
            </a:schemeClr>
          </a:solidFill>
        </p:spPr>
        <p:style>
          <a:lnRef idx="2">
            <a:schemeClr val="dk1">
              <a:shade val="15000"/>
            </a:schemeClr>
          </a:lnRef>
          <a:fillRef idx="1">
            <a:schemeClr val="dk1"/>
          </a:fillRef>
          <a:effectRef idx="0">
            <a:schemeClr val="dk1"/>
          </a:effectRef>
          <a:fontRef idx="minor">
            <a:schemeClr val="lt1"/>
          </a:fontRef>
        </p:style>
        <p:txBody>
          <a:bodyPr rtlCol="1" anchor="ctr"/>
          <a:lstStyle/>
          <a:p>
            <a:pPr algn="ctr"/>
            <a:endParaRPr lang="he-IL">
              <a:solidFill>
                <a:schemeClr val="bg1"/>
              </a:solidFill>
            </a:endParaRPr>
          </a:p>
        </p:txBody>
      </p:sp>
      <p:sp>
        <p:nvSpPr>
          <p:cNvPr id="2" name="כותרת 1"/>
          <p:cNvSpPr>
            <a:spLocks noGrp="1"/>
          </p:cNvSpPr>
          <p:nvPr>
            <p:ph type="title"/>
          </p:nvPr>
        </p:nvSpPr>
        <p:spPr>
          <a:xfrm>
            <a:off x="1244668" y="275980"/>
            <a:ext cx="10515600" cy="638485"/>
          </a:xfrm>
        </p:spPr>
        <p:txBody>
          <a:bodyPr>
            <a:normAutofit fontScale="90000"/>
          </a:bodyPr>
          <a:lstStyle/>
          <a:p>
            <a:r>
              <a:rPr lang="he-IL" dirty="0">
                <a:solidFill>
                  <a:schemeClr val="bg1"/>
                </a:solidFill>
              </a:rPr>
              <a:t>פורום ברק</a:t>
            </a:r>
          </a:p>
        </p:txBody>
      </p:sp>
      <p:sp>
        <p:nvSpPr>
          <p:cNvPr id="3" name="מציין מיקום תוכן 2"/>
          <p:cNvSpPr>
            <a:spLocks noGrp="1"/>
          </p:cNvSpPr>
          <p:nvPr>
            <p:ph idx="1"/>
          </p:nvPr>
        </p:nvSpPr>
        <p:spPr>
          <a:xfrm>
            <a:off x="1244668" y="1379901"/>
            <a:ext cx="10515600" cy="4351338"/>
          </a:xfrm>
        </p:spPr>
        <p:txBody>
          <a:bodyPr>
            <a:normAutofit fontScale="62500" lnSpcReduction="20000"/>
          </a:bodyPr>
          <a:lstStyle/>
          <a:p>
            <a:pPr marL="0" indent="0">
              <a:buNone/>
            </a:pPr>
            <a:endParaRPr lang="he-IL" sz="2600" b="1" dirty="0">
              <a:solidFill>
                <a:schemeClr val="bg1"/>
              </a:solidFill>
            </a:endParaRPr>
          </a:p>
          <a:p>
            <a:pPr marL="0" indent="0">
              <a:buNone/>
            </a:pPr>
            <a:r>
              <a:rPr lang="he-IL" sz="2600" b="1" dirty="0">
                <a:solidFill>
                  <a:schemeClr val="bg1"/>
                </a:solidFill>
              </a:rPr>
              <a:t>צוותים </a:t>
            </a:r>
            <a:r>
              <a:rPr lang="he-IL" sz="2600" b="1" dirty="0" err="1">
                <a:solidFill>
                  <a:schemeClr val="bg1"/>
                </a:solidFill>
              </a:rPr>
              <a:t>יעודיים</a:t>
            </a:r>
            <a:r>
              <a:rPr lang="he-IL" sz="2600" b="1" dirty="0">
                <a:solidFill>
                  <a:schemeClr val="bg1"/>
                </a:solidFill>
              </a:rPr>
              <a:t>:</a:t>
            </a:r>
          </a:p>
          <a:p>
            <a:pPr marL="514350" indent="-514350">
              <a:buFont typeface="+mj-lt"/>
              <a:buAutoNum type="arabicPeriod"/>
            </a:pPr>
            <a:r>
              <a:rPr lang="he-IL" b="1" dirty="0">
                <a:solidFill>
                  <a:schemeClr val="bg1"/>
                </a:solidFill>
              </a:rPr>
              <a:t>צוות מדיניות- </a:t>
            </a:r>
            <a:r>
              <a:rPr lang="he-IL" dirty="0" smtClean="0">
                <a:solidFill>
                  <a:schemeClr val="bg1"/>
                </a:solidFill>
              </a:rPr>
              <a:t>הרחבת </a:t>
            </a:r>
            <a:r>
              <a:rPr lang="he-IL" dirty="0">
                <a:solidFill>
                  <a:schemeClr val="bg1"/>
                </a:solidFill>
              </a:rPr>
              <a:t>והתאמת סל השירותים</a:t>
            </a:r>
          </a:p>
          <a:p>
            <a:pPr marL="514350" indent="-514350">
              <a:buFont typeface="+mj-lt"/>
              <a:buAutoNum type="arabicPeriod"/>
            </a:pPr>
            <a:r>
              <a:rPr lang="he-IL" b="1" dirty="0">
                <a:solidFill>
                  <a:schemeClr val="bg1"/>
                </a:solidFill>
              </a:rPr>
              <a:t>צוות מדדים- </a:t>
            </a:r>
            <a:r>
              <a:rPr lang="he-IL" dirty="0">
                <a:solidFill>
                  <a:schemeClr val="bg1"/>
                </a:solidFill>
              </a:rPr>
              <a:t>מדידת תוצאות ופיתוח ממשקים.</a:t>
            </a:r>
          </a:p>
          <a:p>
            <a:pPr marL="514350" indent="-514350">
              <a:buFont typeface="+mj-lt"/>
              <a:buAutoNum type="arabicPeriod"/>
            </a:pPr>
            <a:r>
              <a:rPr lang="he-IL" b="1" dirty="0">
                <a:solidFill>
                  <a:schemeClr val="bg1"/>
                </a:solidFill>
              </a:rPr>
              <a:t>צוות </a:t>
            </a:r>
            <a:r>
              <a:rPr lang="he-IL" b="1" dirty="0" err="1">
                <a:solidFill>
                  <a:schemeClr val="bg1"/>
                </a:solidFill>
              </a:rPr>
              <a:t>תמרוצים</a:t>
            </a:r>
            <a:r>
              <a:rPr lang="he-IL" b="1" dirty="0">
                <a:solidFill>
                  <a:schemeClr val="bg1"/>
                </a:solidFill>
              </a:rPr>
              <a:t> </a:t>
            </a:r>
            <a:r>
              <a:rPr lang="he-IL" dirty="0">
                <a:solidFill>
                  <a:schemeClr val="bg1"/>
                </a:solidFill>
              </a:rPr>
              <a:t>לזקן ולמערכות</a:t>
            </a:r>
          </a:p>
          <a:p>
            <a:endParaRPr lang="he-IL" dirty="0">
              <a:solidFill>
                <a:schemeClr val="bg1"/>
              </a:solidFill>
            </a:endParaRPr>
          </a:p>
          <a:p>
            <a:pPr marL="0" indent="0">
              <a:buNone/>
            </a:pPr>
            <a:endParaRPr lang="he-IL" sz="3000" b="1" dirty="0">
              <a:solidFill>
                <a:schemeClr val="bg1"/>
              </a:solidFill>
            </a:endParaRPr>
          </a:p>
          <a:p>
            <a:pPr marL="0" indent="0">
              <a:buNone/>
            </a:pPr>
            <a:endParaRPr lang="he-IL" sz="3000" b="1" dirty="0">
              <a:solidFill>
                <a:schemeClr val="bg1"/>
              </a:solidFill>
            </a:endParaRPr>
          </a:p>
          <a:p>
            <a:pPr marL="0" indent="0">
              <a:buNone/>
            </a:pPr>
            <a:r>
              <a:rPr lang="he-IL" sz="3000" b="1" dirty="0">
                <a:solidFill>
                  <a:schemeClr val="bg1"/>
                </a:solidFill>
              </a:rPr>
              <a:t>צוות דאטה </a:t>
            </a:r>
            <a:r>
              <a:rPr lang="he-IL" sz="3000" b="1" dirty="0" err="1">
                <a:solidFill>
                  <a:schemeClr val="bg1"/>
                </a:solidFill>
              </a:rPr>
              <a:t>דיגיטל</a:t>
            </a:r>
            <a:r>
              <a:rPr lang="he-IL" sz="3000" b="1" dirty="0">
                <a:solidFill>
                  <a:schemeClr val="bg1"/>
                </a:solidFill>
              </a:rPr>
              <a:t> (פרוייקטים משותפים):</a:t>
            </a:r>
            <a:endParaRPr lang="he-IL" sz="2600" b="1" dirty="0">
              <a:solidFill>
                <a:schemeClr val="bg1"/>
              </a:solidFill>
            </a:endParaRPr>
          </a:p>
          <a:p>
            <a:pPr marL="514350" indent="-514350">
              <a:buFont typeface="+mj-lt"/>
              <a:buAutoNum type="arabicPeriod"/>
            </a:pPr>
            <a:r>
              <a:rPr lang="he-IL" b="1" dirty="0">
                <a:solidFill>
                  <a:schemeClr val="bg1"/>
                </a:solidFill>
              </a:rPr>
              <a:t>הצלבת </a:t>
            </a:r>
            <a:r>
              <a:rPr lang="he-IL" b="1" dirty="0" err="1">
                <a:solidFill>
                  <a:schemeClr val="bg1"/>
                </a:solidFill>
              </a:rPr>
              <a:t>והנגשת</a:t>
            </a:r>
            <a:r>
              <a:rPr lang="he-IL" b="1" dirty="0">
                <a:solidFill>
                  <a:schemeClr val="bg1"/>
                </a:solidFill>
              </a:rPr>
              <a:t> מידע רב מערכתי</a:t>
            </a:r>
          </a:p>
          <a:p>
            <a:pPr marL="514350" indent="-514350">
              <a:buFont typeface="+mj-lt"/>
              <a:buAutoNum type="arabicPeriod"/>
            </a:pPr>
            <a:r>
              <a:rPr lang="he-IL" b="1" dirty="0">
                <a:solidFill>
                  <a:schemeClr val="bg1"/>
                </a:solidFill>
              </a:rPr>
              <a:t>אופטימיזציה של צרכים ומענים- </a:t>
            </a:r>
            <a:r>
              <a:rPr lang="he-IL" dirty="0">
                <a:solidFill>
                  <a:schemeClr val="bg1"/>
                </a:solidFill>
              </a:rPr>
              <a:t>בניית פרופילים למניעה של רמות 0-2</a:t>
            </a:r>
          </a:p>
          <a:p>
            <a:pPr marL="514350" indent="-514350">
              <a:buFont typeface="+mj-lt"/>
              <a:buAutoNum type="arabicPeriod"/>
            </a:pPr>
            <a:r>
              <a:rPr lang="he-IL" b="1" dirty="0">
                <a:solidFill>
                  <a:schemeClr val="bg1"/>
                </a:solidFill>
              </a:rPr>
              <a:t>מדד שבריריות ומדידת מניעה ואימפקט </a:t>
            </a:r>
            <a:r>
              <a:rPr lang="he-IL" dirty="0">
                <a:solidFill>
                  <a:schemeClr val="bg1"/>
                </a:solidFill>
              </a:rPr>
              <a:t>(בשת"פ צוות מניעה)</a:t>
            </a:r>
          </a:p>
          <a:p>
            <a:pPr marL="514350" indent="-514350">
              <a:buFont typeface="+mj-lt"/>
              <a:buAutoNum type="arabicPeriod"/>
            </a:pPr>
            <a:r>
              <a:rPr lang="he-IL" dirty="0">
                <a:solidFill>
                  <a:schemeClr val="bg1"/>
                </a:solidFill>
              </a:rPr>
              <a:t>הפניות הדדיות רווחה-קופ"ח (בשת"פ צוות רשויות)</a:t>
            </a:r>
          </a:p>
          <a:p>
            <a:endParaRPr lang="he-IL" dirty="0">
              <a:solidFill>
                <a:schemeClr val="bg1"/>
              </a:solidFill>
            </a:endParaRPr>
          </a:p>
          <a:p>
            <a:endParaRPr lang="he-IL" dirty="0">
              <a:solidFill>
                <a:schemeClr val="bg1"/>
              </a:solidFill>
            </a:endParaRPr>
          </a:p>
        </p:txBody>
      </p:sp>
      <p:sp>
        <p:nvSpPr>
          <p:cNvPr id="4" name="מלבן 3"/>
          <p:cNvSpPr/>
          <p:nvPr/>
        </p:nvSpPr>
        <p:spPr>
          <a:xfrm>
            <a:off x="8288671" y="1087513"/>
            <a:ext cx="3579827" cy="523220"/>
          </a:xfrm>
          <a:prstGeom prst="rect">
            <a:avLst/>
          </a:prstGeom>
        </p:spPr>
        <p:txBody>
          <a:bodyPr wrap="none">
            <a:spAutoFit/>
          </a:bodyPr>
          <a:lstStyle/>
          <a:p>
            <a:r>
              <a:rPr lang="he-IL" sz="2800" b="1" dirty="0">
                <a:solidFill>
                  <a:schemeClr val="bg1"/>
                </a:solidFill>
              </a:rPr>
              <a:t>צוות מניעת התדרדרות</a:t>
            </a:r>
            <a:r>
              <a:rPr lang="he-IL" sz="2400" b="1" dirty="0">
                <a:solidFill>
                  <a:schemeClr val="bg1"/>
                </a:solidFill>
              </a:rPr>
              <a:t>:</a:t>
            </a:r>
          </a:p>
        </p:txBody>
      </p:sp>
      <p:sp>
        <p:nvSpPr>
          <p:cNvPr id="5" name="מלבן 4"/>
          <p:cNvSpPr/>
          <p:nvPr/>
        </p:nvSpPr>
        <p:spPr>
          <a:xfrm>
            <a:off x="2675028" y="1149068"/>
            <a:ext cx="5750292" cy="400110"/>
          </a:xfrm>
          <a:prstGeom prst="rect">
            <a:avLst/>
          </a:prstGeom>
        </p:spPr>
        <p:txBody>
          <a:bodyPr wrap="none">
            <a:spAutoFit/>
          </a:bodyPr>
          <a:lstStyle/>
          <a:p>
            <a:r>
              <a:rPr lang="he-IL" sz="2000" b="1" dirty="0">
                <a:solidFill>
                  <a:schemeClr val="bg1"/>
                </a:solidFill>
              </a:rPr>
              <a:t>רווחה, </a:t>
            </a:r>
            <a:r>
              <a:rPr lang="he-IL" sz="2000" b="1" dirty="0" err="1">
                <a:solidFill>
                  <a:schemeClr val="bg1"/>
                </a:solidFill>
              </a:rPr>
              <a:t>בטל"א</a:t>
            </a:r>
            <a:r>
              <a:rPr lang="he-IL" sz="2000" b="1" dirty="0">
                <a:solidFill>
                  <a:schemeClr val="bg1"/>
                </a:solidFill>
              </a:rPr>
              <a:t>, בריאות</a:t>
            </a:r>
            <a:r>
              <a:rPr lang="he-IL" sz="2000" dirty="0">
                <a:solidFill>
                  <a:schemeClr val="bg1"/>
                </a:solidFill>
              </a:rPr>
              <a:t>, כל קופ"ח, רשויות, ג'וינט והאוצר</a:t>
            </a:r>
          </a:p>
        </p:txBody>
      </p:sp>
      <p:sp>
        <p:nvSpPr>
          <p:cNvPr id="9" name="מלבן 8"/>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0" name="TextBox 9"/>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293563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267248" y="197856"/>
            <a:ext cx="11650710" cy="1325563"/>
          </a:xfrm>
        </p:spPr>
        <p:txBody>
          <a:bodyPr>
            <a:normAutofit/>
          </a:bodyPr>
          <a:lstStyle/>
          <a:p>
            <a:r>
              <a:rPr lang="he-IL" sz="3600" dirty="0"/>
              <a:t>מודיעין עסקי: שחקני המפתח, אינטרסים והצצה אל מאחורי הקלעים</a:t>
            </a:r>
          </a:p>
        </p:txBody>
      </p:sp>
      <p:sp>
        <p:nvSpPr>
          <p:cNvPr id="3" name="מציין מיקום תוכן 2"/>
          <p:cNvSpPr>
            <a:spLocks noGrp="1"/>
          </p:cNvSpPr>
          <p:nvPr>
            <p:ph idx="1"/>
          </p:nvPr>
        </p:nvSpPr>
        <p:spPr>
          <a:xfrm>
            <a:off x="838200" y="1825625"/>
            <a:ext cx="10854965" cy="4351338"/>
          </a:xfrm>
        </p:spPr>
        <p:txBody>
          <a:bodyPr>
            <a:normAutofit fontScale="85000" lnSpcReduction="20000"/>
          </a:bodyPr>
          <a:lstStyle/>
          <a:p>
            <a:r>
              <a:rPr lang="he-IL" b="1" dirty="0"/>
              <a:t>האוצר</a:t>
            </a:r>
            <a:r>
              <a:rPr lang="he-IL" dirty="0"/>
              <a:t>- הכנסת קופ"ח, הורדת מטפלות ברמות הנמוכות, הפחתת בני משפחה מטפלים, הרחבת קהילה תומכת, ביטול התקציב מרמות 1-2 (דרמטי).</a:t>
            </a:r>
          </a:p>
          <a:p>
            <a:r>
              <a:rPr lang="he-IL" b="1" dirty="0"/>
              <a:t>צוות מניעה בפורום ברק- </a:t>
            </a:r>
            <a:r>
              <a:rPr lang="he-IL" dirty="0"/>
              <a:t>שת"פ רחב ואופרטיבי למניעת הדרדרות (כיוון משותף). </a:t>
            </a:r>
          </a:p>
          <a:p>
            <a:pPr algn="just"/>
            <a:r>
              <a:rPr lang="he-IL" sz="2700" b="1" dirty="0"/>
              <a:t>ביטוח לאומי- </a:t>
            </a:r>
            <a:r>
              <a:rPr lang="he-IL" sz="2700" dirty="0"/>
              <a:t>הרחבת סל השירותים</a:t>
            </a:r>
            <a:r>
              <a:rPr lang="he-IL" sz="1500" dirty="0"/>
              <a:t> </a:t>
            </a:r>
            <a:r>
              <a:rPr lang="he-IL" sz="2200" dirty="0"/>
              <a:t>(קול קורא), </a:t>
            </a:r>
            <a:r>
              <a:rPr lang="he-IL" sz="2700" dirty="0"/>
              <a:t>שינוי השיטה לסל מותאם אישית, קהילה תומכת מותאמת לכולם, מופת בתוך מרכזי היום,</a:t>
            </a:r>
            <a:r>
              <a:rPr lang="he-IL" sz="1100" dirty="0"/>
              <a:t> </a:t>
            </a:r>
            <a:r>
              <a:rPr lang="he-IL" sz="2700" dirty="0"/>
              <a:t>מעריכות התלות בקופ"ח, בני משפחה.</a:t>
            </a:r>
          </a:p>
          <a:p>
            <a:r>
              <a:rPr lang="he-IL" b="1" dirty="0"/>
              <a:t>רווחה</a:t>
            </a:r>
            <a:r>
              <a:rPr lang="he-IL" dirty="0"/>
              <a:t>- </a:t>
            </a:r>
            <a:r>
              <a:rPr lang="he-IL" dirty="0" err="1"/>
              <a:t>תמרוץ</a:t>
            </a:r>
            <a:r>
              <a:rPr lang="he-IL" dirty="0"/>
              <a:t> לשירותים ולא כסף, פיתוח מדדים, שינוי השיטה, מנגנון תומך למחלקה, בני משפחה מטפלים.</a:t>
            </a:r>
          </a:p>
          <a:p>
            <a:r>
              <a:rPr lang="he-IL" b="1" dirty="0"/>
              <a:t>בריאות</a:t>
            </a:r>
            <a:r>
              <a:rPr lang="he-IL" dirty="0"/>
              <a:t>- אין רצון </a:t>
            </a:r>
            <a:r>
              <a:rPr lang="he-IL" dirty="0" err="1"/>
              <a:t>לתעדף</a:t>
            </a:r>
            <a:r>
              <a:rPr lang="he-IL" dirty="0"/>
              <a:t> סיעוד על זקנים אחרים מהתקציב.</a:t>
            </a:r>
          </a:p>
          <a:p>
            <a:r>
              <a:rPr lang="he-IL" b="1" dirty="0"/>
              <a:t>קופ"ח</a:t>
            </a:r>
            <a:r>
              <a:rPr lang="he-IL" dirty="0"/>
              <a:t>- רצון לתקציב צבוע, פחות להפעלת שירותים (חשובים במדידה והפניות).</a:t>
            </a:r>
          </a:p>
          <a:p>
            <a:r>
              <a:rPr lang="he-IL" b="1" dirty="0"/>
              <a:t>חברות הסיעוד-</a:t>
            </a:r>
            <a:r>
              <a:rPr lang="he-IL" dirty="0"/>
              <a:t>חשש משינוי השיטה, רצון להיות שותפים בהובלת השינוי.</a:t>
            </a:r>
          </a:p>
          <a:p>
            <a:pPr marL="0" indent="0">
              <a:buNone/>
            </a:pPr>
            <a:endParaRPr lang="he-IL" sz="1900" dirty="0"/>
          </a:p>
          <a:p>
            <a:pPr marL="0" indent="0" algn="ctr">
              <a:buNone/>
            </a:pPr>
            <a:r>
              <a:rPr lang="he-IL" sz="3300" b="1" dirty="0">
                <a:solidFill>
                  <a:srgbClr val="002060"/>
                </a:solidFill>
              </a:rPr>
              <a:t>קיבלנו בפורום ברק את התכניות של כלל השותפים למניעה בסיעוד</a:t>
            </a:r>
            <a:r>
              <a:rPr lang="he-IL" b="1" dirty="0">
                <a:solidFill>
                  <a:srgbClr val="002060"/>
                </a:solidFill>
              </a:rPr>
              <a:t>.</a:t>
            </a:r>
          </a:p>
        </p:txBody>
      </p:sp>
      <p:sp>
        <p:nvSpPr>
          <p:cNvPr id="4" name="מלבן 3"/>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527FC4"/>
              </a:solidFill>
            </a:endParaRPr>
          </a:p>
        </p:txBody>
      </p:sp>
      <p:sp>
        <p:nvSpPr>
          <p:cNvPr id="5" name="מלבן 4"/>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6" name="TextBox 5"/>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Tree>
    <p:extLst>
      <p:ext uri="{BB962C8B-B14F-4D97-AF65-F5344CB8AC3E}">
        <p14:creationId xmlns:p14="http://schemas.microsoft.com/office/powerpoint/2010/main" val="27888217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מלבן 20"/>
          <p:cNvSpPr/>
          <p:nvPr/>
        </p:nvSpPr>
        <p:spPr>
          <a:xfrm>
            <a:off x="560833" y="1144901"/>
            <a:ext cx="10097588" cy="83670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b="1" dirty="0">
                <a:solidFill>
                  <a:schemeClr val="tx1"/>
                </a:solidFill>
                <a:latin typeface="Calibri" panose="020F0502020204030204" pitchFamily="34" charset="0"/>
                <a:cs typeface="Calibri" panose="020F0502020204030204" pitchFamily="34" charset="0"/>
              </a:rPr>
              <a:t>       התאמה אישית, מדידה ותמרוץ שירותים דוחקי תלות</a:t>
            </a:r>
          </a:p>
        </p:txBody>
      </p:sp>
      <p:sp>
        <p:nvSpPr>
          <p:cNvPr id="3" name="מלבן 2"/>
          <p:cNvSpPr/>
          <p:nvPr/>
        </p:nvSpPr>
        <p:spPr>
          <a:xfrm>
            <a:off x="656195" y="519432"/>
            <a:ext cx="6673066" cy="10438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endParaRPr kumimoji="0" lang="he-IL" sz="2000" b="0" i="0" u="none" strike="noStrike" kern="1200" cap="none" spc="0" normalizeH="0" baseline="0" noProof="0" dirty="0">
              <a:ln>
                <a:noFill/>
              </a:ln>
              <a:solidFill>
                <a:srgbClr val="44546A">
                  <a:lumMod val="10000"/>
                </a:srgbClr>
              </a:solidFill>
              <a:effectLst/>
              <a:uLnTx/>
              <a:uFillTx/>
              <a:latin typeface="Varela Round" panose="00000500000000000000" pitchFamily="2" charset="-79"/>
              <a:ea typeface="+mn-ea"/>
              <a:cs typeface="Varela Round" panose="00000500000000000000" pitchFamily="2" charset="-79"/>
            </a:endParaRPr>
          </a:p>
        </p:txBody>
      </p:sp>
      <p:sp>
        <p:nvSpPr>
          <p:cNvPr id="5" name="מלבן 4"/>
          <p:cNvSpPr/>
          <p:nvPr/>
        </p:nvSpPr>
        <p:spPr>
          <a:xfrm>
            <a:off x="0" y="0"/>
            <a:ext cx="753237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algn="ctr">
              <a:lnSpc>
                <a:spcPct val="150000"/>
              </a:lnSpc>
            </a:pPr>
            <a:endParaRPr lang="he-IL" sz="2400" dirty="0">
              <a:solidFill>
                <a:schemeClr val="bg1"/>
              </a:solidFill>
              <a:latin typeface="Gveret Levin AlefAlefAlef" panose="00000500000000000000" pitchFamily="50" charset="-79"/>
              <a:cs typeface="Gveret Levin AlefAlefAlef" panose="00000500000000000000" pitchFamily="50" charset="-79"/>
            </a:endParaRPr>
          </a:p>
        </p:txBody>
      </p:sp>
      <p:sp>
        <p:nvSpPr>
          <p:cNvPr id="23" name="מלבן 22"/>
          <p:cNvSpPr/>
          <p:nvPr/>
        </p:nvSpPr>
        <p:spPr>
          <a:xfrm>
            <a:off x="596367" y="5311931"/>
            <a:ext cx="11358218" cy="122013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שירותים חברתיים למקבלי סיעוד מחייב הסתכלות רחבה על כל 360 אלף מקבלי הגמלה, יכולת להציע שירותים מגוונים, התאמה ותמרוץ</a:t>
            </a:r>
          </a:p>
        </p:txBody>
      </p:sp>
      <p:grpSp>
        <p:nvGrpSpPr>
          <p:cNvPr id="7" name="קבוצה 6"/>
          <p:cNvGrpSpPr/>
          <p:nvPr/>
        </p:nvGrpSpPr>
        <p:grpSpPr>
          <a:xfrm>
            <a:off x="1154557" y="1144900"/>
            <a:ext cx="9653910" cy="2580023"/>
            <a:chOff x="1291535" y="3895066"/>
            <a:chExt cx="9653910" cy="2580023"/>
          </a:xfrm>
          <a:solidFill>
            <a:srgbClr val="FFC000"/>
          </a:solidFill>
        </p:grpSpPr>
        <p:sp>
          <p:nvSpPr>
            <p:cNvPr id="16" name="אליפסה 15"/>
            <p:cNvSpPr/>
            <p:nvPr/>
          </p:nvSpPr>
          <p:spPr>
            <a:xfrm>
              <a:off x="4637356" y="4770492"/>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err="1">
                  <a:solidFill>
                    <a:srgbClr val="44546A">
                      <a:lumMod val="10000"/>
                    </a:srgbClr>
                  </a:solidFill>
                  <a:latin typeface="Calibri" panose="020F0502020204030204" pitchFamily="34" charset="0"/>
                  <a:cs typeface="Calibri" panose="020F0502020204030204" pitchFamily="34" charset="0"/>
                </a:rPr>
                <a:t>אסדרת</a:t>
              </a:r>
              <a:r>
                <a:rPr lang="he-IL" sz="2000" b="1" dirty="0">
                  <a:solidFill>
                    <a:srgbClr val="44546A">
                      <a:lumMod val="10000"/>
                    </a:srgbClr>
                  </a:solidFill>
                  <a:latin typeface="Calibri" panose="020F0502020204030204" pitchFamily="34" charset="0"/>
                  <a:cs typeface="Calibri" panose="020F0502020204030204" pitchFamily="34" charset="0"/>
                </a:rPr>
                <a:t> הפיקוח</a:t>
              </a:r>
            </a:p>
          </p:txBody>
        </p:sp>
        <p:sp>
          <p:nvSpPr>
            <p:cNvPr id="17" name="אליפסה 16"/>
            <p:cNvSpPr/>
            <p:nvPr/>
          </p:nvSpPr>
          <p:spPr>
            <a:xfrm>
              <a:off x="7988150" y="4805408"/>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תכנון השירותים ברשויות</a:t>
              </a:r>
            </a:p>
          </p:txBody>
        </p:sp>
        <p:sp>
          <p:nvSpPr>
            <p:cNvPr id="15" name="אליפסה 14"/>
            <p:cNvSpPr/>
            <p:nvPr/>
          </p:nvSpPr>
          <p:spPr>
            <a:xfrm>
              <a:off x="2951096" y="4762794"/>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מיקוד בנזקקים</a:t>
              </a:r>
            </a:p>
          </p:txBody>
        </p:sp>
        <p:sp>
          <p:nvSpPr>
            <p:cNvPr id="22" name="אליפסה 21"/>
            <p:cNvSpPr/>
            <p:nvPr/>
          </p:nvSpPr>
          <p:spPr>
            <a:xfrm>
              <a:off x="1291535" y="4757911"/>
              <a:ext cx="1705404" cy="1669681"/>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מניעת כפל</a:t>
              </a:r>
            </a:p>
          </p:txBody>
        </p:sp>
        <p:sp>
          <p:nvSpPr>
            <p:cNvPr id="25" name="מלבן 24"/>
            <p:cNvSpPr/>
            <p:nvPr/>
          </p:nvSpPr>
          <p:spPr>
            <a:xfrm>
              <a:off x="8513765" y="3895066"/>
              <a:ext cx="2431680" cy="83670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500" dirty="0">
                  <a:solidFill>
                    <a:schemeClr val="tx1"/>
                  </a:solidFill>
                  <a:latin typeface="Calibri" panose="020F0502020204030204" pitchFamily="34" charset="0"/>
                  <a:cs typeface="Calibri" panose="020F0502020204030204" pitchFamily="34" charset="0"/>
                </a:rPr>
                <a:t>המטרה:</a:t>
              </a:r>
            </a:p>
          </p:txBody>
        </p:sp>
      </p:grpSp>
      <p:sp>
        <p:nvSpPr>
          <p:cNvPr id="19" name="TextBox 18"/>
          <p:cNvSpPr txBox="1"/>
          <p:nvPr/>
        </p:nvSpPr>
        <p:spPr>
          <a:xfrm>
            <a:off x="2580841" y="314925"/>
            <a:ext cx="9253728" cy="523220"/>
          </a:xfrm>
          <a:prstGeom prst="rect">
            <a:avLst/>
          </a:prstGeom>
          <a:noFill/>
        </p:spPr>
        <p:txBody>
          <a:bodyPr wrap="square" rtlCol="1">
            <a:spAutoFit/>
          </a:bodyPr>
          <a:lstStyle/>
          <a:p>
            <a:r>
              <a:rPr lang="he-IL" sz="2800" b="1" dirty="0">
                <a:latin typeface="Calibri" panose="020F0502020204030204" pitchFamily="34" charset="0"/>
                <a:cs typeface="Calibri" panose="020F0502020204030204" pitchFamily="34" charset="0"/>
              </a:rPr>
              <a:t>שת"פ והעברות מידע– ביטוח לאומי ומשרד הרווחה</a:t>
            </a:r>
          </a:p>
        </p:txBody>
      </p:sp>
      <p:sp>
        <p:nvSpPr>
          <p:cNvPr id="20" name="מלבן 19"/>
          <p:cNvSpPr/>
          <p:nvPr/>
        </p:nvSpPr>
        <p:spPr>
          <a:xfrm>
            <a:off x="3093" y="0"/>
            <a:ext cx="244547" cy="6857999"/>
          </a:xfrm>
          <a:prstGeom prst="rect">
            <a:avLst/>
          </a:prstGeom>
          <a:solidFill>
            <a:srgbClr val="527F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אליפסה 13"/>
          <p:cNvSpPr/>
          <p:nvPr/>
        </p:nvSpPr>
        <p:spPr>
          <a:xfrm>
            <a:off x="6185347"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sz="2000" b="1" dirty="0">
                <a:solidFill>
                  <a:srgbClr val="44546A">
                    <a:lumMod val="10000"/>
                  </a:srgbClr>
                </a:solidFill>
                <a:latin typeface="Calibri" panose="020F0502020204030204" pitchFamily="34" charset="0"/>
                <a:cs typeface="Calibri" panose="020F0502020204030204" pitchFamily="34" charset="0"/>
              </a:rPr>
              <a:t>התאמת שירותים לצרכי הלקוחות</a:t>
            </a:r>
          </a:p>
        </p:txBody>
      </p:sp>
      <p:sp>
        <p:nvSpPr>
          <p:cNvPr id="18" name="מלבן 17"/>
          <p:cNvSpPr/>
          <p:nvPr/>
        </p:nvSpPr>
        <p:spPr>
          <a:xfrm>
            <a:off x="-2308" y="1"/>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4" name="TextBox 23"/>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 name="מלבן 1">
            <a:extLst>
              <a:ext uri="{FF2B5EF4-FFF2-40B4-BE49-F238E27FC236}">
                <a16:creationId xmlns:a16="http://schemas.microsoft.com/office/drawing/2014/main" id="{67C49B9E-65D5-781E-4D41-177CE02F5461}"/>
              </a:ext>
            </a:extLst>
          </p:cNvPr>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dirty="0">
              <a:ln>
                <a:noFill/>
              </a:ln>
              <a:solidFill>
                <a:prstClr val="white"/>
              </a:solidFill>
              <a:effectLst/>
              <a:uLnTx/>
              <a:uFillTx/>
              <a:latin typeface="Calibri"/>
              <a:ea typeface="+mn-ea"/>
              <a:cs typeface="Calibri"/>
            </a:endParaRPr>
          </a:p>
        </p:txBody>
      </p:sp>
      <p:sp>
        <p:nvSpPr>
          <p:cNvPr id="4" name="TextBox 5">
            <a:extLst>
              <a:ext uri="{FF2B5EF4-FFF2-40B4-BE49-F238E27FC236}">
                <a16:creationId xmlns:a16="http://schemas.microsoft.com/office/drawing/2014/main" id="{2CA3A015-7B6E-2195-8F3A-3584FA652760}"/>
              </a:ext>
            </a:extLst>
          </p:cNvPr>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8" name="אליפסה 7">
            <a:extLst>
              <a:ext uri="{FF2B5EF4-FFF2-40B4-BE49-F238E27FC236}">
                <a16:creationId xmlns:a16="http://schemas.microsoft.com/office/drawing/2014/main" id="{55525E03-FFF1-50E2-C731-4C2923713AFA}"/>
              </a:ext>
            </a:extLst>
          </p:cNvPr>
          <p:cNvSpPr/>
          <p:nvPr/>
        </p:nvSpPr>
        <p:spPr>
          <a:xfrm>
            <a:off x="9539283" y="2055242"/>
            <a:ext cx="1705404" cy="1669681"/>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he-IL" b="1" dirty="0">
                <a:solidFill>
                  <a:srgbClr val="44546A">
                    <a:lumMod val="10000"/>
                  </a:srgbClr>
                </a:solidFill>
                <a:latin typeface="Calibri" panose="020F0502020204030204" pitchFamily="34" charset="0"/>
                <a:cs typeface="Calibri" panose="020F0502020204030204" pitchFamily="34" charset="0"/>
              </a:rPr>
              <a:t>תמונת מצב והיערכות לאומית להזדקנות</a:t>
            </a:r>
          </a:p>
        </p:txBody>
      </p:sp>
    </p:spTree>
    <p:extLst>
      <p:ext uri="{BB962C8B-B14F-4D97-AF65-F5344CB8AC3E}">
        <p14:creationId xmlns:p14="http://schemas.microsoft.com/office/powerpoint/2010/main" val="38579669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מלבן 15"/>
          <p:cNvSpPr/>
          <p:nvPr/>
        </p:nvSpPr>
        <p:spPr>
          <a:xfrm>
            <a:off x="8710" y="8466"/>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5" name="TextBox 24"/>
          <p:cNvSpPr txBox="1"/>
          <p:nvPr/>
        </p:nvSpPr>
        <p:spPr>
          <a:xfrm>
            <a:off x="156091" y="97941"/>
            <a:ext cx="7282543" cy="646331"/>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he-IL" sz="3600" b="1" dirty="0">
                <a:solidFill>
                  <a:srgbClr val="002060"/>
                </a:solidFill>
                <a:latin typeface="Calibri" panose="020F0502020204030204" pitchFamily="34" charset="0"/>
                <a:cs typeface="Calibri" panose="020F0502020204030204" pitchFamily="34" charset="0"/>
              </a:rPr>
              <a:t>לאן אתה הולך?</a:t>
            </a:r>
            <a:endParaRPr kumimoji="0" lang="he-IL" sz="3600" b="1" i="0" u="none" strike="noStrike" kern="1200" cap="none" spc="0" normalizeH="0" baseline="0" noProof="0" dirty="0">
              <a:ln>
                <a:noFill/>
              </a:ln>
              <a:solidFill>
                <a:srgbClr val="002060"/>
              </a:solidFill>
              <a:effectLst/>
              <a:uLnTx/>
              <a:uFillTx/>
              <a:latin typeface="Calibri" panose="020F0502020204030204" pitchFamily="34" charset="0"/>
              <a:cs typeface="Calibri" panose="020F0502020204030204" pitchFamily="34" charset="0"/>
            </a:endParaRPr>
          </a:p>
        </p:txBody>
      </p:sp>
      <p:pic>
        <p:nvPicPr>
          <p:cNvPr id="33" name="תמונה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45419" y="6261968"/>
            <a:ext cx="1917271" cy="519704"/>
          </a:xfrm>
          <a:prstGeom prst="rect">
            <a:avLst/>
          </a:prstGeom>
        </p:spPr>
      </p:pic>
      <p:grpSp>
        <p:nvGrpSpPr>
          <p:cNvPr id="34" name="קבוצה 33"/>
          <p:cNvGrpSpPr/>
          <p:nvPr/>
        </p:nvGrpSpPr>
        <p:grpSpPr>
          <a:xfrm>
            <a:off x="1737682" y="685172"/>
            <a:ext cx="713132" cy="672718"/>
            <a:chOff x="1670079" y="2140313"/>
            <a:chExt cx="1642835" cy="1642835"/>
          </a:xfrm>
          <a:solidFill>
            <a:srgbClr val="D8BEEC"/>
          </a:solidFill>
        </p:grpSpPr>
        <p:sp>
          <p:nvSpPr>
            <p:cNvPr id="35" name="אליפסה 34"/>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36"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37" name="אליפסה 36"/>
          <p:cNvSpPr/>
          <p:nvPr/>
        </p:nvSpPr>
        <p:spPr>
          <a:xfrm>
            <a:off x="2142754" y="453506"/>
            <a:ext cx="720556" cy="628513"/>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sp>
      <p:grpSp>
        <p:nvGrpSpPr>
          <p:cNvPr id="38" name="קבוצה 37"/>
          <p:cNvGrpSpPr/>
          <p:nvPr/>
        </p:nvGrpSpPr>
        <p:grpSpPr>
          <a:xfrm>
            <a:off x="1693672" y="238801"/>
            <a:ext cx="1542940" cy="1378856"/>
            <a:chOff x="4003932" y="140625"/>
            <a:chExt cx="3347849" cy="3401935"/>
          </a:xfrm>
        </p:grpSpPr>
        <p:sp>
          <p:nvSpPr>
            <p:cNvPr id="39" name="אליפסה 38"/>
            <p:cNvSpPr/>
            <p:nvPr/>
          </p:nvSpPr>
          <p:spPr>
            <a:xfrm>
              <a:off x="4003932" y="140625"/>
              <a:ext cx="1642835" cy="1642835"/>
            </a:xfrm>
            <a:prstGeom prst="ellipse">
              <a:avLst/>
            </a:prstGeom>
            <a:solidFill>
              <a:srgbClr val="D3F4A8">
                <a:alpha val="50000"/>
              </a:srgbClr>
            </a:solidFill>
          </p:spPr>
          <p:style>
            <a:lnRef idx="2">
              <a:schemeClr val="lt1">
                <a:hueOff val="0"/>
                <a:satOff val="0"/>
                <a:lumOff val="0"/>
                <a:alphaOff val="0"/>
              </a:schemeClr>
            </a:lnRef>
            <a:fillRef idx="1">
              <a:scrgbClr r="0" g="0" b="0"/>
            </a:fillRef>
            <a:effectRef idx="0">
              <a:schemeClr val="accent4">
                <a:alpha val="50000"/>
                <a:hueOff val="0"/>
                <a:satOff val="0"/>
                <a:lumOff val="0"/>
                <a:alphaOff val="0"/>
              </a:schemeClr>
            </a:effectRef>
            <a:fontRef idx="minor">
              <a:schemeClr val="tx1"/>
            </a:fontRef>
          </p:style>
        </p:sp>
        <p:sp>
          <p:nvSpPr>
            <p:cNvPr id="40" name="אליפסה 4"/>
            <p:cNvSpPr txBox="1"/>
            <p:nvPr/>
          </p:nvSpPr>
          <p:spPr>
            <a:xfrm>
              <a:off x="6190122" y="2380901"/>
              <a:ext cx="1161659" cy="1161659"/>
            </a:xfrm>
            <a:prstGeom prst="rect">
              <a:avLst/>
            </a:prstGeom>
          </p:spPr>
          <p:style>
            <a:lnRef idx="0">
              <a:scrgbClr r="0" g="0" b="0"/>
            </a:lnRef>
            <a:fillRef idx="0">
              <a:scrgbClr r="0" g="0" b="0"/>
            </a:fillRef>
            <a:effectRef idx="0">
              <a:scrgbClr r="0" g="0" b="0"/>
            </a:effectRef>
            <a:fontRef idx="minor">
              <a:schemeClr val="tx1"/>
            </a:fontRef>
          </p:style>
          <p:txBody>
            <a:bodyPr spcFirstLastPara="0" vert="horz" wrap="square" lIns="27940" tIns="27940" rIns="27940" bIns="27940" numCol="1" spcCol="1270" anchor="ctr" anchorCtr="0">
              <a:noAutofit/>
            </a:bodyPr>
            <a:lstStyle/>
            <a:p>
              <a:pPr lvl="0" algn="ctr" defTabSz="977900" rtl="1">
                <a:lnSpc>
                  <a:spcPct val="90000"/>
                </a:lnSpc>
                <a:spcBef>
                  <a:spcPct val="0"/>
                </a:spcBef>
                <a:spcAft>
                  <a:spcPct val="35000"/>
                </a:spcAft>
              </a:pPr>
              <a:endParaRPr lang="he-IL" sz="1600" kern="1200" dirty="0">
                <a:latin typeface="Calibri" panose="020F0502020204030204" pitchFamily="34" charset="0"/>
                <a:cs typeface="Calibri" panose="020F0502020204030204" pitchFamily="34" charset="0"/>
              </a:endParaRPr>
            </a:p>
          </p:txBody>
        </p:sp>
      </p:grpSp>
      <p:sp>
        <p:nvSpPr>
          <p:cNvPr id="41" name="חץ שמאלה 40"/>
          <p:cNvSpPr/>
          <p:nvPr/>
        </p:nvSpPr>
        <p:spPr>
          <a:xfrm>
            <a:off x="3468948" y="4867373"/>
            <a:ext cx="656830" cy="356781"/>
          </a:xfrm>
          <a:prstGeom prst="leftArrow">
            <a:avLst/>
          </a:prstGeom>
          <a:solidFill>
            <a:srgbClr val="00206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graphicFrame>
        <p:nvGraphicFramePr>
          <p:cNvPr id="4" name="דיאגרמה 3"/>
          <p:cNvGraphicFramePr/>
          <p:nvPr>
            <p:extLst>
              <p:ext uri="{D42A27DB-BD31-4B8C-83A1-F6EECF244321}">
                <p14:modId xmlns:p14="http://schemas.microsoft.com/office/powerpoint/2010/main" val="1837141804"/>
              </p:ext>
            </p:extLst>
          </p:nvPr>
        </p:nvGraphicFramePr>
        <p:xfrm>
          <a:off x="2094248" y="728133"/>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7" name="TextBox 46"/>
          <p:cNvSpPr txBox="1"/>
          <p:nvPr/>
        </p:nvSpPr>
        <p:spPr>
          <a:xfrm rot="16200000">
            <a:off x="-934780" y="703270"/>
            <a:ext cx="1922322"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מהלכים וכיוונים קדימה</a:t>
            </a:r>
          </a:p>
        </p:txBody>
      </p:sp>
    </p:spTree>
    <p:extLst>
      <p:ext uri="{BB962C8B-B14F-4D97-AF65-F5344CB8AC3E}">
        <p14:creationId xmlns:p14="http://schemas.microsoft.com/office/powerpoint/2010/main" val="30274065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5157788"/>
            <a:ext cx="10287000" cy="1019175"/>
          </a:xfrm>
          <a:prstGeom prst="rect">
            <a:avLst/>
          </a:prstGeom>
        </p:spPr>
      </p:pic>
      <p:sp>
        <p:nvSpPr>
          <p:cNvPr id="7" name="מלבן מעוגל 6"/>
          <p:cNvSpPr/>
          <p:nvPr/>
        </p:nvSpPr>
        <p:spPr>
          <a:xfrm>
            <a:off x="1459345" y="5495635"/>
            <a:ext cx="9624291" cy="6813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
        <p:nvSpPr>
          <p:cNvPr id="2" name="כותרת 1"/>
          <p:cNvSpPr>
            <a:spLocks noGrp="1"/>
          </p:cNvSpPr>
          <p:nvPr>
            <p:ph type="title"/>
          </p:nvPr>
        </p:nvSpPr>
        <p:spPr/>
        <p:txBody>
          <a:bodyPr/>
          <a:lstStyle/>
          <a:p>
            <a:r>
              <a:rPr lang="he-IL" dirty="0"/>
              <a:t>ועדה בין משרדית וחוק ההסדרים</a:t>
            </a:r>
          </a:p>
        </p:txBody>
      </p:sp>
      <p:sp>
        <p:nvSpPr>
          <p:cNvPr id="3" name="מציין מיקום תוכן 2"/>
          <p:cNvSpPr>
            <a:spLocks noGrp="1"/>
          </p:cNvSpPr>
          <p:nvPr>
            <p:ph idx="1"/>
          </p:nvPr>
        </p:nvSpPr>
        <p:spPr>
          <a:xfrm>
            <a:off x="1801090" y="1576243"/>
            <a:ext cx="9515764" cy="4351338"/>
          </a:xfrm>
        </p:spPr>
        <p:txBody>
          <a:bodyPr/>
          <a:lstStyle/>
          <a:p>
            <a:pPr algn="just"/>
            <a:r>
              <a:rPr lang="he-IL" sz="2400" dirty="0"/>
              <a:t>ועדה בין משרדית: "הרחבת שירותי הרווחה לזכאים וביסוס שירותי הקהילה תומכת - תקצוב משרד הרווחה באופן ייעודי למערך הקהילות התומכות, כך ש</a:t>
            </a:r>
            <a:r>
              <a:rPr lang="he-IL" sz="2400" b="1" dirty="0"/>
              <a:t>כל זכאי לגמלת סיעוד ברמות הנמוכות יהיה זכאי גם באופן אוטומטי לשירותי קהילה תומכת</a:t>
            </a:r>
            <a:r>
              <a:rPr lang="he-IL" sz="2400" dirty="0"/>
              <a:t>".</a:t>
            </a:r>
          </a:p>
          <a:p>
            <a:pPr marL="0" indent="0">
              <a:buNone/>
            </a:pPr>
            <a:endParaRPr lang="he-IL" sz="1200" b="1" dirty="0"/>
          </a:p>
          <a:p>
            <a:pPr marL="0" indent="0">
              <a:buNone/>
            </a:pPr>
            <a:endParaRPr lang="he-IL" sz="1200" b="1" dirty="0"/>
          </a:p>
          <a:p>
            <a:pPr marL="0" indent="0">
              <a:buNone/>
            </a:pPr>
            <a:r>
              <a:rPr lang="he-IL" b="1" dirty="0"/>
              <a:t>מתוך חוק ההסדרים האחרון:</a:t>
            </a:r>
          </a:p>
        </p:txBody>
      </p:sp>
      <p:pic>
        <p:nvPicPr>
          <p:cNvPr id="10" name="תמונה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 y="4001294"/>
            <a:ext cx="10287000" cy="1066800"/>
          </a:xfrm>
          <a:prstGeom prst="rect">
            <a:avLst/>
          </a:prstGeom>
        </p:spPr>
      </p:pic>
      <p:sp>
        <p:nvSpPr>
          <p:cNvPr id="6" name="מלבן 5"/>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9" name="מלבן מעוגל 8"/>
          <p:cNvSpPr/>
          <p:nvPr/>
        </p:nvSpPr>
        <p:spPr>
          <a:xfrm>
            <a:off x="1801090" y="2299854"/>
            <a:ext cx="9282546" cy="692727"/>
          </a:xfrm>
          <a:prstGeom prst="roundRect">
            <a:avLst/>
          </a:prstGeom>
          <a:noFill/>
          <a:ln w="57150">
            <a:solidFill>
              <a:srgbClr val="0070C0"/>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961587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קבוצה 8"/>
          <p:cNvGrpSpPr/>
          <p:nvPr/>
        </p:nvGrpSpPr>
        <p:grpSpPr>
          <a:xfrm>
            <a:off x="238217" y="6199142"/>
            <a:ext cx="11622794" cy="462459"/>
            <a:chOff x="338807" y="8858817"/>
            <a:chExt cx="16530701" cy="657740"/>
          </a:xfrm>
        </p:grpSpPr>
        <p:grpSp>
          <p:nvGrpSpPr>
            <p:cNvPr id="10" name="קבוצה 9"/>
            <p:cNvGrpSpPr/>
            <p:nvPr/>
          </p:nvGrpSpPr>
          <p:grpSpPr>
            <a:xfrm>
              <a:off x="338807" y="8858817"/>
              <a:ext cx="1864092" cy="657740"/>
              <a:chOff x="315238" y="8878629"/>
              <a:chExt cx="1864092" cy="657740"/>
            </a:xfrm>
          </p:grpSpPr>
          <p:pic>
            <p:nvPicPr>
              <p:cNvPr id="12" name="Image" descr="Image"/>
              <p:cNvPicPr>
                <a:picLocks noChangeAspect="1"/>
              </p:cNvPicPr>
              <p:nvPr/>
            </p:nvPicPr>
            <p:blipFill rotWithShape="1">
              <a:blip r:embed="rId3"/>
              <a:srcRect r="98659"/>
              <a:stretch/>
            </p:blipFill>
            <p:spPr>
              <a:xfrm>
                <a:off x="315238" y="8878629"/>
                <a:ext cx="164246" cy="657740"/>
              </a:xfrm>
              <a:prstGeom prst="rect">
                <a:avLst/>
              </a:prstGeom>
              <a:ln w="12700">
                <a:miter lim="400000"/>
              </a:ln>
            </p:spPr>
          </p:pic>
          <p:sp>
            <p:nvSpPr>
              <p:cNvPr id="13" name="מלבן 12"/>
              <p:cNvSpPr/>
              <p:nvPr/>
            </p:nvSpPr>
            <p:spPr>
              <a:xfrm>
                <a:off x="479484" y="8937333"/>
                <a:ext cx="1699846" cy="540333"/>
              </a:xfrm>
              <a:prstGeom prst="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0" anchor="ctr">
                <a:spAutoFit/>
              </a:bodyPr>
              <a:lstStyle/>
              <a:p>
                <a:pPr algn="l">
                  <a:lnSpc>
                    <a:spcPts val="844"/>
                  </a:lnSpc>
                </a:pPr>
                <a:r>
                  <a:rPr lang="he-IL" sz="984" dirty="0">
                    <a:latin typeface="Guttman Kav" panose="02010401010101010101" pitchFamily="2" charset="-79"/>
                    <a:cs typeface="Guttman Kav" panose="02010401010101010101" pitchFamily="2" charset="-79"/>
                    <a:sym typeface="Helvetica Neue Medium"/>
                  </a:rPr>
                  <a:t>מנהל</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אזרחים</a:t>
                </a:r>
              </a:p>
              <a:p>
                <a:pPr algn="l">
                  <a:lnSpc>
                    <a:spcPts val="844"/>
                  </a:lnSpc>
                </a:pPr>
                <a:r>
                  <a:rPr lang="he-IL" sz="984" dirty="0">
                    <a:latin typeface="Guttman Kav" panose="02010401010101010101" pitchFamily="2" charset="-79"/>
                    <a:cs typeface="Guttman Kav" panose="02010401010101010101" pitchFamily="2" charset="-79"/>
                    <a:sym typeface="Helvetica Neue Medium"/>
                  </a:rPr>
                  <a:t>ותיקים</a:t>
                </a:r>
              </a:p>
            </p:txBody>
          </p:sp>
        </p:grpSp>
        <p:pic>
          <p:nvPicPr>
            <p:cNvPr id="11" name="תמונה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641709" y="8858817"/>
              <a:ext cx="2227799" cy="603877"/>
            </a:xfrm>
            <a:prstGeom prst="rect">
              <a:avLst/>
            </a:prstGeom>
          </p:spPr>
        </p:pic>
      </p:grpSp>
      <p:sp>
        <p:nvSpPr>
          <p:cNvPr id="4" name="TextBox 3"/>
          <p:cNvSpPr txBox="1"/>
          <p:nvPr/>
        </p:nvSpPr>
        <p:spPr>
          <a:xfrm flipH="1">
            <a:off x="6322242" y="142856"/>
            <a:ext cx="4870113" cy="47237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defTabSz="410751" rtl="0" hangingPunct="0"/>
            <a:r>
              <a:rPr lang="he-IL" sz="2601" dirty="0">
                <a:latin typeface="Tahoma"/>
                <a:ea typeface="Tahoma"/>
                <a:cs typeface="Tahoma"/>
              </a:rPr>
              <a:t>הקהילה כיום </a:t>
            </a:r>
          </a:p>
        </p:txBody>
      </p:sp>
      <p:sp>
        <p:nvSpPr>
          <p:cNvPr id="19" name="Rectangle"/>
          <p:cNvSpPr/>
          <p:nvPr/>
        </p:nvSpPr>
        <p:spPr>
          <a:xfrm>
            <a:off x="9227127" y="590271"/>
            <a:ext cx="1916928" cy="45719"/>
          </a:xfrm>
          <a:prstGeom prst="rect">
            <a:avLst/>
          </a:prstGeom>
          <a:solidFill>
            <a:srgbClr val="423AFF"/>
          </a:solidFill>
          <a:ln w="12700">
            <a:miter lim="400000"/>
          </a:ln>
        </p:spPr>
        <p:txBody>
          <a:bodyPr lIns="35718" tIns="35718" rIns="35718" bIns="35718" anchor="ctr"/>
          <a:lstStyle/>
          <a:p>
            <a:pPr>
              <a:defRPr sz="2200" b="0">
                <a:solidFill>
                  <a:srgbClr val="FFFFFF"/>
                </a:solidFill>
                <a:latin typeface="+mn-lt"/>
                <a:ea typeface="+mn-ea"/>
                <a:cs typeface="+mn-cs"/>
                <a:sym typeface="Helvetica Neue Medium"/>
              </a:defRPr>
            </a:pPr>
            <a:endParaRPr sz="1547"/>
          </a:p>
        </p:txBody>
      </p:sp>
      <p:pic>
        <p:nvPicPr>
          <p:cNvPr id="3" name="תמונה 2"/>
          <p:cNvPicPr>
            <a:picLocks noChangeAspect="1"/>
          </p:cNvPicPr>
          <p:nvPr/>
        </p:nvPicPr>
        <p:blipFill rotWithShape="1">
          <a:blip r:embed="rId5"/>
          <a:srcRect l="9932" t="9923" r="10041" b="12916"/>
          <a:stretch/>
        </p:blipFill>
        <p:spPr>
          <a:xfrm>
            <a:off x="694944" y="677140"/>
            <a:ext cx="10049256" cy="5450257"/>
          </a:xfrm>
          <a:prstGeom prst="rect">
            <a:avLst/>
          </a:prstGeom>
        </p:spPr>
      </p:pic>
      <p:sp>
        <p:nvSpPr>
          <p:cNvPr id="14" name="מלבן 13"/>
          <p:cNvSpPr/>
          <p:nvPr/>
        </p:nvSpPr>
        <p:spPr>
          <a:xfrm>
            <a:off x="3093"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8334667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8496" y="289062"/>
            <a:ext cx="4086639" cy="1325563"/>
          </a:xfrm>
        </p:spPr>
        <p:txBody>
          <a:bodyPr>
            <a:normAutofit fontScale="90000"/>
          </a:bodyPr>
          <a:lstStyle/>
          <a:p>
            <a:pPr algn="r" rtl="1"/>
            <a:r>
              <a:rPr lang="he-IL" dirty="0">
                <a:latin typeface="Calibri Light" panose="020F0302020204030204" pitchFamily="34" charset="0"/>
                <a:cs typeface="Calibri Light" panose="020F0302020204030204" pitchFamily="34" charset="0"/>
              </a:rPr>
              <a:t>נתונים-</a:t>
            </a:r>
            <a:br>
              <a:rPr lang="he-IL" dirty="0">
                <a:latin typeface="Calibri Light" panose="020F0302020204030204" pitchFamily="34" charset="0"/>
                <a:cs typeface="Calibri Light" panose="020F0302020204030204" pitchFamily="34" charset="0"/>
              </a:rPr>
            </a:br>
            <a:r>
              <a:rPr lang="he-IL" dirty="0">
                <a:latin typeface="Calibri Light" panose="020F0302020204030204" pitchFamily="34" charset="0"/>
                <a:cs typeface="Calibri Light" panose="020F0302020204030204" pitchFamily="34" charset="0"/>
              </a:rPr>
              <a:t>קהילה תומכת היום:</a:t>
            </a:r>
            <a:endParaRPr lang="en-US" dirty="0">
              <a:latin typeface="Calibri Light" panose="020F0302020204030204" pitchFamily="34" charset="0"/>
              <a:cs typeface="Calibri Light" panose="020F0302020204030204" pitchFamily="34" charset="0"/>
            </a:endParaRPr>
          </a:p>
        </p:txBody>
      </p:sp>
      <p:sp>
        <p:nvSpPr>
          <p:cNvPr id="5" name="TextBox 1"/>
          <p:cNvSpPr txBox="1"/>
          <p:nvPr/>
        </p:nvSpPr>
        <p:spPr>
          <a:xfrm>
            <a:off x="7204364" y="6175375"/>
            <a:ext cx="4518445" cy="85217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תוכנת "קהילתי"</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נתונים מתוך איסוף הנתונים של אשל 2014</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endPar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6" name="Hexagon 5"/>
          <p:cNvSpPr/>
          <p:nvPr/>
        </p:nvSpPr>
        <p:spPr>
          <a:xfrm>
            <a:off x="2604656" y="2167878"/>
            <a:ext cx="2452254" cy="2089940"/>
          </a:xfrm>
          <a:prstGeom prst="hexagon">
            <a:avLst/>
          </a:prstGeom>
          <a:solidFill>
            <a:schemeClr val="accent5">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rPr>
              <a:t> כ 330 קהילות תומכות- 70,000 זקנים</a:t>
            </a:r>
            <a:endParaRPr kumimoji="0" lang="en-US" sz="2300" b="1" i="0" u="none" strike="noStrike" kern="1200" cap="none" spc="0" normalizeH="0" baseline="0" noProof="0" dirty="0">
              <a:ln>
                <a:noFill/>
              </a:ln>
              <a:solidFill>
                <a:prstClr val="black"/>
              </a:solidFill>
              <a:effectLst/>
              <a:uLnTx/>
              <a:uFillTx/>
              <a:latin typeface="Calibri Light" panose="020F0302020204030204" pitchFamily="34" charset="0"/>
              <a:cs typeface="Calibri Light" panose="020F0302020204030204" pitchFamily="34" charset="0"/>
            </a:endParaRPr>
          </a:p>
        </p:txBody>
      </p:sp>
      <p:grpSp>
        <p:nvGrpSpPr>
          <p:cNvPr id="11" name="Group 10"/>
          <p:cNvGrpSpPr/>
          <p:nvPr/>
        </p:nvGrpSpPr>
        <p:grpSpPr>
          <a:xfrm>
            <a:off x="536865" y="1122907"/>
            <a:ext cx="2458026" cy="1975016"/>
            <a:chOff x="2071255" y="1122907"/>
            <a:chExt cx="2458026" cy="1975016"/>
          </a:xfrm>
          <a:solidFill>
            <a:srgbClr val="A65980"/>
          </a:solidFill>
        </p:grpSpPr>
        <p:sp>
          <p:nvSpPr>
            <p:cNvPr id="18" name="Hexagon 17"/>
            <p:cNvSpPr/>
            <p:nvPr/>
          </p:nvSpPr>
          <p:spPr>
            <a:xfrm>
              <a:off x="2071255" y="112290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2" name="TextBox 21"/>
            <p:cNvSpPr txBox="1"/>
            <p:nvPr/>
          </p:nvSpPr>
          <p:spPr>
            <a:xfrm>
              <a:off x="2141103" y="1417915"/>
              <a:ext cx="2388178" cy="1384995"/>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50%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מסובסדי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רווחה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3" name="Group 2"/>
          <p:cNvGrpSpPr/>
          <p:nvPr/>
        </p:nvGrpSpPr>
        <p:grpSpPr>
          <a:xfrm>
            <a:off x="2604656" y="77936"/>
            <a:ext cx="2452254" cy="1975016"/>
            <a:chOff x="4139046" y="77936"/>
            <a:chExt cx="2452254" cy="1975016"/>
          </a:xfrm>
          <a:solidFill>
            <a:srgbClr val="A65980"/>
          </a:solidFill>
        </p:grpSpPr>
        <p:sp>
          <p:nvSpPr>
            <p:cNvPr id="19" name="Hexagon 18"/>
            <p:cNvSpPr/>
            <p:nvPr/>
          </p:nvSpPr>
          <p:spPr>
            <a:xfrm>
              <a:off x="4139046" y="77936"/>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3" name="TextBox 22"/>
            <p:cNvSpPr txBox="1"/>
            <p:nvPr/>
          </p:nvSpPr>
          <p:spPr>
            <a:xfrm>
              <a:off x="4439085" y="660518"/>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גיל ממוצע - 80</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10" name="Group 9"/>
          <p:cNvGrpSpPr/>
          <p:nvPr/>
        </p:nvGrpSpPr>
        <p:grpSpPr>
          <a:xfrm>
            <a:off x="545299" y="3268810"/>
            <a:ext cx="2452254" cy="1975016"/>
            <a:chOff x="2079689" y="3268810"/>
            <a:chExt cx="2452254" cy="1975016"/>
          </a:xfrm>
          <a:solidFill>
            <a:srgbClr val="A65980"/>
          </a:solidFill>
        </p:grpSpPr>
        <p:sp>
          <p:nvSpPr>
            <p:cNvPr id="17" name="Hexagon 16"/>
            <p:cNvSpPr/>
            <p:nvPr/>
          </p:nvSpPr>
          <p:spPr>
            <a:xfrm>
              <a:off x="2079689" y="326881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4" name="TextBox 23"/>
            <p:cNvSpPr txBox="1"/>
            <p:nvPr/>
          </p:nvSpPr>
          <p:spPr>
            <a:xfrm>
              <a:off x="2446192" y="3560307"/>
              <a:ext cx="1705169" cy="1384995"/>
            </a:xfrm>
            <a:prstGeom prst="rect">
              <a:avLst/>
            </a:prstGeom>
            <a:grp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22% משלמים מחוק סיעוד</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4" name="Group 3"/>
          <p:cNvGrpSpPr/>
          <p:nvPr/>
        </p:nvGrpSpPr>
        <p:grpSpPr>
          <a:xfrm>
            <a:off x="4672447" y="1122905"/>
            <a:ext cx="2452254" cy="1975016"/>
            <a:chOff x="6206837" y="1122905"/>
            <a:chExt cx="2452254" cy="1975016"/>
          </a:xfrm>
          <a:solidFill>
            <a:srgbClr val="A65980"/>
          </a:solidFill>
        </p:grpSpPr>
        <p:sp>
          <p:nvSpPr>
            <p:cNvPr id="16" name="Hexagon 15"/>
            <p:cNvSpPr/>
            <p:nvPr/>
          </p:nvSpPr>
          <p:spPr>
            <a:xfrm>
              <a:off x="6206837" y="1122905"/>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5" name="TextBox 24"/>
            <p:cNvSpPr txBox="1"/>
            <p:nvPr/>
          </p:nvSpPr>
          <p:spPr>
            <a:xfrm>
              <a:off x="6291407" y="1633363"/>
              <a:ext cx="2075296" cy="954107"/>
            </a:xfrm>
            <a:prstGeom prst="rect">
              <a:avLst/>
            </a:prstGeom>
            <a:noFill/>
          </p:spPr>
          <p:txBody>
            <a:bodyPr wrap="squar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24% זוגות</a:t>
              </a:r>
            </a:p>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76% בודדים</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8" name="Group 7"/>
          <p:cNvGrpSpPr/>
          <p:nvPr/>
        </p:nvGrpSpPr>
        <p:grpSpPr>
          <a:xfrm>
            <a:off x="4752110" y="3212847"/>
            <a:ext cx="2452254" cy="1975016"/>
            <a:chOff x="6286500" y="3212847"/>
            <a:chExt cx="2452254" cy="1975016"/>
          </a:xfrm>
          <a:solidFill>
            <a:srgbClr val="A65980"/>
          </a:solidFill>
        </p:grpSpPr>
        <p:sp>
          <p:nvSpPr>
            <p:cNvPr id="15" name="Hexagon 14"/>
            <p:cNvSpPr/>
            <p:nvPr/>
          </p:nvSpPr>
          <p:spPr>
            <a:xfrm>
              <a:off x="6286500" y="3212847"/>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6" name="TextBox 25"/>
            <p:cNvSpPr txBox="1"/>
            <p:nvPr/>
          </p:nvSpPr>
          <p:spPr>
            <a:xfrm>
              <a:off x="6623627" y="3699054"/>
              <a:ext cx="1778000" cy="954107"/>
            </a:xfrm>
            <a:prstGeom prst="rect">
              <a:avLst/>
            </a:prstGeom>
            <a:grp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30%</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ניצולי שואה</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grpSp>
        <p:nvGrpSpPr>
          <p:cNvPr id="9" name="Group 8"/>
          <p:cNvGrpSpPr/>
          <p:nvPr/>
        </p:nvGrpSpPr>
        <p:grpSpPr>
          <a:xfrm>
            <a:off x="2616971" y="4372744"/>
            <a:ext cx="2452254" cy="1802631"/>
            <a:chOff x="4139046" y="4257820"/>
            <a:chExt cx="2452254" cy="1975016"/>
          </a:xfrm>
          <a:solidFill>
            <a:srgbClr val="A65980"/>
          </a:solidFill>
        </p:grpSpPr>
        <p:sp>
          <p:nvSpPr>
            <p:cNvPr id="14" name="Hexagon 13"/>
            <p:cNvSpPr/>
            <p:nvPr/>
          </p:nvSpPr>
          <p:spPr>
            <a:xfrm>
              <a:off x="4139046" y="4257820"/>
              <a:ext cx="2452254" cy="1975016"/>
            </a:xfrm>
            <a:prstGeom prst="hexagon">
              <a:avLst/>
            </a:prstGeom>
            <a:gr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panose="020F0302020204030204" pitchFamily="34" charset="0"/>
                <a:cs typeface="Calibri Light" panose="020F0302020204030204" pitchFamily="34" charset="0"/>
              </a:endParaRPr>
            </a:p>
          </p:txBody>
        </p:sp>
        <p:sp>
          <p:nvSpPr>
            <p:cNvPr id="27" name="TextBox 26"/>
            <p:cNvSpPr txBox="1"/>
            <p:nvPr/>
          </p:nvSpPr>
          <p:spPr>
            <a:xfrm>
              <a:off x="4342053" y="4768274"/>
              <a:ext cx="2046240" cy="1045348"/>
            </a:xfrm>
            <a:prstGeom prst="rect">
              <a:avLst/>
            </a:prstGeom>
            <a:noFill/>
          </p:spPr>
          <p:txBody>
            <a:bodyPr wrap="squar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21%</a:t>
              </a:r>
              <a:endPar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0" i="0" u="none" strike="noStrike" kern="1200" cap="none" spc="0" normalizeH="0" baseline="0" noProof="0" dirty="0" err="1">
                  <a:ln>
                    <a:noFill/>
                  </a:ln>
                  <a:solidFill>
                    <a:prstClr val="white"/>
                  </a:solidFill>
                  <a:effectLst/>
                  <a:uLnTx/>
                  <a:uFillTx/>
                  <a:latin typeface="Calibri Light" panose="020F0302020204030204" pitchFamily="34" charset="0"/>
                  <a:cs typeface="Calibri Light" panose="020F0302020204030204" pitchFamily="34" charset="0"/>
                </a:rPr>
                <a:t>מרותקי</a:t>
              </a:r>
              <a:r>
                <a:rPr kumimoji="0" lang="he-IL"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rPr>
                <a:t> בית</a:t>
              </a:r>
              <a:endParaRPr kumimoji="0" lang="en-US" sz="2800" b="0" i="0" u="none" strike="noStrike" kern="1200" cap="none" spc="0" normalizeH="0" baseline="0" noProof="0" dirty="0">
                <a:ln>
                  <a:noFill/>
                </a:ln>
                <a:solidFill>
                  <a:prstClr val="white"/>
                </a:solidFill>
                <a:effectLst/>
                <a:uLnTx/>
                <a:uFillTx/>
                <a:latin typeface="Calibri Light" panose="020F0302020204030204" pitchFamily="34" charset="0"/>
                <a:cs typeface="Calibri Light" panose="020F0302020204030204" pitchFamily="34" charset="0"/>
              </a:endParaRPr>
            </a:p>
          </p:txBody>
        </p:sp>
      </p:grpSp>
      <p:pic>
        <p:nvPicPr>
          <p:cNvPr id="13" name="Picture 12" descr="A picture containing person, tree, outdoor, smiling&#10;&#10;Description automatically generated">
            <a:extLst>
              <a:ext uri="{FF2B5EF4-FFF2-40B4-BE49-F238E27FC236}">
                <a16:creationId xmlns:a16="http://schemas.microsoft.com/office/drawing/2014/main" id="{21E36EAA-821A-4C1D-9D80-EEE90E13BA8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839278" y="2709050"/>
            <a:ext cx="3078799" cy="2052952"/>
          </a:xfrm>
          <a:prstGeom prst="rect">
            <a:avLst/>
          </a:prstGeom>
        </p:spPr>
      </p:pic>
      <p:pic>
        <p:nvPicPr>
          <p:cNvPr id="28" name="תמונה 27"/>
          <p:cNvPicPr>
            <a:picLocks noChangeAspect="1"/>
          </p:cNvPicPr>
          <p:nvPr/>
        </p:nvPicPr>
        <p:blipFill>
          <a:blip r:embed="rId4"/>
          <a:stretch>
            <a:fillRect/>
          </a:stretch>
        </p:blipFill>
        <p:spPr>
          <a:xfrm>
            <a:off x="7919634" y="5432672"/>
            <a:ext cx="4272366" cy="1425328"/>
          </a:xfrm>
          <a:prstGeom prst="rect">
            <a:avLst/>
          </a:prstGeom>
        </p:spPr>
      </p:pic>
      <p:sp>
        <p:nvSpPr>
          <p:cNvPr id="29" name="TextBox 2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30" name="מלבן 2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31" name="TextBox 3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620626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extLst>
              <p:ext uri="{D42A27DB-BD31-4B8C-83A1-F6EECF244321}">
                <p14:modId xmlns:p14="http://schemas.microsoft.com/office/powerpoint/2010/main" val="726590119"/>
              </p:ext>
            </p:extLst>
          </p:nvPr>
        </p:nvGraphicFramePr>
        <p:xfrm>
          <a:off x="1017868" y="221009"/>
          <a:ext cx="10515600" cy="558323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1"/>
          <p:cNvSpPr txBox="1"/>
          <p:nvPr/>
        </p:nvSpPr>
        <p:spPr>
          <a:xfrm>
            <a:off x="411917" y="6292979"/>
            <a:ext cx="2442117" cy="412595"/>
          </a:xfrm>
          <a:prstGeom prst="rect">
            <a:avLst/>
          </a:prstGeom>
        </p:spPr>
        <p:txBody>
          <a:bodyPr wrap="square" rtlCol="0"/>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מתוך נתוני מחקר </a:t>
            </a:r>
            <a:r>
              <a:rPr kumimoji="0" lang="he-IL" sz="1600" b="0" i="0" u="none" strike="noStrike" kern="1200" cap="none" spc="0" normalizeH="0" baseline="0" noProof="0" dirty="0" err="1">
                <a:ln>
                  <a:noFill/>
                </a:ln>
                <a:solidFill>
                  <a:prstClr val="black"/>
                </a:solidFill>
                <a:effectLst/>
                <a:uLnTx/>
                <a:uFillTx/>
                <a:latin typeface="Calibri" panose="020F0502020204030204"/>
                <a:ea typeface="+mn-ea"/>
                <a:cs typeface="Arial" panose="020B0604020202020204" pitchFamily="34" charset="0"/>
              </a:rPr>
              <a:t>ברוקדייל</a:t>
            </a:r>
            <a:r>
              <a:rPr kumimoji="0" lang="he-IL" sz="1600" b="0" i="0" u="none" strike="noStrike" kern="1200" cap="none" spc="0" normalizeH="0" baseline="0" noProof="0" dirty="0">
                <a:ln>
                  <a:noFill/>
                </a:ln>
                <a:solidFill>
                  <a:prstClr val="black"/>
                </a:solidFill>
                <a:effectLst/>
                <a:uLnTx/>
                <a:uFillTx/>
                <a:latin typeface="Calibri" panose="020F0502020204030204"/>
                <a:ea typeface="+mn-ea"/>
                <a:cs typeface="Arial" panose="020B0604020202020204" pitchFamily="34" charset="0"/>
              </a:rPr>
              <a:t> </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תמונה 4"/>
          <p:cNvPicPr>
            <a:picLocks noChangeAspect="1"/>
          </p:cNvPicPr>
          <p:nvPr/>
        </p:nvPicPr>
        <p:blipFill>
          <a:blip r:embed="rId4"/>
          <a:stretch>
            <a:fillRect/>
          </a:stretch>
        </p:blipFill>
        <p:spPr>
          <a:xfrm>
            <a:off x="9035512" y="5804946"/>
            <a:ext cx="3156488" cy="1053054"/>
          </a:xfrm>
          <a:prstGeom prst="rect">
            <a:avLst/>
          </a:prstGeom>
        </p:spPr>
      </p:pic>
      <p:sp>
        <p:nvSpPr>
          <p:cNvPr id="7" name="מלבן 6"/>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1" name="מלבן 10"/>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30939291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5" descr="image007">
            <a:extLst>
              <a:ext uri="{FF2B5EF4-FFF2-40B4-BE49-F238E27FC236}">
                <a16:creationId xmlns:a16="http://schemas.microsoft.com/office/drawing/2014/main" id="{599CD6E7-4B92-467F-BC46-6524217D1CCC}"/>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497321" y="1630377"/>
            <a:ext cx="5100248"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BF320DB9-3817-48BB-B427-A4365D727687}"/>
              </a:ext>
            </a:extLst>
          </p:cNvPr>
          <p:cNvSpPr txBox="1"/>
          <p:nvPr/>
        </p:nvSpPr>
        <p:spPr>
          <a:xfrm>
            <a:off x="7413756"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בישראל</a:t>
            </a:r>
            <a:endParaRPr lang="he-IL" sz="2400" b="1" dirty="0">
              <a:solidFill>
                <a:srgbClr val="000000"/>
              </a:solidFill>
              <a:latin typeface="Helvetica Neue"/>
              <a:ea typeface="Helvetica Neue"/>
              <a:cs typeface="Helvetica Neue"/>
              <a:sym typeface="Helvetica Neue"/>
            </a:endParaRPr>
          </a:p>
        </p:txBody>
      </p:sp>
      <p:pic>
        <p:nvPicPr>
          <p:cNvPr id="5" name="תמונה 6" descr="image001">
            <a:extLst>
              <a:ext uri="{FF2B5EF4-FFF2-40B4-BE49-F238E27FC236}">
                <a16:creationId xmlns:a16="http://schemas.microsoft.com/office/drawing/2014/main" id="{872A14C8-C0DC-4912-BC7C-A38C6F15807F}"/>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80459" y="1630377"/>
            <a:ext cx="3284341" cy="413254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3813B7B3-0C73-4CA4-B2D4-F1A9C604B668}"/>
              </a:ext>
            </a:extLst>
          </p:cNvPr>
          <p:cNvSpPr txBox="1"/>
          <p:nvPr/>
        </p:nvSpPr>
        <p:spPr>
          <a:xfrm>
            <a:off x="3049401" y="556465"/>
            <a:ext cx="8062341" cy="1077218"/>
          </a:xfrm>
          <a:prstGeom prst="rect">
            <a:avLst/>
          </a:prstGeom>
          <a:noFill/>
        </p:spPr>
        <p:txBody>
          <a:bodyPr wrap="square" rtlCol="0">
            <a:spAutoFit/>
          </a:bodyPr>
          <a:lstStyle/>
          <a:p>
            <a:pPr algn="r" rtl="1"/>
            <a:r>
              <a:rPr lang="he-IL" sz="3200" b="1" dirty="0">
                <a:latin typeface="Calibri" panose="020F0502020204030204" pitchFamily="34" charset="0"/>
                <a:cs typeface="Calibri" panose="020F0502020204030204" pitchFamily="34" charset="0"/>
              </a:rPr>
              <a:t>ניתוח ביקושים גאוגרפי –קהל היעד למניעה ותמרוץ ברמה הארצית והמקומית</a:t>
            </a:r>
            <a:endParaRPr lang="en-IL" sz="3200" b="1"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35D0AAB9-C379-40DE-8A7F-78B92974D6FB}"/>
              </a:ext>
            </a:extLst>
          </p:cNvPr>
          <p:cNvSpPr txBox="1"/>
          <p:nvPr/>
        </p:nvSpPr>
        <p:spPr>
          <a:xfrm>
            <a:off x="2606055" y="5874317"/>
            <a:ext cx="3051044" cy="3491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35718" tIns="35718" rIns="35718" bIns="35718" numCol="1" spcCol="38100" rtlCol="1" anchor="ctr">
            <a:spAutoFit/>
          </a:bodyPr>
          <a:lstStyle/>
          <a:p>
            <a:pPr algn="ctr" defTabSz="410751" rtl="0" hangingPunct="0"/>
            <a:r>
              <a:rPr lang="he-IL" b="1" dirty="0"/>
              <a:t>קהילות לרמות 1-2 תל אביב</a:t>
            </a:r>
            <a:endParaRPr lang="he-IL" sz="2400" b="1" dirty="0">
              <a:solidFill>
                <a:srgbClr val="000000"/>
              </a:solidFill>
              <a:latin typeface="Helvetica Neue"/>
              <a:ea typeface="Helvetica Neue"/>
              <a:cs typeface="Helvetica Neue"/>
              <a:sym typeface="Helvetica Neue"/>
            </a:endParaRPr>
          </a:p>
        </p:txBody>
      </p:sp>
      <p:sp>
        <p:nvSpPr>
          <p:cNvPr id="8" name="מלבן 7"/>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9" name="TextBox 8"/>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10" name="מלבן 9"/>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1" name="TextBox 10"/>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817494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38200" y="0"/>
            <a:ext cx="10515600" cy="1325563"/>
          </a:xfrm>
        </p:spPr>
        <p:txBody>
          <a:bodyPr/>
          <a:lstStyle/>
          <a:p>
            <a:r>
              <a:rPr lang="he-IL" dirty="0"/>
              <a:t>קהילה תומכת כשירות בסיס לכולם </a:t>
            </a:r>
            <a:r>
              <a:rPr lang="he-IL" sz="3600" dirty="0"/>
              <a:t>(</a:t>
            </a:r>
            <a:r>
              <a:rPr lang="en-US" sz="3600" dirty="0"/>
              <a:t>MVP</a:t>
            </a:r>
            <a:r>
              <a:rPr lang="he-IL" sz="3600" dirty="0"/>
              <a:t> ברמה 1-2)</a:t>
            </a:r>
            <a:endParaRPr lang="he-IL" dirty="0"/>
          </a:p>
        </p:txBody>
      </p:sp>
      <p:sp>
        <p:nvSpPr>
          <p:cNvPr id="3" name="מציין מיקום תוכן 2"/>
          <p:cNvSpPr>
            <a:spLocks noGrp="1"/>
          </p:cNvSpPr>
          <p:nvPr>
            <p:ph idx="1"/>
          </p:nvPr>
        </p:nvSpPr>
        <p:spPr>
          <a:xfrm>
            <a:off x="6633441" y="1532370"/>
            <a:ext cx="5305425" cy="4351338"/>
          </a:xfrm>
        </p:spPr>
        <p:style>
          <a:lnRef idx="2">
            <a:schemeClr val="accent1">
              <a:shade val="50000"/>
            </a:schemeClr>
          </a:lnRef>
          <a:fillRef idx="1">
            <a:schemeClr val="accent1"/>
          </a:fillRef>
          <a:effectRef idx="0">
            <a:schemeClr val="accent1"/>
          </a:effectRef>
          <a:fontRef idx="minor">
            <a:schemeClr val="lt1"/>
          </a:fontRef>
        </p:style>
        <p:txBody>
          <a:bodyPr>
            <a:normAutofit fontScale="92500"/>
          </a:bodyPr>
          <a:lstStyle/>
          <a:p>
            <a:pPr marL="0" indent="0">
              <a:buNone/>
            </a:pPr>
            <a:r>
              <a:rPr lang="he-IL" b="1" dirty="0">
                <a:solidFill>
                  <a:schemeClr val="tx1"/>
                </a:solidFill>
              </a:rPr>
              <a:t>היתרונות:</a:t>
            </a:r>
          </a:p>
          <a:p>
            <a:r>
              <a:rPr lang="he-IL" b="1" dirty="0">
                <a:solidFill>
                  <a:schemeClr val="tx1"/>
                </a:solidFill>
              </a:rPr>
              <a:t>כולם תחת הרדאר החברתי</a:t>
            </a:r>
          </a:p>
          <a:p>
            <a:r>
              <a:rPr lang="he-IL" b="1" dirty="0">
                <a:solidFill>
                  <a:schemeClr val="tx1"/>
                </a:solidFill>
              </a:rPr>
              <a:t>רשת ביטחון חברתי- </a:t>
            </a:r>
            <a:r>
              <a:rPr lang="he-IL" sz="2600" b="1" dirty="0">
                <a:solidFill>
                  <a:schemeClr val="tx1"/>
                </a:solidFill>
              </a:rPr>
              <a:t>הפניות לשירותים </a:t>
            </a:r>
          </a:p>
          <a:p>
            <a:r>
              <a:rPr lang="he-IL" b="1" dirty="0">
                <a:solidFill>
                  <a:schemeClr val="tx1"/>
                </a:solidFill>
              </a:rPr>
              <a:t>התאמה למצב החברתי תפקודי</a:t>
            </a:r>
          </a:p>
          <a:p>
            <a:r>
              <a:rPr lang="he-IL" sz="3000" b="1" dirty="0">
                <a:solidFill>
                  <a:schemeClr val="tx1"/>
                </a:solidFill>
              </a:rPr>
              <a:t>זול ובסיסי </a:t>
            </a:r>
            <a:r>
              <a:rPr lang="he-IL" sz="2400" b="1" dirty="0">
                <a:solidFill>
                  <a:schemeClr val="tx1"/>
                </a:solidFill>
              </a:rPr>
              <a:t>(ניתן להרחיב בבחירה אישית)</a:t>
            </a:r>
          </a:p>
          <a:p>
            <a:r>
              <a:rPr lang="he-IL" sz="3000" b="1" dirty="0">
                <a:solidFill>
                  <a:schemeClr val="tx1"/>
                </a:solidFill>
              </a:rPr>
              <a:t>שירות אוניברסלי </a:t>
            </a:r>
            <a:r>
              <a:rPr lang="he-IL" sz="2400" b="1" dirty="0">
                <a:solidFill>
                  <a:schemeClr val="tx1"/>
                </a:solidFill>
              </a:rPr>
              <a:t>ממקור תקציבי נוסף</a:t>
            </a:r>
          </a:p>
          <a:p>
            <a:r>
              <a:rPr lang="he-IL" b="1" dirty="0">
                <a:solidFill>
                  <a:schemeClr val="tx1"/>
                </a:solidFill>
              </a:rPr>
              <a:t>תשלום מעטפת מהגמלה (היום אין).</a:t>
            </a:r>
          </a:p>
          <a:p>
            <a:r>
              <a:rPr lang="he-IL" b="1" dirty="0">
                <a:solidFill>
                  <a:schemeClr val="tx1"/>
                </a:solidFill>
              </a:rPr>
              <a:t>מאפשר הרחבה של השירות לנוספים (רווחה או פרטיים)</a:t>
            </a:r>
          </a:p>
          <a:p>
            <a:endParaRPr lang="he-IL" dirty="0">
              <a:solidFill>
                <a:schemeClr val="tx1"/>
              </a:solidFill>
            </a:endParaRPr>
          </a:p>
        </p:txBody>
      </p:sp>
      <p:sp>
        <p:nvSpPr>
          <p:cNvPr id="4" name="מציין מיקום תוכן 2"/>
          <p:cNvSpPr txBox="1">
            <a:spLocks/>
          </p:cNvSpPr>
          <p:nvPr/>
        </p:nvSpPr>
        <p:spPr>
          <a:xfrm>
            <a:off x="438150" y="1529195"/>
            <a:ext cx="5657850" cy="4351338"/>
          </a:xfrm>
          <a:prstGeom prst="rect">
            <a:avLst/>
          </a:prstGeom>
        </p:spPr>
        <p:style>
          <a:lnRef idx="3">
            <a:schemeClr val="lt1"/>
          </a:lnRef>
          <a:fillRef idx="1">
            <a:schemeClr val="accent2"/>
          </a:fillRef>
          <a:effectRef idx="1">
            <a:schemeClr val="accent2"/>
          </a:effectRef>
          <a:fontRef idx="minor">
            <a:schemeClr val="lt1"/>
          </a:fontRef>
        </p:style>
        <p:txBody>
          <a:bodyPr vert="horz" lIns="91440" tIns="45720" rIns="91440" bIns="45720" rtlCol="1">
            <a:normAutofit/>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he-IL" b="1" dirty="0"/>
              <a:t>החסרונות:</a:t>
            </a:r>
          </a:p>
          <a:p>
            <a:r>
              <a:rPr lang="he-IL" sz="2400" b="1" dirty="0"/>
              <a:t>מאבדים שליטה על השירות </a:t>
            </a:r>
            <a:r>
              <a:rPr lang="he-IL" sz="1800" b="1" dirty="0"/>
              <a:t>(לא מסכים)</a:t>
            </a:r>
          </a:p>
          <a:p>
            <a:r>
              <a:rPr lang="he-IL" sz="2200" b="1" dirty="0"/>
              <a:t>הצפה של זכאים, האם הם קהל היעד, מי כן? </a:t>
            </a:r>
          </a:p>
          <a:p>
            <a:r>
              <a:rPr lang="he-IL" sz="2400" b="1" dirty="0"/>
              <a:t>מה תפקיד המחלקה ואיפה האחריות והחיבור של </a:t>
            </a:r>
            <a:r>
              <a:rPr lang="he-IL" sz="2400" b="1" dirty="0" err="1"/>
              <a:t>בטל"א</a:t>
            </a:r>
            <a:r>
              <a:rPr lang="he-IL" sz="2400" b="1" dirty="0"/>
              <a:t> וקופ"ח</a:t>
            </a:r>
          </a:p>
          <a:p>
            <a:r>
              <a:rPr lang="he-IL" sz="2400" b="1" dirty="0"/>
              <a:t>נדרש תשלום על המעטפת </a:t>
            </a:r>
            <a:r>
              <a:rPr lang="he-IL" sz="1800" b="1" dirty="0"/>
              <a:t>(נדרוש)</a:t>
            </a:r>
          </a:p>
          <a:p>
            <a:r>
              <a:rPr lang="he-IL" sz="2400" b="1" dirty="0"/>
              <a:t>מה עם פריפריה?</a:t>
            </a:r>
          </a:p>
          <a:p>
            <a:r>
              <a:rPr lang="he-IL" sz="2400" b="1" dirty="0"/>
              <a:t>יפסיקו להגיע רווחה </a:t>
            </a:r>
            <a:r>
              <a:rPr lang="he-IL" sz="1800" b="1" dirty="0"/>
              <a:t>(לא נכון)</a:t>
            </a:r>
          </a:p>
          <a:p>
            <a:endParaRPr lang="he-IL" dirty="0"/>
          </a:p>
        </p:txBody>
      </p:sp>
      <p:sp>
        <p:nvSpPr>
          <p:cNvPr id="5" name="מלבן 4"/>
          <p:cNvSpPr/>
          <p:nvPr/>
        </p:nvSpPr>
        <p:spPr>
          <a:xfrm>
            <a:off x="3093" y="0"/>
            <a:ext cx="244547" cy="6857999"/>
          </a:xfrm>
          <a:prstGeom prst="rect">
            <a:avLst/>
          </a:prstGeom>
          <a:solidFill>
            <a:srgbClr val="9DC3E6"/>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03973" y="563419"/>
            <a:ext cx="1258678" cy="338554"/>
          </a:xfrm>
          <a:prstGeom prst="rect">
            <a:avLst/>
          </a:prstGeom>
          <a:noFill/>
        </p:spPr>
        <p:txBody>
          <a:bodyPr wrap="none" rtlCol="1">
            <a:spAutoFit/>
          </a:bodyPr>
          <a:lstStyle/>
          <a:p>
            <a:r>
              <a:rPr lang="he-IL" sz="1600" b="1" dirty="0"/>
              <a:t>קהילה לכולם</a:t>
            </a:r>
          </a:p>
        </p:txBody>
      </p:sp>
      <p:sp>
        <p:nvSpPr>
          <p:cNvPr id="7" name="מלבן 6"/>
          <p:cNvSpPr/>
          <p:nvPr/>
        </p:nvSpPr>
        <p:spPr>
          <a:xfrm>
            <a:off x="8454" y="0"/>
            <a:ext cx="244547" cy="6857999"/>
          </a:xfrm>
          <a:prstGeom prst="rect">
            <a:avLst/>
          </a:prstGeom>
          <a:solidFill>
            <a:srgbClr val="4472C4"/>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498612" y="563419"/>
            <a:ext cx="1258678" cy="338554"/>
          </a:xfrm>
          <a:prstGeom prst="rect">
            <a:avLst/>
          </a:prstGeom>
          <a:noFill/>
        </p:spPr>
        <p:txBody>
          <a:bodyPr wrap="none" rtlCol="1">
            <a:spAutoFit/>
          </a:bodyPr>
          <a:lstStyle/>
          <a:p>
            <a:r>
              <a:rPr lang="he-IL" sz="1600" b="1" dirty="0"/>
              <a:t>קהילה לכולם</a:t>
            </a:r>
          </a:p>
        </p:txBody>
      </p:sp>
    </p:spTree>
    <p:extLst>
      <p:ext uri="{BB962C8B-B14F-4D97-AF65-F5344CB8AC3E}">
        <p14:creationId xmlns:p14="http://schemas.microsoft.com/office/powerpoint/2010/main" val="29765069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תמונה 2">
            <a:extLst>
              <a:ext uri="{FF2B5EF4-FFF2-40B4-BE49-F238E27FC236}">
                <a16:creationId xmlns:a16="http://schemas.microsoft.com/office/drawing/2014/main" id="{6C4715B3-43C6-4F9C-8943-DB58E36BBF03}"/>
              </a:ext>
            </a:extLst>
          </p:cNvPr>
          <p:cNvPicPr>
            <a:picLocks noChangeAspect="1"/>
          </p:cNvPicPr>
          <p:nvPr/>
        </p:nvPicPr>
        <p:blipFill rotWithShape="1">
          <a:blip r:embed="rId3"/>
          <a:srcRect l="16304" t="34812" r="18044" b="13430"/>
          <a:stretch/>
        </p:blipFill>
        <p:spPr>
          <a:xfrm>
            <a:off x="441401" y="1290874"/>
            <a:ext cx="11319761" cy="5019864"/>
          </a:xfrm>
          <a:prstGeom prst="rect">
            <a:avLst/>
          </a:prstGeom>
        </p:spPr>
      </p:pic>
      <p:sp>
        <p:nvSpPr>
          <p:cNvPr id="4" name="תיבת טקסט 3">
            <a:extLst>
              <a:ext uri="{FF2B5EF4-FFF2-40B4-BE49-F238E27FC236}">
                <a16:creationId xmlns:a16="http://schemas.microsoft.com/office/drawing/2014/main" id="{EA7D4CCF-DEA6-42B7-83CB-29A45B04B5F5}"/>
              </a:ext>
            </a:extLst>
          </p:cNvPr>
          <p:cNvSpPr txBox="1"/>
          <p:nvPr/>
        </p:nvSpPr>
        <p:spPr>
          <a:xfrm>
            <a:off x="872474" y="191639"/>
            <a:ext cx="10888688" cy="646331"/>
          </a:xfrm>
          <a:prstGeom prst="rect">
            <a:avLst/>
          </a:prstGeom>
          <a:noFill/>
        </p:spPr>
        <p:txBody>
          <a:bodyPr wrap="square" rtlCol="1">
            <a:spAutoFit/>
          </a:bodyPr>
          <a:lstStyle/>
          <a:p>
            <a:r>
              <a:rPr lang="he-IL" sz="3600" b="1" dirty="0">
                <a:solidFill>
                  <a:srgbClr val="002060"/>
                </a:solidFill>
                <a:latin typeface="Calibri" panose="020F0502020204030204" pitchFamily="34" charset="0"/>
                <a:cs typeface="Calibri" panose="020F0502020204030204" pitchFamily="34" charset="0"/>
              </a:rPr>
              <a:t>הבעיה –כשבאמת הזקן צריך, הוא נדרש לחפש..</a:t>
            </a:r>
            <a:endParaRPr lang="he-IL" sz="3200" b="1" dirty="0">
              <a:solidFill>
                <a:srgbClr val="002060"/>
              </a:solidFill>
              <a:latin typeface="Calibri" panose="020F0502020204030204" pitchFamily="34" charset="0"/>
              <a:cs typeface="Calibri" panose="020F0502020204030204" pitchFamily="34" charset="0"/>
            </a:endParaRPr>
          </a:p>
        </p:txBody>
      </p:sp>
      <p:sp>
        <p:nvSpPr>
          <p:cNvPr id="2" name="אליפסה 1">
            <a:extLst>
              <a:ext uri="{FF2B5EF4-FFF2-40B4-BE49-F238E27FC236}">
                <a16:creationId xmlns:a16="http://schemas.microsoft.com/office/drawing/2014/main" id="{5108EBDD-AA0D-420A-B4E9-F094B0F9E866}"/>
              </a:ext>
            </a:extLst>
          </p:cNvPr>
          <p:cNvSpPr/>
          <p:nvPr/>
        </p:nvSpPr>
        <p:spPr>
          <a:xfrm>
            <a:off x="1371600" y="5908431"/>
            <a:ext cx="445477" cy="40230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a:off x="6616931" y="3247450"/>
            <a:ext cx="1763486" cy="307777"/>
          </a:xfrm>
          <a:prstGeom prst="rect">
            <a:avLst/>
          </a:prstGeom>
          <a:noFill/>
        </p:spPr>
        <p:txBody>
          <a:bodyPr wrap="square" rtlCol="1">
            <a:spAutoFit/>
          </a:bodyPr>
          <a:lstStyle/>
          <a:p>
            <a:r>
              <a:rPr lang="he-IL" sz="1400" b="1" dirty="0">
                <a:solidFill>
                  <a:schemeClr val="accent1"/>
                </a:solidFill>
              </a:rPr>
              <a:t>הרשויות המקומיות</a:t>
            </a:r>
          </a:p>
        </p:txBody>
      </p:sp>
      <p:sp>
        <p:nvSpPr>
          <p:cNvPr id="6" name="TextBox 5"/>
          <p:cNvSpPr txBox="1"/>
          <p:nvPr/>
        </p:nvSpPr>
        <p:spPr>
          <a:xfrm>
            <a:off x="6688183" y="4131242"/>
            <a:ext cx="1763486" cy="369332"/>
          </a:xfrm>
          <a:prstGeom prst="rect">
            <a:avLst/>
          </a:prstGeom>
          <a:noFill/>
        </p:spPr>
        <p:txBody>
          <a:bodyPr wrap="square" rtlCol="1">
            <a:spAutoFit/>
          </a:bodyPr>
          <a:lstStyle/>
          <a:p>
            <a:pPr algn="ctr"/>
            <a:r>
              <a:rPr lang="he-IL" b="1" dirty="0"/>
              <a:t>הלקוח במרכז</a:t>
            </a:r>
          </a:p>
        </p:txBody>
      </p:sp>
      <p:sp>
        <p:nvSpPr>
          <p:cNvPr id="7" name="מלבן 6"/>
          <p:cNvSpPr/>
          <p:nvPr/>
        </p:nvSpPr>
        <p:spPr>
          <a:xfrm>
            <a:off x="3093" y="0"/>
            <a:ext cx="244547" cy="6857999"/>
          </a:xfrm>
          <a:prstGeom prst="rect">
            <a:avLst/>
          </a:prstGeom>
          <a:solidFill>
            <a:schemeClr val="accent6"/>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solidFill>
                <a:srgbClr val="ED7D31"/>
              </a:solidFill>
            </a:endParaRPr>
          </a:p>
        </p:txBody>
      </p:sp>
      <p:pic>
        <p:nvPicPr>
          <p:cNvPr id="8" name="תמונה 7"/>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145559" y="5721530"/>
            <a:ext cx="1083531" cy="1319111"/>
          </a:xfrm>
          <a:prstGeom prst="rect">
            <a:avLst/>
          </a:prstGeom>
        </p:spPr>
      </p:pic>
      <p:sp>
        <p:nvSpPr>
          <p:cNvPr id="9" name="אליפסה 8"/>
          <p:cNvSpPr/>
          <p:nvPr/>
        </p:nvSpPr>
        <p:spPr>
          <a:xfrm>
            <a:off x="6759019" y="3044858"/>
            <a:ext cx="1692650" cy="1630837"/>
          </a:xfrm>
          <a:prstGeom prst="ellipse">
            <a:avLst/>
          </a:prstGeom>
          <a:solidFill>
            <a:schemeClr val="bg1"/>
          </a:solidFill>
          <a:ln>
            <a:solidFill>
              <a:schemeClr val="bg1"/>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pic>
        <p:nvPicPr>
          <p:cNvPr id="10" name="Graphic 4" descr="Man with cane outline">
            <a:extLst>
              <a:ext uri="{FF2B5EF4-FFF2-40B4-BE49-F238E27FC236}">
                <a16:creationId xmlns:a16="http://schemas.microsoft.com/office/drawing/2014/main" id="{2C0E0B5D-6388-8B6D-E615-F403EEF752C6}"/>
              </a:ext>
            </a:extLst>
          </p:cNvPr>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flipH="1">
            <a:off x="7239822" y="3496363"/>
            <a:ext cx="731043" cy="819545"/>
          </a:xfrm>
          <a:prstGeom prst="rect">
            <a:avLst/>
          </a:prstGeom>
        </p:spPr>
      </p:pic>
      <p:sp>
        <p:nvSpPr>
          <p:cNvPr id="12" name="מלבן 11"/>
          <p:cNvSpPr/>
          <p:nvPr/>
        </p:nvSpPr>
        <p:spPr>
          <a:xfrm>
            <a:off x="22751" y="1"/>
            <a:ext cx="244547" cy="6857999"/>
          </a:xfrm>
          <a:prstGeom prst="rect">
            <a:avLst/>
          </a:prstGeom>
          <a:solidFill>
            <a:srgbClr val="2980B9"/>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3" name="TextBox 12"/>
          <p:cNvSpPr txBox="1"/>
          <p:nvPr/>
        </p:nvSpPr>
        <p:spPr>
          <a:xfrm rot="16200000">
            <a:off x="-621516" y="889038"/>
            <a:ext cx="1478289" cy="338554"/>
          </a:xfrm>
          <a:prstGeom prst="rect">
            <a:avLst/>
          </a:prstGeom>
          <a:noFill/>
        </p:spPr>
        <p:txBody>
          <a:bodyPr wrap="none" rtlCol="1">
            <a:spAutoFit/>
          </a:bodyPr>
          <a:lstStyle/>
          <a:p>
            <a:r>
              <a:rPr lang="he-IL" sz="1600" b="1" dirty="0">
                <a:solidFill>
                  <a:prstClr val="black"/>
                </a:solidFill>
                <a:cs typeface="Calibri"/>
              </a:rPr>
              <a:t>רקע </a:t>
            </a:r>
            <a:r>
              <a:rPr lang="he-IL" sz="1600" b="1" dirty="0" err="1">
                <a:solidFill>
                  <a:prstClr val="black"/>
                </a:solidFill>
                <a:cs typeface="Calibri"/>
              </a:rPr>
              <a:t>ןתמונת</a:t>
            </a:r>
            <a:r>
              <a:rPr lang="he-IL" sz="1600" b="1" dirty="0">
                <a:solidFill>
                  <a:prstClr val="black"/>
                </a:solidFill>
                <a:cs typeface="Calibri"/>
              </a:rPr>
              <a:t> מצב</a:t>
            </a:r>
          </a:p>
        </p:txBody>
      </p:sp>
      <p:sp>
        <p:nvSpPr>
          <p:cNvPr id="14" name="מלבן 13"/>
          <p:cNvSpPr/>
          <p:nvPr/>
        </p:nvSpPr>
        <p:spPr>
          <a:xfrm>
            <a:off x="17580" y="-13026"/>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685275" y="625772"/>
            <a:ext cx="1616148" cy="338554"/>
          </a:xfrm>
          <a:prstGeom prst="rect">
            <a:avLst/>
          </a:prstGeom>
          <a:noFill/>
        </p:spPr>
        <p:txBody>
          <a:bodyPr wrap="none" rtlCol="1">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he-IL" sz="1600" b="1" i="0" u="none" strike="noStrike" kern="0" cap="none" spc="0" normalizeH="0" baseline="0" noProof="0" dirty="0">
                <a:ln>
                  <a:noFill/>
                </a:ln>
                <a:solidFill>
                  <a:prstClr val="black"/>
                </a:solidFill>
                <a:effectLst/>
                <a:uLnTx/>
                <a:uFillTx/>
              </a:rPr>
              <a:t>סל מותאם אישית</a:t>
            </a:r>
          </a:p>
        </p:txBody>
      </p:sp>
    </p:spTree>
    <p:extLst>
      <p:ext uri="{BB962C8B-B14F-4D97-AF65-F5344CB8AC3E}">
        <p14:creationId xmlns:p14="http://schemas.microsoft.com/office/powerpoint/2010/main" val="37250113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930D2F-8091-4655-9DA9-8EC4B711E1D8}"/>
              </a:ext>
            </a:extLst>
          </p:cNvPr>
          <p:cNvSpPr txBox="1"/>
          <p:nvPr/>
        </p:nvSpPr>
        <p:spPr>
          <a:xfrm>
            <a:off x="2284953" y="1577540"/>
            <a:ext cx="2220480"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המטרה היא </a:t>
            </a:r>
            <a:r>
              <a:rPr kumimoji="0" lang="he-IL" sz="1800" b="0" i="0" u="sng" strike="noStrike" kern="1200" cap="none" spc="0" normalizeH="0" baseline="0" noProof="0" dirty="0" err="1">
                <a:ln>
                  <a:noFill/>
                </a:ln>
                <a:solidFill>
                  <a:prstClr val="black"/>
                </a:solidFill>
                <a:effectLst/>
                <a:uLnTx/>
                <a:uFillTx/>
                <a:latin typeface="Calibri" panose="020F0502020204030204" pitchFamily="34" charset="0"/>
                <a:ea typeface="+mn-ea"/>
                <a:cs typeface="Calibri" panose="020F0502020204030204" pitchFamily="34" charset="0"/>
              </a:rPr>
              <a:t>להנגיש</a:t>
            </a:r>
            <a:r>
              <a:rPr kumimoji="0" lang="he-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את</a:t>
            </a:r>
            <a:endParaRPr kumimoji="0" lang="en-IL" sz="1800" b="0" i="0" u="sng"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8" name="TextBox 27">
            <a:extLst>
              <a:ext uri="{FF2B5EF4-FFF2-40B4-BE49-F238E27FC236}">
                <a16:creationId xmlns:a16="http://schemas.microsoft.com/office/drawing/2014/main" id="{B3704E1A-5CFA-4C07-BEEC-0DA690F3FBB4}"/>
              </a:ext>
            </a:extLst>
          </p:cNvPr>
          <p:cNvSpPr txBox="1"/>
          <p:nvPr/>
        </p:nvSpPr>
        <p:spPr>
          <a:xfrm>
            <a:off x="75674" y="1971285"/>
            <a:ext cx="4429759" cy="2766911"/>
          </a:xfrm>
          <a:prstGeom prst="rect">
            <a:avLst/>
          </a:prstGeom>
          <a:noFill/>
        </p:spPr>
        <p:txBody>
          <a:bodyPr wrap="square" rtlCol="0">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לאדם הנכון</a:t>
            </a:r>
          </a:p>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בזמן הנכון		</a:t>
            </a:r>
            <a:endParaRPr kumimoji="0" lang="en-IL" sz="4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nvGrpSpPr>
          <p:cNvPr id="32" name="Group 31">
            <a:extLst>
              <a:ext uri="{FF2B5EF4-FFF2-40B4-BE49-F238E27FC236}">
                <a16:creationId xmlns:a16="http://schemas.microsoft.com/office/drawing/2014/main" id="{EE3C58CD-9D1C-4295-BC1C-BB82E5535C9A}"/>
              </a:ext>
            </a:extLst>
          </p:cNvPr>
          <p:cNvGrpSpPr/>
          <p:nvPr/>
        </p:nvGrpSpPr>
        <p:grpSpPr>
          <a:xfrm>
            <a:off x="6298273" y="676278"/>
            <a:ext cx="5588929" cy="5505444"/>
            <a:chOff x="232753" y="860944"/>
            <a:chExt cx="5588929" cy="5505444"/>
          </a:xfrm>
        </p:grpSpPr>
        <p:sp>
          <p:nvSpPr>
            <p:cNvPr id="33" name="Oval 32">
              <a:extLst>
                <a:ext uri="{FF2B5EF4-FFF2-40B4-BE49-F238E27FC236}">
                  <a16:creationId xmlns:a16="http://schemas.microsoft.com/office/drawing/2014/main" id="{D75FA15E-01B1-4CEE-B096-247E7DD162D4}"/>
                </a:ext>
              </a:extLst>
            </p:cNvPr>
            <p:cNvSpPr/>
            <p:nvPr/>
          </p:nvSpPr>
          <p:spPr>
            <a:xfrm>
              <a:off x="893887" y="1677056"/>
              <a:ext cx="4320000" cy="4320000"/>
            </a:xfrm>
            <a:prstGeom prst="ellipse">
              <a:avLst/>
            </a:prstGeom>
            <a:noFill/>
            <a:ln w="762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grpSp>
          <p:nvGrpSpPr>
            <p:cNvPr id="34" name="Group 33">
              <a:extLst>
                <a:ext uri="{FF2B5EF4-FFF2-40B4-BE49-F238E27FC236}">
                  <a16:creationId xmlns:a16="http://schemas.microsoft.com/office/drawing/2014/main" id="{163223BC-3437-487A-961B-094F19743AE4}"/>
                </a:ext>
              </a:extLst>
            </p:cNvPr>
            <p:cNvGrpSpPr/>
            <p:nvPr/>
          </p:nvGrpSpPr>
          <p:grpSpPr>
            <a:xfrm>
              <a:off x="232753" y="860944"/>
              <a:ext cx="5588929" cy="4527916"/>
              <a:chOff x="1237123" y="1354505"/>
              <a:chExt cx="4511824" cy="4527916"/>
            </a:xfrm>
            <a:solidFill>
              <a:schemeClr val="accent3"/>
            </a:solidFill>
          </p:grpSpPr>
          <p:sp>
            <p:nvSpPr>
              <p:cNvPr id="45" name="Freeform: Shape 44">
                <a:extLst>
                  <a:ext uri="{FF2B5EF4-FFF2-40B4-BE49-F238E27FC236}">
                    <a16:creationId xmlns:a16="http://schemas.microsoft.com/office/drawing/2014/main" id="{FB471D60-5F43-4880-86CB-5D213AB65396}"/>
                  </a:ext>
                </a:extLst>
              </p:cNvPr>
              <p:cNvSpPr/>
              <p:nvPr/>
            </p:nvSpPr>
            <p:spPr>
              <a:xfrm>
                <a:off x="2360466" y="1354505"/>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6" name="Freeform: Shape 45">
                <a:extLst>
                  <a:ext uri="{FF2B5EF4-FFF2-40B4-BE49-F238E27FC236}">
                    <a16:creationId xmlns:a16="http://schemas.microsoft.com/office/drawing/2014/main" id="{F3F7D78D-3F03-4E7E-A130-7B8ED18677CE}"/>
                  </a:ext>
                </a:extLst>
              </p:cNvPr>
              <p:cNvSpPr/>
              <p:nvPr/>
            </p:nvSpPr>
            <p:spPr>
              <a:xfrm>
                <a:off x="2370243" y="3623433"/>
                <a:ext cx="2258987" cy="2258988"/>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2258987" y="0"/>
                    </a:moveTo>
                    <a:lnTo>
                      <a:pt x="1129493" y="2258987"/>
                    </a:lnTo>
                    <a:lnTo>
                      <a:pt x="0" y="0"/>
                    </a:lnTo>
                    <a:lnTo>
                      <a:pt x="2258987" y="0"/>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18111" rIns="682857" bIns="1247604"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
            <p:nvSpPr>
              <p:cNvPr id="47" name="Freeform: Shape 46">
                <a:extLst>
                  <a:ext uri="{FF2B5EF4-FFF2-40B4-BE49-F238E27FC236}">
                    <a16:creationId xmlns:a16="http://schemas.microsoft.com/office/drawing/2014/main" id="{733E53F7-AB8D-4D54-8645-8944F0810027}"/>
                  </a:ext>
                </a:extLst>
              </p:cNvPr>
              <p:cNvSpPr/>
              <p:nvPr/>
            </p:nvSpPr>
            <p:spPr>
              <a:xfrm>
                <a:off x="3489960" y="361349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48" name="Freeform: Shape 47">
                <a:extLst>
                  <a:ext uri="{FF2B5EF4-FFF2-40B4-BE49-F238E27FC236}">
                    <a16:creationId xmlns:a16="http://schemas.microsoft.com/office/drawing/2014/main" id="{B38E5488-D02F-4920-8981-C8022C00F6DC}"/>
                  </a:ext>
                </a:extLst>
              </p:cNvPr>
              <p:cNvSpPr/>
              <p:nvPr/>
            </p:nvSpPr>
            <p:spPr>
              <a:xfrm>
                <a:off x="1237123" y="3605872"/>
                <a:ext cx="2258987" cy="2258987"/>
              </a:xfrm>
              <a:custGeom>
                <a:avLst/>
                <a:gdLst>
                  <a:gd name="connsiteX0" fmla="*/ 0 w 2258987"/>
                  <a:gd name="connsiteY0" fmla="*/ 2258987 h 2258987"/>
                  <a:gd name="connsiteX1" fmla="*/ 1129494 w 2258987"/>
                  <a:gd name="connsiteY1" fmla="*/ 0 h 2258987"/>
                  <a:gd name="connsiteX2" fmla="*/ 2258987 w 2258987"/>
                  <a:gd name="connsiteY2" fmla="*/ 2258987 h 2258987"/>
                  <a:gd name="connsiteX3" fmla="*/ 0 w 2258987"/>
                  <a:gd name="connsiteY3" fmla="*/ 2258987 h 2258987"/>
                </a:gdLst>
                <a:ahLst/>
                <a:cxnLst>
                  <a:cxn ang="0">
                    <a:pos x="connsiteX0" y="connsiteY0"/>
                  </a:cxn>
                  <a:cxn ang="0">
                    <a:pos x="connsiteX1" y="connsiteY1"/>
                  </a:cxn>
                  <a:cxn ang="0">
                    <a:pos x="connsiteX2" y="connsiteY2"/>
                  </a:cxn>
                  <a:cxn ang="0">
                    <a:pos x="connsiteX3" y="connsiteY3"/>
                  </a:cxn>
                </a:cxnLst>
                <a:rect l="l" t="t" r="r" b="b"/>
                <a:pathLst>
                  <a:path w="2258987" h="2258987">
                    <a:moveTo>
                      <a:pt x="0" y="2258987"/>
                    </a:moveTo>
                    <a:lnTo>
                      <a:pt x="1129494" y="0"/>
                    </a:lnTo>
                    <a:lnTo>
                      <a:pt x="2258987" y="2258987"/>
                    </a:lnTo>
                    <a:lnTo>
                      <a:pt x="0" y="2258987"/>
                    </a:lnTo>
                    <a:close/>
                  </a:path>
                </a:pathLst>
              </a:custGeom>
              <a:grp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682857" tIns="1247604" rIns="682857" bIns="118110" numCol="1" spcCol="1270" anchor="ctr" anchorCtr="0">
                <a:noAutofit/>
              </a:bodyPr>
              <a:lstStyle/>
              <a:p>
                <a:pPr marL="0" marR="0" lvl="0" indent="0" algn="ctr" defTabSz="1377950" rtl="0" eaLnBrk="1" fontAlgn="auto" latinLnBrk="0" hangingPunct="1">
                  <a:lnSpc>
                    <a:spcPct val="90000"/>
                  </a:lnSpc>
                  <a:spcBef>
                    <a:spcPct val="0"/>
                  </a:spcBef>
                  <a:spcAft>
                    <a:spcPct val="35000"/>
                  </a:spcAft>
                  <a:buClrTx/>
                  <a:buSzTx/>
                  <a:buFontTx/>
                  <a:buNone/>
                  <a:tabLst/>
                  <a:defRPr/>
                </a:pPr>
                <a:endParaRPr kumimoji="0" lang="en-IL" sz="31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grpSp>
        <p:grpSp>
          <p:nvGrpSpPr>
            <p:cNvPr id="35" name="Group 34">
              <a:extLst>
                <a:ext uri="{FF2B5EF4-FFF2-40B4-BE49-F238E27FC236}">
                  <a16:creationId xmlns:a16="http://schemas.microsoft.com/office/drawing/2014/main" id="{2DAA9A8F-BD94-4D1A-8301-A0CCD0673CF5}"/>
                </a:ext>
              </a:extLst>
            </p:cNvPr>
            <p:cNvGrpSpPr/>
            <p:nvPr/>
          </p:nvGrpSpPr>
          <p:grpSpPr>
            <a:xfrm>
              <a:off x="1624269" y="3119930"/>
              <a:ext cx="2798276" cy="2251368"/>
              <a:chOff x="1624269" y="3119930"/>
              <a:chExt cx="2798276" cy="2251368"/>
            </a:xfrm>
          </p:grpSpPr>
          <p:cxnSp>
            <p:nvCxnSpPr>
              <p:cNvPr id="43" name="Straight Connector 42">
                <a:extLst>
                  <a:ext uri="{FF2B5EF4-FFF2-40B4-BE49-F238E27FC236}">
                    <a16:creationId xmlns:a16="http://schemas.microsoft.com/office/drawing/2014/main" id="{71A2604F-0CC8-4E51-A4B0-5CBFBFDF2FBE}"/>
                  </a:ext>
                </a:extLst>
              </p:cNvPr>
              <p:cNvCxnSpPr>
                <a:endCxn id="47" idx="1"/>
              </p:cNvCxnSpPr>
              <p:nvPr/>
            </p:nvCxnSpPr>
            <p:spPr>
              <a:xfrm>
                <a:off x="1624269" y="3119930"/>
                <a:ext cx="2798276" cy="1"/>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7141198-7625-43AC-9852-769924368A52}"/>
                  </a:ext>
                </a:extLst>
              </p:cNvPr>
              <p:cNvCxnSpPr>
                <a:cxnSpLocks/>
                <a:stCxn id="48" idx="2"/>
                <a:endCxn id="46" idx="1"/>
              </p:cNvCxnSpPr>
              <p:nvPr/>
            </p:nvCxnSpPr>
            <p:spPr>
              <a:xfrm flipV="1">
                <a:off x="3031027" y="3129872"/>
                <a:ext cx="4493" cy="2241426"/>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6" name="Oval 35">
              <a:extLst>
                <a:ext uri="{FF2B5EF4-FFF2-40B4-BE49-F238E27FC236}">
                  <a16:creationId xmlns:a16="http://schemas.microsoft.com/office/drawing/2014/main" id="{4494DD75-D162-45A9-A5AA-2154EB3484DE}"/>
                </a:ext>
              </a:extLst>
            </p:cNvPr>
            <p:cNvSpPr/>
            <p:nvPr/>
          </p:nvSpPr>
          <p:spPr>
            <a:xfrm>
              <a:off x="1937886" y="2629656"/>
              <a:ext cx="2232000" cy="2232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7" name="TextBox 36">
              <a:extLst>
                <a:ext uri="{FF2B5EF4-FFF2-40B4-BE49-F238E27FC236}">
                  <a16:creationId xmlns:a16="http://schemas.microsoft.com/office/drawing/2014/main" id="{DCA672CD-283D-4BD2-9546-B95CA39D8536}"/>
                </a:ext>
              </a:extLst>
            </p:cNvPr>
            <p:cNvSpPr txBox="1"/>
            <p:nvPr/>
          </p:nvSpPr>
          <p:spPr>
            <a:xfrm>
              <a:off x="2597649" y="1819232"/>
              <a:ext cx="851515"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ממשלה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8" name="TextBox 37">
              <a:extLst>
                <a:ext uri="{FF2B5EF4-FFF2-40B4-BE49-F238E27FC236}">
                  <a16:creationId xmlns:a16="http://schemas.microsoft.com/office/drawing/2014/main" id="{13710617-6A42-40BE-8DF2-73F6A946EBAE}"/>
                </a:ext>
              </a:extLst>
            </p:cNvPr>
            <p:cNvSpPr txBox="1"/>
            <p:nvPr/>
          </p:nvSpPr>
          <p:spPr>
            <a:xfrm>
              <a:off x="4251382" y="4547013"/>
              <a:ext cx="901209"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רשויות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מקומיות</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9" name="TextBox 38">
              <a:extLst>
                <a:ext uri="{FF2B5EF4-FFF2-40B4-BE49-F238E27FC236}">
                  <a16:creationId xmlns:a16="http://schemas.microsoft.com/office/drawing/2014/main" id="{0FE632B9-BEFB-4137-8590-42DE27B3AE4B}"/>
                </a:ext>
              </a:extLst>
            </p:cNvPr>
            <p:cNvSpPr txBox="1"/>
            <p:nvPr/>
          </p:nvSpPr>
          <p:spPr>
            <a:xfrm>
              <a:off x="1069534" y="4522532"/>
              <a:ext cx="1034257" cy="646331"/>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ספקי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השירותים</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1" name="TextBox 40">
              <a:extLst>
                <a:ext uri="{FF2B5EF4-FFF2-40B4-BE49-F238E27FC236}">
                  <a16:creationId xmlns:a16="http://schemas.microsoft.com/office/drawing/2014/main" id="{AA53CD91-4E6C-4325-BF69-33C6BE63F0E1}"/>
                </a:ext>
              </a:extLst>
            </p:cNvPr>
            <p:cNvSpPr txBox="1"/>
            <p:nvPr/>
          </p:nvSpPr>
          <p:spPr>
            <a:xfrm>
              <a:off x="2279438" y="4065808"/>
              <a:ext cx="1563248" cy="707886"/>
            </a:xfrm>
            <a:prstGeom prst="rect">
              <a:avLst/>
            </a:prstGeom>
            <a:noFill/>
          </p:spPr>
          <p:txBody>
            <a:bodyPr wrap="none" rtlCol="0">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האזרח הוותיק </a:t>
              </a:r>
              <a: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
              </a:r>
              <a:br>
                <a:rPr kumimoji="0" lang="en-US"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br>
              <a:r>
                <a:rPr kumimoji="0" lang="he-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במרכז</a:t>
              </a:r>
              <a:endParaRPr kumimoji="0" lang="en-IL" sz="20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42" name="TextBox 41">
              <a:extLst>
                <a:ext uri="{FF2B5EF4-FFF2-40B4-BE49-F238E27FC236}">
                  <a16:creationId xmlns:a16="http://schemas.microsoft.com/office/drawing/2014/main" id="{F7C48B2C-5519-4DD7-91B1-A3C9EC5274A1}"/>
                </a:ext>
              </a:extLst>
            </p:cNvPr>
            <p:cNvSpPr txBox="1"/>
            <p:nvPr/>
          </p:nvSpPr>
          <p:spPr>
            <a:xfrm>
              <a:off x="2171272" y="5997056"/>
              <a:ext cx="1608133" cy="369332"/>
            </a:xfrm>
            <a:prstGeom prst="rect">
              <a:avLst/>
            </a:prstGeom>
            <a:noFill/>
          </p:spPr>
          <p:txBody>
            <a:bodyPr wrap="none" rtlCol="0">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דאטה וטכנולוגיה</a:t>
              </a:r>
              <a:endParaRPr kumimoji="0" lang="en-IL" sz="18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p:txBody>
        </p:sp>
      </p:grpSp>
      <p:pic>
        <p:nvPicPr>
          <p:cNvPr id="50" name="Picture 3" descr="קובץ:Ministry of Labor, Social Affairs and Social Services ...">
            <a:extLst>
              <a:ext uri="{FF2B5EF4-FFF2-40B4-BE49-F238E27FC236}">
                <a16:creationId xmlns:a16="http://schemas.microsoft.com/office/drawing/2014/main" id="{473BA2BE-788A-4268-8700-59016893033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07858" y="253557"/>
            <a:ext cx="1742734" cy="475167"/>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EA6D7B2B-F9CA-473F-B360-C0BC9C9AE259}"/>
              </a:ext>
            </a:extLst>
          </p:cNvPr>
          <p:cNvSpPr/>
          <p:nvPr/>
        </p:nvSpPr>
        <p:spPr>
          <a:xfrm>
            <a:off x="75674" y="101600"/>
            <a:ext cx="2230646" cy="74168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6" name="מלבן 25"/>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7" name="TextBox 26"/>
          <p:cNvSpPr txBox="1"/>
          <p:nvPr/>
        </p:nvSpPr>
        <p:spPr>
          <a:xfrm rot="16200000">
            <a:off x="-685275" y="625772"/>
            <a:ext cx="1616148" cy="338554"/>
          </a:xfrm>
          <a:prstGeom prst="rect">
            <a:avLst/>
          </a:prstGeom>
          <a:noFill/>
        </p:spPr>
        <p:txBody>
          <a:bodyPr wrap="none" rtlCol="1">
            <a:spAutoFit/>
          </a:bodyPr>
          <a:lstStyle/>
          <a:p>
            <a:r>
              <a:rPr lang="he-IL" sz="1600" b="1" dirty="0"/>
              <a:t>סל מותאם אישית</a:t>
            </a:r>
          </a:p>
        </p:txBody>
      </p:sp>
      <p:pic>
        <p:nvPicPr>
          <p:cNvPr id="66" name="תמונה 65">
            <a:extLst>
              <a:ext uri="{FF2B5EF4-FFF2-40B4-BE49-F238E27FC236}">
                <a16:creationId xmlns:a16="http://schemas.microsoft.com/office/drawing/2014/main" id="{CEF87F6E-70F3-AAFD-2A3A-116043169CFA}"/>
              </a:ext>
            </a:extLst>
          </p:cNvPr>
          <p:cNvPicPr>
            <a:picLocks noChangeAspect="1"/>
          </p:cNvPicPr>
          <p:nvPr/>
        </p:nvPicPr>
        <p:blipFill>
          <a:blip r:embed="rId4"/>
          <a:stretch>
            <a:fillRect/>
          </a:stretch>
        </p:blipFill>
        <p:spPr>
          <a:xfrm>
            <a:off x="8615313" y="2866520"/>
            <a:ext cx="1004478" cy="1055686"/>
          </a:xfrm>
          <a:prstGeom prst="rect">
            <a:avLst/>
          </a:prstGeom>
        </p:spPr>
      </p:pic>
    </p:spTree>
    <p:extLst>
      <p:ext uri="{BB962C8B-B14F-4D97-AF65-F5344CB8AC3E}">
        <p14:creationId xmlns:p14="http://schemas.microsoft.com/office/powerpoint/2010/main" val="260095588"/>
      </p:ext>
    </p:extLst>
  </p:cSld>
  <p:clrMapOvr>
    <a:masterClrMapping/>
  </p:clrMapOvr>
  <p:transition spd="slow">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תמונה 3" descr="C:\Users\USER\Downloads\עיצוב ללא שם (1).png">
            <a:extLst>
              <a:ext uri="{FF2B5EF4-FFF2-40B4-BE49-F238E27FC236}">
                <a16:creationId xmlns:a16="http://schemas.microsoft.com/office/drawing/2014/main" id="{63A64E2B-89CE-8A00-D294-0ACF660075FE}"/>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9872194" y="90195"/>
            <a:ext cx="1438836" cy="549861"/>
          </a:xfrm>
          <a:prstGeom prst="rect">
            <a:avLst/>
          </a:prstGeom>
          <a:noFill/>
          <a:ln>
            <a:noFill/>
          </a:ln>
          <a:extLst>
            <a:ext uri="{53640926-AAD7-44D8-BBD7-CCE9431645EC}">
              <a14:shadowObscured xmlns:a14="http://schemas.microsoft.com/office/drawing/2010/main"/>
            </a:ext>
          </a:extLst>
        </p:spPr>
      </p:pic>
      <p:pic>
        <p:nvPicPr>
          <p:cNvPr id="5" name="תמונה 4">
            <a:extLst>
              <a:ext uri="{FF2B5EF4-FFF2-40B4-BE49-F238E27FC236}">
                <a16:creationId xmlns:a16="http://schemas.microsoft.com/office/drawing/2014/main" id="{F0B2B9E1-7D19-A411-64F5-C0CD1D5E8BB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8724" r="15587"/>
          <a:stretch/>
        </p:blipFill>
        <p:spPr>
          <a:xfrm>
            <a:off x="11353800" y="-2143"/>
            <a:ext cx="603355" cy="734536"/>
          </a:xfrm>
          <a:prstGeom prst="rect">
            <a:avLst/>
          </a:prstGeom>
        </p:spPr>
      </p:pic>
      <p:sp>
        <p:nvSpPr>
          <p:cNvPr id="8" name="מלבן 7"/>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3" name="כותרת 2"/>
          <p:cNvSpPr>
            <a:spLocks noGrp="1"/>
          </p:cNvSpPr>
          <p:nvPr>
            <p:ph type="title"/>
          </p:nvPr>
        </p:nvSpPr>
        <p:spPr>
          <a:xfrm>
            <a:off x="1324579" y="983567"/>
            <a:ext cx="10486421" cy="944554"/>
          </a:xfrm>
        </p:spPr>
        <p:txBody>
          <a:bodyPr>
            <a:normAutofit fontScale="90000"/>
          </a:bodyPr>
          <a:lstStyle/>
          <a:p>
            <a:r>
              <a:rPr lang="he-IL" dirty="0"/>
              <a:t>סל שירותים אישי</a:t>
            </a:r>
            <a:br>
              <a:rPr lang="he-IL" dirty="0"/>
            </a:br>
            <a:r>
              <a:rPr lang="he-IL" dirty="0"/>
              <a:t>מבוסס נתונים</a:t>
            </a:r>
            <a:br>
              <a:rPr lang="he-IL" dirty="0"/>
            </a:br>
            <a:r>
              <a:rPr lang="he-IL" dirty="0"/>
              <a:t>לבחירת הזקן</a:t>
            </a:r>
          </a:p>
        </p:txBody>
      </p:sp>
      <p:sp>
        <p:nvSpPr>
          <p:cNvPr id="9" name="אליפסה 8">
            <a:extLst>
              <a:ext uri="{FF2B5EF4-FFF2-40B4-BE49-F238E27FC236}">
                <a16:creationId xmlns:a16="http://schemas.microsoft.com/office/drawing/2014/main" id="{C71533EF-6755-7268-6CA5-79C13828B470}"/>
              </a:ext>
            </a:extLst>
          </p:cNvPr>
          <p:cNvSpPr/>
          <p:nvPr/>
        </p:nvSpPr>
        <p:spPr>
          <a:xfrm>
            <a:off x="3398106" y="1349131"/>
            <a:ext cx="4754458" cy="4719145"/>
          </a:xfrm>
          <a:prstGeom prst="ellipse">
            <a:avLst/>
          </a:prstGeom>
          <a:noFill/>
          <a:ln w="38100">
            <a:solidFill>
              <a:srgbClr val="13235F"/>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endParaRPr>
          </a:p>
        </p:txBody>
      </p:sp>
      <p:sp>
        <p:nvSpPr>
          <p:cNvPr id="10" name="Title 1">
            <a:extLst>
              <a:ext uri="{FF2B5EF4-FFF2-40B4-BE49-F238E27FC236}">
                <a16:creationId xmlns:a16="http://schemas.microsoft.com/office/drawing/2014/main" id="{0D7F2B4F-0FBF-1F14-C16E-0C507BC66D7B}"/>
              </a:ext>
            </a:extLst>
          </p:cNvPr>
          <p:cNvSpPr txBox="1">
            <a:spLocks/>
          </p:cNvSpPr>
          <p:nvPr/>
        </p:nvSpPr>
        <p:spPr>
          <a:xfrm>
            <a:off x="2424865" y="-52593"/>
            <a:ext cx="7886700" cy="1325563"/>
          </a:xfrm>
          <a:prstGeom prst="rect">
            <a:avLst/>
          </a:prstGeom>
        </p:spPr>
        <p:txBody>
          <a:bodyPr vert="horz" lIns="91440" tIns="45720" rIns="91440" bIns="45720" rtlCol="1" anchor="ctr">
            <a:normAutofit/>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1" eaLnBrk="1" fontAlgn="auto" latinLnBrk="0" hangingPunct="1">
              <a:lnSpc>
                <a:spcPct val="90000"/>
              </a:lnSpc>
              <a:spcBef>
                <a:spcPct val="0"/>
              </a:spcBef>
              <a:spcAft>
                <a:spcPts val="0"/>
              </a:spcAft>
              <a:buClrTx/>
              <a:buSzTx/>
              <a:buFontTx/>
              <a:buNone/>
              <a:tabLst/>
              <a:defRPr/>
            </a:pPr>
            <a:r>
              <a:rPr kumimoji="0" lang="he-IL" sz="2800" b="0" i="0" u="none" strike="noStrike" kern="1200" cap="none" spc="0" normalizeH="0" baseline="0" noProof="0">
                <a:ln>
                  <a:noFill/>
                </a:ln>
                <a:solidFill>
                  <a:prstClr val="white"/>
                </a:solidFill>
                <a:effectLst/>
                <a:uLnTx/>
                <a:uFillTx/>
                <a:latin typeface="Calibri"/>
                <a:ea typeface="+mj-ea"/>
                <a:cs typeface="Calibri"/>
              </a:rPr>
              <a:t/>
            </a:r>
            <a:br>
              <a:rPr kumimoji="0" lang="he-IL" sz="2800" b="0" i="0" u="none" strike="noStrike" kern="1200" cap="none" spc="0" normalizeH="0" baseline="0" noProof="0">
                <a:ln>
                  <a:noFill/>
                </a:ln>
                <a:solidFill>
                  <a:prstClr val="white"/>
                </a:solidFill>
                <a:effectLst/>
                <a:uLnTx/>
                <a:uFillTx/>
                <a:latin typeface="Calibri"/>
                <a:ea typeface="+mj-ea"/>
                <a:cs typeface="Calibri"/>
              </a:rPr>
            </a:br>
            <a:r>
              <a:rPr kumimoji="0" lang="he-IL" sz="2800" b="0" i="0" u="none" strike="noStrike" kern="1200" cap="none" spc="0" normalizeH="0" baseline="0" noProof="0">
                <a:ln>
                  <a:noFill/>
                </a:ln>
                <a:solidFill>
                  <a:prstClr val="white"/>
                </a:solidFill>
                <a:effectLst/>
                <a:uLnTx/>
                <a:uFillTx/>
                <a:latin typeface="Calibri"/>
                <a:ea typeface="+mj-ea"/>
                <a:cs typeface="Calibri"/>
              </a:rPr>
              <a:t>ביזור שירותים לאזרח הוותיק</a:t>
            </a:r>
            <a:endParaRPr kumimoji="0" lang="en-US" sz="2800" b="0" i="0" u="none" strike="noStrike" kern="1200" cap="none" spc="0" normalizeH="0" baseline="0" noProof="0" dirty="0">
              <a:ln>
                <a:noFill/>
              </a:ln>
              <a:solidFill>
                <a:prstClr val="white"/>
              </a:solidFill>
              <a:effectLst/>
              <a:uLnTx/>
              <a:uFillTx/>
              <a:latin typeface="Calibri"/>
              <a:ea typeface="+mj-ea"/>
              <a:cs typeface="Calibri"/>
            </a:endParaRPr>
          </a:p>
        </p:txBody>
      </p:sp>
      <p:pic>
        <p:nvPicPr>
          <p:cNvPr id="11" name="Graphic 4" descr="Man with cane outline">
            <a:extLst>
              <a:ext uri="{FF2B5EF4-FFF2-40B4-BE49-F238E27FC236}">
                <a16:creationId xmlns:a16="http://schemas.microsoft.com/office/drawing/2014/main" id="{07AE29C9-0235-E0EB-FAD6-0CA385B26B3C}"/>
              </a:ext>
            </a:extLst>
          </p:cNvPr>
          <p:cNvPicPr>
            <a:picLocks noGrp="1" noChangeAspect="1"/>
          </p:cNvPicPr>
          <p:nvPr>
            <p:ph idx="1"/>
          </p:nvPr>
        </p:nvPicPr>
        <p:blipFill>
          <a:blip r:embed="rId5">
            <a:extLst>
              <a:ext uri="{96DAC541-7B7A-43D3-8B79-37D633B846F1}">
                <asvg:svgBlip xmlns:asvg="http://schemas.microsoft.com/office/drawing/2016/SVG/main" xmlns="" r:embed="rId6"/>
              </a:ext>
            </a:extLst>
          </a:blip>
          <a:stretch>
            <a:fillRect/>
          </a:stretch>
        </p:blipFill>
        <p:spPr>
          <a:xfrm flipH="1">
            <a:off x="5301119" y="3069871"/>
            <a:ext cx="1044682" cy="1171153"/>
          </a:xfrm>
        </p:spPr>
      </p:pic>
      <p:sp>
        <p:nvSpPr>
          <p:cNvPr id="12" name="תיבת טקסט 14">
            <a:extLst>
              <a:ext uri="{FF2B5EF4-FFF2-40B4-BE49-F238E27FC236}">
                <a16:creationId xmlns:a16="http://schemas.microsoft.com/office/drawing/2014/main" id="{C6CB3823-B702-7BDE-AD0E-7D3DBF43A3A6}"/>
              </a:ext>
            </a:extLst>
          </p:cNvPr>
          <p:cNvSpPr txBox="1"/>
          <p:nvPr/>
        </p:nvSpPr>
        <p:spPr>
          <a:xfrm>
            <a:off x="7456118" y="1515763"/>
            <a:ext cx="2079573"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5B9BD5">
                    <a:lumMod val="75000"/>
                  </a:srgbClr>
                </a:solidFill>
                <a:effectLst/>
                <a:uLnTx/>
                <a:uFillTx/>
                <a:latin typeface="Calibri"/>
                <a:ea typeface="+mn-ea"/>
                <a:cs typeface="Calibri"/>
              </a:rPr>
              <a:t>               </a:t>
            </a:r>
            <a:endParaRPr kumimoji="0" lang="he-IL" sz="2000" b="1" i="0" u="none" strike="noStrike" kern="1200" cap="none" spc="0" normalizeH="0" baseline="0" noProof="0" dirty="0">
              <a:ln>
                <a:noFill/>
              </a:ln>
              <a:solidFill>
                <a:srgbClr val="FF0000"/>
              </a:solidFill>
              <a:effectLst/>
              <a:uLnTx/>
              <a:uFillTx/>
              <a:latin typeface="Calibri"/>
              <a:ea typeface="+mn-ea"/>
              <a:cs typeface="Calibri"/>
            </a:endParaRPr>
          </a:p>
        </p:txBody>
      </p:sp>
      <p:sp>
        <p:nvSpPr>
          <p:cNvPr id="13" name="צורה חופשית: צורה 26">
            <a:extLst>
              <a:ext uri="{FF2B5EF4-FFF2-40B4-BE49-F238E27FC236}">
                <a16:creationId xmlns:a16="http://schemas.microsoft.com/office/drawing/2014/main" id="{E3850D9D-E5FF-8C79-4C83-785EE1705BFA}"/>
              </a:ext>
            </a:extLst>
          </p:cNvPr>
          <p:cNvSpPr/>
          <p:nvPr/>
        </p:nvSpPr>
        <p:spPr>
          <a:xfrm>
            <a:off x="8277745" y="1944029"/>
            <a:ext cx="2033820" cy="3422835"/>
          </a:xfrm>
          <a:custGeom>
            <a:avLst/>
            <a:gdLst>
              <a:gd name="connsiteX0" fmla="*/ 0 w 1005021"/>
              <a:gd name="connsiteY0" fmla="*/ 0 h 1005021"/>
              <a:gd name="connsiteX1" fmla="*/ 1005021 w 1005021"/>
              <a:gd name="connsiteY1" fmla="*/ 0 h 1005021"/>
              <a:gd name="connsiteX2" fmla="*/ 1005021 w 1005021"/>
              <a:gd name="connsiteY2" fmla="*/ 1005021 h 1005021"/>
              <a:gd name="connsiteX3" fmla="*/ 0 w 1005021"/>
              <a:gd name="connsiteY3" fmla="*/ 1005021 h 1005021"/>
              <a:gd name="connsiteX4" fmla="*/ 0 w 1005021"/>
              <a:gd name="connsiteY4" fmla="*/ 0 h 100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5021" h="1005021">
                <a:moveTo>
                  <a:pt x="0" y="0"/>
                </a:moveTo>
                <a:lnTo>
                  <a:pt x="1005021" y="0"/>
                </a:lnTo>
                <a:lnTo>
                  <a:pt x="1005021" y="1005021"/>
                </a:lnTo>
                <a:lnTo>
                  <a:pt x="0" y="1005021"/>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7780" tIns="17780" rIns="17780" bIns="17780" numCol="1" spcCol="1270" anchor="ctr" anchorCtr="0">
            <a:noAutofit/>
          </a:bodyPr>
          <a:lstStyle/>
          <a:p>
            <a:pPr marL="0" marR="0" lvl="0" indent="0" algn="ctr" defTabSz="622300" rtl="1" eaLnBrk="1" fontAlgn="auto" latinLnBrk="0" hangingPunct="1">
              <a:lnSpc>
                <a:spcPct val="90000"/>
              </a:lnSpc>
              <a:spcBef>
                <a:spcPct val="0"/>
              </a:spcBef>
              <a:spcAft>
                <a:spcPct val="35000"/>
              </a:spcAft>
              <a:buClrTx/>
              <a:buSzTx/>
              <a:buFontTx/>
              <a:buNone/>
              <a:tabLst/>
              <a:defRPr/>
            </a:pPr>
            <a:r>
              <a:rPr lang="he-IL" sz="2400" b="1" dirty="0">
                <a:solidFill>
                  <a:srgbClr val="13235F"/>
                </a:solidFill>
                <a:latin typeface="Calibri" panose="020F0502020204030204" pitchFamily="34" charset="0"/>
                <a:cs typeface="Calibri" panose="020F0502020204030204" pitchFamily="34" charset="0"/>
              </a:rPr>
              <a:t>סל אישי קהילתי</a:t>
            </a:r>
            <a:r>
              <a:rPr kumimoji="0" lang="he-IL" sz="2400" b="1"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 </a:t>
            </a:r>
            <a:r>
              <a:rPr kumimoji="0" lang="he-IL" sz="1800" b="0" i="0" u="none" strike="noStrike" kern="1200" cap="none" spc="0" normalizeH="0" baseline="0" noProof="0" dirty="0">
                <a:ln>
                  <a:noFill/>
                </a:ln>
                <a:solidFill>
                  <a:srgbClr val="13235F"/>
                </a:solidFill>
                <a:effectLst/>
                <a:uLnTx/>
                <a:uFillTx/>
                <a:latin typeface="Calibri" panose="020F0502020204030204" pitchFamily="34" charset="0"/>
                <a:ea typeface="+mn-ea"/>
                <a:cs typeface="Calibri" panose="020F0502020204030204" pitchFamily="34" charset="0"/>
              </a:rPr>
              <a:t>מעטפת שירותים לבחירת האזרח הוותיק</a:t>
            </a:r>
          </a:p>
        </p:txBody>
      </p:sp>
      <p:cxnSp>
        <p:nvCxnSpPr>
          <p:cNvPr id="14" name="Straight Arrow Connector 6">
            <a:extLst>
              <a:ext uri="{FF2B5EF4-FFF2-40B4-BE49-F238E27FC236}">
                <a16:creationId xmlns:a16="http://schemas.microsoft.com/office/drawing/2014/main" id="{11819716-D485-6175-BE1F-282ECA543710}"/>
              </a:ext>
            </a:extLst>
          </p:cNvPr>
          <p:cNvCxnSpPr/>
          <p:nvPr/>
        </p:nvCxnSpPr>
        <p:spPr>
          <a:xfrm flipV="1">
            <a:off x="6116880" y="2736167"/>
            <a:ext cx="683173" cy="48610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5" name="Straight Arrow Connector 7">
            <a:extLst>
              <a:ext uri="{FF2B5EF4-FFF2-40B4-BE49-F238E27FC236}">
                <a16:creationId xmlns:a16="http://schemas.microsoft.com/office/drawing/2014/main" id="{10DCF2AA-80BE-A4AD-8908-ACA32EE6A344}"/>
              </a:ext>
            </a:extLst>
          </p:cNvPr>
          <p:cNvCxnSpPr>
            <a:cxnSpLocks/>
          </p:cNvCxnSpPr>
          <p:nvPr/>
        </p:nvCxnSpPr>
        <p:spPr>
          <a:xfrm flipV="1">
            <a:off x="5839251" y="2311811"/>
            <a:ext cx="61943" cy="66740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6" name="Straight Arrow Connector 8">
            <a:extLst>
              <a:ext uri="{FF2B5EF4-FFF2-40B4-BE49-F238E27FC236}">
                <a16:creationId xmlns:a16="http://schemas.microsoft.com/office/drawing/2014/main" id="{C0A0B300-6184-936E-EAAB-19720972236D}"/>
              </a:ext>
            </a:extLst>
          </p:cNvPr>
          <p:cNvCxnSpPr>
            <a:cxnSpLocks/>
          </p:cNvCxnSpPr>
          <p:nvPr/>
        </p:nvCxnSpPr>
        <p:spPr>
          <a:xfrm flipH="1" flipV="1">
            <a:off x="4642724" y="3349997"/>
            <a:ext cx="662081" cy="219823"/>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7" name="Straight Arrow Connector 9">
            <a:extLst>
              <a:ext uri="{FF2B5EF4-FFF2-40B4-BE49-F238E27FC236}">
                <a16:creationId xmlns:a16="http://schemas.microsoft.com/office/drawing/2014/main" id="{09C604B3-FD65-B184-3977-5703EFF44986}"/>
              </a:ext>
            </a:extLst>
          </p:cNvPr>
          <p:cNvCxnSpPr>
            <a:cxnSpLocks/>
          </p:cNvCxnSpPr>
          <p:nvPr/>
        </p:nvCxnSpPr>
        <p:spPr>
          <a:xfrm flipH="1">
            <a:off x="4587277" y="3855123"/>
            <a:ext cx="713843" cy="16213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Straight Arrow Connector 10">
            <a:extLst>
              <a:ext uri="{FF2B5EF4-FFF2-40B4-BE49-F238E27FC236}">
                <a16:creationId xmlns:a16="http://schemas.microsoft.com/office/drawing/2014/main" id="{9B8E4362-FCB8-167D-D6E4-3D866BEB1942}"/>
              </a:ext>
            </a:extLst>
          </p:cNvPr>
          <p:cNvCxnSpPr>
            <a:cxnSpLocks/>
          </p:cNvCxnSpPr>
          <p:nvPr/>
        </p:nvCxnSpPr>
        <p:spPr>
          <a:xfrm flipH="1">
            <a:off x="4873550" y="4261036"/>
            <a:ext cx="471790" cy="404344"/>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9" name="Straight Arrow Connector 11">
            <a:extLst>
              <a:ext uri="{FF2B5EF4-FFF2-40B4-BE49-F238E27FC236}">
                <a16:creationId xmlns:a16="http://schemas.microsoft.com/office/drawing/2014/main" id="{6269D0A6-D2C6-352A-5436-DC164A5C6168}"/>
              </a:ext>
            </a:extLst>
          </p:cNvPr>
          <p:cNvCxnSpPr>
            <a:cxnSpLocks/>
            <a:endCxn id="28" idx="0"/>
          </p:cNvCxnSpPr>
          <p:nvPr/>
        </p:nvCxnSpPr>
        <p:spPr>
          <a:xfrm flipH="1">
            <a:off x="5557108" y="4289069"/>
            <a:ext cx="134177" cy="790430"/>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0" name="Straight Arrow Connector 12">
            <a:extLst>
              <a:ext uri="{FF2B5EF4-FFF2-40B4-BE49-F238E27FC236}">
                <a16:creationId xmlns:a16="http://schemas.microsoft.com/office/drawing/2014/main" id="{7E1BD4C8-B3FB-7E0C-76C8-89D0C45CBDA0}"/>
              </a:ext>
            </a:extLst>
          </p:cNvPr>
          <p:cNvCxnSpPr>
            <a:cxnSpLocks/>
          </p:cNvCxnSpPr>
          <p:nvPr/>
        </p:nvCxnSpPr>
        <p:spPr>
          <a:xfrm>
            <a:off x="6131489" y="4302346"/>
            <a:ext cx="326977" cy="543775"/>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1" name="Straight Arrow Connector 13">
            <a:extLst>
              <a:ext uri="{FF2B5EF4-FFF2-40B4-BE49-F238E27FC236}">
                <a16:creationId xmlns:a16="http://schemas.microsoft.com/office/drawing/2014/main" id="{D6A2BA76-8BFF-FC0A-951B-D4A8953D0363}"/>
              </a:ext>
            </a:extLst>
          </p:cNvPr>
          <p:cNvCxnSpPr>
            <a:cxnSpLocks/>
          </p:cNvCxnSpPr>
          <p:nvPr/>
        </p:nvCxnSpPr>
        <p:spPr>
          <a:xfrm flipV="1">
            <a:off x="6325298" y="3519255"/>
            <a:ext cx="700083" cy="11708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2" name="Straight Arrow Connector 27">
            <a:extLst>
              <a:ext uri="{FF2B5EF4-FFF2-40B4-BE49-F238E27FC236}">
                <a16:creationId xmlns:a16="http://schemas.microsoft.com/office/drawing/2014/main" id="{6520BE6F-8761-B861-E6F0-2A2948C744FC}"/>
              </a:ext>
            </a:extLst>
          </p:cNvPr>
          <p:cNvCxnSpPr>
            <a:cxnSpLocks/>
          </p:cNvCxnSpPr>
          <p:nvPr/>
        </p:nvCxnSpPr>
        <p:spPr>
          <a:xfrm>
            <a:off x="6334575" y="4017253"/>
            <a:ext cx="699232" cy="285092"/>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23" name="Straight Arrow Connector 28">
            <a:extLst>
              <a:ext uri="{FF2B5EF4-FFF2-40B4-BE49-F238E27FC236}">
                <a16:creationId xmlns:a16="http://schemas.microsoft.com/office/drawing/2014/main" id="{1F7F8ED7-35AD-B819-798C-11CDEAAA62BD}"/>
              </a:ext>
            </a:extLst>
          </p:cNvPr>
          <p:cNvCxnSpPr>
            <a:cxnSpLocks/>
          </p:cNvCxnSpPr>
          <p:nvPr/>
        </p:nvCxnSpPr>
        <p:spPr>
          <a:xfrm flipH="1" flipV="1">
            <a:off x="5113919" y="2645514"/>
            <a:ext cx="377414" cy="424357"/>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4" name="TextBox 23">
            <a:extLst>
              <a:ext uri="{FF2B5EF4-FFF2-40B4-BE49-F238E27FC236}">
                <a16:creationId xmlns:a16="http://schemas.microsoft.com/office/drawing/2014/main" id="{A938A207-7763-6598-3065-862C66E1DA57}"/>
              </a:ext>
            </a:extLst>
          </p:cNvPr>
          <p:cNvSpPr txBox="1"/>
          <p:nvPr/>
        </p:nvSpPr>
        <p:spPr>
          <a:xfrm>
            <a:off x="3677140" y="3004586"/>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מועדון חברתי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5" name="TextBox 24">
            <a:extLst>
              <a:ext uri="{FF2B5EF4-FFF2-40B4-BE49-F238E27FC236}">
                <a16:creationId xmlns:a16="http://schemas.microsoft.com/office/drawing/2014/main" id="{0D361F1E-4302-041C-B146-719731888394}"/>
              </a:ext>
            </a:extLst>
          </p:cNvPr>
          <p:cNvSpPr txBox="1"/>
          <p:nvPr/>
        </p:nvSpPr>
        <p:spPr>
          <a:xfrm>
            <a:off x="3652794" y="3708703"/>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רווחה מרחוק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6" name="TextBox 25">
            <a:extLst>
              <a:ext uri="{FF2B5EF4-FFF2-40B4-BE49-F238E27FC236}">
                <a16:creationId xmlns:a16="http://schemas.microsoft.com/office/drawing/2014/main" id="{789307C2-1CA4-2D53-764C-C8EF8ADC59C6}"/>
              </a:ext>
            </a:extLst>
          </p:cNvPr>
          <p:cNvSpPr txBox="1"/>
          <p:nvPr/>
        </p:nvSpPr>
        <p:spPr>
          <a:xfrm>
            <a:off x="4109927" y="4634744"/>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טכנולוגית עזר</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7" name="TextBox 26">
            <a:extLst>
              <a:ext uri="{FF2B5EF4-FFF2-40B4-BE49-F238E27FC236}">
                <a16:creationId xmlns:a16="http://schemas.microsoft.com/office/drawing/2014/main" id="{E524134D-E90F-5A9F-FC91-AED5FABA20C0}"/>
              </a:ext>
            </a:extLst>
          </p:cNvPr>
          <p:cNvSpPr txBox="1"/>
          <p:nvPr/>
        </p:nvSpPr>
        <p:spPr>
          <a:xfrm>
            <a:off x="4284954" y="1908991"/>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משפחתי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8" name="TextBox 27">
            <a:extLst>
              <a:ext uri="{FF2B5EF4-FFF2-40B4-BE49-F238E27FC236}">
                <a16:creationId xmlns:a16="http://schemas.microsoft.com/office/drawing/2014/main" id="{60041463-83C2-6462-0E82-DE2013E89751}"/>
              </a:ext>
            </a:extLst>
          </p:cNvPr>
          <p:cNvSpPr txBox="1"/>
          <p:nvPr/>
        </p:nvSpPr>
        <p:spPr>
          <a:xfrm>
            <a:off x="4997335" y="5079499"/>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התעמלות בפארק</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29" name="TextBox 28">
            <a:extLst>
              <a:ext uri="{FF2B5EF4-FFF2-40B4-BE49-F238E27FC236}">
                <a16:creationId xmlns:a16="http://schemas.microsoft.com/office/drawing/2014/main" id="{71959D09-04DA-46AA-05CE-B8B94373665A}"/>
              </a:ext>
            </a:extLst>
          </p:cNvPr>
          <p:cNvSpPr txBox="1"/>
          <p:nvPr/>
        </p:nvSpPr>
        <p:spPr>
          <a:xfrm>
            <a:off x="6760030" y="3133900"/>
            <a:ext cx="1443858"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תזונה ובריאות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0" name="TextBox 29">
            <a:extLst>
              <a:ext uri="{FF2B5EF4-FFF2-40B4-BE49-F238E27FC236}">
                <a16:creationId xmlns:a16="http://schemas.microsoft.com/office/drawing/2014/main" id="{BD76670D-4580-7702-7800-00603C1C37DA}"/>
              </a:ext>
            </a:extLst>
          </p:cNvPr>
          <p:cNvSpPr txBox="1"/>
          <p:nvPr/>
        </p:nvSpPr>
        <p:spPr>
          <a:xfrm>
            <a:off x="6741774" y="4289740"/>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תעסוקה</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1" name="TextBox 30">
            <a:extLst>
              <a:ext uri="{FF2B5EF4-FFF2-40B4-BE49-F238E27FC236}">
                <a16:creationId xmlns:a16="http://schemas.microsoft.com/office/drawing/2014/main" id="{02F7D3BC-5274-84FA-401A-348BB8E77A87}"/>
              </a:ext>
            </a:extLst>
          </p:cNvPr>
          <p:cNvSpPr txBox="1"/>
          <p:nvPr/>
        </p:nvSpPr>
        <p:spPr>
          <a:xfrm>
            <a:off x="6496801" y="2302004"/>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התנדבות</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2" name="TextBox 31">
            <a:extLst>
              <a:ext uri="{FF2B5EF4-FFF2-40B4-BE49-F238E27FC236}">
                <a16:creationId xmlns:a16="http://schemas.microsoft.com/office/drawing/2014/main" id="{941C5937-A365-CF42-5376-56E8CE1D7B3C}"/>
              </a:ext>
            </a:extLst>
          </p:cNvPr>
          <p:cNvSpPr txBox="1"/>
          <p:nvPr/>
        </p:nvSpPr>
        <p:spPr>
          <a:xfrm>
            <a:off x="5345340" y="1538847"/>
            <a:ext cx="1119544" cy="707886"/>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יעוץ פיננסי</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sp>
        <p:nvSpPr>
          <p:cNvPr id="33" name="TextBox 32">
            <a:extLst>
              <a:ext uri="{FF2B5EF4-FFF2-40B4-BE49-F238E27FC236}">
                <a16:creationId xmlns:a16="http://schemas.microsoft.com/office/drawing/2014/main" id="{0BE11621-D4E0-68EA-B1F3-772C2E7F2893}"/>
              </a:ext>
            </a:extLst>
          </p:cNvPr>
          <p:cNvSpPr txBox="1"/>
          <p:nvPr/>
        </p:nvSpPr>
        <p:spPr>
          <a:xfrm>
            <a:off x="6022607" y="4893757"/>
            <a:ext cx="1119544" cy="400110"/>
          </a:xfrm>
          <a:prstGeom prst="rect">
            <a:avLst/>
          </a:prstGeom>
          <a:no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ניקיון</a:t>
            </a:r>
            <a:endParaRPr kumimoji="0" lang="he-IL" sz="2400" b="1" i="0" u="none" strike="noStrike" kern="1200" cap="none" spc="0" normalizeH="0" baseline="0" noProof="0" dirty="0">
              <a:ln>
                <a:noFill/>
              </a:ln>
              <a:solidFill>
                <a:srgbClr val="1176BC"/>
              </a:solidFill>
              <a:effectLst/>
              <a:uLnTx/>
              <a:uFillTx/>
              <a:latin typeface="Calibri"/>
              <a:ea typeface="+mn-ea"/>
              <a:cs typeface="Calibri"/>
            </a:endParaRPr>
          </a:p>
        </p:txBody>
      </p:sp>
      <p:cxnSp>
        <p:nvCxnSpPr>
          <p:cNvPr id="34" name="Straight Arrow Connector 10">
            <a:extLst>
              <a:ext uri="{FF2B5EF4-FFF2-40B4-BE49-F238E27FC236}">
                <a16:creationId xmlns:a16="http://schemas.microsoft.com/office/drawing/2014/main" id="{9B8E4362-FCB8-167D-D6E4-3D866BEB1942}"/>
              </a:ext>
            </a:extLst>
          </p:cNvPr>
          <p:cNvCxnSpPr>
            <a:cxnSpLocks/>
          </p:cNvCxnSpPr>
          <p:nvPr/>
        </p:nvCxnSpPr>
        <p:spPr>
          <a:xfrm flipH="1" flipV="1">
            <a:off x="4982625" y="3064694"/>
            <a:ext cx="520665" cy="377348"/>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sp>
        <p:nvSpPr>
          <p:cNvPr id="2" name="מלבן 1"/>
          <p:cNvSpPr/>
          <p:nvPr/>
        </p:nvSpPr>
        <p:spPr>
          <a:xfrm>
            <a:off x="3868083" y="2635254"/>
            <a:ext cx="1252267" cy="369332"/>
          </a:xfrm>
          <a:prstGeom prst="rect">
            <a:avLst/>
          </a:prstGeom>
        </p:spPr>
        <p:txBody>
          <a:bodyPr wrap="non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rgbClr val="1176BC"/>
                </a:solidFill>
                <a:effectLst/>
                <a:uLnTx/>
                <a:uFillTx/>
                <a:latin typeface="Calibri" panose="020F0502020204030204" pitchFamily="34" charset="0"/>
                <a:ea typeface="+mn-ea"/>
                <a:cs typeface="Calibri" panose="020F0502020204030204" pitchFamily="34" charset="0"/>
              </a:rPr>
              <a:t>בריכה/</a:t>
            </a:r>
            <a:r>
              <a:rPr kumimoji="0" lang="he-IL" sz="1800" b="1" i="0" u="none" strike="noStrike" kern="1200" cap="none" spc="0" normalizeH="0" baseline="0" noProof="0" dirty="0" err="1">
                <a:ln>
                  <a:noFill/>
                </a:ln>
                <a:solidFill>
                  <a:srgbClr val="1176BC"/>
                </a:solidFill>
                <a:effectLst/>
                <a:uLnTx/>
                <a:uFillTx/>
                <a:latin typeface="Calibri" panose="020F0502020204030204" pitchFamily="34" charset="0"/>
                <a:ea typeface="+mn-ea"/>
                <a:cs typeface="Calibri" panose="020F0502020204030204" pitchFamily="34" charset="0"/>
              </a:rPr>
              <a:t>חד"כ</a:t>
            </a:r>
            <a:endParaRPr kumimoji="0" lang="he-IL" sz="1800" b="0" i="0" u="none" strike="noStrike" kern="1200" cap="none" spc="0" normalizeH="0" baseline="0" noProof="0" dirty="0">
              <a:ln>
                <a:noFill/>
              </a:ln>
              <a:solidFill>
                <a:prstClr val="black"/>
              </a:solidFill>
              <a:effectLst/>
              <a:uLnTx/>
              <a:uFillTx/>
              <a:latin typeface="Calibri"/>
              <a:ea typeface="+mn-ea"/>
              <a:cs typeface="Calibri"/>
            </a:endParaRPr>
          </a:p>
        </p:txBody>
      </p:sp>
      <p:grpSp>
        <p:nvGrpSpPr>
          <p:cNvPr id="55" name="קבוצה 54"/>
          <p:cNvGrpSpPr/>
          <p:nvPr/>
        </p:nvGrpSpPr>
        <p:grpSpPr>
          <a:xfrm>
            <a:off x="676004" y="950720"/>
            <a:ext cx="1563719" cy="1307858"/>
            <a:chOff x="1670079" y="2140313"/>
            <a:chExt cx="1642835" cy="1642835"/>
          </a:xfrm>
          <a:solidFill>
            <a:srgbClr val="D8BEEC"/>
          </a:solidFill>
        </p:grpSpPr>
        <p:sp>
          <p:nvSpPr>
            <p:cNvPr id="56" name="אליפסה 55"/>
            <p:cNvSpPr/>
            <p:nvPr/>
          </p:nvSpPr>
          <p:spPr>
            <a:xfrm>
              <a:off x="1670079" y="2140313"/>
              <a:ext cx="1642835" cy="1642835"/>
            </a:xfrm>
            <a:prstGeom prst="ellipse">
              <a:avLst/>
            </a:prstGeom>
            <a:grpFill/>
          </p:spPr>
          <p:style>
            <a:lnRef idx="2">
              <a:schemeClr val="lt1">
                <a:hueOff val="0"/>
                <a:satOff val="0"/>
                <a:lumOff val="0"/>
                <a:alphaOff val="0"/>
              </a:schemeClr>
            </a:lnRef>
            <a:fillRef idx="1">
              <a:scrgbClr r="0" g="0" b="0"/>
            </a:fillRef>
            <a:effectRef idx="0">
              <a:schemeClr val="accent6">
                <a:alpha val="50000"/>
                <a:hueOff val="0"/>
                <a:satOff val="0"/>
                <a:lumOff val="0"/>
                <a:alphaOff val="0"/>
              </a:schemeClr>
            </a:effectRef>
            <a:fontRef idx="minor">
              <a:schemeClr val="tx1"/>
            </a:fontRef>
          </p:style>
        </p:sp>
        <p:sp>
          <p:nvSpPr>
            <p:cNvPr id="57" name="אליפסה 4"/>
            <p:cNvSpPr txBox="1"/>
            <p:nvPr/>
          </p:nvSpPr>
          <p:spPr>
            <a:xfrm>
              <a:off x="1910667" y="2380901"/>
              <a:ext cx="1161659" cy="1161659"/>
            </a:xfrm>
            <a:prstGeom prst="rect">
              <a:avLst/>
            </a:prstGeom>
            <a:grpFill/>
          </p:spPr>
          <p:style>
            <a:lnRef idx="0">
              <a:scrgbClr r="0" g="0" b="0"/>
            </a:lnRef>
            <a:fillRef idx="0">
              <a:scrgbClr r="0" g="0" b="0"/>
            </a:fillRef>
            <a:effectRef idx="0">
              <a:scrgbClr r="0" g="0" b="0"/>
            </a:effectRef>
            <a:fontRef idx="minor">
              <a:schemeClr val="tx1"/>
            </a:fontRef>
          </p:style>
          <p:txBody>
            <a:bodyPr spcFirstLastPara="0" vert="horz" wrap="square" lIns="35560" tIns="35560" rIns="35560" bIns="35560" numCol="1" spcCol="1270" anchor="ctr" anchorCtr="0">
              <a:noAutofit/>
            </a:bodyPr>
            <a:lstStyle/>
            <a:p>
              <a:pPr lvl="0" algn="ctr" defTabSz="1244600" rtl="1">
                <a:lnSpc>
                  <a:spcPct val="90000"/>
                </a:lnSpc>
                <a:spcBef>
                  <a:spcPct val="0"/>
                </a:spcBef>
                <a:spcAft>
                  <a:spcPct val="35000"/>
                </a:spcAft>
              </a:pPr>
              <a:endParaRPr lang="he-IL" sz="2800" kern="1200" dirty="0">
                <a:latin typeface="Calibri" panose="020F0502020204030204" pitchFamily="34" charset="0"/>
                <a:cs typeface="Calibri" panose="020F0502020204030204" pitchFamily="34" charset="0"/>
              </a:endParaRPr>
            </a:p>
          </p:txBody>
        </p:sp>
      </p:grpSp>
      <p:sp>
        <p:nvSpPr>
          <p:cNvPr id="58" name="אליפסה 57"/>
          <p:cNvSpPr/>
          <p:nvPr/>
        </p:nvSpPr>
        <p:spPr>
          <a:xfrm>
            <a:off x="1442560" y="763930"/>
            <a:ext cx="1579998" cy="1221917"/>
          </a:xfrm>
          <a:prstGeom prst="ellipse">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he-IL" dirty="0"/>
          </a:p>
        </p:txBody>
      </p:sp>
      <p:sp>
        <p:nvSpPr>
          <p:cNvPr id="59" name="TextBox 58"/>
          <p:cNvSpPr txBox="1"/>
          <p:nvPr/>
        </p:nvSpPr>
        <p:spPr>
          <a:xfrm>
            <a:off x="996903" y="1568215"/>
            <a:ext cx="546097" cy="523220"/>
          </a:xfrm>
          <a:prstGeom prst="rect">
            <a:avLst/>
          </a:prstGeom>
          <a:noFill/>
        </p:spPr>
        <p:txBody>
          <a:bodyPr wrap="square" rtlCol="1">
            <a:spAutoFit/>
          </a:bodyPr>
          <a:lstStyle/>
          <a:p>
            <a:r>
              <a:rPr lang="he-IL" sz="1400" dirty="0"/>
              <a:t>צורך וקושי</a:t>
            </a:r>
          </a:p>
        </p:txBody>
      </p:sp>
      <p:sp>
        <p:nvSpPr>
          <p:cNvPr id="60" name="מלבן 59"/>
          <p:cNvSpPr/>
          <p:nvPr/>
        </p:nvSpPr>
        <p:spPr>
          <a:xfrm>
            <a:off x="2213314" y="1137706"/>
            <a:ext cx="713544" cy="523220"/>
          </a:xfrm>
          <a:prstGeom prst="rect">
            <a:avLst/>
          </a:prstGeom>
        </p:spPr>
        <p:txBody>
          <a:bodyPr wrap="square">
            <a:spAutoFit/>
          </a:bodyPr>
          <a:lstStyle/>
          <a:p>
            <a:r>
              <a:rPr lang="he-IL" sz="1400" dirty="0"/>
              <a:t>רצון ובחירה</a:t>
            </a:r>
          </a:p>
        </p:txBody>
      </p:sp>
      <p:sp>
        <p:nvSpPr>
          <p:cNvPr id="62" name="מלבן 61"/>
          <p:cNvSpPr/>
          <p:nvPr/>
        </p:nvSpPr>
        <p:spPr>
          <a:xfrm>
            <a:off x="1299617" y="963795"/>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sp>
        <p:nvSpPr>
          <p:cNvPr id="66" name="אליפסה 65"/>
          <p:cNvSpPr/>
          <p:nvPr/>
        </p:nvSpPr>
        <p:spPr>
          <a:xfrm>
            <a:off x="804012" y="285081"/>
            <a:ext cx="1660221" cy="1294536"/>
          </a:xfrm>
          <a:prstGeom prst="ellipse">
            <a:avLst/>
          </a:prstGeom>
          <a:solidFill>
            <a:srgbClr val="D3F4A8">
              <a:alpha val="50000"/>
            </a:srgbClr>
          </a:solidFill>
          <a:ln w="12700" cap="flat" cmpd="sng" algn="ctr">
            <a:solidFill>
              <a:sysClr val="window" lastClr="FFFFFF">
                <a:hueOff val="0"/>
                <a:satOff val="0"/>
                <a:lumOff val="0"/>
                <a:alphaOff val="0"/>
              </a:sysClr>
            </a:solidFill>
            <a:prstDash val="solid"/>
            <a:miter lim="800000"/>
          </a:ln>
          <a:effectLst/>
        </p:spPr>
      </p:sp>
      <p:sp>
        <p:nvSpPr>
          <p:cNvPr id="67" name="מלבן 66"/>
          <p:cNvSpPr/>
          <p:nvPr/>
        </p:nvSpPr>
        <p:spPr>
          <a:xfrm>
            <a:off x="1314672" y="950383"/>
            <a:ext cx="909995" cy="523220"/>
          </a:xfrm>
          <a:prstGeom prst="rect">
            <a:avLst/>
          </a:prstGeom>
        </p:spPr>
        <p:txBody>
          <a:bodyPr wrap="square">
            <a:spAutoFit/>
          </a:bodyPr>
          <a:lstStyle/>
          <a:p>
            <a:pPr algn="ctr"/>
            <a:r>
              <a:rPr lang="he-IL" sz="1400" b="1" dirty="0"/>
              <a:t>שירות מותאם </a:t>
            </a:r>
            <a:r>
              <a:rPr lang="en-US" sz="1400" b="1" dirty="0"/>
              <a:t>Ai</a:t>
            </a:r>
            <a:endParaRPr lang="he-IL" sz="1400" b="1" dirty="0"/>
          </a:p>
        </p:txBody>
      </p:sp>
      <p:pic>
        <p:nvPicPr>
          <p:cNvPr id="69" name="תמונה 6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9872194" y="6105032"/>
            <a:ext cx="2176782" cy="590049"/>
          </a:xfrm>
          <a:prstGeom prst="rect">
            <a:avLst/>
          </a:prstGeom>
        </p:spPr>
      </p:pic>
      <p:sp>
        <p:nvSpPr>
          <p:cNvPr id="61" name="מלבן 60"/>
          <p:cNvSpPr/>
          <p:nvPr/>
        </p:nvSpPr>
        <p:spPr>
          <a:xfrm>
            <a:off x="996903" y="390758"/>
            <a:ext cx="891629" cy="523220"/>
          </a:xfrm>
          <a:prstGeom prst="rect">
            <a:avLst/>
          </a:prstGeom>
        </p:spPr>
        <p:txBody>
          <a:bodyPr wrap="square">
            <a:spAutoFit/>
          </a:bodyPr>
          <a:lstStyle/>
          <a:p>
            <a:r>
              <a:rPr lang="he-IL" sz="1400" dirty="0"/>
              <a:t>מדידה והמלצות</a:t>
            </a:r>
          </a:p>
        </p:txBody>
      </p:sp>
      <p:sp>
        <p:nvSpPr>
          <p:cNvPr id="45" name="TextBox 44"/>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564930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15F02039-0C35-A39D-EA86-5DB771D46808}"/>
            </a:ext>
          </a:extLst>
        </p:cNvPr>
        <p:cNvGrpSpPr/>
        <p:nvPr/>
      </p:nvGrpSpPr>
      <p:grpSpPr>
        <a:xfrm>
          <a:off x="0" y="0"/>
          <a:ext cx="0" cy="0"/>
          <a:chOff x="0" y="0"/>
          <a:chExt cx="0" cy="0"/>
        </a:xfrm>
      </p:grpSpPr>
      <p:sp>
        <p:nvSpPr>
          <p:cNvPr id="20" name="מלבן 19"/>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9C0EB8FB-E4B8-4564-2069-695D3C25FD57}"/>
              </a:ext>
            </a:extLst>
          </p:cNvPr>
          <p:cNvSpPr txBox="1"/>
          <p:nvPr/>
        </p:nvSpPr>
        <p:spPr>
          <a:xfrm>
            <a:off x="360757" y="287898"/>
            <a:ext cx="8854749" cy="1261884"/>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אופטימיזציה של שירותים ומענים </a:t>
            </a:r>
          </a:p>
          <a:p>
            <a:pPr marL="0" marR="0" lvl="0" indent="0" algn="r" defTabSz="914400" rtl="1" eaLnBrk="1" fontAlgn="auto" latinLnBrk="0" hangingPunct="1">
              <a:lnSpc>
                <a:spcPct val="100000"/>
              </a:lnSpc>
              <a:spcBef>
                <a:spcPct val="0"/>
              </a:spcBef>
              <a:spcAft>
                <a:spcPts val="0"/>
              </a:spcAft>
              <a:buClrTx/>
              <a:buSzTx/>
              <a:buFontTx/>
              <a:buNone/>
              <a:tabLst/>
              <a:defRPr/>
            </a:pPr>
            <a:r>
              <a:rPr lang="he-IL" sz="3800" b="1">
                <a:solidFill>
                  <a:srgbClr val="00B0CF"/>
                </a:solidFill>
                <a:latin typeface="Almoni Neue DL 4.0 AAA"/>
                <a:ea typeface="+mj-ea"/>
                <a:cs typeface="Almoni Neue DL 4.0 AAA Medium"/>
              </a:rPr>
              <a:t> </a:t>
            </a:r>
          </a:p>
        </p:txBody>
      </p:sp>
      <p:sp>
        <p:nvSpPr>
          <p:cNvPr id="6" name="TextBox 5">
            <a:extLst>
              <a:ext uri="{FF2B5EF4-FFF2-40B4-BE49-F238E27FC236}">
                <a16:creationId xmlns:a16="http://schemas.microsoft.com/office/drawing/2014/main" id="{D72DA870-08A5-7C1A-9E76-598329F9538B}"/>
              </a:ext>
            </a:extLst>
          </p:cNvPr>
          <p:cNvSpPr txBox="1"/>
          <p:nvPr/>
        </p:nvSpPr>
        <p:spPr>
          <a:xfrm>
            <a:off x="443276" y="1147996"/>
            <a:ext cx="8646583" cy="5736186"/>
          </a:xfrm>
          <a:prstGeom prst="rect">
            <a:avLst/>
          </a:prstGeom>
          <a:noFill/>
        </p:spPr>
        <p:txBody>
          <a:bodyPr wrap="square">
            <a:spAutoFit/>
          </a:bodyPr>
          <a:lstStyle/>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200000"/>
              </a:lnSpc>
              <a:defRPr/>
            </a:pPr>
            <a:endPar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a:p>
            <a:pPr algn="r" rtl="1">
              <a:lnSpc>
                <a:spcPct val="150000"/>
              </a:lnSpc>
              <a:defRPr/>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וזאת לצד חיבור של השירותים והמענים לתוצאות והמשך תמיכה ועבודה על כלי ביניים לביזור סמכויות  תקציב גמיש למשרד רווחה מול הרשות המקומית.</a:t>
            </a:r>
          </a:p>
          <a:p>
            <a:pPr algn="r" rtl="1">
              <a:lnSpc>
                <a:spcPct val="150000"/>
              </a:lnSpc>
              <a:defRPr/>
            </a:pPr>
            <a:r>
              <a:rPr lang="he-IL" b="1" dirty="0">
                <a:solidFill>
                  <a:schemeClr val="tx1">
                    <a:lumMod val="65000"/>
                    <a:lumOff val="35000"/>
                  </a:schemeClr>
                </a:solidFill>
                <a:latin typeface="Almoni Neue DL 4.0 AAA" panose="00000500000000000000" pitchFamily="50" charset="-79"/>
                <a:cs typeface="Almoni Neue DL 4.0 AAA" panose="00000500000000000000" pitchFamily="50" charset="-79"/>
              </a:rPr>
              <a:t>התשתיות שיבנו יהוו פתרונות משמעותיים בפני עצמם ולצד זאת יהוו בסיס למהלכים נוספים ברווחה. </a:t>
            </a:r>
            <a:endParaRPr lang="he-IL" sz="1800" dirty="0">
              <a:solidFill>
                <a:schemeClr val="tx1">
                  <a:lumMod val="65000"/>
                  <a:lumOff val="35000"/>
                </a:schemeClr>
              </a:solidFill>
              <a:highlight>
                <a:srgbClr val="F8F6F9"/>
              </a:highlight>
              <a:latin typeface="Almoni Neue DL 4.0 AAA" panose="00000500000000000000" pitchFamily="50" charset="-79"/>
              <a:cs typeface="Almoni Neue DL 4.0 AAA" panose="00000500000000000000" pitchFamily="50" charset="-79"/>
            </a:endParaRPr>
          </a:p>
          <a:p>
            <a:pPr algn="r" rtl="1">
              <a:lnSpc>
                <a:spcPct val="150000"/>
              </a:lnSpc>
              <a:defRPr/>
            </a:pP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0" name="Picture 9">
            <a:extLst>
              <a:ext uri="{FF2B5EF4-FFF2-40B4-BE49-F238E27FC236}">
                <a16:creationId xmlns:a16="http://schemas.microsoft.com/office/drawing/2014/main" id="{2CD5F06A-393C-8EDE-3C82-22F0A0195D3A}"/>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6" name="מלבן 8">
            <a:extLst>
              <a:ext uri="{FF2B5EF4-FFF2-40B4-BE49-F238E27FC236}">
                <a16:creationId xmlns:a16="http://schemas.microsoft.com/office/drawing/2014/main" id="{C6CBD984-291F-27CB-1500-658009FE8250}"/>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6</a:t>
            </a:r>
            <a:endParaRPr lang="aa-ET" sz="1300" b="1">
              <a:solidFill>
                <a:schemeClr val="tx1"/>
              </a:solidFill>
            </a:endParaRPr>
          </a:p>
        </p:txBody>
      </p:sp>
      <p:pic>
        <p:nvPicPr>
          <p:cNvPr id="3" name="Picture 2">
            <a:extLst>
              <a:ext uri="{FF2B5EF4-FFF2-40B4-BE49-F238E27FC236}">
                <a16:creationId xmlns:a16="http://schemas.microsoft.com/office/drawing/2014/main" id="{F1427268-C55A-403E-388E-C93787658EE1}"/>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5" name="Picture 2" descr="A blue text on a black background&#10;&#10;Description automatically generated">
            <a:extLst>
              <a:ext uri="{FF2B5EF4-FFF2-40B4-BE49-F238E27FC236}">
                <a16:creationId xmlns:a16="http://schemas.microsoft.com/office/drawing/2014/main" id="{33206506-3A65-8095-6D29-380C2F0ABF5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18">
            <a:extLst>
              <a:ext uri="{FF2B5EF4-FFF2-40B4-BE49-F238E27FC236}">
                <a16:creationId xmlns:a16="http://schemas.microsoft.com/office/drawing/2014/main" id="{D37EFF87-957F-AAA5-D7B2-23FAB638601C}"/>
              </a:ext>
            </a:extLst>
          </p:cNvPr>
          <p:cNvCxnSpPr>
            <a:cxnSpLocks/>
          </p:cNvCxnSpPr>
          <p:nvPr/>
        </p:nvCxnSpPr>
        <p:spPr>
          <a:xfrm>
            <a:off x="5108623" y="2784298"/>
            <a:ext cx="0" cy="2102745"/>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5A63A59-5E0B-F876-3A9E-7E19D1C133EA}"/>
              </a:ext>
            </a:extLst>
          </p:cNvPr>
          <p:cNvSpPr txBox="1"/>
          <p:nvPr/>
        </p:nvSpPr>
        <p:spPr>
          <a:xfrm>
            <a:off x="5108622" y="3193194"/>
            <a:ext cx="4303342" cy="400110"/>
          </a:xfrm>
          <a:prstGeom prst="rect">
            <a:avLst/>
          </a:prstGeom>
          <a:noFill/>
        </p:spPr>
        <p:txBody>
          <a:bodyPr wrap="square">
            <a:spAutoFit/>
          </a:bodyPr>
          <a:lstStyle/>
          <a:p>
            <a:pPr algn="ctr"/>
            <a:r>
              <a:rPr lang="he-IL" sz="2000" b="1">
                <a:solidFill>
                  <a:srgbClr val="CE71BD"/>
                </a:solidFill>
                <a:latin typeface="Almoni Neue DL 4.0 AAA" panose="00000500000000000000" pitchFamily="50" charset="-79"/>
                <a:cs typeface="Almoni Neue DL 4.0 AAA" panose="00000500000000000000" pitchFamily="50" charset="-79"/>
              </a:rPr>
              <a:t> צרכים ומענים </a:t>
            </a:r>
            <a:endParaRPr lang="he-IL" sz="2000">
              <a:solidFill>
                <a:srgbClr val="CE71BD"/>
              </a:solidFill>
            </a:endParaRPr>
          </a:p>
        </p:txBody>
      </p:sp>
      <p:sp>
        <p:nvSpPr>
          <p:cNvPr id="26" name="TextBox 25">
            <a:extLst>
              <a:ext uri="{FF2B5EF4-FFF2-40B4-BE49-F238E27FC236}">
                <a16:creationId xmlns:a16="http://schemas.microsoft.com/office/drawing/2014/main" id="{62B24600-87AE-A46E-A227-2229A5F83E2E}"/>
              </a:ext>
            </a:extLst>
          </p:cNvPr>
          <p:cNvSpPr txBox="1"/>
          <p:nvPr/>
        </p:nvSpPr>
        <p:spPr>
          <a:xfrm>
            <a:off x="5209786" y="3657519"/>
            <a:ext cx="3861431" cy="1303627"/>
          </a:xfrm>
          <a:prstGeom prst="rect">
            <a:avLst/>
          </a:prstGeom>
          <a:noFill/>
        </p:spPr>
        <p:txBody>
          <a:bodyPr wrap="square">
            <a:spAutoFit/>
          </a:bodyPr>
          <a:lstStyle/>
          <a:p>
            <a:pPr algn="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קטלוג צרכים ומענים רלוונטי למיקודי הסיכון שיבחרו ואשר יתעדכנו  באמצעות מודל שיוגדר</a:t>
            </a:r>
            <a:endParaRPr lang="he-IL"/>
          </a:p>
        </p:txBody>
      </p:sp>
      <p:sp>
        <p:nvSpPr>
          <p:cNvPr id="28" name="TextBox 27">
            <a:extLst>
              <a:ext uri="{FF2B5EF4-FFF2-40B4-BE49-F238E27FC236}">
                <a16:creationId xmlns:a16="http://schemas.microsoft.com/office/drawing/2014/main" id="{0954BEE5-2C4A-5315-4D13-9B6AECC1F981}"/>
              </a:ext>
            </a:extLst>
          </p:cNvPr>
          <p:cNvSpPr txBox="1"/>
          <p:nvPr/>
        </p:nvSpPr>
        <p:spPr>
          <a:xfrm>
            <a:off x="525796" y="3200481"/>
            <a:ext cx="4582827" cy="400110"/>
          </a:xfrm>
          <a:prstGeom prst="rect">
            <a:avLst/>
          </a:prstGeom>
          <a:noFill/>
        </p:spPr>
        <p:txBody>
          <a:bodyPr wrap="square">
            <a:spAutoFit/>
          </a:bodyPr>
          <a:lstStyle/>
          <a:p>
            <a:pPr algn="ctr"/>
            <a:r>
              <a:rPr lang="he-IL" sz="2000" b="1">
                <a:solidFill>
                  <a:srgbClr val="F7BC68"/>
                </a:solidFill>
                <a:latin typeface="Almoni Neue DL 4.0 AAA" panose="00000500000000000000" pitchFamily="50" charset="-79"/>
                <a:cs typeface="Almoni Neue DL 4.0 AAA" panose="00000500000000000000" pitchFamily="50" charset="-79"/>
              </a:rPr>
              <a:t>פרופילים </a:t>
            </a:r>
            <a:endParaRPr lang="he-IL" sz="2000">
              <a:solidFill>
                <a:srgbClr val="F7BC68"/>
              </a:solidFill>
            </a:endParaRPr>
          </a:p>
        </p:txBody>
      </p:sp>
      <p:sp>
        <p:nvSpPr>
          <p:cNvPr id="31" name="TextBox 30">
            <a:extLst>
              <a:ext uri="{FF2B5EF4-FFF2-40B4-BE49-F238E27FC236}">
                <a16:creationId xmlns:a16="http://schemas.microsoft.com/office/drawing/2014/main" id="{58A2B0E7-95B9-610D-1103-99EFCA2625B2}"/>
              </a:ext>
            </a:extLst>
          </p:cNvPr>
          <p:cNvSpPr txBox="1"/>
          <p:nvPr/>
        </p:nvSpPr>
        <p:spPr>
          <a:xfrm>
            <a:off x="525796" y="3653325"/>
            <a:ext cx="4425632"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מודלים מנבאים המחברים בין מאפיינים, צרכים, רצונות ומענים ובין מוקדי סיכון </a:t>
            </a:r>
          </a:p>
        </p:txBody>
      </p:sp>
      <p:pic>
        <p:nvPicPr>
          <p:cNvPr id="43" name="Picture 42" descr="A purple line art of a group of people in a circle&#10;&#10;Description automatically generated">
            <a:extLst>
              <a:ext uri="{FF2B5EF4-FFF2-40B4-BE49-F238E27FC236}">
                <a16:creationId xmlns:a16="http://schemas.microsoft.com/office/drawing/2014/main" id="{93E8D635-158E-C4B0-1D24-EB73F9A7679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52599" y="2589780"/>
            <a:ext cx="587089" cy="587089"/>
          </a:xfrm>
          <a:prstGeom prst="rect">
            <a:avLst/>
          </a:prstGeom>
        </p:spPr>
      </p:pic>
      <p:pic>
        <p:nvPicPr>
          <p:cNvPr id="44" name="Picture 43" descr="A group of people in different poses&#10;&#10;Description automatically generated">
            <a:extLst>
              <a:ext uri="{FF2B5EF4-FFF2-40B4-BE49-F238E27FC236}">
                <a16:creationId xmlns:a16="http://schemas.microsoft.com/office/drawing/2014/main" id="{B92BA6CE-73D9-EDBC-9EA0-A47C86BA12B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650092" y="2695576"/>
            <a:ext cx="474588" cy="474588"/>
          </a:xfrm>
          <a:prstGeom prst="rect">
            <a:avLst/>
          </a:prstGeom>
        </p:spPr>
      </p:pic>
      <p:sp>
        <p:nvSpPr>
          <p:cNvPr id="2" name="Google Shape;116;p34">
            <a:extLst>
              <a:ext uri="{FF2B5EF4-FFF2-40B4-BE49-F238E27FC236}">
                <a16:creationId xmlns:a16="http://schemas.microsoft.com/office/drawing/2014/main" id="{2531C56D-AE02-8310-CCFD-22A6E4BF112B}"/>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r>
              <a:rPr lang="en-US"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 </a:t>
            </a:r>
            <a:endParaRPr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endParaRP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8" name="TextBox 7">
            <a:extLst>
              <a:ext uri="{FF2B5EF4-FFF2-40B4-BE49-F238E27FC236}">
                <a16:creationId xmlns:a16="http://schemas.microsoft.com/office/drawing/2014/main" id="{A56C2D20-C17A-1109-7E12-D668CA897A57}"/>
              </a:ext>
            </a:extLst>
          </p:cNvPr>
          <p:cNvSpPr txBox="1"/>
          <p:nvPr/>
        </p:nvSpPr>
        <p:spPr>
          <a:xfrm>
            <a:off x="443276" y="1031747"/>
            <a:ext cx="8689710" cy="888705"/>
          </a:xfrm>
          <a:prstGeom prst="rect">
            <a:avLst/>
          </a:prstGeom>
          <a:noFill/>
        </p:spPr>
        <p:txBody>
          <a:bodyPr wrap="square">
            <a:spAutoFit/>
          </a:bodyPr>
          <a:lstStyle/>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בניית תשתיות תוכן, נתונים ומודלים מבוססי נתונים: </a:t>
            </a:r>
          </a:p>
          <a:p>
            <a:pPr algn="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פרופילים של אוכלוסיית אזרחים וותיקים ומענים אוניברסליים והעמדתם כתשתית לפתרונות מגוונים.  </a:t>
            </a:r>
          </a:p>
        </p:txBody>
      </p:sp>
      <p:sp>
        <p:nvSpPr>
          <p:cNvPr id="9" name="TextBox 8">
            <a:extLst>
              <a:ext uri="{FF2B5EF4-FFF2-40B4-BE49-F238E27FC236}">
                <a16:creationId xmlns:a16="http://schemas.microsoft.com/office/drawing/2014/main" id="{A1F570FD-3852-1C22-5469-E75CB5D39D4E}"/>
              </a:ext>
            </a:extLst>
          </p:cNvPr>
          <p:cNvSpPr txBox="1"/>
          <p:nvPr/>
        </p:nvSpPr>
        <p:spPr>
          <a:xfrm>
            <a:off x="7979251" y="2280415"/>
            <a:ext cx="1119217" cy="369332"/>
          </a:xfrm>
          <a:prstGeom prst="rect">
            <a:avLst/>
          </a:prstGeom>
          <a:noFill/>
        </p:spPr>
        <p:txBody>
          <a:bodyPr wrap="none" rtlCol="1">
            <a:spAutoFit/>
          </a:bodyPr>
          <a:lstStyle/>
          <a:p>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באמצעות</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a:t>
            </a:r>
          </a:p>
        </p:txBody>
      </p:sp>
      <p:sp>
        <p:nvSpPr>
          <p:cNvPr id="18" name="TextBox 17"/>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78385090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Shape 97">
          <a:extLst>
            <a:ext uri="{FF2B5EF4-FFF2-40B4-BE49-F238E27FC236}">
              <a16:creationId xmlns:a16="http://schemas.microsoft.com/office/drawing/2014/main" id="{B7D731F2-EF13-82D0-1F55-752C9FBE4A0F}"/>
            </a:ext>
          </a:extLst>
        </p:cNvPr>
        <p:cNvGrpSpPr/>
        <p:nvPr/>
      </p:nvGrpSpPr>
      <p:grpSpPr>
        <a:xfrm>
          <a:off x="0" y="0"/>
          <a:ext cx="0" cy="0"/>
          <a:chOff x="0" y="0"/>
          <a:chExt cx="0" cy="0"/>
        </a:xfrm>
      </p:grpSpPr>
      <p:sp>
        <p:nvSpPr>
          <p:cNvPr id="22" name="מלבן 21"/>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4" name="תיבת טקסט 5">
            <a:extLst>
              <a:ext uri="{FF2B5EF4-FFF2-40B4-BE49-F238E27FC236}">
                <a16:creationId xmlns:a16="http://schemas.microsoft.com/office/drawing/2014/main" id="{864C5B30-06D5-5E23-1FB4-1AF77F7A7668}"/>
              </a:ext>
            </a:extLst>
          </p:cNvPr>
          <p:cNvSpPr txBox="1"/>
          <p:nvPr/>
        </p:nvSpPr>
        <p:spPr>
          <a:xfrm>
            <a:off x="360757" y="287898"/>
            <a:ext cx="8854749" cy="677108"/>
          </a:xfrm>
          <a:prstGeom prst="rect">
            <a:avLst/>
          </a:prstGeom>
          <a:noFill/>
        </p:spPr>
        <p:txBody>
          <a:bodyPr wrap="square" rtlCol="0">
            <a:spAutoFit/>
          </a:bodyPr>
          <a:lstStyle/>
          <a:p>
            <a:pPr algn="r" rtl="1">
              <a:spcBef>
                <a:spcPct val="0"/>
              </a:spcBef>
              <a:defRPr/>
            </a:pPr>
            <a:r>
              <a:rPr lang="he-IL" sz="3800" b="1">
                <a:solidFill>
                  <a:srgbClr val="00B0CF"/>
                </a:solidFill>
                <a:latin typeface="Almoni Neue DL 4.0 AAA"/>
                <a:ea typeface="+mj-ea"/>
                <a:cs typeface="Almoni Neue DL 4.0 AAA Medium"/>
              </a:rPr>
              <a:t> מודל ההפעלה המקצועי של הפרויקט</a:t>
            </a:r>
          </a:p>
        </p:txBody>
      </p:sp>
      <p:sp>
        <p:nvSpPr>
          <p:cNvPr id="12" name="Google Shape;98;p34">
            <a:extLst>
              <a:ext uri="{FF2B5EF4-FFF2-40B4-BE49-F238E27FC236}">
                <a16:creationId xmlns:a16="http://schemas.microsoft.com/office/drawing/2014/main" id="{76BEF586-84E4-7A32-A08F-9E479F919265}"/>
              </a:ext>
            </a:extLst>
          </p:cNvPr>
          <p:cNvSpPr/>
          <p:nvPr/>
        </p:nvSpPr>
        <p:spPr>
          <a:xfrm>
            <a:off x="9645209" y="-1"/>
            <a:ext cx="2546791" cy="6858001"/>
          </a:xfrm>
          <a:prstGeom prst="rect">
            <a:avLst/>
          </a:prstGeom>
          <a:solidFill>
            <a:srgbClr val="F8F6F9"/>
          </a:solidFill>
          <a:ln>
            <a:noFill/>
          </a:ln>
        </p:spPr>
        <p:txBody>
          <a:bodyPr spcFirstLastPara="1" wrap="square" lIns="25400" tIns="25400" rIns="25400" bIns="25400" anchor="ctr" anchorCtr="0">
            <a:noAutofit/>
          </a:bodyPr>
          <a:lstStyle/>
          <a:p>
            <a:pPr algn="ctr">
              <a:buClr>
                <a:srgbClr val="FFFFFF"/>
              </a:buClr>
              <a:buSzPts val="2400"/>
            </a:pPr>
            <a:endParaRPr sz="1200">
              <a:solidFill>
                <a:srgbClr val="5E5E5E"/>
              </a:solidFill>
              <a:latin typeface="Helvetica Neue"/>
              <a:ea typeface="Helvetica Neue"/>
              <a:cs typeface="Helvetica Neue"/>
              <a:sym typeface="Helvetica Neue"/>
            </a:endParaRPr>
          </a:p>
        </p:txBody>
      </p:sp>
      <p:pic>
        <p:nvPicPr>
          <p:cNvPr id="16" name="Picture 15">
            <a:extLst>
              <a:ext uri="{FF2B5EF4-FFF2-40B4-BE49-F238E27FC236}">
                <a16:creationId xmlns:a16="http://schemas.microsoft.com/office/drawing/2014/main" id="{5BC063DF-B8C9-2B76-6D98-FFC0AFEEE23F}"/>
              </a:ext>
            </a:extLst>
          </p:cNvPr>
          <p:cNvPicPr>
            <a:picLocks noChangeAspect="1"/>
          </p:cNvPicPr>
          <p:nvPr/>
        </p:nvPicPr>
        <p:blipFill rotWithShape="1">
          <a:blip r:embed="rId3"/>
          <a:srcRect l="46033" t="89381" r="43911" b="10135"/>
          <a:stretch/>
        </p:blipFill>
        <p:spPr>
          <a:xfrm rot="16200000">
            <a:off x="6202180" y="3367215"/>
            <a:ext cx="6863881" cy="129450"/>
          </a:xfrm>
          <a:prstGeom prst="rect">
            <a:avLst/>
          </a:prstGeom>
          <a:effectLst>
            <a:outerShdw blurRad="50800" dist="38100" dir="2700000" algn="tl" rotWithShape="0">
              <a:prstClr val="black">
                <a:alpha val="40000"/>
              </a:prstClr>
            </a:outerShdw>
          </a:effectLst>
        </p:spPr>
      </p:pic>
      <p:sp>
        <p:nvSpPr>
          <p:cNvPr id="19" name="מלבן 8">
            <a:extLst>
              <a:ext uri="{FF2B5EF4-FFF2-40B4-BE49-F238E27FC236}">
                <a16:creationId xmlns:a16="http://schemas.microsoft.com/office/drawing/2014/main" id="{1AD9E6E9-F030-B99D-76FB-0F5F4BDA8E39}"/>
              </a:ext>
            </a:extLst>
          </p:cNvPr>
          <p:cNvSpPr/>
          <p:nvPr/>
        </p:nvSpPr>
        <p:spPr>
          <a:xfrm>
            <a:off x="127590" y="6159058"/>
            <a:ext cx="489098" cy="425302"/>
          </a:xfrm>
          <a:prstGeom prst="rect">
            <a:avLst/>
          </a:prstGeom>
          <a:no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1300" b="1">
                <a:solidFill>
                  <a:schemeClr val="tx1"/>
                </a:solidFill>
              </a:rPr>
              <a:t>8</a:t>
            </a:r>
            <a:endParaRPr lang="aa-ET" sz="1300" b="1">
              <a:solidFill>
                <a:schemeClr val="tx1"/>
              </a:solidFill>
            </a:endParaRPr>
          </a:p>
        </p:txBody>
      </p:sp>
      <p:pic>
        <p:nvPicPr>
          <p:cNvPr id="7" name="Picture 6">
            <a:extLst>
              <a:ext uri="{FF2B5EF4-FFF2-40B4-BE49-F238E27FC236}">
                <a16:creationId xmlns:a16="http://schemas.microsoft.com/office/drawing/2014/main" id="{C7FA6182-73D6-2E70-26FE-7785C81B1FCF}"/>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26759" b="38056" l="85990" r="92656">
                        <a14:foregroundMark x1="90469" y1="27315" x2="90469" y2="27315"/>
                        <a14:foregroundMark x1="87500" y1="27500" x2="87500" y2="27500"/>
                        <a14:foregroundMark x1="87656" y1="26759" x2="87656" y2="26759"/>
                      </a14:backgroundRemoval>
                    </a14:imgEffect>
                  </a14:imgLayer>
                </a14:imgProps>
              </a:ext>
            </a:extLst>
          </a:blip>
          <a:srcRect l="85156" t="25972" r="6485" b="60556"/>
          <a:stretch/>
        </p:blipFill>
        <p:spPr>
          <a:xfrm>
            <a:off x="10359333" y="6214661"/>
            <a:ext cx="475270" cy="430853"/>
          </a:xfrm>
          <a:prstGeom prst="rect">
            <a:avLst/>
          </a:prstGeom>
        </p:spPr>
      </p:pic>
      <p:pic>
        <p:nvPicPr>
          <p:cNvPr id="8" name="Picture 2" descr="A blue text on a black background&#10;&#10;Description automatically generated">
            <a:extLst>
              <a:ext uri="{FF2B5EF4-FFF2-40B4-BE49-F238E27FC236}">
                <a16:creationId xmlns:a16="http://schemas.microsoft.com/office/drawing/2014/main" id="{0758A932-FEA4-5EE1-57BE-03529661D0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827025" y="6082323"/>
            <a:ext cx="1153905" cy="599431"/>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Connector 4">
            <a:extLst>
              <a:ext uri="{FF2B5EF4-FFF2-40B4-BE49-F238E27FC236}">
                <a16:creationId xmlns:a16="http://schemas.microsoft.com/office/drawing/2014/main" id="{9D6C3935-85C5-3C18-9446-DAC20902E255}"/>
              </a:ext>
            </a:extLst>
          </p:cNvPr>
          <p:cNvCxnSpPr>
            <a:cxnSpLocks/>
          </p:cNvCxnSpPr>
          <p:nvPr/>
        </p:nvCxnSpPr>
        <p:spPr>
          <a:xfrm>
            <a:off x="6354914" y="3078795"/>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30AB45-6085-8F89-186B-BA72CB4F5BF6}"/>
              </a:ext>
            </a:extLst>
          </p:cNvPr>
          <p:cNvSpPr txBox="1"/>
          <p:nvPr/>
        </p:nvSpPr>
        <p:spPr>
          <a:xfrm>
            <a:off x="6408834" y="3937017"/>
            <a:ext cx="2713569"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התאמה אישית של שירותים לזקן </a:t>
            </a:r>
          </a:p>
        </p:txBody>
      </p:sp>
      <p:sp>
        <p:nvSpPr>
          <p:cNvPr id="13" name="TextBox 12">
            <a:extLst>
              <a:ext uri="{FF2B5EF4-FFF2-40B4-BE49-F238E27FC236}">
                <a16:creationId xmlns:a16="http://schemas.microsoft.com/office/drawing/2014/main" id="{0A0AB12E-E9CB-3BE2-B849-EE2FE369F223}"/>
              </a:ext>
            </a:extLst>
          </p:cNvPr>
          <p:cNvSpPr txBox="1"/>
          <p:nvPr/>
        </p:nvSpPr>
        <p:spPr>
          <a:xfrm>
            <a:off x="3747134" y="3937017"/>
            <a:ext cx="2382411" cy="888705"/>
          </a:xfrm>
          <a:prstGeom prst="rect">
            <a:avLst/>
          </a:prstGeom>
          <a:noFill/>
        </p:spPr>
        <p:txBody>
          <a:bodyPr wrap="square">
            <a:spAutoFit/>
          </a:bodyPr>
          <a:lstStyle/>
          <a:p>
            <a:pPr algn="ctr">
              <a:lnSpc>
                <a:spcPct val="150000"/>
              </a:lnSpc>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a:t>
            </a:r>
            <a:r>
              <a:rPr lang="he-IL" err="1">
                <a:solidFill>
                  <a:schemeClr val="tx1">
                    <a:lumMod val="65000"/>
                    <a:lumOff val="35000"/>
                  </a:schemeClr>
                </a:solidFill>
                <a:latin typeface="Almoni Neue DL 4.0 AAA" panose="00000500000000000000" pitchFamily="50" charset="-79"/>
                <a:cs typeface="Almoni Neue DL 4.0 AAA" panose="00000500000000000000" pitchFamily="50" charset="-79"/>
              </a:rPr>
              <a:t>אלוקציה</a:t>
            </a: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 ותכנון לרשות </a:t>
            </a:r>
          </a:p>
        </p:txBody>
      </p:sp>
      <p:sp>
        <p:nvSpPr>
          <p:cNvPr id="15" name="TextBox 14">
            <a:extLst>
              <a:ext uri="{FF2B5EF4-FFF2-40B4-BE49-F238E27FC236}">
                <a16:creationId xmlns:a16="http://schemas.microsoft.com/office/drawing/2014/main" id="{46240D85-5A72-AA29-658A-90C7A2130E6A}"/>
              </a:ext>
            </a:extLst>
          </p:cNvPr>
          <p:cNvSpPr txBox="1"/>
          <p:nvPr/>
        </p:nvSpPr>
        <p:spPr>
          <a:xfrm>
            <a:off x="616688" y="3965592"/>
            <a:ext cx="2872362" cy="888705"/>
          </a:xfrm>
          <a:prstGeom prst="rect">
            <a:avLst/>
          </a:prstGeom>
          <a:noFill/>
        </p:spPr>
        <p:txBody>
          <a:bodyPr wrap="square">
            <a:spAutoFit/>
          </a:bodyPr>
          <a:lstStyle/>
          <a:p>
            <a:pPr algn="ctr" rtl="1">
              <a:lnSpc>
                <a:spcPct val="150000"/>
              </a:lnSpc>
              <a:defRPr/>
            </a:pPr>
            <a:r>
              <a:rPr lang="he-IL">
                <a:solidFill>
                  <a:schemeClr val="tx1">
                    <a:lumMod val="65000"/>
                    <a:lumOff val="35000"/>
                  </a:schemeClr>
                </a:solidFill>
                <a:latin typeface="Almoni Neue DL 4.0 AAA" panose="00000500000000000000" pitchFamily="50" charset="-79"/>
                <a:cs typeface="Almoni Neue DL 4.0 AAA" panose="00000500000000000000" pitchFamily="50" charset="-79"/>
              </a:rPr>
              <a:t>מערכת ניהול מדיניות ושיקוף פערים למשרד האוצר </a:t>
            </a:r>
            <a:endParaRPr lang="he-IL" b="1">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pic>
        <p:nvPicPr>
          <p:cNvPr id="17" name="Picture 16" descr="A yellow line drawing of a person in a circle with arrows&#10;&#10;Description automatically generated">
            <a:extLst>
              <a:ext uri="{FF2B5EF4-FFF2-40B4-BE49-F238E27FC236}">
                <a16:creationId xmlns:a16="http://schemas.microsoft.com/office/drawing/2014/main" id="{C930E021-7312-844B-68ED-0831AA881A5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00765" y="3220635"/>
            <a:ext cx="756114" cy="726670"/>
          </a:xfrm>
          <a:prstGeom prst="rect">
            <a:avLst/>
          </a:prstGeom>
        </p:spPr>
      </p:pic>
      <p:pic>
        <p:nvPicPr>
          <p:cNvPr id="18" name="Picture 17" descr="A purple line drawing of a computer&#10;&#10;Description automatically generated">
            <a:extLst>
              <a:ext uri="{FF2B5EF4-FFF2-40B4-BE49-F238E27FC236}">
                <a16:creationId xmlns:a16="http://schemas.microsoft.com/office/drawing/2014/main" id="{1741D427-BB41-DED3-C88C-9BDB8B8D5A9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10454" y="3202473"/>
            <a:ext cx="726670" cy="726670"/>
          </a:xfrm>
          <a:prstGeom prst="rect">
            <a:avLst/>
          </a:prstGeom>
        </p:spPr>
      </p:pic>
      <p:pic>
        <p:nvPicPr>
          <p:cNvPr id="21" name="Picture 20" descr="A red line drawing of a graph and a pie chart&#10;&#10;Description automatically generated">
            <a:extLst>
              <a:ext uri="{FF2B5EF4-FFF2-40B4-BE49-F238E27FC236}">
                <a16:creationId xmlns:a16="http://schemas.microsoft.com/office/drawing/2014/main" id="{D124E2BB-D881-EE02-C69E-81F1B6ECBA6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804211" y="3214459"/>
            <a:ext cx="775546" cy="775546"/>
          </a:xfrm>
          <a:prstGeom prst="rect">
            <a:avLst/>
          </a:prstGeom>
        </p:spPr>
      </p:pic>
      <p:sp>
        <p:nvSpPr>
          <p:cNvPr id="23" name="TextBox 22">
            <a:extLst>
              <a:ext uri="{FF2B5EF4-FFF2-40B4-BE49-F238E27FC236}">
                <a16:creationId xmlns:a16="http://schemas.microsoft.com/office/drawing/2014/main" id="{414B45B8-E18D-16B9-1697-079BBB076E5F}"/>
              </a:ext>
            </a:extLst>
          </p:cNvPr>
          <p:cNvSpPr txBox="1"/>
          <p:nvPr/>
        </p:nvSpPr>
        <p:spPr>
          <a:xfrm>
            <a:off x="709791" y="1257474"/>
            <a:ext cx="8505715" cy="1200329"/>
          </a:xfrm>
          <a:prstGeom prst="rect">
            <a:avLst/>
          </a:prstGeom>
          <a:noFill/>
        </p:spPr>
        <p:txBody>
          <a:bodyPr wrap="square" rtlCol="1">
            <a:spAutoFit/>
          </a:bodyPr>
          <a:lstStyle/>
          <a:p>
            <a:pPr algn="r">
              <a:lnSpc>
                <a:spcPct val="150000"/>
              </a:lnSpc>
            </a:pPr>
            <a:r>
              <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rPr>
              <a:t>צוות מקצועי ייעודי יבצע חשיבה על השימושים והתוצרים למהלכים נוספים ברווחה שיתבססו על התשתיות הנבנות בפרויקט זה.</a:t>
            </a:r>
          </a:p>
          <a:p>
            <a:pPr algn="r"/>
            <a:endParaRPr lang="he-IL" dirty="0">
              <a:solidFill>
                <a:schemeClr val="tx1">
                  <a:lumMod val="65000"/>
                  <a:lumOff val="35000"/>
                </a:schemeClr>
              </a:solidFill>
              <a:latin typeface="Almoni Neue DL 4.0 AAA" panose="00000500000000000000" pitchFamily="50" charset="-79"/>
              <a:cs typeface="Almoni Neue DL 4.0 AAA" panose="00000500000000000000" pitchFamily="50" charset="-79"/>
            </a:endParaRPr>
          </a:p>
        </p:txBody>
      </p:sp>
      <p:cxnSp>
        <p:nvCxnSpPr>
          <p:cNvPr id="28" name="Straight Connector 27">
            <a:extLst>
              <a:ext uri="{FF2B5EF4-FFF2-40B4-BE49-F238E27FC236}">
                <a16:creationId xmlns:a16="http://schemas.microsoft.com/office/drawing/2014/main" id="{34D24636-6E7B-D3FF-C0F7-739B3D490757}"/>
              </a:ext>
            </a:extLst>
          </p:cNvPr>
          <p:cNvCxnSpPr>
            <a:cxnSpLocks/>
          </p:cNvCxnSpPr>
          <p:nvPr/>
        </p:nvCxnSpPr>
        <p:spPr>
          <a:xfrm>
            <a:off x="3678389" y="3132233"/>
            <a:ext cx="0" cy="2018862"/>
          </a:xfrm>
          <a:prstGeom prst="line">
            <a:avLst/>
          </a:prstGeom>
          <a:ln>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40" name="Google Shape;116;p34">
            <a:extLst>
              <a:ext uri="{FF2B5EF4-FFF2-40B4-BE49-F238E27FC236}">
                <a16:creationId xmlns:a16="http://schemas.microsoft.com/office/drawing/2014/main" id="{D5718E1A-5602-89A5-2720-B1E95C1F2286}"/>
              </a:ext>
            </a:extLst>
          </p:cNvPr>
          <p:cNvSpPr txBox="1"/>
          <p:nvPr/>
        </p:nvSpPr>
        <p:spPr>
          <a:xfrm>
            <a:off x="9698847" y="1762389"/>
            <a:ext cx="2282084" cy="2214375"/>
          </a:xfrm>
          <a:prstGeom prst="rect">
            <a:avLst/>
          </a:prstGeom>
          <a:noFill/>
          <a:ln>
            <a:noFill/>
          </a:ln>
        </p:spPr>
        <p:txBody>
          <a:bodyPr spcFirstLastPara="1" wrap="square" lIns="45713" tIns="45713" rIns="45713" bIns="45713" anchor="t" anchorCtr="0">
            <a:spAutoFit/>
          </a:bodyPr>
          <a:lstStyle/>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cs typeface="Almoni Neue DL 4.0 AAA" panose="00000500000000000000" pitchFamily="50" charset="-79"/>
                <a:sym typeface="Arial"/>
              </a:rPr>
              <a:t>רקע</a:t>
            </a:r>
          </a:p>
          <a:p>
            <a:pPr algn="r">
              <a:lnSpc>
                <a:spcPct val="197368"/>
              </a:lnSpc>
              <a:buClr>
                <a:srgbClr val="1281FF"/>
              </a:buClr>
              <a:buSzPts val="2280"/>
            </a:pPr>
            <a:r>
              <a:rPr lang="he-IL" sz="1400" b="1">
                <a:solidFill>
                  <a:srgbClr val="009BD4"/>
                </a:solidFill>
                <a:latin typeface="Almoni Neue DL 4.0 AAA" panose="00000500000000000000" pitchFamily="50" charset="-79"/>
                <a:cs typeface="Almoni Neue DL 4.0 AAA" panose="00000500000000000000" pitchFamily="50" charset="-79"/>
                <a:sym typeface="Helvetica Neue"/>
              </a:rPr>
              <a:t>אופטימיזציה שירותים ומענים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לוח זמנים </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תקציב</a:t>
            </a:r>
          </a:p>
          <a:p>
            <a:pPr algn="r">
              <a:lnSpc>
                <a:spcPct val="197368"/>
              </a:lnSpc>
              <a:buClr>
                <a:srgbClr val="1281FF"/>
              </a:buClr>
              <a:buSzPts val="2280"/>
            </a:pPr>
            <a:r>
              <a:rPr lang="he-IL" sz="1400" b="1">
                <a:solidFill>
                  <a:schemeClr val="tx1">
                    <a:lumMod val="50000"/>
                    <a:lumOff val="50000"/>
                  </a:schemeClr>
                </a:solidFill>
                <a:latin typeface="Almoni Neue DL 4.0 AAA" panose="00000500000000000000" pitchFamily="50" charset="-79"/>
                <a:ea typeface="Helvetica Neue"/>
                <a:cs typeface="Almoni Neue DL 4.0 AAA" panose="00000500000000000000" pitchFamily="50" charset="-79"/>
                <a:sym typeface="Helvetica Neue"/>
              </a:rPr>
              <a:t>נושאים לדיון </a:t>
            </a:r>
            <a:endParaRPr sz="1200">
              <a:solidFill>
                <a:srgbClr val="5E5E5E"/>
              </a:solidFill>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DE5A5484-F074-242E-E38E-EA0C3881B06B}"/>
              </a:ext>
            </a:extLst>
          </p:cNvPr>
          <p:cNvSpPr txBox="1"/>
          <p:nvPr/>
        </p:nvSpPr>
        <p:spPr>
          <a:xfrm>
            <a:off x="3090932" y="2503051"/>
            <a:ext cx="6096000" cy="473206"/>
          </a:xfrm>
          <a:prstGeom prst="rect">
            <a:avLst/>
          </a:prstGeom>
          <a:noFill/>
        </p:spPr>
        <p:txBody>
          <a:bodyPr wrap="square">
            <a:spAutoFit/>
          </a:bodyPr>
          <a:lstStyle/>
          <a:p>
            <a:pPr algn="r">
              <a:lnSpc>
                <a:spcPct val="150000"/>
              </a:lnSpc>
            </a:pPr>
            <a:r>
              <a:rPr lang="he-IL" b="1">
                <a:solidFill>
                  <a:schemeClr val="tx1">
                    <a:lumMod val="65000"/>
                    <a:lumOff val="35000"/>
                  </a:schemeClr>
                </a:solidFill>
                <a:latin typeface="Almoni Neue DL 4.0 AAA" panose="00000500000000000000" pitchFamily="50" charset="-79"/>
                <a:cs typeface="Almoni Neue DL 4.0 AAA" panose="00000500000000000000" pitchFamily="50" charset="-79"/>
              </a:rPr>
              <a:t>לדוגמא: </a:t>
            </a: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155946268"/>
      </p:ext>
    </p:extLst>
  </p:cSld>
  <p:clrMapOvr>
    <a:masterClrMapping/>
  </p:clrMapOvr>
  <p:transition spd="slow">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ounded Rectangle 1">
            <a:extLst>
              <a:ext uri="{FF2B5EF4-FFF2-40B4-BE49-F238E27FC236}">
                <a16:creationId xmlns:a16="http://schemas.microsoft.com/office/drawing/2014/main" id="{72DE7AE9-0BF3-D973-E87C-EB41E8709D13}"/>
              </a:ext>
            </a:extLst>
          </p:cNvPr>
          <p:cNvSpPr/>
          <p:nvPr/>
        </p:nvSpPr>
        <p:spPr>
          <a:xfrm>
            <a:off x="1431250" y="1737244"/>
            <a:ext cx="3588173" cy="3293937"/>
          </a:xfrm>
          <a:prstGeom prst="roundRect">
            <a:avLst/>
          </a:prstGeom>
          <a:solidFill>
            <a:schemeClr val="bg1"/>
          </a:solidFill>
          <a:ln>
            <a:solidFill>
              <a:srgbClr val="E75258"/>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2D97F194-2F02-BC07-F02B-84F0400E16BE}"/>
              </a:ext>
            </a:extLst>
          </p:cNvPr>
          <p:cNvGrpSpPr>
            <a:grpSpLocks noChangeAspect="1"/>
          </p:cNvGrpSpPr>
          <p:nvPr/>
        </p:nvGrpSpPr>
        <p:grpSpPr>
          <a:xfrm>
            <a:off x="7678489" y="1368598"/>
            <a:ext cx="4048894" cy="4429827"/>
            <a:chOff x="8042765" y="2046515"/>
            <a:chExt cx="3483067" cy="3810764"/>
          </a:xfrm>
        </p:grpSpPr>
        <p:sp>
          <p:nvSpPr>
            <p:cNvPr id="7" name="Rounded Rectangle 111">
              <a:extLst>
                <a:ext uri="{FF2B5EF4-FFF2-40B4-BE49-F238E27FC236}">
                  <a16:creationId xmlns:a16="http://schemas.microsoft.com/office/drawing/2014/main" id="{2E6CBCBE-5B82-5329-43F6-B8A4C66C514F}"/>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8" name="Group 7">
              <a:extLst>
                <a:ext uri="{FF2B5EF4-FFF2-40B4-BE49-F238E27FC236}">
                  <a16:creationId xmlns:a16="http://schemas.microsoft.com/office/drawing/2014/main" id="{D921BBCE-79AE-02B8-ACF4-5F92C767733E}"/>
                </a:ext>
              </a:extLst>
            </p:cNvPr>
            <p:cNvGrpSpPr/>
            <p:nvPr/>
          </p:nvGrpSpPr>
          <p:grpSpPr>
            <a:xfrm>
              <a:off x="8042765" y="2054133"/>
              <a:ext cx="3483067" cy="935810"/>
              <a:chOff x="8196597" y="2046513"/>
              <a:chExt cx="3483067" cy="935810"/>
            </a:xfrm>
          </p:grpSpPr>
          <p:sp>
            <p:nvSpPr>
              <p:cNvPr id="11" name="Rounded Rectangle 103">
                <a:extLst>
                  <a:ext uri="{FF2B5EF4-FFF2-40B4-BE49-F238E27FC236}">
                    <a16:creationId xmlns:a16="http://schemas.microsoft.com/office/drawing/2014/main" id="{4258F36B-39C2-D56D-69BF-1E5B5B20877C}"/>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Rectangle 11">
                <a:extLst>
                  <a:ext uri="{FF2B5EF4-FFF2-40B4-BE49-F238E27FC236}">
                    <a16:creationId xmlns:a16="http://schemas.microsoft.com/office/drawing/2014/main" id="{8FDBA3AF-17A3-63DD-2D71-6C4B91532AAB}"/>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3" name="Oval 12">
                <a:extLst>
                  <a:ext uri="{FF2B5EF4-FFF2-40B4-BE49-F238E27FC236}">
                    <a16:creationId xmlns:a16="http://schemas.microsoft.com/office/drawing/2014/main" id="{9EDF4C60-0A63-7DCD-5ADF-93D5C438287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4" name="Oval 13">
                <a:extLst>
                  <a:ext uri="{FF2B5EF4-FFF2-40B4-BE49-F238E27FC236}">
                    <a16:creationId xmlns:a16="http://schemas.microsoft.com/office/drawing/2014/main" id="{3CBBA451-A168-4B32-BD4E-95EB9A24A5D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9" name="Oval 8">
              <a:extLst>
                <a:ext uri="{FF2B5EF4-FFF2-40B4-BE49-F238E27FC236}">
                  <a16:creationId xmlns:a16="http://schemas.microsoft.com/office/drawing/2014/main" id="{E2D0C106-4B6B-050F-081F-38A453418D0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Oval 9">
              <a:extLst>
                <a:ext uri="{FF2B5EF4-FFF2-40B4-BE49-F238E27FC236}">
                  <a16:creationId xmlns:a16="http://schemas.microsoft.com/office/drawing/2014/main" id="{E58470C0-E016-4358-548E-D7C5B52099CF}"/>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929053" y="2174550"/>
            <a:ext cx="3543457" cy="3446073"/>
          </a:xfrm>
        </p:spPr>
        <p:txBody>
          <a:bodyPr>
            <a:normAutofit fontScale="25000" lnSpcReduction="20000"/>
          </a:bodyPr>
          <a:lstStyle/>
          <a:p>
            <a:pPr algn="r" rtl="1"/>
            <a:r>
              <a:rPr lang="he-IL" sz="6400" b="1" dirty="0"/>
              <a:t>מנחם, בן 81, נ+1. אבחנות רפואיות:</a:t>
            </a:r>
          </a:p>
          <a:p>
            <a:pPr algn="r" rtl="1"/>
            <a:r>
              <a:rPr lang="he-IL" sz="6400" dirty="0"/>
              <a:t>* סוכרת מטופל באינסולין</a:t>
            </a:r>
          </a:p>
          <a:p>
            <a:pPr algn="r" rtl="1"/>
            <a:r>
              <a:rPr lang="he-IL" sz="6400" dirty="0"/>
              <a:t>* יתר לחץ דם</a:t>
            </a:r>
          </a:p>
          <a:p>
            <a:pPr algn="r" rtl="1"/>
            <a:r>
              <a:rPr lang="he-IL" sz="6400" dirty="0"/>
              <a:t>* </a:t>
            </a:r>
            <a:r>
              <a:rPr lang="he-IL" sz="6400" dirty="0" err="1"/>
              <a:t>אוסטאוטריטיס</a:t>
            </a:r>
            <a:r>
              <a:rPr lang="he-IL" sz="6400" dirty="0"/>
              <a:t>– דלקת מפרקים ניוונית</a:t>
            </a:r>
          </a:p>
          <a:p>
            <a:pPr algn="r" rtl="1"/>
            <a:r>
              <a:rPr lang="he-IL" sz="6400" dirty="0"/>
              <a:t>* אי שליטה על סוגרים ודחיפות במתן שתן</a:t>
            </a:r>
          </a:p>
          <a:p>
            <a:pPr algn="r" rtl="1"/>
            <a:r>
              <a:rPr lang="he-IL" sz="6400" dirty="0"/>
              <a:t>* נפילות חוזרות</a:t>
            </a:r>
          </a:p>
          <a:p>
            <a:pPr algn="r" rtl="1"/>
            <a:r>
              <a:rPr lang="he-IL" sz="6400" dirty="0"/>
              <a:t>* אי יציבות  בהליכה</a:t>
            </a:r>
          </a:p>
          <a:p>
            <a:pPr algn="r" rtl="1">
              <a:lnSpc>
                <a:spcPct val="120000"/>
              </a:lnSpc>
            </a:pPr>
            <a:r>
              <a:rPr lang="he-IL" sz="6400" dirty="0"/>
              <a:t>מנחם במקצועו מהנדס מכונות, בעל יכולות ביצועיות, חובב מוזיקה מושבע, אוסף מכוניות עתיקות, עם מערכת משפחתית תומכת. בשנים האחרונות, מאז שהחל ליפול ממעט לצאת מביתו.</a:t>
            </a:r>
          </a:p>
          <a:p>
            <a:pPr algn="r" rtl="1"/>
            <a:endParaRPr lang="he-IL" dirty="0"/>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1142277" y="1953202"/>
            <a:ext cx="3788135" cy="28179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1252 ₪- גמלה בכסף</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11 שעות מטפלת שבועיות הכוללות: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וניקיון</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שמירה על סביבה בטוחה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742950" marR="0" lvl="1" indent="-28575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1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p:txBody>
      </p:sp>
      <p:sp>
        <p:nvSpPr>
          <p:cNvPr id="5" name="Oval 4">
            <a:extLst>
              <a:ext uri="{FF2B5EF4-FFF2-40B4-BE49-F238E27FC236}">
                <a16:creationId xmlns:a16="http://schemas.microsoft.com/office/drawing/2014/main" id="{2149271A-345A-5122-3EC4-B8002397612C}"/>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29" name="Chevron 9">
            <a:extLst>
              <a:ext uri="{FF2B5EF4-FFF2-40B4-BE49-F238E27FC236}">
                <a16:creationId xmlns:a16="http://schemas.microsoft.com/office/drawing/2014/main" id="{16ADEEB6-1E30-6D38-D568-DAADF160E382}"/>
              </a:ext>
            </a:extLst>
          </p:cNvPr>
          <p:cNvSpPr/>
          <p:nvPr/>
        </p:nvSpPr>
        <p:spPr>
          <a:xfrm rot="10800000">
            <a:off x="5436991" y="3285000"/>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30" name="Oval 29">
            <a:extLst>
              <a:ext uri="{FF2B5EF4-FFF2-40B4-BE49-F238E27FC236}">
                <a16:creationId xmlns:a16="http://schemas.microsoft.com/office/drawing/2014/main" id="{A5D1170E-6314-7E2A-7D50-BDA53F122E7D}"/>
              </a:ext>
            </a:extLst>
          </p:cNvPr>
          <p:cNvSpPr>
            <a:spLocks noChangeAspect="1"/>
          </p:cNvSpPr>
          <p:nvPr/>
        </p:nvSpPr>
        <p:spPr>
          <a:xfrm>
            <a:off x="6142176" y="3384213"/>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6" name="TextBox 15"/>
          <p:cNvSpPr txBox="1"/>
          <p:nvPr/>
        </p:nvSpPr>
        <p:spPr>
          <a:xfrm>
            <a:off x="5764062" y="256266"/>
            <a:ext cx="2573140" cy="461665"/>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המצב והשיטה היום</a:t>
            </a:r>
          </a:p>
        </p:txBody>
      </p:sp>
      <p:sp>
        <p:nvSpPr>
          <p:cNvPr id="19" name="מלבן 1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20" name="TextBox 19"/>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
        <p:nvSpPr>
          <p:cNvPr id="21" name="אליפסה 20"/>
          <p:cNvSpPr/>
          <p:nvPr/>
        </p:nvSpPr>
        <p:spPr>
          <a:xfrm>
            <a:off x="10678046" y="30951"/>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2000" b="1" dirty="0">
                <a:solidFill>
                  <a:prstClr val="white"/>
                </a:solidFill>
              </a:rPr>
              <a:t>רמה 3</a:t>
            </a:r>
          </a:p>
          <a:p>
            <a:pPr lvl="0" algn="ctr" rtl="0">
              <a:defRPr/>
            </a:pPr>
            <a:r>
              <a:rPr lang="he-IL" sz="1600" b="1" dirty="0">
                <a:solidFill>
                  <a:prstClr val="white"/>
                </a:solidFill>
              </a:rPr>
              <a:t>17 שעות</a:t>
            </a:r>
          </a:p>
        </p:txBody>
      </p:sp>
      <p:sp>
        <p:nvSpPr>
          <p:cNvPr id="15" name="TextBox 14"/>
          <p:cNvSpPr txBox="1"/>
          <p:nvPr/>
        </p:nvSpPr>
        <p:spPr>
          <a:xfrm>
            <a:off x="3635899" y="1833986"/>
            <a:ext cx="1260281" cy="369332"/>
          </a:xfrm>
          <a:prstGeom prst="rect">
            <a:avLst/>
          </a:prstGeom>
          <a:noFill/>
        </p:spPr>
        <p:txBody>
          <a:bodyPr wrap="none" rtlCol="1">
            <a:spAutoFit/>
          </a:bodyPr>
          <a:lstStyle/>
          <a:p>
            <a:r>
              <a:rPr lang="he-IL" b="1" dirty="0"/>
              <a:t>הסל הקיים:</a:t>
            </a:r>
          </a:p>
        </p:txBody>
      </p:sp>
    </p:spTree>
    <p:extLst>
      <p:ext uri="{BB962C8B-B14F-4D97-AF65-F5344CB8AC3E}">
        <p14:creationId xmlns:p14="http://schemas.microsoft.com/office/powerpoint/2010/main" val="42865333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
            <a:extLst>
              <a:ext uri="{FF2B5EF4-FFF2-40B4-BE49-F238E27FC236}">
                <a16:creationId xmlns:a16="http://schemas.microsoft.com/office/drawing/2014/main" id="{D0B4EA7B-34D5-1A23-EEE1-3B26FC65248B}"/>
              </a:ext>
            </a:extLst>
          </p:cNvPr>
          <p:cNvSpPr/>
          <p:nvPr/>
        </p:nvSpPr>
        <p:spPr>
          <a:xfrm>
            <a:off x="356691" y="588475"/>
            <a:ext cx="5449569" cy="5894061"/>
          </a:xfrm>
          <a:prstGeom prst="roundRect">
            <a:avLst/>
          </a:prstGeom>
          <a:solidFill>
            <a:srgbClr val="5EC5C5"/>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pSp>
        <p:nvGrpSpPr>
          <p:cNvPr id="2" name="Group 1">
            <a:extLst>
              <a:ext uri="{FF2B5EF4-FFF2-40B4-BE49-F238E27FC236}">
                <a16:creationId xmlns:a16="http://schemas.microsoft.com/office/drawing/2014/main" id="{93A88E2F-5EF4-789E-4EC1-FECE0F60DDB1}"/>
              </a:ext>
            </a:extLst>
          </p:cNvPr>
          <p:cNvGrpSpPr>
            <a:grpSpLocks noChangeAspect="1"/>
          </p:cNvGrpSpPr>
          <p:nvPr/>
        </p:nvGrpSpPr>
        <p:grpSpPr>
          <a:xfrm>
            <a:off x="7678489" y="1368598"/>
            <a:ext cx="4048894" cy="4429827"/>
            <a:chOff x="8042765" y="2046515"/>
            <a:chExt cx="3483067" cy="3810764"/>
          </a:xfrm>
        </p:grpSpPr>
        <p:sp>
          <p:nvSpPr>
            <p:cNvPr id="5" name="Rounded Rectangle 111">
              <a:extLst>
                <a:ext uri="{FF2B5EF4-FFF2-40B4-BE49-F238E27FC236}">
                  <a16:creationId xmlns:a16="http://schemas.microsoft.com/office/drawing/2014/main" id="{621A4DD8-C551-84E3-8B7C-F54D08EBF65B}"/>
                </a:ext>
              </a:extLst>
            </p:cNvPr>
            <p:cNvSpPr/>
            <p:nvPr/>
          </p:nvSpPr>
          <p:spPr>
            <a:xfrm>
              <a:off x="8131154" y="2046515"/>
              <a:ext cx="3311785" cy="3810764"/>
            </a:xfrm>
            <a:prstGeom prst="roundRect">
              <a:avLst>
                <a:gd name="adj" fmla="val 5098"/>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6" name="Group 5">
              <a:extLst>
                <a:ext uri="{FF2B5EF4-FFF2-40B4-BE49-F238E27FC236}">
                  <a16:creationId xmlns:a16="http://schemas.microsoft.com/office/drawing/2014/main" id="{AA60DC4F-3B2E-7161-90A3-10058A300945}"/>
                </a:ext>
              </a:extLst>
            </p:cNvPr>
            <p:cNvGrpSpPr/>
            <p:nvPr/>
          </p:nvGrpSpPr>
          <p:grpSpPr>
            <a:xfrm>
              <a:off x="8042765" y="2054133"/>
              <a:ext cx="3483067" cy="935810"/>
              <a:chOff x="8196597" y="2046513"/>
              <a:chExt cx="3483067" cy="935810"/>
            </a:xfrm>
          </p:grpSpPr>
          <p:sp>
            <p:nvSpPr>
              <p:cNvPr id="9" name="Rounded Rectangle 103">
                <a:extLst>
                  <a:ext uri="{FF2B5EF4-FFF2-40B4-BE49-F238E27FC236}">
                    <a16:creationId xmlns:a16="http://schemas.microsoft.com/office/drawing/2014/main" id="{152D9103-54F9-A90C-CB51-ABE857EDC729}"/>
                  </a:ext>
                </a:extLst>
              </p:cNvPr>
              <p:cNvSpPr/>
              <p:nvPr/>
            </p:nvSpPr>
            <p:spPr>
              <a:xfrm>
                <a:off x="8273404" y="2046513"/>
                <a:ext cx="3325748" cy="869043"/>
              </a:xfrm>
              <a:prstGeom prst="roundRect">
                <a:avLst/>
              </a:prstGeom>
              <a:noFill/>
              <a:ln w="28575">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34ADDB74-0E15-742D-DCB9-DF4B1ADAD329}"/>
                  </a:ext>
                </a:extLst>
              </p:cNvPr>
              <p:cNvSpPr/>
              <p:nvPr/>
            </p:nvSpPr>
            <p:spPr>
              <a:xfrm>
                <a:off x="8208414" y="2647821"/>
                <a:ext cx="3455728" cy="33450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1" name="Oval 10">
                <a:extLst>
                  <a:ext uri="{FF2B5EF4-FFF2-40B4-BE49-F238E27FC236}">
                    <a16:creationId xmlns:a16="http://schemas.microsoft.com/office/drawing/2014/main" id="{28926696-7AD8-C99A-5C5A-1619DFF24052}"/>
                  </a:ext>
                </a:extLst>
              </p:cNvPr>
              <p:cNvSpPr>
                <a:spLocks noChangeAspect="1"/>
              </p:cNvSpPr>
              <p:nvPr/>
            </p:nvSpPr>
            <p:spPr>
              <a:xfrm>
                <a:off x="11522341"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2" name="Oval 11">
                <a:extLst>
                  <a:ext uri="{FF2B5EF4-FFF2-40B4-BE49-F238E27FC236}">
                    <a16:creationId xmlns:a16="http://schemas.microsoft.com/office/drawing/2014/main" id="{90B44494-FC7C-999B-CD19-01A9DADC8691}"/>
                  </a:ext>
                </a:extLst>
              </p:cNvPr>
              <p:cNvSpPr>
                <a:spLocks noChangeAspect="1"/>
              </p:cNvSpPr>
              <p:nvPr/>
            </p:nvSpPr>
            <p:spPr>
              <a:xfrm>
                <a:off x="8196597" y="2495157"/>
                <a:ext cx="157323" cy="157323"/>
              </a:xfrm>
              <a:prstGeom prst="ellipse">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
          <p:nvSpPr>
            <p:cNvPr id="7" name="Oval 6">
              <a:extLst>
                <a:ext uri="{FF2B5EF4-FFF2-40B4-BE49-F238E27FC236}">
                  <a16:creationId xmlns:a16="http://schemas.microsoft.com/office/drawing/2014/main" id="{5A2A50CB-0FA1-F4DF-39D2-36E73B7A6FF5}"/>
                </a:ext>
              </a:extLst>
            </p:cNvPr>
            <p:cNvSpPr>
              <a:spLocks noChangeAspect="1"/>
            </p:cNvSpPr>
            <p:nvPr/>
          </p:nvSpPr>
          <p:spPr>
            <a:xfrm>
              <a:off x="11365794" y="283973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7">
              <a:extLst>
                <a:ext uri="{FF2B5EF4-FFF2-40B4-BE49-F238E27FC236}">
                  <a16:creationId xmlns:a16="http://schemas.microsoft.com/office/drawing/2014/main" id="{4D1AAC09-5FEA-10F6-D909-5CE48748BAEA}"/>
                </a:ext>
              </a:extLst>
            </p:cNvPr>
            <p:cNvSpPr>
              <a:spLocks noChangeAspect="1"/>
            </p:cNvSpPr>
            <p:nvPr/>
          </p:nvSpPr>
          <p:spPr>
            <a:xfrm>
              <a:off x="8050243" y="2839894"/>
              <a:ext cx="157323" cy="157323"/>
            </a:xfrm>
            <a:prstGeom prst="ellipse">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pSp>
      <p:sp>
        <p:nvSpPr>
          <p:cNvPr id="13" name="Oval 12">
            <a:extLst>
              <a:ext uri="{FF2B5EF4-FFF2-40B4-BE49-F238E27FC236}">
                <a16:creationId xmlns:a16="http://schemas.microsoft.com/office/drawing/2014/main" id="{5F48573E-28D5-B8FD-4B49-EAC00579D7D1}"/>
              </a:ext>
            </a:extLst>
          </p:cNvPr>
          <p:cNvSpPr/>
          <p:nvPr/>
        </p:nvSpPr>
        <p:spPr>
          <a:xfrm>
            <a:off x="8966664" y="499606"/>
            <a:ext cx="1472544" cy="1519046"/>
          </a:xfrm>
          <a:prstGeom prst="ellipse">
            <a:avLst/>
          </a:prstGeom>
          <a:blipFill dpi="0" rotWithShape="1">
            <a:blip r:embed="rId3">
              <a:extLst>
                <a:ext uri="{28A0092B-C50C-407E-A947-70E740481C1C}">
                  <a14:useLocalDpi xmlns:a14="http://schemas.microsoft.com/office/drawing/2010/main" val="0"/>
                </a:ext>
              </a:extLst>
            </a:blip>
            <a:srcRect/>
            <a:stretch>
              <a:fillRect/>
            </a:stretch>
          </a:blipFill>
          <a:ln>
            <a:solidFill>
              <a:srgbClr val="5EC5C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L" sz="1800" b="0" i="0" u="none" strike="noStrike" kern="1200" cap="none" spc="0" normalizeH="0" baseline="0" noProof="0">
              <a:ln>
                <a:noFill/>
              </a:ln>
              <a:solidFill>
                <a:prstClr val="white"/>
              </a:solidFill>
              <a:effectLst/>
              <a:uLnTx/>
              <a:uFillTx/>
              <a:latin typeface="Arial" panose="020B0604020202020204" pitchFamily="34" charset="0"/>
              <a:ea typeface="+mn-ea"/>
              <a:cs typeface="+mn-cs"/>
            </a:endParaRPr>
          </a:p>
        </p:txBody>
      </p:sp>
      <p:sp>
        <p:nvSpPr>
          <p:cNvPr id="3" name="Subtitle 2">
            <a:extLst>
              <a:ext uri="{FF2B5EF4-FFF2-40B4-BE49-F238E27FC236}">
                <a16:creationId xmlns:a16="http://schemas.microsoft.com/office/drawing/2014/main" id="{8D1C01B6-BCED-0B1F-3127-824C5C406503}"/>
              </a:ext>
            </a:extLst>
          </p:cNvPr>
          <p:cNvSpPr>
            <a:spLocks noGrp="1"/>
          </p:cNvSpPr>
          <p:nvPr>
            <p:ph type="subTitle" idx="1"/>
          </p:nvPr>
        </p:nvSpPr>
        <p:spPr>
          <a:xfrm>
            <a:off x="7861369" y="2178994"/>
            <a:ext cx="3586386" cy="3723931"/>
          </a:xfrm>
        </p:spPr>
        <p:txBody>
          <a:bodyPr>
            <a:normAutofit fontScale="55000" lnSpcReduction="20000"/>
          </a:bodyPr>
          <a:lstStyle/>
          <a:p>
            <a:pPr algn="r" rtl="1"/>
            <a:r>
              <a:rPr lang="he-IL" dirty="0"/>
              <a:t>מנחם, בן 81, נ+1. פרופיל תפקודי:</a:t>
            </a:r>
          </a:p>
          <a:p>
            <a:pPr algn="r" rtl="1"/>
            <a:r>
              <a:rPr lang="he-IL" dirty="0"/>
              <a:t>* עייפות, ירידה ברמות האנרגיה </a:t>
            </a:r>
          </a:p>
          <a:p>
            <a:pPr algn="r" rtl="1"/>
            <a:r>
              <a:rPr lang="he-IL" dirty="0"/>
              <a:t>* בעיות שינה </a:t>
            </a:r>
          </a:p>
          <a:p>
            <a:pPr algn="r" rtl="1"/>
            <a:r>
              <a:rPr lang="he-IL" dirty="0"/>
              <a:t>* קשיים בקשב וזיכרון </a:t>
            </a:r>
          </a:p>
          <a:p>
            <a:pPr marL="342900" indent="-342900" algn="r" rtl="1">
              <a:buFont typeface="Arial" panose="020B0604020202020204" pitchFamily="34" charset="0"/>
              <a:buChar char="•"/>
            </a:pPr>
            <a:r>
              <a:rPr lang="he-IL" dirty="0"/>
              <a:t>רגישות לכאב </a:t>
            </a:r>
          </a:p>
          <a:p>
            <a:pPr marL="342900" indent="-342900" algn="r" rtl="1">
              <a:buFont typeface="Arial" panose="020B0604020202020204" pitchFamily="34" charset="0"/>
              <a:buChar char="•"/>
            </a:pPr>
            <a:r>
              <a:rPr lang="he-IL" dirty="0"/>
              <a:t>בעיות שמיעה</a:t>
            </a:r>
          </a:p>
          <a:p>
            <a:pPr algn="r" rtl="1"/>
            <a:r>
              <a:rPr lang="he-IL" dirty="0"/>
              <a:t>* שליטה חלקית על מתן שתן </a:t>
            </a:r>
          </a:p>
          <a:p>
            <a:pPr algn="r" rtl="1"/>
            <a:r>
              <a:rPr lang="he-IL" dirty="0"/>
              <a:t>* הליכה לא יציבה ונטייה לנפילות </a:t>
            </a:r>
          </a:p>
          <a:p>
            <a:pPr algn="r" rtl="1"/>
            <a:r>
              <a:rPr lang="he-IL" dirty="0"/>
              <a:t>* נוקשות וכאב בתנועתיות ברכיים </a:t>
            </a:r>
          </a:p>
          <a:p>
            <a:pPr algn="r" rtl="1">
              <a:lnSpc>
                <a:spcPct val="170000"/>
              </a:lnSpc>
            </a:pPr>
            <a:r>
              <a:rPr lang="he-IL" dirty="0"/>
              <a:t>מנחם במקצועו מהנדס מכונות, בעל יכולות ביצועיות, חובב מוזיקה מושבע, אוסף מכוניות עתיקות, בעל מערכת משפחתית תומכת. בשנים האחרונות, מאז שהחל נופל ממעט לצאת מביתו.</a:t>
            </a:r>
          </a:p>
        </p:txBody>
      </p:sp>
      <p:sp>
        <p:nvSpPr>
          <p:cNvPr id="4" name="Subtitle 2">
            <a:extLst>
              <a:ext uri="{FF2B5EF4-FFF2-40B4-BE49-F238E27FC236}">
                <a16:creationId xmlns:a16="http://schemas.microsoft.com/office/drawing/2014/main" id="{11A6A51E-CB76-6764-B73A-2D7D2ED69E2F}"/>
              </a:ext>
            </a:extLst>
          </p:cNvPr>
          <p:cNvSpPr txBox="1">
            <a:spLocks/>
          </p:cNvSpPr>
          <p:nvPr/>
        </p:nvSpPr>
        <p:spPr>
          <a:xfrm>
            <a:off x="393318" y="944291"/>
            <a:ext cx="5178131" cy="5361479"/>
          </a:xfrm>
          <a:prstGeom prst="rect">
            <a:avLst/>
          </a:prstGeom>
        </p:spPr>
        <p:txBody>
          <a:bodyPr vert="horz" lIns="91440" tIns="45720" rIns="91440" bIns="45720" rtlCol="0">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1000</a:t>
            </a:r>
            <a:r>
              <a:rPr kumimoji="0" lang="he-IL" sz="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גמלה בכסף ולצריכת שירותים מותאמים אישית </a:t>
            </a: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ש)</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8 שעות מטפלת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שבועיות הכוללות: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בניידות בבית ומחוץ לבית</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בבישול והגשת מזון </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סיוע באחזקת הבית ושמירה על סביבה בטוחה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השגחה או עזרה חלקית ברחצה והלבשה</a:t>
            </a:r>
          </a:p>
          <a:p>
            <a:pPr marL="800100" marR="0" lvl="1" indent="-342900" algn="r" defTabSz="914400" rtl="1"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he-IL" sz="2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ליווי לשירותים</a:t>
            </a:r>
          </a:p>
          <a:p>
            <a:pPr marL="342900" marR="0" lvl="0" indent="-342900" algn="r" defTabSz="914400" rtl="1" eaLnBrk="1" fontAlgn="auto" latinLnBrk="0" hangingPunct="1">
              <a:lnSpc>
                <a:spcPct val="90000"/>
              </a:lnSpc>
              <a:spcBef>
                <a:spcPts val="1000"/>
              </a:spcBef>
              <a:spcAft>
                <a:spcPts val="0"/>
              </a:spcAft>
              <a:buClrTx/>
              <a:buSzTx/>
              <a:buFont typeface="Wingdings" panose="05000000000000000000" pitchFamily="2" charset="2"/>
              <a:buChar char="ü"/>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ש' צבוע + 2 ש' בבחירה (1,118 ₪)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לקהילה ולרכישת שירותים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ומוצרים מותאמים לפרופיל האישי כגון:</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1.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קהילה מקדמת שייכות, בריאות וחוסן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(פעילות, קשר, תיקונים,   תיווך וסיוע)- 209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2.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קורס מוזיקה מקוון בקתדרה למוזיקה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350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6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מאפשר עיסוק קוגניטיבי בתחום העניין, לצד התחשבות בקשיים המוטוריים </a:t>
            </a:r>
            <a:r>
              <a:rPr kumimoji="0" lang="he-IL" sz="1800" b="0" i="0" u="none" strike="noStrike" kern="1200" cap="none" spc="0" normalizeH="0" baseline="0" noProof="0" dirty="0" err="1">
                <a:ln>
                  <a:noFill/>
                </a:ln>
                <a:solidFill>
                  <a:prstClr val="black"/>
                </a:solidFill>
                <a:effectLst/>
                <a:uLnTx/>
                <a:uFillTx/>
                <a:latin typeface="Aptos" panose="02110004020202020204"/>
                <a:ea typeface="+mn-ea"/>
                <a:cs typeface="Arial" panose="020B0604020202020204" pitchFamily="34" charset="0"/>
              </a:rPr>
              <a:t>והקשביים</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3.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שיעורי דמיון מודרך ומדיטציה במתנ"ס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(מהווה כלי מסייע בניהול כאבים, בעיות שינה, מטפלת מסיעה ומלווה, מתנ"ס מונגש)</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4.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בריכה והידרותרפיה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250 ₪ </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19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(מתייחס לכלל הקשיים, דגש על נוקשות בתנועתיות, סביבת המים, וההחזקה, נותנת מענה לחשש מנפילות)</a:t>
            </a: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5.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רכישת מכשיר שמיעה מסובסד-300 </a:t>
            </a: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r>
              <a:rPr kumimoji="0" lang="he-IL"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(קריטי במניעת הדרדרות ותפקוד)</a:t>
            </a:r>
            <a:endParaRPr kumimoji="0" lang="he-IL" sz="32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6. </a:t>
            </a: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התנדבות </a:t>
            </a:r>
            <a:r>
              <a:rPr kumimoji="0" lang="he-IL" sz="21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דו חודשית בבית הספר "אורט" מגמת מכונאות בסיוע לתלמידים</a:t>
            </a:r>
            <a:r>
              <a:rPr kumimoji="0" lang="he-IL" sz="10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a:t>
            </a: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a:p>
            <a:pPr marL="0" marR="0" lvl="0" indent="0" algn="ctr" defTabSz="914400" rtl="1"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he-IL" sz="24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סה"כ 1409 ₪ מתוכם 1,118 ₪ במימון מדינה </a:t>
            </a:r>
            <a:endParaRPr kumimoji="0" lang="he-IL" sz="24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endParaRPr>
          </a:p>
        </p:txBody>
      </p:sp>
      <p:sp>
        <p:nvSpPr>
          <p:cNvPr id="14" name="Chevron 9">
            <a:extLst>
              <a:ext uri="{FF2B5EF4-FFF2-40B4-BE49-F238E27FC236}">
                <a16:creationId xmlns:a16="http://schemas.microsoft.com/office/drawing/2014/main" id="{53CB9F4D-0FB1-3D16-6D13-CEF08E76D144}"/>
              </a:ext>
            </a:extLst>
          </p:cNvPr>
          <p:cNvSpPr/>
          <p:nvPr/>
        </p:nvSpPr>
        <p:spPr>
          <a:xfrm rot="10800000">
            <a:off x="6097256" y="3295511"/>
            <a:ext cx="1558343" cy="288000"/>
          </a:xfrm>
          <a:prstGeom prst="chevron">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15" name="Oval 14">
            <a:extLst>
              <a:ext uri="{FF2B5EF4-FFF2-40B4-BE49-F238E27FC236}">
                <a16:creationId xmlns:a16="http://schemas.microsoft.com/office/drawing/2014/main" id="{7E549171-80AC-AFAF-C88B-947BC5215AD1}"/>
              </a:ext>
            </a:extLst>
          </p:cNvPr>
          <p:cNvSpPr>
            <a:spLocks noChangeAspect="1"/>
          </p:cNvSpPr>
          <p:nvPr/>
        </p:nvSpPr>
        <p:spPr>
          <a:xfrm>
            <a:off x="7164023" y="3388674"/>
            <a:ext cx="101674" cy="10167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TextBox 17"/>
          <p:cNvSpPr txBox="1"/>
          <p:nvPr/>
        </p:nvSpPr>
        <p:spPr>
          <a:xfrm>
            <a:off x="6040697" y="65255"/>
            <a:ext cx="2642070" cy="523220"/>
          </a:xfrm>
          <a:prstGeom prst="rect">
            <a:avLst/>
          </a:prstGeom>
          <a:noFill/>
        </p:spPr>
        <p:txBody>
          <a:bodyPr wrap="none" rtlCol="1">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ההזדמנות לשינוי</a:t>
            </a:r>
          </a:p>
        </p:txBody>
      </p:sp>
      <p:sp>
        <p:nvSpPr>
          <p:cNvPr id="21" name="אליפסה 20"/>
          <p:cNvSpPr/>
          <p:nvPr/>
        </p:nvSpPr>
        <p:spPr>
          <a:xfrm>
            <a:off x="10723105" y="40478"/>
            <a:ext cx="1449299" cy="12393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lvl="0" algn="ctr" rtl="0">
              <a:defRPr/>
            </a:pPr>
            <a:r>
              <a:rPr lang="he-IL" sz="1600" b="1" dirty="0">
                <a:solidFill>
                  <a:prstClr val="white"/>
                </a:solidFill>
              </a:rPr>
              <a:t> </a:t>
            </a:r>
            <a:r>
              <a:rPr lang="he-IL" sz="1500" b="1" dirty="0">
                <a:solidFill>
                  <a:prstClr val="white"/>
                </a:solidFill>
              </a:rPr>
              <a:t>פרופיל  </a:t>
            </a:r>
            <a:r>
              <a:rPr lang="he-IL" sz="1350" b="1" dirty="0">
                <a:solidFill>
                  <a:prstClr val="white"/>
                </a:solidFill>
              </a:rPr>
              <a:t>וסל  תפקודי </a:t>
            </a:r>
            <a:r>
              <a:rPr lang="he-IL" sz="1500" b="1" dirty="0">
                <a:solidFill>
                  <a:prstClr val="white"/>
                </a:solidFill>
              </a:rPr>
              <a:t>מותאם</a:t>
            </a:r>
          </a:p>
        </p:txBody>
      </p:sp>
      <p:sp>
        <p:nvSpPr>
          <p:cNvPr id="23" name="מלבן 22"/>
          <p:cNvSpPr/>
          <p:nvPr/>
        </p:nvSpPr>
        <p:spPr>
          <a:xfrm>
            <a:off x="994130" y="187332"/>
            <a:ext cx="4030270" cy="369332"/>
          </a:xfrm>
          <a:prstGeom prst="rect">
            <a:avLst/>
          </a:prstGeom>
        </p:spPr>
        <p:txBody>
          <a:bodyPr wrap="none">
            <a:spAutoFit/>
          </a:bodyPr>
          <a:lstStyle/>
          <a:p>
            <a:r>
              <a:rPr lang="he-IL" b="1" dirty="0"/>
              <a:t>הסל החדש: מותאם, מתמרץ ודוחק תלות:</a:t>
            </a:r>
          </a:p>
        </p:txBody>
      </p:sp>
      <p:sp>
        <p:nvSpPr>
          <p:cNvPr id="17" name="מלבן 16">
            <a:extLst>
              <a:ext uri="{FF2B5EF4-FFF2-40B4-BE49-F238E27FC236}">
                <a16:creationId xmlns:a16="http://schemas.microsoft.com/office/drawing/2014/main" id="{72EB0216-DF15-0ADF-1446-3B696A77CA6A}"/>
              </a:ext>
            </a:extLst>
          </p:cNvPr>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9" name="TextBox 10">
            <a:extLst>
              <a:ext uri="{FF2B5EF4-FFF2-40B4-BE49-F238E27FC236}">
                <a16:creationId xmlns:a16="http://schemas.microsoft.com/office/drawing/2014/main" id="{23D44079-AB70-B511-15B2-3CF42217CADE}"/>
              </a:ext>
            </a:extLst>
          </p:cNvPr>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spTree>
    <p:extLst>
      <p:ext uri="{BB962C8B-B14F-4D97-AF65-F5344CB8AC3E}">
        <p14:creationId xmlns:p14="http://schemas.microsoft.com/office/powerpoint/2010/main" val="320958103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picture containing person, person&#10;&#10;Description automatically generated">
            <a:extLst>
              <a:ext uri="{FF2B5EF4-FFF2-40B4-BE49-F238E27FC236}">
                <a16:creationId xmlns:a16="http://schemas.microsoft.com/office/drawing/2014/main" id="{BED9B39D-506E-BC30-72B8-A4F4C12235C9}"/>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0" y="-28651"/>
            <a:ext cx="12192000" cy="7686842"/>
          </a:xfrm>
          <a:prstGeom prst="rect">
            <a:avLst/>
          </a:prstGeom>
        </p:spPr>
      </p:pic>
      <p:sp>
        <p:nvSpPr>
          <p:cNvPr id="4" name="Rectangle 3">
            <a:extLst>
              <a:ext uri="{FF2B5EF4-FFF2-40B4-BE49-F238E27FC236}">
                <a16:creationId xmlns:a16="http://schemas.microsoft.com/office/drawing/2014/main" id="{D5474B0A-0AEC-40BB-BC61-4A7BF8916078}"/>
              </a:ext>
            </a:extLst>
          </p:cNvPr>
          <p:cNvSpPr/>
          <p:nvPr/>
        </p:nvSpPr>
        <p:spPr>
          <a:xfrm>
            <a:off x="0" y="5710335"/>
            <a:ext cx="12192000" cy="194785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Rectangle 5">
            <a:extLst>
              <a:ext uri="{FF2B5EF4-FFF2-40B4-BE49-F238E27FC236}">
                <a16:creationId xmlns:a16="http://schemas.microsoft.com/office/drawing/2014/main" id="{074E81CE-5BB6-4B39-998F-DA850CF7B7B7}"/>
              </a:ext>
            </a:extLst>
          </p:cNvPr>
          <p:cNvSpPr/>
          <p:nvPr/>
        </p:nvSpPr>
        <p:spPr>
          <a:xfrm>
            <a:off x="0" y="5648431"/>
            <a:ext cx="12192000" cy="94725"/>
          </a:xfrm>
          <a:prstGeom prst="rect">
            <a:avLst/>
          </a:prstGeom>
          <a:solidFill>
            <a:srgbClr val="5EC5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Rectangle 6">
            <a:extLst>
              <a:ext uri="{FF2B5EF4-FFF2-40B4-BE49-F238E27FC236}">
                <a16:creationId xmlns:a16="http://schemas.microsoft.com/office/drawing/2014/main" id="{E331855E-E559-4AFE-8D66-4892C712613C}"/>
              </a:ext>
            </a:extLst>
          </p:cNvPr>
          <p:cNvSpPr/>
          <p:nvPr/>
        </p:nvSpPr>
        <p:spPr>
          <a:xfrm>
            <a:off x="376102" y="640065"/>
            <a:ext cx="4562248" cy="2169825"/>
          </a:xfrm>
          <a:prstGeom prst="rect">
            <a:avLst/>
          </a:prstGeom>
        </p:spPr>
        <p:txBody>
          <a:bodyPr wrap="square" anchor="ctr">
            <a:spAutoFit/>
          </a:bodyPr>
          <a:lstStyle/>
          <a:p>
            <a:pPr algn="ctr" rtl="1"/>
            <a:r>
              <a:rPr lang="he-IL" sz="4500" b="1" dirty="0">
                <a:solidFill>
                  <a:srgbClr val="34304F"/>
                </a:solidFill>
                <a:latin typeface="Calibri" panose="020F0502020204030204" pitchFamily="34" charset="0"/>
                <a:cs typeface="Calibri" panose="020F0502020204030204" pitchFamily="34" charset="0"/>
              </a:rPr>
              <a:t>פלטפורמה דיגיטלית להתאמה אישית של שירותים</a:t>
            </a:r>
            <a:endParaRPr lang="en-US" sz="4500" b="1" dirty="0">
              <a:solidFill>
                <a:srgbClr val="34304F"/>
              </a:solidFill>
              <a:latin typeface="Calibri" panose="020F0502020204030204" pitchFamily="34" charset="0"/>
              <a:cs typeface="Calibri" panose="020F0502020204030204" pitchFamily="34" charset="0"/>
            </a:endParaRPr>
          </a:p>
        </p:txBody>
      </p:sp>
      <p:pic>
        <p:nvPicPr>
          <p:cNvPr id="8" name="Picture 7" descr="Graphical user interface, text, website&#10;&#10;Description automatically generated">
            <a:extLst>
              <a:ext uri="{FF2B5EF4-FFF2-40B4-BE49-F238E27FC236}">
                <a16:creationId xmlns:a16="http://schemas.microsoft.com/office/drawing/2014/main" id="{086E767E-AB25-B568-543A-85B3B7F516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8558" y="5961733"/>
            <a:ext cx="3766352" cy="861553"/>
          </a:xfrm>
          <a:prstGeom prst="rect">
            <a:avLst/>
          </a:prstGeom>
        </p:spPr>
      </p:pic>
      <p:sp>
        <p:nvSpPr>
          <p:cNvPr id="9" name="מלבן 8"/>
          <p:cNvSpPr/>
          <p:nvPr/>
        </p:nvSpPr>
        <p:spPr>
          <a:xfrm>
            <a:off x="3093" y="0"/>
            <a:ext cx="244547" cy="6857999"/>
          </a:xfrm>
          <a:prstGeom prst="rect">
            <a:avLst/>
          </a:prstGeom>
          <a:solidFill>
            <a:srgbClr val="5EC5C5"/>
          </a:solidFill>
          <a:ln>
            <a:solidFill>
              <a:srgbClr val="2CC2E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a:ea typeface="+mn-ea"/>
              <a:cs typeface="Calibri"/>
            </a:endParaRPr>
          </a:p>
        </p:txBody>
      </p:sp>
      <p:sp>
        <p:nvSpPr>
          <p:cNvPr id="11" name="TextBox 10"/>
          <p:cNvSpPr txBox="1"/>
          <p:nvPr/>
        </p:nvSpPr>
        <p:spPr>
          <a:xfrm rot="16200000">
            <a:off x="-709672" y="667069"/>
            <a:ext cx="1616148" cy="338554"/>
          </a:xfrm>
          <a:prstGeom prst="rect">
            <a:avLst/>
          </a:prstGeom>
          <a:noFill/>
        </p:spPr>
        <p:txBody>
          <a:bodyPr wrap="none" rtlCol="1">
            <a:spAutoFit/>
          </a:bodyPr>
          <a:lstStyle/>
          <a:p>
            <a:r>
              <a:rPr lang="he-IL" sz="1600" b="1" dirty="0"/>
              <a:t>סל מותאם אישית</a:t>
            </a:r>
          </a:p>
        </p:txBody>
      </p:sp>
      <p:pic>
        <p:nvPicPr>
          <p:cNvPr id="12" name="תמונה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45529" y="6022109"/>
            <a:ext cx="2955666" cy="801177"/>
          </a:xfrm>
          <a:prstGeom prst="rect">
            <a:avLst/>
          </a:prstGeom>
        </p:spPr>
      </p:pic>
    </p:spTree>
    <p:extLst>
      <p:ext uri="{BB962C8B-B14F-4D97-AF65-F5344CB8AC3E}">
        <p14:creationId xmlns:p14="http://schemas.microsoft.com/office/powerpoint/2010/main" val="28831023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Graphic 23" descr="Map with pin outline">
            <a:extLst>
              <a:ext uri="{FF2B5EF4-FFF2-40B4-BE49-F238E27FC236}">
                <a16:creationId xmlns:a16="http://schemas.microsoft.com/office/drawing/2014/main" id="{83597447-773F-B41C-096D-8303AC0E6FD0}"/>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5499050" y="-10156"/>
            <a:ext cx="968235" cy="790179"/>
          </a:xfrm>
          <a:prstGeom prst="rect">
            <a:avLst/>
          </a:prstGeom>
        </p:spPr>
      </p:pic>
      <p:sp>
        <p:nvSpPr>
          <p:cNvPr id="14" name="Rectangle: Rounded Corners 13">
            <a:extLst>
              <a:ext uri="{FF2B5EF4-FFF2-40B4-BE49-F238E27FC236}">
                <a16:creationId xmlns:a16="http://schemas.microsoft.com/office/drawing/2014/main" id="{808D51AD-84E3-7842-35E5-52DBF65923EF}"/>
              </a:ext>
            </a:extLst>
          </p:cNvPr>
          <p:cNvSpPr/>
          <p:nvPr/>
        </p:nvSpPr>
        <p:spPr>
          <a:xfrm>
            <a:off x="6679525" y="2752801"/>
            <a:ext cx="1596280" cy="624114"/>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בני משפחה </a:t>
            </a:r>
          </a:p>
        </p:txBody>
      </p:sp>
      <p:sp>
        <p:nvSpPr>
          <p:cNvPr id="16" name="Rectangle: Rounded Corners 15">
            <a:extLst>
              <a:ext uri="{FF2B5EF4-FFF2-40B4-BE49-F238E27FC236}">
                <a16:creationId xmlns:a16="http://schemas.microsoft.com/office/drawing/2014/main" id="{C9592261-F62A-BFAC-94DE-FD25CC4D998F}"/>
              </a:ext>
            </a:extLst>
          </p:cNvPr>
          <p:cNvSpPr/>
          <p:nvPr/>
        </p:nvSpPr>
        <p:spPr>
          <a:xfrm>
            <a:off x="6688367" y="3437343"/>
            <a:ext cx="1578595"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a:ln>
                  <a:noFill/>
                </a:ln>
                <a:solidFill>
                  <a:prstClr val="white"/>
                </a:solidFill>
                <a:effectLst/>
                <a:uLnTx/>
                <a:uFillTx/>
                <a:latin typeface="Assistant" pitchFamily="2" charset="-79"/>
                <a:ea typeface="+mn-ea"/>
                <a:cs typeface="Assistant" pitchFamily="2" charset="-79"/>
              </a:rPr>
              <a:t>קופות חולים </a:t>
            </a:r>
          </a:p>
        </p:txBody>
      </p:sp>
      <p:sp>
        <p:nvSpPr>
          <p:cNvPr id="17" name="Rectangle: Rounded Corners 16">
            <a:extLst>
              <a:ext uri="{FF2B5EF4-FFF2-40B4-BE49-F238E27FC236}">
                <a16:creationId xmlns:a16="http://schemas.microsoft.com/office/drawing/2014/main" id="{A91B92E1-9E97-1A83-E775-ED270668EAD5}"/>
              </a:ext>
            </a:extLst>
          </p:cNvPr>
          <p:cNvSpPr/>
          <p:nvPr/>
        </p:nvSpPr>
        <p:spPr>
          <a:xfrm>
            <a:off x="6679524" y="4200986"/>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מסגרות קהילתיות </a:t>
            </a:r>
            <a:r>
              <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מתנ"ס, בתי תפילה..</a:t>
            </a:r>
          </a:p>
        </p:txBody>
      </p:sp>
      <p:sp>
        <p:nvSpPr>
          <p:cNvPr id="19" name="Rectangle: Rounded Corners 18">
            <a:extLst>
              <a:ext uri="{FF2B5EF4-FFF2-40B4-BE49-F238E27FC236}">
                <a16:creationId xmlns:a16="http://schemas.microsoft.com/office/drawing/2014/main" id="{007794A2-CE28-0FBB-F1C9-E9E0410327B9}"/>
              </a:ext>
            </a:extLst>
          </p:cNvPr>
          <p:cNvSpPr/>
          <p:nvPr/>
        </p:nvSpPr>
        <p:spPr>
          <a:xfrm>
            <a:off x="9439275" y="1730737"/>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ורגולציה תומכת</a:t>
            </a:r>
          </a:p>
        </p:txBody>
      </p:sp>
      <p:sp>
        <p:nvSpPr>
          <p:cNvPr id="20" name="Rectangle: Rounded Corners 19">
            <a:extLst>
              <a:ext uri="{FF2B5EF4-FFF2-40B4-BE49-F238E27FC236}">
                <a16:creationId xmlns:a16="http://schemas.microsoft.com/office/drawing/2014/main" id="{7CD4C579-F3CA-308E-C532-67046B43C04C}"/>
              </a:ext>
            </a:extLst>
          </p:cNvPr>
          <p:cNvSpPr/>
          <p:nvPr/>
        </p:nvSpPr>
        <p:spPr>
          <a:xfrm>
            <a:off x="9439275" y="3487793"/>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שיתוף מידע בין המערכות</a:t>
            </a:r>
          </a:p>
        </p:txBody>
      </p:sp>
      <p:sp>
        <p:nvSpPr>
          <p:cNvPr id="25" name="Rectangle: Rounded Corners 24">
            <a:extLst>
              <a:ext uri="{FF2B5EF4-FFF2-40B4-BE49-F238E27FC236}">
                <a16:creationId xmlns:a16="http://schemas.microsoft.com/office/drawing/2014/main" id="{DDAC9D29-75E8-5A9B-1FE5-56F6433F1398}"/>
              </a:ext>
            </a:extLst>
          </p:cNvPr>
          <p:cNvSpPr/>
          <p:nvPr/>
        </p:nvSpPr>
        <p:spPr>
          <a:xfrm>
            <a:off x="9439275" y="5244849"/>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הנגשת הפעילויות </a:t>
            </a:r>
          </a:p>
        </p:txBody>
      </p:sp>
      <p:grpSp>
        <p:nvGrpSpPr>
          <p:cNvPr id="29" name="Group 28">
            <a:extLst>
              <a:ext uri="{FF2B5EF4-FFF2-40B4-BE49-F238E27FC236}">
                <a16:creationId xmlns:a16="http://schemas.microsoft.com/office/drawing/2014/main" id="{27BD3DB3-4996-9BE0-047C-E9381BD20474}"/>
              </a:ext>
            </a:extLst>
          </p:cNvPr>
          <p:cNvGrpSpPr/>
          <p:nvPr/>
        </p:nvGrpSpPr>
        <p:grpSpPr>
          <a:xfrm>
            <a:off x="261467" y="2699314"/>
            <a:ext cx="2448344" cy="2592266"/>
            <a:chOff x="-658330" y="2484953"/>
            <a:chExt cx="2524769" cy="3128499"/>
          </a:xfrm>
        </p:grpSpPr>
        <p:sp>
          <p:nvSpPr>
            <p:cNvPr id="49" name="Oval 48">
              <a:extLst>
                <a:ext uri="{FF2B5EF4-FFF2-40B4-BE49-F238E27FC236}">
                  <a16:creationId xmlns:a16="http://schemas.microsoft.com/office/drawing/2014/main" id="{27B8E613-1127-E760-C7B5-5380CACEACAB}"/>
                </a:ext>
              </a:extLst>
            </p:cNvPr>
            <p:cNvSpPr/>
            <p:nvPr/>
          </p:nvSpPr>
          <p:spPr>
            <a:xfrm>
              <a:off x="-658330" y="2484953"/>
              <a:ext cx="2524769" cy="3128499"/>
            </a:xfrm>
            <a:prstGeom prst="ellipse">
              <a:avLst/>
            </a:prstGeom>
            <a:solidFill>
              <a:srgbClr val="308C8B">
                <a:alpha val="7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1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50" name="TextBox 49">
              <a:extLst>
                <a:ext uri="{FF2B5EF4-FFF2-40B4-BE49-F238E27FC236}">
                  <a16:creationId xmlns:a16="http://schemas.microsoft.com/office/drawing/2014/main" id="{3AD33308-EE36-FFFF-C867-1B1978B68C49}"/>
                </a:ext>
              </a:extLst>
            </p:cNvPr>
            <p:cNvSpPr txBox="1"/>
            <p:nvPr/>
          </p:nvSpPr>
          <p:spPr>
            <a:xfrm>
              <a:off x="-520009" y="2816009"/>
              <a:ext cx="2206667" cy="2556379"/>
            </a:xfrm>
            <a:prstGeom prst="rect">
              <a:avLst/>
            </a:prstGeom>
            <a:noFill/>
          </p:spPr>
          <p:txBody>
            <a:bodyPr wrap="square" rtlCol="1">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800" b="1" i="0" u="none" strike="noStrike" kern="1200" cap="none" spc="0" normalizeH="0" baseline="0" noProof="0" dirty="0">
                  <a:ln>
                    <a:noFill/>
                  </a:ln>
                  <a:effectLst/>
                  <a:uLnTx/>
                  <a:uFillTx/>
                  <a:latin typeface="Assistant" pitchFamily="2" charset="-79"/>
                  <a:ea typeface="+mn-ea"/>
                  <a:cs typeface="Assistant" pitchFamily="2" charset="-79"/>
                </a:rPr>
                <a:t>האטת קצב ההידרדרות ושמירת תפקוד לאורך זמן בקרב אוכלוסיית סיעוד 0-2</a:t>
              </a:r>
            </a:p>
          </p:txBody>
        </p:sp>
      </p:grpSp>
      <p:sp>
        <p:nvSpPr>
          <p:cNvPr id="33" name="Rectangle: Rounded Corners 32">
            <a:extLst>
              <a:ext uri="{FF2B5EF4-FFF2-40B4-BE49-F238E27FC236}">
                <a16:creationId xmlns:a16="http://schemas.microsoft.com/office/drawing/2014/main" id="{A2D22BDC-0219-67D3-6513-AFCA0C87F664}"/>
              </a:ext>
            </a:extLst>
          </p:cNvPr>
          <p:cNvSpPr/>
          <p:nvPr/>
        </p:nvSpPr>
        <p:spPr>
          <a:xfrm>
            <a:off x="9439275" y="4366321"/>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err="1">
                <a:ln>
                  <a:noFill/>
                </a:ln>
                <a:solidFill>
                  <a:prstClr val="white"/>
                </a:solidFill>
                <a:effectLst/>
                <a:uLnTx/>
                <a:uFillTx/>
                <a:latin typeface="Assistant" pitchFamily="2" charset="-79"/>
                <a:ea typeface="+mn-ea"/>
                <a:cs typeface="Assistant" pitchFamily="2" charset="-79"/>
              </a:rPr>
              <a:t>פרקטיקות</a:t>
            </a:r>
            <a:r>
              <a:rPr kumimoji="0" lang="he-IL" sz="1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מיטביות </a:t>
            </a:r>
          </a:p>
        </p:txBody>
      </p:sp>
      <p:sp>
        <p:nvSpPr>
          <p:cNvPr id="2" name="Rectangle: Rounded Corners 1">
            <a:extLst>
              <a:ext uri="{FF2B5EF4-FFF2-40B4-BE49-F238E27FC236}">
                <a16:creationId xmlns:a16="http://schemas.microsoft.com/office/drawing/2014/main" id="{82713D9C-A08D-D06D-FBFE-90B0767A9701}"/>
              </a:ext>
            </a:extLst>
          </p:cNvPr>
          <p:cNvSpPr/>
          <p:nvPr/>
        </p:nvSpPr>
        <p:spPr>
          <a:xfrm>
            <a:off x="6679525" y="2010739"/>
            <a:ext cx="1578594" cy="649626"/>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טיפול בבית, הביטוח הלאומי, חברות סיעוד </a:t>
            </a:r>
          </a:p>
        </p:txBody>
      </p:sp>
      <p:sp>
        <p:nvSpPr>
          <p:cNvPr id="9" name="Rectangle: Rounded Corners 8">
            <a:extLst>
              <a:ext uri="{FF2B5EF4-FFF2-40B4-BE49-F238E27FC236}">
                <a16:creationId xmlns:a16="http://schemas.microsoft.com/office/drawing/2014/main" id="{C219D164-C3C9-7ED5-AFF8-FAD1E7552E3E}"/>
              </a:ext>
            </a:extLst>
          </p:cNvPr>
          <p:cNvSpPr/>
          <p:nvPr/>
        </p:nvSpPr>
        <p:spPr>
          <a:xfrm>
            <a:off x="9413871" y="6073304"/>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7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קידום מודעות והנעה לפעולה</a:t>
            </a:r>
          </a:p>
        </p:txBody>
      </p:sp>
      <p:sp>
        <p:nvSpPr>
          <p:cNvPr id="10" name="Rectangle: Rounded Corners 9">
            <a:extLst>
              <a:ext uri="{FF2B5EF4-FFF2-40B4-BE49-F238E27FC236}">
                <a16:creationId xmlns:a16="http://schemas.microsoft.com/office/drawing/2014/main" id="{14105825-CE9D-F919-E7D6-7D704AC323F4}"/>
              </a:ext>
            </a:extLst>
          </p:cNvPr>
          <p:cNvSpPr/>
          <p:nvPr/>
        </p:nvSpPr>
        <p:spPr>
          <a:xfrm>
            <a:off x="9439275" y="2609265"/>
            <a:ext cx="1596280" cy="699481"/>
          </a:xfrm>
          <a:prstGeom prst="roundRect">
            <a:avLst/>
          </a:prstGeom>
          <a:solidFill>
            <a:srgbClr val="EF2929"/>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הכשרות אנשי מקצוע ומטפלים</a:t>
            </a:r>
          </a:p>
        </p:txBody>
      </p:sp>
      <p:sp>
        <p:nvSpPr>
          <p:cNvPr id="18" name="Arrow: Down 17">
            <a:extLst>
              <a:ext uri="{FF2B5EF4-FFF2-40B4-BE49-F238E27FC236}">
                <a16:creationId xmlns:a16="http://schemas.microsoft.com/office/drawing/2014/main" id="{A26EAF91-0FB0-8438-1A41-6491EAA8434E}"/>
              </a:ext>
            </a:extLst>
          </p:cNvPr>
          <p:cNvSpPr/>
          <p:nvPr/>
        </p:nvSpPr>
        <p:spPr>
          <a:xfrm rot="5400000">
            <a:off x="5904470" y="248192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1" name="Arrow: Down 20">
            <a:extLst>
              <a:ext uri="{FF2B5EF4-FFF2-40B4-BE49-F238E27FC236}">
                <a16:creationId xmlns:a16="http://schemas.microsoft.com/office/drawing/2014/main" id="{6C05633B-14B8-BF75-0B55-DC9047125232}"/>
              </a:ext>
            </a:extLst>
          </p:cNvPr>
          <p:cNvSpPr/>
          <p:nvPr/>
        </p:nvSpPr>
        <p:spPr>
          <a:xfrm rot="5400000">
            <a:off x="5904470" y="352680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22" name="Arrow: Down 21">
            <a:extLst>
              <a:ext uri="{FF2B5EF4-FFF2-40B4-BE49-F238E27FC236}">
                <a16:creationId xmlns:a16="http://schemas.microsoft.com/office/drawing/2014/main" id="{7D76F23B-E84C-5197-EBE7-790ADA34DA16}"/>
              </a:ext>
            </a:extLst>
          </p:cNvPr>
          <p:cNvSpPr/>
          <p:nvPr/>
        </p:nvSpPr>
        <p:spPr>
          <a:xfrm rot="5400000">
            <a:off x="5904470" y="4571686"/>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0" name="Arrow: Down 29">
            <a:extLst>
              <a:ext uri="{FF2B5EF4-FFF2-40B4-BE49-F238E27FC236}">
                <a16:creationId xmlns:a16="http://schemas.microsoft.com/office/drawing/2014/main" id="{CFEDB01B-7A7E-E94B-1562-07F2594F9E05}"/>
              </a:ext>
            </a:extLst>
          </p:cNvPr>
          <p:cNvSpPr/>
          <p:nvPr/>
        </p:nvSpPr>
        <p:spPr>
          <a:xfrm rot="4140000">
            <a:off x="2633477" y="309023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1" name="Arrow: Down 30">
            <a:extLst>
              <a:ext uri="{FF2B5EF4-FFF2-40B4-BE49-F238E27FC236}">
                <a16:creationId xmlns:a16="http://schemas.microsoft.com/office/drawing/2014/main" id="{6253C5EF-9257-28A4-C420-7ADF29270905}"/>
              </a:ext>
            </a:extLst>
          </p:cNvPr>
          <p:cNvSpPr/>
          <p:nvPr/>
        </p:nvSpPr>
        <p:spPr>
          <a:xfrm rot="5400000">
            <a:off x="2692839" y="41351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7" name="Rectangle: Rounded Corners 36">
            <a:extLst>
              <a:ext uri="{FF2B5EF4-FFF2-40B4-BE49-F238E27FC236}">
                <a16:creationId xmlns:a16="http://schemas.microsoft.com/office/drawing/2014/main" id="{122809A2-627D-2FC1-BEB7-C43720EF5977}"/>
              </a:ext>
            </a:extLst>
          </p:cNvPr>
          <p:cNvSpPr/>
          <p:nvPr/>
        </p:nvSpPr>
        <p:spPr>
          <a:xfrm>
            <a:off x="3496695" y="3544372"/>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קוגניטיבי</a:t>
            </a:r>
            <a:r>
              <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למידה לאורך החיים</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עיסוק יצרני משמעותי</a:t>
            </a:r>
          </a:p>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אוריינות דיגיטלית ושימוש </a:t>
            </a:r>
            <a:r>
              <a:rPr kumimoji="0" lang="he-IL" sz="1200" b="0" i="0" u="none" strike="noStrike" kern="1200" cap="none" spc="0" normalizeH="0" baseline="0" noProof="0" dirty="0" err="1">
                <a:ln>
                  <a:noFill/>
                </a:ln>
                <a:solidFill>
                  <a:prstClr val="white"/>
                </a:solidFill>
                <a:effectLst/>
                <a:uLnTx/>
                <a:uFillTx/>
                <a:latin typeface="Segoe UI Semilight"/>
                <a:ea typeface="+mn-ea"/>
                <a:cs typeface="Segoe UI Semilight"/>
              </a:rPr>
              <a:t>בדיגיטל</a:t>
            </a: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8" name="Rectangle: Rounded Corners 37">
            <a:extLst>
              <a:ext uri="{FF2B5EF4-FFF2-40B4-BE49-F238E27FC236}">
                <a16:creationId xmlns:a16="http://schemas.microsoft.com/office/drawing/2014/main" id="{692117C2-670D-FE6C-6FE2-A67CB3310003}"/>
              </a:ext>
            </a:extLst>
          </p:cNvPr>
          <p:cNvSpPr/>
          <p:nvPr/>
        </p:nvSpPr>
        <p:spPr>
          <a:xfrm>
            <a:off x="3463372" y="1881636"/>
            <a:ext cx="2126758" cy="1606158"/>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פיזי</a:t>
            </a:r>
            <a: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r>
            <a:br>
              <a:rPr kumimoji="0" lang="en-US"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br>
            <a:r>
              <a:rPr kumimoji="0" lang="he-IL" sz="1200" b="0" i="0" u="none" strike="noStrike" kern="1200" cap="none" spc="0" normalizeH="0" baseline="0" noProof="0" dirty="0">
                <a:ln>
                  <a:noFill/>
                </a:ln>
                <a:solidFill>
                  <a:prstClr val="white"/>
                </a:solidFill>
                <a:effectLst/>
                <a:uLnTx/>
                <a:uFillTx/>
                <a:latin typeface="Segoe UI Semilight"/>
                <a:ea typeface="+mn-ea"/>
                <a:cs typeface="Segoe UI Semilight"/>
              </a:rPr>
              <a:t>יציאה למרחב הציבורי פעילות גופנית סדירה היעזרות באמצעים תומכים סביבה ביתית מותאמת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39" name="Arrow: Down 38">
            <a:extLst>
              <a:ext uri="{FF2B5EF4-FFF2-40B4-BE49-F238E27FC236}">
                <a16:creationId xmlns:a16="http://schemas.microsoft.com/office/drawing/2014/main" id="{2424D714-A7C4-F8AF-F482-73D972236206}"/>
              </a:ext>
            </a:extLst>
          </p:cNvPr>
          <p:cNvSpPr/>
          <p:nvPr/>
        </p:nvSpPr>
        <p:spPr>
          <a:xfrm rot="5400000">
            <a:off x="8672144" y="1889665"/>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3" name="Arrow: Down 42">
            <a:extLst>
              <a:ext uri="{FF2B5EF4-FFF2-40B4-BE49-F238E27FC236}">
                <a16:creationId xmlns:a16="http://schemas.microsoft.com/office/drawing/2014/main" id="{773BE917-A46F-8F5C-2166-DBA2052CE8E5}"/>
              </a:ext>
            </a:extLst>
          </p:cNvPr>
          <p:cNvSpPr/>
          <p:nvPr/>
        </p:nvSpPr>
        <p:spPr>
          <a:xfrm rot="5400000">
            <a:off x="8672144" y="3275541"/>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44" name="Arrow: Down 43">
            <a:extLst>
              <a:ext uri="{FF2B5EF4-FFF2-40B4-BE49-F238E27FC236}">
                <a16:creationId xmlns:a16="http://schemas.microsoft.com/office/drawing/2014/main" id="{618F3245-4AC5-B4F3-63B0-769106F49E7C}"/>
              </a:ext>
            </a:extLst>
          </p:cNvPr>
          <p:cNvSpPr/>
          <p:nvPr/>
        </p:nvSpPr>
        <p:spPr>
          <a:xfrm rot="5400000">
            <a:off x="8672144" y="4661417"/>
            <a:ext cx="452783"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51" name="Arrow: Down 50">
            <a:extLst>
              <a:ext uri="{FF2B5EF4-FFF2-40B4-BE49-F238E27FC236}">
                <a16:creationId xmlns:a16="http://schemas.microsoft.com/office/drawing/2014/main" id="{B19F3B8F-B9B7-4B30-77D1-E4AB3D677969}"/>
              </a:ext>
            </a:extLst>
          </p:cNvPr>
          <p:cNvSpPr/>
          <p:nvPr/>
        </p:nvSpPr>
        <p:spPr>
          <a:xfrm rot="5400000">
            <a:off x="8621474" y="6047292"/>
            <a:ext cx="452782" cy="655531"/>
          </a:xfrm>
          <a:prstGeom prst="downArrow">
            <a:avLst/>
          </a:prstGeom>
          <a:solidFill>
            <a:srgbClr val="CFF3AB"/>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050" b="0" i="0" u="none" strike="noStrike" kern="1200" cap="none" spc="0" normalizeH="0" baseline="0" noProof="0">
              <a:ln>
                <a:noFill/>
              </a:ln>
              <a:solidFill>
                <a:srgbClr val="171717">
                  <a:lumMod val="75000"/>
                  <a:lumOff val="25000"/>
                </a:srgbClr>
              </a:solidFill>
              <a:effectLst/>
              <a:uLnTx/>
              <a:uFillTx/>
              <a:latin typeface="Segoe UI Semilight"/>
              <a:ea typeface="+mn-ea"/>
              <a:cs typeface="Segoe UI Semilight"/>
            </a:endParaRPr>
          </a:p>
        </p:txBody>
      </p:sp>
      <p:sp>
        <p:nvSpPr>
          <p:cNvPr id="3" name="TextBox 2">
            <a:extLst>
              <a:ext uri="{FF2B5EF4-FFF2-40B4-BE49-F238E27FC236}">
                <a16:creationId xmlns:a16="http://schemas.microsoft.com/office/drawing/2014/main" id="{9E9B4CEC-9890-254E-4AE1-59D8C678D6E9}"/>
              </a:ext>
            </a:extLst>
          </p:cNvPr>
          <p:cNvSpPr txBox="1"/>
          <p:nvPr/>
        </p:nvSpPr>
        <p:spPr>
          <a:xfrm>
            <a:off x="11245846" y="5138595"/>
            <a:ext cx="967931" cy="646331"/>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8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פרט</a:t>
            </a:r>
          </a:p>
        </p:txBody>
      </p:sp>
      <p:sp>
        <p:nvSpPr>
          <p:cNvPr id="4" name="TextBox 3">
            <a:extLst>
              <a:ext uri="{FF2B5EF4-FFF2-40B4-BE49-F238E27FC236}">
                <a16:creationId xmlns:a16="http://schemas.microsoft.com/office/drawing/2014/main" id="{178EF427-0A0A-22DB-9673-22CC8DCEED78}"/>
              </a:ext>
            </a:extLst>
          </p:cNvPr>
          <p:cNvSpPr txBox="1"/>
          <p:nvPr/>
        </p:nvSpPr>
        <p:spPr>
          <a:xfrm>
            <a:off x="11342017" y="2635839"/>
            <a:ext cx="967931" cy="584775"/>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prstClr val="black"/>
                </a:solidFill>
                <a:effectLst/>
                <a:uLnTx/>
                <a:uFillTx/>
                <a:latin typeface="Assistant Light" pitchFamily="2" charset="-79"/>
                <a:ea typeface="+mn-ea"/>
                <a:cs typeface="Assistant Light" pitchFamily="2" charset="-79"/>
              </a:rPr>
              <a:t>אל מול המערכת</a:t>
            </a:r>
          </a:p>
        </p:txBody>
      </p:sp>
      <p:sp>
        <p:nvSpPr>
          <p:cNvPr id="5" name="Right Brace 4">
            <a:extLst>
              <a:ext uri="{FF2B5EF4-FFF2-40B4-BE49-F238E27FC236}">
                <a16:creationId xmlns:a16="http://schemas.microsoft.com/office/drawing/2014/main" id="{9012D1E0-0375-0D7A-2015-EDF5F6FCC659}"/>
              </a:ext>
            </a:extLst>
          </p:cNvPr>
          <p:cNvSpPr/>
          <p:nvPr/>
        </p:nvSpPr>
        <p:spPr>
          <a:xfrm>
            <a:off x="11144074" y="1730737"/>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8" name="Right Brace 7">
            <a:extLst>
              <a:ext uri="{FF2B5EF4-FFF2-40B4-BE49-F238E27FC236}">
                <a16:creationId xmlns:a16="http://schemas.microsoft.com/office/drawing/2014/main" id="{5E4287DA-CAEC-2AA4-8833-9A3BFA7864A9}"/>
              </a:ext>
            </a:extLst>
          </p:cNvPr>
          <p:cNvSpPr/>
          <p:nvPr/>
        </p:nvSpPr>
        <p:spPr>
          <a:xfrm>
            <a:off x="11167224" y="4390904"/>
            <a:ext cx="349587" cy="2350226"/>
          </a:xfrm>
          <a:prstGeom prst="rightBrace">
            <a:avLst/>
          </a:prstGeom>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13" name="TextBox 12">
            <a:extLst>
              <a:ext uri="{FF2B5EF4-FFF2-40B4-BE49-F238E27FC236}">
                <a16:creationId xmlns:a16="http://schemas.microsoft.com/office/drawing/2014/main" id="{2D57A5C8-E2D8-3FDA-504E-E7FE56049152}"/>
              </a:ext>
            </a:extLst>
          </p:cNvPr>
          <p:cNvSpPr txBox="1"/>
          <p:nvPr/>
        </p:nvSpPr>
        <p:spPr>
          <a:xfrm>
            <a:off x="178026" y="993726"/>
            <a:ext cx="2832223"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השינוי הרצוי וקהל היעד</a:t>
            </a:r>
            <a: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
            </a:r>
            <a:br>
              <a:rPr kumimoji="0" lang="en-US" sz="20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b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הבעיה שנרצה לפתור</a:t>
            </a:r>
          </a:p>
        </p:txBody>
      </p:sp>
      <p:sp>
        <p:nvSpPr>
          <p:cNvPr id="32" name="TextBox 31">
            <a:extLst>
              <a:ext uri="{FF2B5EF4-FFF2-40B4-BE49-F238E27FC236}">
                <a16:creationId xmlns:a16="http://schemas.microsoft.com/office/drawing/2014/main" id="{1E120F89-67F8-A02B-357C-5C251D1B1178}"/>
              </a:ext>
            </a:extLst>
          </p:cNvPr>
          <p:cNvSpPr txBox="1"/>
          <p:nvPr/>
        </p:nvSpPr>
        <p:spPr>
          <a:xfrm>
            <a:off x="6440910" y="1043473"/>
            <a:ext cx="3732444"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יצירת השינוי </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מנופי שינוי,  סוכני הובלת שינוי</a:t>
            </a:r>
          </a:p>
        </p:txBody>
      </p:sp>
      <p:sp>
        <p:nvSpPr>
          <p:cNvPr id="34" name="TextBox 33">
            <a:extLst>
              <a:ext uri="{FF2B5EF4-FFF2-40B4-BE49-F238E27FC236}">
                <a16:creationId xmlns:a16="http://schemas.microsoft.com/office/drawing/2014/main" id="{01F45792-6BC7-A9DD-E8DC-49BA551D05AA}"/>
              </a:ext>
            </a:extLst>
          </p:cNvPr>
          <p:cNvSpPr txBox="1"/>
          <p:nvPr/>
        </p:nvSpPr>
        <p:spPr>
          <a:xfrm>
            <a:off x="3064766" y="968547"/>
            <a:ext cx="2923969" cy="646331"/>
          </a:xfrm>
          <a:prstGeom prst="rect">
            <a:avLst/>
          </a:prstGeom>
          <a:solidFill>
            <a:schemeClr val="bg1"/>
          </a:solidFill>
        </p:spPr>
        <p:txBody>
          <a:bodyPr wrap="square" rtlCol="1">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מדדי תוצאה  ברמת הפרט</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308C8B"/>
                </a:solidFill>
                <a:effectLst/>
                <a:uLnTx/>
                <a:uFillTx/>
                <a:latin typeface="Assistant" pitchFamily="2" charset="-79"/>
                <a:ea typeface="+mn-ea"/>
                <a:cs typeface="Assistant" pitchFamily="2" charset="-79"/>
              </a:rPr>
              <a:t>איך נראית הצלחה ברמת האדם</a:t>
            </a:r>
          </a:p>
        </p:txBody>
      </p:sp>
      <p:sp>
        <p:nvSpPr>
          <p:cNvPr id="36" name="Right Bracket 35">
            <a:extLst>
              <a:ext uri="{FF2B5EF4-FFF2-40B4-BE49-F238E27FC236}">
                <a16:creationId xmlns:a16="http://schemas.microsoft.com/office/drawing/2014/main" id="{54C8AF9F-A7C2-04F0-0A4F-949650C305AF}"/>
              </a:ext>
            </a:extLst>
          </p:cNvPr>
          <p:cNvSpPr/>
          <p:nvPr/>
        </p:nvSpPr>
        <p:spPr>
          <a:xfrm rot="5400000" flipH="1" flipV="1">
            <a:off x="1479450" y="25931"/>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0" name="Right Bracket 39">
            <a:extLst>
              <a:ext uri="{FF2B5EF4-FFF2-40B4-BE49-F238E27FC236}">
                <a16:creationId xmlns:a16="http://schemas.microsoft.com/office/drawing/2014/main" id="{17C0170A-C6F4-170D-9E1A-339A7455FE18}"/>
              </a:ext>
            </a:extLst>
          </p:cNvPr>
          <p:cNvSpPr/>
          <p:nvPr/>
        </p:nvSpPr>
        <p:spPr>
          <a:xfrm rot="5400000" flipH="1" flipV="1">
            <a:off x="4542790" y="-347955"/>
            <a:ext cx="45721" cy="273713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1" name="Right Bracket 40">
            <a:extLst>
              <a:ext uri="{FF2B5EF4-FFF2-40B4-BE49-F238E27FC236}">
                <a16:creationId xmlns:a16="http://schemas.microsoft.com/office/drawing/2014/main" id="{588A9D92-7E7F-A8A0-95C0-FF421CE91D12}"/>
              </a:ext>
            </a:extLst>
          </p:cNvPr>
          <p:cNvSpPr/>
          <p:nvPr/>
        </p:nvSpPr>
        <p:spPr>
          <a:xfrm rot="5400000" flipH="1" flipV="1">
            <a:off x="8284273" y="66159"/>
            <a:ext cx="45719" cy="1984245"/>
          </a:xfrm>
          <a:prstGeom prst="rightBracket">
            <a:avLst/>
          </a:prstGeom>
          <a:ln>
            <a:solidFill>
              <a:srgbClr val="84D6D4"/>
            </a:solidFill>
          </a:ln>
        </p:spPr>
        <p:style>
          <a:lnRef idx="1">
            <a:schemeClr val="accent1"/>
          </a:lnRef>
          <a:fillRef idx="0">
            <a:schemeClr val="accent1"/>
          </a:fillRef>
          <a:effectRef idx="0">
            <a:schemeClr val="accent1"/>
          </a:effectRef>
          <a:fontRef idx="minor">
            <a:schemeClr val="tx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black"/>
              </a:solidFill>
              <a:effectLst/>
              <a:uLnTx/>
              <a:uFillTx/>
              <a:latin typeface="Segoe UI Semilight"/>
              <a:ea typeface="+mn-ea"/>
              <a:cs typeface="Segoe UI Semilight"/>
            </a:endParaRPr>
          </a:p>
        </p:txBody>
      </p:sp>
      <p:sp>
        <p:nvSpPr>
          <p:cNvPr id="42" name="Arrow: Right 41">
            <a:extLst>
              <a:ext uri="{FF2B5EF4-FFF2-40B4-BE49-F238E27FC236}">
                <a16:creationId xmlns:a16="http://schemas.microsoft.com/office/drawing/2014/main" id="{B116D322-6432-FBD1-BE2B-FC5695C8A49A}"/>
              </a:ext>
            </a:extLst>
          </p:cNvPr>
          <p:cNvSpPr/>
          <p:nvPr/>
        </p:nvSpPr>
        <p:spPr>
          <a:xfrm rot="3551160">
            <a:off x="8806797" y="1724741"/>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5" name="Arrow: Right 44">
            <a:extLst>
              <a:ext uri="{FF2B5EF4-FFF2-40B4-BE49-F238E27FC236}">
                <a16:creationId xmlns:a16="http://schemas.microsoft.com/office/drawing/2014/main" id="{D592624B-FC8F-5174-35C1-A12923A32CF4}"/>
              </a:ext>
            </a:extLst>
          </p:cNvPr>
          <p:cNvSpPr/>
          <p:nvPr/>
        </p:nvSpPr>
        <p:spPr>
          <a:xfrm rot="7354731">
            <a:off x="8021945" y="1724406"/>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6" name="Arrow: Right 45">
            <a:extLst>
              <a:ext uri="{FF2B5EF4-FFF2-40B4-BE49-F238E27FC236}">
                <a16:creationId xmlns:a16="http://schemas.microsoft.com/office/drawing/2014/main" id="{E08E3148-BC92-2A7F-21F3-9FB7C6EA54D6}"/>
              </a:ext>
            </a:extLst>
          </p:cNvPr>
          <p:cNvSpPr/>
          <p:nvPr/>
        </p:nvSpPr>
        <p:spPr>
          <a:xfrm rot="5400000">
            <a:off x="4243226" y="1656844"/>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47" name="Arrow: Right 46">
            <a:extLst>
              <a:ext uri="{FF2B5EF4-FFF2-40B4-BE49-F238E27FC236}">
                <a16:creationId xmlns:a16="http://schemas.microsoft.com/office/drawing/2014/main" id="{EF42F62B-2D93-2F3E-9576-F629BE88B957}"/>
              </a:ext>
            </a:extLst>
          </p:cNvPr>
          <p:cNvSpPr/>
          <p:nvPr/>
        </p:nvSpPr>
        <p:spPr>
          <a:xfrm rot="5400000">
            <a:off x="1443530" y="1673818"/>
            <a:ext cx="196746" cy="95975"/>
          </a:xfrm>
          <a:prstGeom prst="rightArrow">
            <a:avLst/>
          </a:prstGeom>
          <a:solidFill>
            <a:srgbClr val="84D6D4"/>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Segoe UI Semilight"/>
              <a:ea typeface="+mn-ea"/>
              <a:cs typeface="Segoe UI Semilight"/>
            </a:endParaRPr>
          </a:p>
        </p:txBody>
      </p:sp>
      <p:sp>
        <p:nvSpPr>
          <p:cNvPr id="11" name="TextBox 10">
            <a:extLst>
              <a:ext uri="{FF2B5EF4-FFF2-40B4-BE49-F238E27FC236}">
                <a16:creationId xmlns:a16="http://schemas.microsoft.com/office/drawing/2014/main" id="{5232FA89-8984-E81F-433F-72F56A7CFBC3}"/>
              </a:ext>
            </a:extLst>
          </p:cNvPr>
          <p:cNvSpPr txBox="1"/>
          <p:nvPr/>
        </p:nvSpPr>
        <p:spPr>
          <a:xfrm rot="19789154">
            <a:off x="293119" y="132289"/>
            <a:ext cx="1248074" cy="711733"/>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0" i="0" u="none" strike="noStrike" kern="0" cap="none" spc="0" normalizeH="0" baseline="0" noProof="0" dirty="0">
                <a:ln>
                  <a:noFill/>
                </a:ln>
                <a:solidFill>
                  <a:srgbClr val="0070C0"/>
                </a:solidFill>
                <a:effectLst/>
                <a:uLnTx/>
                <a:uFillTx/>
                <a:latin typeface="Abadi Extra Light" panose="020B0204020104020204" pitchFamily="34" charset="0"/>
                <a:ea typeface="+mn-ea"/>
                <a:cs typeface="Assistant" pitchFamily="2" charset="-79"/>
              </a:rPr>
              <a:t>עבר בצוות דיוק ותיקוף </a:t>
            </a:r>
          </a:p>
        </p:txBody>
      </p:sp>
      <p:sp>
        <p:nvSpPr>
          <p:cNvPr id="12" name="Rectangle: Rounded Corners 11">
            <a:extLst>
              <a:ext uri="{FF2B5EF4-FFF2-40B4-BE49-F238E27FC236}">
                <a16:creationId xmlns:a16="http://schemas.microsoft.com/office/drawing/2014/main" id="{EB0F9CAE-1958-E90F-9A09-D44B290F4F49}"/>
              </a:ext>
            </a:extLst>
          </p:cNvPr>
          <p:cNvSpPr/>
          <p:nvPr/>
        </p:nvSpPr>
        <p:spPr>
          <a:xfrm>
            <a:off x="3463372" y="5244850"/>
            <a:ext cx="2126758" cy="1356600"/>
          </a:xfrm>
          <a:prstGeom prst="roundRect">
            <a:avLst/>
          </a:prstGeom>
          <a:solidFill>
            <a:srgbClr val="40595A"/>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מדדי  תפקוד חברתי</a:t>
            </a:r>
            <a:endParaRPr kumimoji="0" lang="he-IL" sz="1200" b="1" i="0" u="none" strike="noStrike" kern="1200" cap="none" spc="0" normalizeH="0" baseline="0" noProof="0" dirty="0">
              <a:ln>
                <a:noFill/>
              </a:ln>
              <a:solidFill>
                <a:prstClr val="white"/>
              </a:solidFill>
              <a:effectLst/>
              <a:uLnTx/>
              <a:uFillTx/>
              <a:latin typeface="Segoe UI Semilight"/>
              <a:ea typeface="+mn-ea"/>
              <a:cs typeface="Segoe UI Semilight"/>
            </a:endParaRP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השתתפות חברתית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קיום רשת תמיכה פונקציונאלית</a:t>
            </a:r>
          </a:p>
          <a:p>
            <a:pPr marL="0" marR="0" lvl="0" indent="0" algn="ctr" defTabSz="914400" rtl="1" eaLnBrk="1" fontAlgn="auto" latinLnBrk="0" hangingPunct="1">
              <a:lnSpc>
                <a:spcPct val="150000"/>
              </a:lnSpc>
              <a:spcBef>
                <a:spcPts val="0"/>
              </a:spcBef>
              <a:spcAft>
                <a:spcPts val="0"/>
              </a:spcAft>
              <a:buClrTx/>
              <a:buSzTx/>
              <a:buFontTx/>
              <a:buNone/>
              <a:tabLst/>
              <a:defRPr/>
            </a:pPr>
            <a:r>
              <a:rPr lang="he-IL" sz="1200" dirty="0">
                <a:solidFill>
                  <a:prstClr val="white"/>
                </a:solidFill>
                <a:latin typeface="Segoe UI Semilight"/>
                <a:cs typeface="Segoe UI Semilight"/>
              </a:rPr>
              <a:t>שייכות למקום הגאוגרפי</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 </a:t>
            </a:r>
            <a:endParaRPr kumimoji="0" lang="he-IL" sz="8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6" name="TextBox 5">
            <a:extLst>
              <a:ext uri="{FF2B5EF4-FFF2-40B4-BE49-F238E27FC236}">
                <a16:creationId xmlns:a16="http://schemas.microsoft.com/office/drawing/2014/main" id="{777A5C82-BB67-6A69-E96B-E772805361CB}"/>
              </a:ext>
            </a:extLst>
          </p:cNvPr>
          <p:cNvSpPr txBox="1"/>
          <p:nvPr/>
        </p:nvSpPr>
        <p:spPr>
          <a:xfrm>
            <a:off x="6299189" y="157392"/>
            <a:ext cx="5421351" cy="741645"/>
          </a:xfrm>
          <a:prstGeom prst="rect">
            <a:avLst/>
          </a:prstGeom>
          <a:solidFill>
            <a:srgbClr val="92B0B1"/>
          </a:solidFill>
          <a:ln>
            <a:solidFill>
              <a:sysClr val="window" lastClr="FFFFFF"/>
            </a:solidFill>
          </a:ln>
        </p:spPr>
        <p:txBody>
          <a:bodyPr vert="horz" lIns="91440" tIns="45720" rIns="91440" bIns="45720" rtlCol="1" anchor="ctr">
            <a:normAutofit/>
          </a:bodyPr>
          <a:lstStyle/>
          <a:p>
            <a:pPr marL="0" marR="0" lvl="1" indent="0" algn="r" defTabSz="914400" rtl="1" eaLnBrk="1" fontAlgn="auto" latinLnBrk="0" hangingPunct="1">
              <a:lnSpc>
                <a:spcPct val="90000"/>
              </a:lnSpc>
              <a:spcBef>
                <a:spcPct val="0"/>
              </a:spcBef>
              <a:spcAft>
                <a:spcPts val="601"/>
              </a:spcAft>
              <a:buClrTx/>
              <a:buSzTx/>
              <a:buFontTx/>
              <a:buNone/>
              <a:tabLst/>
              <a:defRPr/>
            </a:pPr>
            <a:r>
              <a:rPr kumimoji="0" lang="he-IL" sz="3000" b="1" i="0" u="none" strike="noStrike" kern="0" cap="none" spc="0" normalizeH="0" baseline="0" noProof="0" dirty="0">
                <a:ln>
                  <a:noFill/>
                </a:ln>
                <a:effectLst/>
                <a:uLnTx/>
                <a:uFillTx/>
                <a:latin typeface="Assistant" pitchFamily="2" charset="-79"/>
                <a:ea typeface="+mn-ea"/>
                <a:cs typeface="Assistant" pitchFamily="2" charset="-79"/>
              </a:rPr>
              <a:t>תפיסת מניעה רב מערכתית</a:t>
            </a:r>
          </a:p>
        </p:txBody>
      </p:sp>
      <p:sp>
        <p:nvSpPr>
          <p:cNvPr id="26" name="Oval 25">
            <a:extLst>
              <a:ext uri="{FF2B5EF4-FFF2-40B4-BE49-F238E27FC236}">
                <a16:creationId xmlns:a16="http://schemas.microsoft.com/office/drawing/2014/main" id="{240B0163-0C51-75EE-8BBC-4073CE35CD1B}"/>
              </a:ext>
            </a:extLst>
          </p:cNvPr>
          <p:cNvSpPr/>
          <p:nvPr/>
        </p:nvSpPr>
        <p:spPr>
          <a:xfrm>
            <a:off x="5410645" y="-42287"/>
            <a:ext cx="1156179" cy="1036013"/>
          </a:xfrm>
          <a:prstGeom prst="ellipse">
            <a:avLst/>
          </a:prstGeom>
          <a:solidFill>
            <a:srgbClr val="92B0B1"/>
          </a:solidFill>
          <a:ln w="12700" cap="flat" cmpd="sng" algn="ctr">
            <a:solidFill>
              <a:sysClr val="window" lastClr="FFFFFF"/>
            </a:solidFill>
            <a:prstDash val="solid"/>
            <a:miter lim="800000"/>
          </a:ln>
          <a:effectLst/>
        </p:spPr>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Segoe UI Semilight"/>
              <a:ea typeface="+mn-ea"/>
              <a:cs typeface="Segoe UI Semilight"/>
            </a:endParaRPr>
          </a:p>
        </p:txBody>
      </p:sp>
      <p:pic>
        <p:nvPicPr>
          <p:cNvPr id="27" name="Graphic 26" descr="Map with pin outline">
            <a:extLst>
              <a:ext uri="{FF2B5EF4-FFF2-40B4-BE49-F238E27FC236}">
                <a16:creationId xmlns:a16="http://schemas.microsoft.com/office/drawing/2014/main" id="{F14BFCA8-C35D-D35C-000B-AA1E19095FF8}"/>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5559305" y="66112"/>
            <a:ext cx="873494" cy="790179"/>
          </a:xfrm>
          <a:prstGeom prst="rect">
            <a:avLst/>
          </a:prstGeom>
        </p:spPr>
      </p:pic>
      <p:sp>
        <p:nvSpPr>
          <p:cNvPr id="7" name="Rectangle: Rounded Corners 6">
            <a:extLst>
              <a:ext uri="{FF2B5EF4-FFF2-40B4-BE49-F238E27FC236}">
                <a16:creationId xmlns:a16="http://schemas.microsoft.com/office/drawing/2014/main" id="{4BB345F4-B676-0126-2A98-9D9D5C9603D2}"/>
              </a:ext>
            </a:extLst>
          </p:cNvPr>
          <p:cNvSpPr/>
          <p:nvPr/>
        </p:nvSpPr>
        <p:spPr>
          <a:xfrm>
            <a:off x="6671601" y="501140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שירותים חברתיים</a:t>
            </a:r>
            <a:endParaRPr kumimoji="0" lang="he-IL" sz="1400" b="0"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23" name="Rectangle: Rounded Corners 22">
            <a:extLst>
              <a:ext uri="{FF2B5EF4-FFF2-40B4-BE49-F238E27FC236}">
                <a16:creationId xmlns:a16="http://schemas.microsoft.com/office/drawing/2014/main" id="{566FA85F-8BCF-AABF-5D29-6CC03B545BC5}"/>
              </a:ext>
            </a:extLst>
          </p:cNvPr>
          <p:cNvSpPr/>
          <p:nvPr/>
        </p:nvSpPr>
        <p:spPr>
          <a:xfrm>
            <a:off x="6667498" y="5867463"/>
            <a:ext cx="1596280" cy="675538"/>
          </a:xfrm>
          <a:prstGeom prst="roundRect">
            <a:avLst/>
          </a:prstGeom>
          <a:solidFill>
            <a:srgbClr val="FCAF3E"/>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rPr>
              <a:t>משרדי</a:t>
            </a:r>
            <a:r>
              <a:rPr kumimoji="0" lang="he-IL" sz="1400" b="1" i="0" u="none" strike="noStrike" kern="1200" cap="none" spc="0" normalizeH="0" noProof="0" dirty="0">
                <a:ln>
                  <a:noFill/>
                </a:ln>
                <a:solidFill>
                  <a:prstClr val="white"/>
                </a:solidFill>
                <a:effectLst/>
                <a:uLnTx/>
                <a:uFillTx/>
                <a:latin typeface="Assistant" pitchFamily="2" charset="-79"/>
                <a:ea typeface="+mn-ea"/>
                <a:cs typeface="Assistant" pitchFamily="2" charset="-79"/>
              </a:rPr>
              <a:t> הממשלה הרלוונטיים</a:t>
            </a:r>
            <a:endParaRPr kumimoji="0" lang="he-IL" sz="1400" b="1" i="0" u="none" strike="noStrike" kern="1200" cap="none" spc="0" normalizeH="0" baseline="0" noProof="0" dirty="0">
              <a:ln>
                <a:noFill/>
              </a:ln>
              <a:solidFill>
                <a:prstClr val="white"/>
              </a:solidFill>
              <a:effectLst/>
              <a:uLnTx/>
              <a:uFillTx/>
              <a:latin typeface="Assistant" pitchFamily="2" charset="-79"/>
              <a:ea typeface="+mn-ea"/>
              <a:cs typeface="Assistant" pitchFamily="2" charset="-79"/>
            </a:endParaRPr>
          </a:p>
        </p:txBody>
      </p:sp>
      <p:sp>
        <p:nvSpPr>
          <p:cNvPr id="48" name="מלבן 4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2" name="TextBox 51"/>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53" name="מלבן 52"/>
          <p:cNvSpPr/>
          <p:nvPr/>
        </p:nvSpPr>
        <p:spPr>
          <a:xfrm>
            <a:off x="-13034" y="0"/>
            <a:ext cx="182534"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54" name="TextBox 53"/>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33694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17" grpId="0" animBg="1"/>
      <p:bldP spid="19" grpId="0" animBg="1"/>
      <p:bldP spid="20" grpId="0" animBg="1"/>
      <p:bldP spid="25" grpId="0" animBg="1"/>
      <p:bldP spid="33" grpId="0" animBg="1"/>
      <p:bldP spid="2" grpId="0" animBg="1"/>
      <p:bldP spid="9" grpId="0" animBg="1"/>
      <p:bldP spid="10" grpId="0" animBg="1"/>
      <p:bldP spid="18" grpId="0" animBg="1"/>
      <p:bldP spid="21" grpId="0" animBg="1"/>
      <p:bldP spid="22" grpId="0" animBg="1"/>
      <p:bldP spid="30" grpId="0" animBg="1"/>
      <p:bldP spid="31" grpId="0" animBg="1"/>
      <p:bldP spid="37" grpId="0" animBg="1"/>
      <p:bldP spid="38" grpId="0" animBg="1"/>
      <p:bldP spid="39" grpId="0" animBg="1"/>
      <p:bldP spid="43" grpId="0" animBg="1"/>
      <p:bldP spid="44" grpId="0" animBg="1"/>
      <p:bldP spid="51" grpId="0" animBg="1"/>
      <p:bldP spid="3" grpId="0"/>
      <p:bldP spid="4" grpId="0"/>
      <p:bldP spid="5" grpId="0" animBg="1"/>
      <p:bldP spid="8" grpId="0" animBg="1"/>
      <p:bldP spid="12" grpId="0" animBg="1"/>
      <p:bldP spid="7" grpId="0" animBg="1"/>
      <p:bldP spid="23" grpId="0" animBg="1"/>
    </p:bldLst>
  </p:timing>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6" name="כותרת 1">
            <a:extLst>
              <a:ext uri="{FF2B5EF4-FFF2-40B4-BE49-F238E27FC236}">
                <a16:creationId xmlns:a16="http://schemas.microsoft.com/office/drawing/2014/main" id="{6973C292-7C91-3E09-A643-E181A0D8E667}"/>
              </a:ext>
            </a:extLst>
          </p:cNvPr>
          <p:cNvSpPr txBox="1">
            <a:spLocks/>
          </p:cNvSpPr>
          <p:nvPr/>
        </p:nvSpPr>
        <p:spPr>
          <a:xfrm>
            <a:off x="0" y="39688"/>
            <a:ext cx="11353800" cy="636587"/>
          </a:xfrm>
          <a:prstGeom prst="rect">
            <a:avLst/>
          </a:prstGeom>
        </p:spPr>
        <p:txBody>
          <a:bodyPr vert="horz" lIns="91440" tIns="45720" rIns="91440" bIns="45720" rtlCol="0" anchor="t">
            <a:noAutofit/>
          </a:bodyPr>
          <a:lstStyle>
            <a:lvl1pPr algn="r" defTabSz="914400" rtl="1" eaLnBrk="1" latinLnBrk="0" hangingPunct="1">
              <a:lnSpc>
                <a:spcPct val="100000"/>
              </a:lnSpc>
              <a:spcBef>
                <a:spcPts val="0"/>
              </a:spcBef>
              <a:buNone/>
              <a:defRPr sz="4000" b="1" kern="1200">
                <a:solidFill>
                  <a:schemeClr val="tx1"/>
                </a:solidFill>
                <a:latin typeface="Segoe UI" panose="020B0502040204020203" pitchFamily="34" charset="0"/>
                <a:ea typeface="Segoe UI Black" panose="020B0A02040204020203" pitchFamily="34" charset="0"/>
                <a:cs typeface="Segoe UI" panose="020B0502040204020203" pitchFamily="34" charset="0"/>
              </a:defRPr>
            </a:lvl1pPr>
          </a:lstStyle>
          <a:p>
            <a:pPr marL="0" marR="0" lvl="0" indent="0" algn="r" defTabSz="914400" rtl="1" eaLnBrk="1" fontAlgn="auto" latinLnBrk="0" hangingPunct="1">
              <a:lnSpc>
                <a:spcPct val="100000"/>
              </a:lnSpc>
              <a:spcBef>
                <a:spcPts val="0"/>
              </a:spcBef>
              <a:spcAft>
                <a:spcPts val="0"/>
              </a:spcAft>
              <a:buClrTx/>
              <a:buSzTx/>
              <a:buFontTx/>
              <a:buNone/>
              <a:tabLst/>
              <a:defRPr/>
            </a:pPr>
            <a:endParaRPr kumimoji="0" lang="he-IL" sz="4000" b="1" i="0" u="none" strike="noStrike" kern="1200" cap="none" spc="0" normalizeH="0" baseline="0" noProof="0">
              <a:ln>
                <a:noFill/>
              </a:ln>
              <a:solidFill>
                <a:srgbClr val="40595A"/>
              </a:solidFill>
              <a:effectLst/>
              <a:uLnTx/>
              <a:uFillTx/>
              <a:latin typeface="Segoe UI" panose="020B0502040204020203" pitchFamily="34" charset="0"/>
              <a:ea typeface="Segoe UI Black" panose="020B0A02040204020203" pitchFamily="34" charset="0"/>
              <a:cs typeface="+mn-cs"/>
            </a:endParaRPr>
          </a:p>
        </p:txBody>
      </p:sp>
      <p:sp>
        <p:nvSpPr>
          <p:cNvPr id="10" name="TextBox 9">
            <a:extLst>
              <a:ext uri="{FF2B5EF4-FFF2-40B4-BE49-F238E27FC236}">
                <a16:creationId xmlns:a16="http://schemas.microsoft.com/office/drawing/2014/main" id="{A46F86F7-1827-A779-1C34-1903E5205FA2}"/>
              </a:ext>
            </a:extLst>
          </p:cNvPr>
          <p:cNvSpPr txBox="1"/>
          <p:nvPr/>
        </p:nvSpPr>
        <p:spPr>
          <a:xfrm>
            <a:off x="7173524" y="3690978"/>
            <a:ext cx="3355867" cy="400110"/>
          </a:xfrm>
          <a:prstGeom prst="rect">
            <a:avLst/>
          </a:prstGeom>
          <a:noFill/>
        </p:spPr>
        <p:txBody>
          <a:bodyPr wrap="square"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2000" b="1" i="0" u="sng" strike="noStrike" kern="1200" cap="none" spc="0" normalizeH="0" baseline="0" noProof="0">
                <a:ln>
                  <a:noFill/>
                </a:ln>
                <a:solidFill>
                  <a:srgbClr val="FFFFFF"/>
                </a:solidFill>
                <a:effectLst/>
                <a:uLnTx/>
                <a:uFillTx/>
                <a:latin typeface="Assistant" pitchFamily="2" charset="-79"/>
                <a:ea typeface="+mn-ea"/>
              </a:rPr>
              <a:t>קהל היעד - בקרב מי?</a:t>
            </a:r>
          </a:p>
        </p:txBody>
      </p:sp>
      <p:sp>
        <p:nvSpPr>
          <p:cNvPr id="13" name="TextBox 12">
            <a:extLst>
              <a:ext uri="{FF2B5EF4-FFF2-40B4-BE49-F238E27FC236}">
                <a16:creationId xmlns:a16="http://schemas.microsoft.com/office/drawing/2014/main" id="{B64C0090-A7A8-B4EA-F222-C0DC6A7E9849}"/>
              </a:ext>
            </a:extLst>
          </p:cNvPr>
          <p:cNvSpPr txBox="1"/>
          <p:nvPr/>
        </p:nvSpPr>
        <p:spPr>
          <a:xfrm>
            <a:off x="5863035" y="4160021"/>
            <a:ext cx="5062444" cy="1985159"/>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פרופילים נוספים שסומנו בסדנה :</a:t>
            </a:r>
            <a:r>
              <a:rPr kumimoji="0" lang="en-US" b="1" i="0" u="none" strike="noStrike" kern="1200" cap="none" spc="0" normalizeH="0" baseline="0" noProof="0" dirty="0">
                <a:ln>
                  <a:noFill/>
                </a:ln>
                <a:solidFill>
                  <a:srgbClr val="E7E6E6">
                    <a:lumMod val="10000"/>
                  </a:srgbClr>
                </a:solidFill>
                <a:effectLst/>
                <a:uLnTx/>
                <a:uFillTx/>
                <a:latin typeface="Assistant" pitchFamily="2" charset="-79"/>
                <a:ea typeface="+mn-ea"/>
              </a:rPr>
              <a:t> </a:t>
            </a:r>
            <a:endPar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endParaRP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אוכלוסייה בצמתי סיכון ומשבר (פרישה, התאלמנות,</a:t>
            </a:r>
            <a:r>
              <a:rPr kumimoji="0" lang="en-US" sz="1600" b="0" i="0" u="none" strike="noStrike" kern="100" cap="none" spc="0" normalizeH="0" baseline="0" noProof="0" dirty="0">
                <a:ln>
                  <a:noFill/>
                </a:ln>
                <a:solidFill>
                  <a:srgbClr val="E7E6E6">
                    <a:lumMod val="25000"/>
                  </a:srgbClr>
                </a:solidFill>
                <a:effectLst/>
                <a:uLnTx/>
                <a:uFillTx/>
                <a:latin typeface="Assistant" pitchFamily="2" charset="-79"/>
                <a:ea typeface="+mn-ea"/>
              </a:rPr>
              <a:t> </a:t>
            </a: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אירוע רפואי, וכד') </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גילאית (אחרי גיל 75)</a:t>
            </a:r>
          </a:p>
          <a:p>
            <a:pPr marL="285750" marR="0" lvl="0" indent="-28575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התמקדות באוכלוסייה מוחלשת כלכלית (השלמת הכנסה) </a:t>
            </a:r>
          </a:p>
        </p:txBody>
      </p:sp>
      <p:sp>
        <p:nvSpPr>
          <p:cNvPr id="15" name="TextBox 14">
            <a:extLst>
              <a:ext uri="{FF2B5EF4-FFF2-40B4-BE49-F238E27FC236}">
                <a16:creationId xmlns:a16="http://schemas.microsoft.com/office/drawing/2014/main" id="{0693EA45-9AB1-671D-BD55-00E23117D3B9}"/>
              </a:ext>
            </a:extLst>
          </p:cNvPr>
          <p:cNvSpPr txBox="1"/>
          <p:nvPr/>
        </p:nvSpPr>
        <p:spPr>
          <a:xfrm>
            <a:off x="503465" y="3865886"/>
            <a:ext cx="4203279" cy="2354491"/>
          </a:xfrm>
          <a:prstGeom prst="rect">
            <a:avLst/>
          </a:prstGeom>
          <a:noFill/>
        </p:spPr>
        <p:txBody>
          <a:bodyPr wrap="square">
            <a:spAutoFit/>
          </a:bodyPr>
          <a:lstStyle/>
          <a:p>
            <a:pPr marL="0" marR="0" lvl="0" indent="0" algn="r" defTabSz="914400" rtl="1" eaLnBrk="1" fontAlgn="auto" latinLnBrk="0" hangingPunct="1">
              <a:lnSpc>
                <a:spcPct val="150000"/>
              </a:lnSpc>
              <a:spcBef>
                <a:spcPts val="0"/>
              </a:spcBef>
              <a:spcAft>
                <a:spcPts val="0"/>
              </a:spcAft>
              <a:buClrTx/>
              <a:buSzTx/>
              <a:buFontTx/>
              <a:buNone/>
              <a:tabLst/>
              <a:defRPr/>
            </a:pPr>
            <a:r>
              <a:rPr kumimoji="0" lang="he-IL" b="1" i="0" u="none" strike="noStrike" kern="1200" cap="none" spc="0" normalizeH="0" baseline="0" noProof="0" dirty="0">
                <a:ln>
                  <a:noFill/>
                </a:ln>
                <a:solidFill>
                  <a:srgbClr val="E7E6E6">
                    <a:lumMod val="10000"/>
                  </a:srgbClr>
                </a:solidFill>
                <a:effectLst/>
                <a:uLnTx/>
                <a:uFillTx/>
                <a:latin typeface="Assistant" pitchFamily="2" charset="-79"/>
                <a:ea typeface="+mn-ea"/>
              </a:rPr>
              <a:t>מדדים נדרשים :</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הסיעוד ו/או בכניסה לרמת סיעוד</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גידול במשך הזמן הממוצע במעבר בין רמות השבריריות</a:t>
            </a:r>
          </a:p>
          <a:p>
            <a:pPr marL="457200" marR="0" lvl="0" indent="-457200" algn="r" defTabSz="914400" rtl="1"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he-IL" sz="1600" b="0" i="0" u="none" strike="noStrike" kern="100" cap="none" spc="0" normalizeH="0" baseline="0" noProof="0" dirty="0">
                <a:ln>
                  <a:noFill/>
                </a:ln>
                <a:solidFill>
                  <a:srgbClr val="E7E6E6">
                    <a:lumMod val="25000"/>
                  </a:srgbClr>
                </a:solidFill>
                <a:effectLst/>
                <a:uLnTx/>
                <a:uFillTx/>
                <a:latin typeface="Assistant" pitchFamily="2" charset="-79"/>
                <a:ea typeface="+mn-ea"/>
              </a:rPr>
              <a:t>מספר שנים בריאות מגיל 65</a:t>
            </a:r>
          </a:p>
        </p:txBody>
      </p:sp>
      <p:pic>
        <p:nvPicPr>
          <p:cNvPr id="5" name="Graphic 4" descr="Group with solid fill">
            <a:extLst>
              <a:ext uri="{FF2B5EF4-FFF2-40B4-BE49-F238E27FC236}">
                <a16:creationId xmlns:a16="http://schemas.microsoft.com/office/drawing/2014/main" id="{FFA36462-8EB6-DA0A-F533-34F6376C7B6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10003691" y="2889028"/>
            <a:ext cx="1051400" cy="1051400"/>
          </a:xfrm>
          <a:prstGeom prst="rect">
            <a:avLst/>
          </a:prstGeom>
        </p:spPr>
      </p:pic>
      <p:pic>
        <p:nvPicPr>
          <p:cNvPr id="7" name="Graphic 6" descr="Bar chart with solid fill">
            <a:extLst>
              <a:ext uri="{FF2B5EF4-FFF2-40B4-BE49-F238E27FC236}">
                <a16:creationId xmlns:a16="http://schemas.microsoft.com/office/drawing/2014/main" id="{6796BC9C-E1C3-19A1-EC8A-F4D1F0F19B9D}"/>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870056" y="2971800"/>
            <a:ext cx="914400" cy="914400"/>
          </a:xfrm>
          <a:prstGeom prst="rect">
            <a:avLst/>
          </a:prstGeom>
        </p:spPr>
      </p:pic>
      <p:sp>
        <p:nvSpPr>
          <p:cNvPr id="12" name="TextBox 11">
            <a:extLst>
              <a:ext uri="{FF2B5EF4-FFF2-40B4-BE49-F238E27FC236}">
                <a16:creationId xmlns:a16="http://schemas.microsoft.com/office/drawing/2014/main" id="{E48D5315-659E-1E29-32B7-F6053180AEAA}"/>
              </a:ext>
            </a:extLst>
          </p:cNvPr>
          <p:cNvSpPr txBox="1"/>
          <p:nvPr/>
        </p:nvSpPr>
        <p:spPr>
          <a:xfrm>
            <a:off x="3212657" y="1726004"/>
            <a:ext cx="5181600" cy="707886"/>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האטת קצב ההידרדרות </a:t>
            </a:r>
            <a: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1"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1" i="0" u="none" strike="noStrike" kern="1200" cap="none" spc="0" normalizeH="0" baseline="0" noProof="0" dirty="0">
                <a:ln>
                  <a:noFill/>
                </a:ln>
                <a:solidFill>
                  <a:srgbClr val="E7E6E6">
                    <a:lumMod val="10000"/>
                  </a:srgbClr>
                </a:solidFill>
                <a:effectLst/>
                <a:uLnTx/>
                <a:uFillTx/>
                <a:latin typeface="Assistant" pitchFamily="2" charset="-79"/>
                <a:ea typeface="+mn-ea"/>
              </a:rPr>
              <a:t>ושמירת תפקוד לאורך זמן </a:t>
            </a:r>
          </a:p>
        </p:txBody>
      </p:sp>
      <p:sp>
        <p:nvSpPr>
          <p:cNvPr id="22" name="TextBox 21">
            <a:extLst>
              <a:ext uri="{FF2B5EF4-FFF2-40B4-BE49-F238E27FC236}">
                <a16:creationId xmlns:a16="http://schemas.microsoft.com/office/drawing/2014/main" id="{267B6C78-21C4-7D71-B31E-D2FD9F2858B0}"/>
              </a:ext>
            </a:extLst>
          </p:cNvPr>
          <p:cNvSpPr txBox="1"/>
          <p:nvPr/>
        </p:nvSpPr>
        <p:spPr>
          <a:xfrm>
            <a:off x="7473788" y="2991280"/>
            <a:ext cx="2781300" cy="1077218"/>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קהל היעד</a:t>
            </a:r>
          </a:p>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זכאי חוק סיעוד </a:t>
            </a:r>
            <a: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t/>
            </a:r>
            <a:br>
              <a:rPr kumimoji="0" lang="en-US" sz="2000" b="0" i="0" u="none" strike="noStrike" kern="1200" cap="none" spc="0" normalizeH="0" baseline="0" noProof="0" dirty="0">
                <a:ln>
                  <a:noFill/>
                </a:ln>
                <a:solidFill>
                  <a:srgbClr val="E7E6E6">
                    <a:lumMod val="10000"/>
                  </a:srgbClr>
                </a:solidFill>
                <a:effectLst/>
                <a:uLnTx/>
                <a:uFillTx/>
                <a:latin typeface="Assistant" pitchFamily="2" charset="-79"/>
                <a:ea typeface="+mn-ea"/>
              </a:rPr>
            </a:br>
            <a:r>
              <a:rPr kumimoji="0" lang="he-IL" sz="2000" b="0" i="0" u="none" strike="noStrike" kern="1200" cap="none" spc="0" normalizeH="0" baseline="0" noProof="0" dirty="0">
                <a:ln>
                  <a:noFill/>
                </a:ln>
                <a:solidFill>
                  <a:srgbClr val="E7E6E6">
                    <a:lumMod val="10000"/>
                  </a:srgbClr>
                </a:solidFill>
                <a:effectLst/>
                <a:uLnTx/>
                <a:uFillTx/>
                <a:latin typeface="Assistant" pitchFamily="2" charset="-79"/>
                <a:ea typeface="+mn-ea"/>
              </a:rPr>
              <a:t>ברמות הנמוכות</a:t>
            </a:r>
            <a:r>
              <a:rPr kumimoji="0" lang="he-IL" sz="1600" b="0" i="0" u="none" strike="noStrike" kern="1200" cap="none" spc="0" normalizeH="0" baseline="0" noProof="0" dirty="0">
                <a:ln>
                  <a:noFill/>
                </a:ln>
                <a:solidFill>
                  <a:srgbClr val="E7E6E6">
                    <a:lumMod val="10000"/>
                  </a:srgbClr>
                </a:solidFill>
                <a:effectLst/>
                <a:uLnTx/>
                <a:uFillTx/>
                <a:latin typeface="Assistant" pitchFamily="2" charset="-79"/>
                <a:ea typeface="+mn-ea"/>
              </a:rPr>
              <a:t> 0-2*</a:t>
            </a:r>
          </a:p>
        </p:txBody>
      </p:sp>
      <p:sp>
        <p:nvSpPr>
          <p:cNvPr id="23" name="TextBox 22">
            <a:extLst>
              <a:ext uri="{FF2B5EF4-FFF2-40B4-BE49-F238E27FC236}">
                <a16:creationId xmlns:a16="http://schemas.microsoft.com/office/drawing/2014/main" id="{8AEDB0D2-2F20-5D79-1F67-5B959D510AEA}"/>
              </a:ext>
            </a:extLst>
          </p:cNvPr>
          <p:cNvSpPr txBox="1"/>
          <p:nvPr/>
        </p:nvSpPr>
        <p:spPr>
          <a:xfrm>
            <a:off x="1587802" y="2991280"/>
            <a:ext cx="2282254" cy="461665"/>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400" b="1" i="0" u="none" strike="noStrike" kern="1200" cap="none" spc="0" normalizeH="0" baseline="0" noProof="0" dirty="0">
                <a:ln>
                  <a:noFill/>
                </a:ln>
                <a:solidFill>
                  <a:srgbClr val="E7E6E6">
                    <a:lumMod val="10000"/>
                  </a:srgbClr>
                </a:solidFill>
                <a:effectLst/>
                <a:uLnTx/>
                <a:uFillTx/>
                <a:latin typeface="Assistant" pitchFamily="2" charset="-79"/>
                <a:ea typeface="+mn-ea"/>
              </a:rPr>
              <a:t>מדדי האימפקט</a:t>
            </a:r>
          </a:p>
        </p:txBody>
      </p:sp>
      <p:sp>
        <p:nvSpPr>
          <p:cNvPr id="3" name="TextBox 2">
            <a:extLst>
              <a:ext uri="{FF2B5EF4-FFF2-40B4-BE49-F238E27FC236}">
                <a16:creationId xmlns:a16="http://schemas.microsoft.com/office/drawing/2014/main" id="{63561BE2-D3D7-A06A-A574-984DD80A750F}"/>
              </a:ext>
            </a:extLst>
          </p:cNvPr>
          <p:cNvSpPr txBox="1"/>
          <p:nvPr/>
        </p:nvSpPr>
        <p:spPr>
          <a:xfrm>
            <a:off x="9366155" y="426607"/>
            <a:ext cx="2781300" cy="1446550"/>
          </a:xfrm>
          <a:prstGeom prst="rect">
            <a:avLst/>
          </a:prstGeom>
          <a:noFill/>
        </p:spPr>
        <p:txBody>
          <a:bodyPr wrap="square" rtlCol="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סקיצת</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3200" b="0" i="0" u="none" strike="noStrike" kern="1200" cap="none" spc="0" normalizeH="0" baseline="0" noProof="0" dirty="0">
                <a:ln>
                  <a:noFill/>
                </a:ln>
                <a:solidFill>
                  <a:srgbClr val="FFC000"/>
                </a:solidFill>
                <a:effectLst/>
                <a:uLnTx/>
                <a:uFillTx/>
                <a:latin typeface="Assistant" pitchFamily="2" charset="-79"/>
                <a:ea typeface="+mn-ea"/>
              </a:rPr>
              <a:t>שימור תפקוד</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he-IL" sz="2400" b="0" i="0" u="none" strike="noStrike" kern="1200" cap="none" spc="0" normalizeH="0" baseline="0" noProof="0" dirty="0">
                <a:ln>
                  <a:noFill/>
                </a:ln>
                <a:solidFill>
                  <a:srgbClr val="FFC000"/>
                </a:solidFill>
                <a:effectLst/>
                <a:uLnTx/>
                <a:uFillTx/>
                <a:latin typeface="Assistant" pitchFamily="2" charset="-79"/>
                <a:ea typeface="+mn-ea"/>
              </a:rPr>
              <a:t>פירוט</a:t>
            </a:r>
            <a:endParaRPr kumimoji="0" lang="he-IL" sz="3200" b="0" i="0" u="none" strike="noStrike" kern="1200" cap="none" spc="0" normalizeH="0" baseline="0" noProof="0" dirty="0">
              <a:ln>
                <a:noFill/>
              </a:ln>
              <a:solidFill>
                <a:srgbClr val="FFC000"/>
              </a:solidFill>
              <a:effectLst/>
              <a:uLnTx/>
              <a:uFillTx/>
              <a:latin typeface="Assistant" pitchFamily="2" charset="-79"/>
              <a:ea typeface="+mn-ea"/>
            </a:endParaRPr>
          </a:p>
        </p:txBody>
      </p:sp>
      <p:pic>
        <p:nvPicPr>
          <p:cNvPr id="9" name="Graphic 8" descr="Walk outline">
            <a:extLst>
              <a:ext uri="{FF2B5EF4-FFF2-40B4-BE49-F238E27FC236}">
                <a16:creationId xmlns:a16="http://schemas.microsoft.com/office/drawing/2014/main" id="{EC67615D-CC4A-ED0E-B540-AEA62EC9FF76}"/>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p:blipFill>
        <p:spPr>
          <a:xfrm>
            <a:off x="9366154" y="197835"/>
            <a:ext cx="820836" cy="820836"/>
          </a:xfrm>
          <a:prstGeom prst="rect">
            <a:avLst/>
          </a:prstGeom>
        </p:spPr>
      </p:pic>
      <p:sp>
        <p:nvSpPr>
          <p:cNvPr id="2" name="TextBox 1">
            <a:extLst>
              <a:ext uri="{FF2B5EF4-FFF2-40B4-BE49-F238E27FC236}">
                <a16:creationId xmlns:a16="http://schemas.microsoft.com/office/drawing/2014/main" id="{CF84B29B-BD08-7CD7-9E23-FBCF2051D710}"/>
              </a:ext>
            </a:extLst>
          </p:cNvPr>
          <p:cNvSpPr txBox="1"/>
          <p:nvPr/>
        </p:nvSpPr>
        <p:spPr>
          <a:xfrm rot="19789154">
            <a:off x="-188497" y="649826"/>
            <a:ext cx="3213243" cy="461665"/>
          </a:xfrm>
          <a:prstGeom prst="rect">
            <a:avLst/>
          </a:prstGeom>
          <a:noFill/>
        </p:spPr>
        <p:txBody>
          <a:bodyPr wrap="square">
            <a:spAutoFit/>
          </a:bodyPr>
          <a:lstStyle/>
          <a:p>
            <a:pPr marL="0" marR="0" lvl="0" indent="0" algn="ctr" defTabSz="914400" rtl="1" eaLnBrk="1" fontAlgn="auto" latinLnBrk="0" hangingPunct="1">
              <a:lnSpc>
                <a:spcPct val="150000"/>
              </a:lnSpc>
              <a:spcBef>
                <a:spcPts val="0"/>
              </a:spcBef>
              <a:spcAft>
                <a:spcPts val="0"/>
              </a:spcAft>
              <a:buClrTx/>
              <a:buSzTx/>
              <a:buFontTx/>
              <a:buNone/>
              <a:tabLst/>
              <a:defRPr/>
            </a:pPr>
            <a:r>
              <a:rPr kumimoji="0" lang="he-IL" sz="1600" b="0" i="0" u="none" strike="noStrike" kern="1200" cap="none" spc="0" normalizeH="0" baseline="0" noProof="0" dirty="0">
                <a:ln>
                  <a:noFill/>
                </a:ln>
                <a:solidFill>
                  <a:srgbClr val="0070C0"/>
                </a:solidFill>
                <a:effectLst/>
                <a:uLnTx/>
                <a:uFillTx/>
                <a:latin typeface="Assistant" pitchFamily="2" charset="-79"/>
                <a:ea typeface="+mn-ea"/>
              </a:rPr>
              <a:t>דורש דיוק תיקוף</a:t>
            </a:r>
          </a:p>
        </p:txBody>
      </p:sp>
      <p:sp>
        <p:nvSpPr>
          <p:cNvPr id="8" name="TextBox 7">
            <a:extLst>
              <a:ext uri="{FF2B5EF4-FFF2-40B4-BE49-F238E27FC236}">
                <a16:creationId xmlns:a16="http://schemas.microsoft.com/office/drawing/2014/main" id="{CB7462DD-1B2B-446F-A6F0-976833243AF3}"/>
              </a:ext>
            </a:extLst>
          </p:cNvPr>
          <p:cNvSpPr txBox="1"/>
          <p:nvPr/>
        </p:nvSpPr>
        <p:spPr>
          <a:xfrm>
            <a:off x="2697814" y="760918"/>
            <a:ext cx="6166624" cy="523220"/>
          </a:xfrm>
          <a:prstGeom prst="rect">
            <a:avLst/>
          </a:prstGeom>
          <a:noFill/>
        </p:spPr>
        <p:txBody>
          <a:bodyPr wrap="square">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he-IL" sz="2800" b="1" i="0" u="none" strike="noStrike" kern="1200" cap="none" spc="0" normalizeH="0" baseline="0" noProof="0" dirty="0">
                <a:ln>
                  <a:noFill/>
                </a:ln>
                <a:solidFill>
                  <a:srgbClr val="308C8B"/>
                </a:solidFill>
                <a:effectLst/>
                <a:uLnTx/>
                <a:uFillTx/>
                <a:latin typeface="Assistant" pitchFamily="2" charset="-79"/>
                <a:ea typeface="+mn-ea"/>
              </a:rPr>
              <a:t>השינוי הרצוי וקהל היעד</a:t>
            </a:r>
          </a:p>
        </p:txBody>
      </p:sp>
      <p:sp>
        <p:nvSpPr>
          <p:cNvPr id="16" name="מלבן 15"/>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7" name="TextBox 16"/>
          <p:cNvSpPr txBox="1"/>
          <p:nvPr/>
        </p:nvSpPr>
        <p:spPr>
          <a:xfrm rot="16200000">
            <a:off x="-1010313" y="774604"/>
            <a:ext cx="2039340"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ההזדמנות לשינוי בסיעוד</a:t>
            </a:r>
          </a:p>
        </p:txBody>
      </p:sp>
      <p:sp>
        <p:nvSpPr>
          <p:cNvPr id="18" name="מלבן 17"/>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19" name="TextBox 18"/>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10028825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endParaRPr lang="he-IL"/>
          </a:p>
        </p:txBody>
      </p:sp>
      <p:sp>
        <p:nvSpPr>
          <p:cNvPr id="3" name="מציין מיקום תוכן 2"/>
          <p:cNvSpPr>
            <a:spLocks noGrp="1"/>
          </p:cNvSpPr>
          <p:nvPr>
            <p:ph idx="1"/>
          </p:nvPr>
        </p:nvSpPr>
        <p:spPr/>
        <p:txBody>
          <a:bodyPr/>
          <a:lstStyle/>
          <a:p>
            <a:endParaRPr lang="he-IL"/>
          </a:p>
        </p:txBody>
      </p:sp>
      <p:pic>
        <p:nvPicPr>
          <p:cNvPr id="4" name="תמונה 3"/>
          <p:cNvPicPr>
            <a:picLocks noChangeAspect="1"/>
          </p:cNvPicPr>
          <p:nvPr/>
        </p:nvPicPr>
        <p:blipFill rotWithShape="1">
          <a:blip r:embed="rId3"/>
          <a:srcRect b="5484"/>
          <a:stretch/>
        </p:blipFill>
        <p:spPr>
          <a:xfrm>
            <a:off x="-13035" y="0"/>
            <a:ext cx="12205036" cy="6858000"/>
          </a:xfrm>
          <a:prstGeom prst="rect">
            <a:avLst/>
          </a:prstGeom>
        </p:spPr>
      </p:pic>
      <p:sp>
        <p:nvSpPr>
          <p:cNvPr id="5" name="TextBox 4"/>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
        <p:nvSpPr>
          <p:cNvPr id="6" name="מלבן 5"/>
          <p:cNvSpPr/>
          <p:nvPr/>
        </p:nvSpPr>
        <p:spPr>
          <a:xfrm>
            <a:off x="-13035"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7" name="TextBox 6"/>
          <p:cNvSpPr txBox="1"/>
          <p:nvPr/>
        </p:nvSpPr>
        <p:spPr>
          <a:xfrm rot="16200000">
            <a:off x="-715459"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0068524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466897" y="207672"/>
            <a:ext cx="10515600" cy="1325563"/>
          </a:xfrm>
        </p:spPr>
        <p:txBody>
          <a:bodyPr/>
          <a:lstStyle/>
          <a:p>
            <a:r>
              <a:rPr lang="en-US" b="1" dirty="0"/>
              <a:t>ROI</a:t>
            </a:r>
            <a:r>
              <a:rPr lang="he-IL" dirty="0"/>
              <a:t> במניעה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3588934612"/>
              </p:ext>
            </p:extLst>
          </p:nvPr>
        </p:nvGraphicFramePr>
        <p:xfrm>
          <a:off x="3463637" y="1616364"/>
          <a:ext cx="6354617" cy="4488871"/>
        </p:xfrm>
        <a:graphic>
          <a:graphicData uri="http://schemas.openxmlformats.org/drawingml/2006/chart">
            <c:chart xmlns:c="http://schemas.openxmlformats.org/drawingml/2006/chart" xmlns:r="http://schemas.openxmlformats.org/officeDocument/2006/relationships" r:id="rId3"/>
          </a:graphicData>
        </a:graphic>
      </p:graphicFrame>
      <p:sp>
        <p:nvSpPr>
          <p:cNvPr id="8" name="מלבן 7"/>
          <p:cNvSpPr/>
          <p:nvPr/>
        </p:nvSpPr>
        <p:spPr>
          <a:xfrm>
            <a:off x="3093" y="0"/>
            <a:ext cx="264155" cy="6857999"/>
          </a:xfrm>
          <a:prstGeom prst="rect">
            <a:avLst/>
          </a:prstGeom>
          <a:solidFill>
            <a:srgbClr val="FFC000"/>
          </a:solidFill>
          <a:ln w="12700" cap="flat" cmpd="sng" algn="ctr">
            <a:solidFill>
              <a:srgbClr val="2CC2E0"/>
            </a:solidFill>
            <a:prstDash val="solid"/>
            <a:miter lim="800000"/>
          </a:ln>
          <a:effectLst/>
        </p:spPr>
        <p:txBody>
          <a:bodyPr rtlCol="1"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he-IL" sz="1800" b="0" i="0" u="none" strike="noStrike" kern="0" cap="none" spc="0" normalizeH="0" baseline="0" noProof="0">
              <a:ln>
                <a:noFill/>
              </a:ln>
              <a:solidFill>
                <a:prstClr val="white"/>
              </a:solidFill>
              <a:effectLst/>
              <a:uLnTx/>
              <a:uFillTx/>
              <a:latin typeface="Calibri"/>
              <a:ea typeface="+mn-ea"/>
              <a:cs typeface="Calibri"/>
            </a:endParaRPr>
          </a:p>
        </p:txBody>
      </p:sp>
      <p:sp>
        <p:nvSpPr>
          <p:cNvPr id="9" name="TextBox 8"/>
          <p:cNvSpPr txBox="1"/>
          <p:nvPr/>
        </p:nvSpPr>
        <p:spPr>
          <a:xfrm rot="16200000">
            <a:off x="-699331" y="566656"/>
            <a:ext cx="1417376"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מדידה ותמריצים</a:t>
            </a:r>
          </a:p>
        </p:txBody>
      </p:sp>
    </p:spTree>
    <p:extLst>
      <p:ext uri="{BB962C8B-B14F-4D97-AF65-F5344CB8AC3E}">
        <p14:creationId xmlns:p14="http://schemas.microsoft.com/office/powerpoint/2010/main" val="299142759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Life Journey | Earth">
            <a:extLst>
              <a:ext uri="{FF2B5EF4-FFF2-40B4-BE49-F238E27FC236}">
                <a16:creationId xmlns:a16="http://schemas.microsoft.com/office/drawing/2014/main" id="{5BCE3670-8D26-16C2-5FE8-FB030C6418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9" name="תיבת טקסט 8">
            <a:extLst>
              <a:ext uri="{FF2B5EF4-FFF2-40B4-BE49-F238E27FC236}">
                <a16:creationId xmlns:a16="http://schemas.microsoft.com/office/drawing/2014/main" id="{AB0EC874-DDA0-94E9-3D78-D6E17DB7FBB8}"/>
              </a:ext>
            </a:extLst>
          </p:cNvPr>
          <p:cNvSpPr txBox="1"/>
          <p:nvPr/>
        </p:nvSpPr>
        <p:spPr>
          <a:xfrm>
            <a:off x="-263051" y="5794914"/>
            <a:ext cx="1443037" cy="923330"/>
          </a:xfrm>
          <a:prstGeom prst="rect">
            <a:avLst/>
          </a:prstGeom>
          <a:noFill/>
        </p:spPr>
        <p:txBody>
          <a:bodyPr wrap="square">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rPr>
              <a:t>המסע להזדקנות מיטבית</a:t>
            </a:r>
            <a:endParaRPr kumimoji="0" lang="en-US" sz="1800" b="1" i="0" u="none" strike="noStrike" kern="1200" cap="none" spc="0" normalizeH="0" baseline="0" noProof="0" dirty="0">
              <a:ln>
                <a:noFill/>
              </a:ln>
              <a:solidFill>
                <a:schemeClr val="bg1"/>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
        <p:nvSpPr>
          <p:cNvPr id="15" name="תיבת טקסט 14">
            <a:extLst>
              <a:ext uri="{FF2B5EF4-FFF2-40B4-BE49-F238E27FC236}">
                <a16:creationId xmlns:a16="http://schemas.microsoft.com/office/drawing/2014/main" id="{26E5C0E2-3404-65D5-9580-4A339A80F809}"/>
              </a:ext>
            </a:extLst>
          </p:cNvPr>
          <p:cNvSpPr txBox="1"/>
          <p:nvPr/>
        </p:nvSpPr>
        <p:spPr>
          <a:xfrm>
            <a:off x="74815" y="4855554"/>
            <a:ext cx="7253868" cy="939360"/>
          </a:xfrm>
          <a:prstGeom prst="rect">
            <a:avLst/>
          </a:prstGeom>
          <a:noFill/>
        </p:spPr>
        <p:txBody>
          <a:bodyPr wrap="square">
            <a:spAutoFit/>
          </a:bodyPr>
          <a:lstStyle/>
          <a:p>
            <a:pPr lvl="0" algn="r" rtl="1">
              <a:lnSpc>
                <a:spcPct val="200000"/>
              </a:lnSpc>
              <a:defRPr/>
            </a:pPr>
            <a:r>
              <a:rPr lang="he-IL" sz="3200" b="1" dirty="0">
                <a:solidFill>
                  <a:srgbClr val="FFB84F"/>
                </a:solidFill>
                <a:latin typeface="Calibri" panose="020F0502020204030204" pitchFamily="34" charset="0"/>
                <a:ea typeface="Open Sans" panose="020B0606030504020204" pitchFamily="34" charset="0"/>
                <a:cs typeface="Calibri" panose="020F0502020204030204" pitchFamily="34" charset="0"/>
              </a:rPr>
              <a:t>תודה על ההקשבה</a:t>
            </a:r>
          </a:p>
        </p:txBody>
      </p:sp>
      <p:sp>
        <p:nvSpPr>
          <p:cNvPr id="10" name="TextBox 1">
            <a:extLst>
              <a:ext uri="{FF2B5EF4-FFF2-40B4-BE49-F238E27FC236}">
                <a16:creationId xmlns:a16="http://schemas.microsoft.com/office/drawing/2014/main" id="{25A1042E-0AC4-8E2F-E834-454DCB688119}"/>
              </a:ext>
            </a:extLst>
          </p:cNvPr>
          <p:cNvSpPr txBox="1"/>
          <p:nvPr/>
        </p:nvSpPr>
        <p:spPr>
          <a:xfrm>
            <a:off x="2525759" y="5821673"/>
            <a:ext cx="5179126" cy="492443"/>
          </a:xfrm>
          <a:prstGeom prst="rect">
            <a:avLst/>
          </a:prstGeom>
          <a:noFill/>
        </p:spPr>
        <p:txBody>
          <a:bodyPr wrap="square" lIns="0" tIns="0" rIns="0" bIns="0" rtlCol="1">
            <a:spAutoFit/>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he-IL"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rPr>
              <a:t>המסע שלנו מתחיל מכאן</a:t>
            </a:r>
            <a:endParaRPr kumimoji="0" lang="en-US" sz="3200" b="1" i="0" u="none" strike="noStrike" kern="1200" cap="none" spc="0" normalizeH="0" baseline="0" noProof="0" dirty="0">
              <a:ln>
                <a:noFill/>
              </a:ln>
              <a:solidFill>
                <a:srgbClr val="FFB84F"/>
              </a:solidFill>
              <a:effectLst/>
              <a:uLnTx/>
              <a:uFillTx/>
              <a:latin typeface="Calibri" panose="020F0502020204030204" pitchFamily="34" charset="0"/>
              <a:ea typeface="Open Sans" panose="020B0606030504020204" pitchFamily="34" charset="0"/>
              <a:cs typeface="Calibri" panose="020F0502020204030204" pitchFamily="34" charset="0"/>
            </a:endParaRPr>
          </a:p>
        </p:txBody>
      </p:sp>
    </p:spTree>
    <p:extLst>
      <p:ext uri="{BB962C8B-B14F-4D97-AF65-F5344CB8AC3E}">
        <p14:creationId xmlns:p14="http://schemas.microsoft.com/office/powerpoint/2010/main" val="8327960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תמונה 1"/>
          <p:cNvPicPr>
            <a:picLocks noChangeAspect="1"/>
          </p:cNvPicPr>
          <p:nvPr/>
        </p:nvPicPr>
        <p:blipFill rotWithShape="1">
          <a:blip r:embed="rId3"/>
          <a:srcRect l="12291" t="14259" r="10000" b="7408"/>
          <a:stretch/>
        </p:blipFill>
        <p:spPr>
          <a:xfrm>
            <a:off x="0" y="0"/>
            <a:ext cx="12192000" cy="6837546"/>
          </a:xfrm>
          <a:prstGeom prst="rect">
            <a:avLst/>
          </a:prstGeom>
        </p:spPr>
      </p:pic>
      <p:sp>
        <p:nvSpPr>
          <p:cNvPr id="3" name="מלבן מעוגל 2"/>
          <p:cNvSpPr/>
          <p:nvPr/>
        </p:nvSpPr>
        <p:spPr>
          <a:xfrm>
            <a:off x="742950" y="2057400"/>
            <a:ext cx="2266950" cy="4591050"/>
          </a:xfrm>
          <a:prstGeom prst="roundRect">
            <a:avLst/>
          </a:prstGeom>
          <a:solidFill>
            <a:schemeClr val="lt1">
              <a:alpha val="0"/>
            </a:schemeClr>
          </a:solidFill>
          <a:ln w="28575">
            <a:solidFill>
              <a:schemeClr val="accent1">
                <a:lumMod val="50000"/>
              </a:schemeClr>
            </a:solidFill>
          </a:ln>
        </p:spPr>
        <p:style>
          <a:lnRef idx="2">
            <a:schemeClr val="accent1"/>
          </a:lnRef>
          <a:fillRef idx="1">
            <a:schemeClr val="lt1"/>
          </a:fillRef>
          <a:effectRef idx="0">
            <a:schemeClr val="accent1"/>
          </a:effectRef>
          <a:fontRef idx="minor">
            <a:schemeClr val="dk1"/>
          </a:fontRef>
        </p:style>
        <p:txBody>
          <a:bodyPr rtlCol="1" anchor="ctr"/>
          <a:lstStyle/>
          <a:p>
            <a:pPr algn="ctr"/>
            <a:endParaRPr lang="he-IL"/>
          </a:p>
        </p:txBody>
      </p:sp>
    </p:spTree>
    <p:extLst>
      <p:ext uri="{BB962C8B-B14F-4D97-AF65-F5344CB8AC3E}">
        <p14:creationId xmlns:p14="http://schemas.microsoft.com/office/powerpoint/2010/main" val="4700440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ECFF13-AD49-4A84-A314-DDA8ACF884F2}"/>
              </a:ext>
            </a:extLst>
          </p:cNvPr>
          <p:cNvSpPr txBox="1"/>
          <p:nvPr/>
        </p:nvSpPr>
        <p:spPr>
          <a:xfrm>
            <a:off x="2993543" y="69117"/>
            <a:ext cx="7890767" cy="861774"/>
          </a:xfrm>
          <a:prstGeom prst="rect">
            <a:avLst/>
          </a:prstGeom>
          <a:noFill/>
        </p:spPr>
        <p:txBody>
          <a:bodyPr wrap="square" rtlCol="0">
            <a:spAutoFit/>
          </a:bodyPr>
          <a:lstStyle/>
          <a:p>
            <a:pPr algn="ctr" defTabSz="914446">
              <a:defRPr/>
            </a:pPr>
            <a:r>
              <a:rPr lang="he-IL" altLang="ko-KR" sz="5000" b="1" dirty="0">
                <a:solidFill>
                  <a:srgbClr val="1F497D">
                    <a:lumMod val="75000"/>
                  </a:srgbClr>
                </a:solidFill>
                <a:latin typeface="Calibri Light" panose="020F0302020204030204" pitchFamily="34" charset="0"/>
                <a:cs typeface="Calibri Light" panose="020F0302020204030204" pitchFamily="34" charset="0"/>
              </a:rPr>
              <a:t>התפלגות לפי סוג שירות באחוזים </a:t>
            </a:r>
            <a:endParaRPr lang="en-US" altLang="ko-KR" sz="2000" b="1" dirty="0">
              <a:solidFill>
                <a:srgbClr val="1F497D">
                  <a:lumMod val="75000"/>
                </a:srgbClr>
              </a:solidFill>
              <a:latin typeface="Calibri Light" panose="020F0302020204030204" pitchFamily="34" charset="0"/>
              <a:cs typeface="Calibri Light" panose="020F0302020204030204" pitchFamily="34" charset="0"/>
            </a:endParaRPr>
          </a:p>
        </p:txBody>
      </p:sp>
      <p:graphicFrame>
        <p:nvGraphicFramePr>
          <p:cNvPr id="2" name="טבלה 1"/>
          <p:cNvGraphicFramePr>
            <a:graphicFrameLocks noGrp="1"/>
          </p:cNvGraphicFramePr>
          <p:nvPr>
            <p:extLst>
              <p:ext uri="{D42A27DB-BD31-4B8C-83A1-F6EECF244321}">
                <p14:modId xmlns:p14="http://schemas.microsoft.com/office/powerpoint/2010/main" val="1997478875"/>
              </p:ext>
            </p:extLst>
          </p:nvPr>
        </p:nvGraphicFramePr>
        <p:xfrm>
          <a:off x="2225843" y="1051560"/>
          <a:ext cx="8124789" cy="4653280"/>
        </p:xfrm>
        <a:graphic>
          <a:graphicData uri="http://schemas.openxmlformats.org/drawingml/2006/table">
            <a:tbl>
              <a:tblPr rtl="1" firstRow="1" bandRow="1">
                <a:tableStyleId>{5C22544A-7EE6-4342-B048-85BDC9FD1C3A}</a:tableStyleId>
              </a:tblPr>
              <a:tblGrid>
                <a:gridCol w="2708263">
                  <a:extLst>
                    <a:ext uri="{9D8B030D-6E8A-4147-A177-3AD203B41FA5}">
                      <a16:colId xmlns:a16="http://schemas.microsoft.com/office/drawing/2014/main" val="1660866896"/>
                    </a:ext>
                  </a:extLst>
                </a:gridCol>
                <a:gridCol w="2708263">
                  <a:extLst>
                    <a:ext uri="{9D8B030D-6E8A-4147-A177-3AD203B41FA5}">
                      <a16:colId xmlns:a16="http://schemas.microsoft.com/office/drawing/2014/main" val="143603730"/>
                    </a:ext>
                  </a:extLst>
                </a:gridCol>
                <a:gridCol w="2708263">
                  <a:extLst>
                    <a:ext uri="{9D8B030D-6E8A-4147-A177-3AD203B41FA5}">
                      <a16:colId xmlns:a16="http://schemas.microsoft.com/office/drawing/2014/main" val="2481658894"/>
                    </a:ext>
                  </a:extLst>
                </a:gridCol>
              </a:tblGrid>
              <a:tr h="916922">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שירות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זכאים </a:t>
                      </a:r>
                    </a:p>
                  </a:txBody>
                  <a:tcPr>
                    <a:solidFill>
                      <a:schemeClr val="tx2"/>
                    </a:solidFill>
                  </a:tcPr>
                </a:tc>
                <a:tc>
                  <a:txBody>
                    <a:bodyPr/>
                    <a:lstStyle/>
                    <a:p>
                      <a:pPr marL="0" algn="ctr" defTabSz="914400" rtl="1" eaLnBrk="1" latinLnBrk="0" hangingPunct="1"/>
                      <a:r>
                        <a:rPr kumimoji="0" lang="he-IL" sz="3600" b="1" i="0" u="none" strike="noStrike" kern="1200" cap="none" spc="0" normalizeH="0" baseline="0" dirty="0">
                          <a:ln>
                            <a:noFill/>
                          </a:ln>
                          <a:solidFill>
                            <a:schemeClr val="bg1"/>
                          </a:solidFill>
                          <a:effectLst/>
                          <a:uLnTx/>
                          <a:uFillTx/>
                          <a:latin typeface="Calibri Light" panose="020F0302020204030204" pitchFamily="34" charset="0"/>
                          <a:ea typeface="+mn-ea"/>
                          <a:cs typeface="Calibri Light" panose="020F0302020204030204" pitchFamily="34" charset="0"/>
                        </a:rPr>
                        <a:t>אחוז מכלל הזכאים</a:t>
                      </a:r>
                    </a:p>
                  </a:txBody>
                  <a:tcPr>
                    <a:solidFill>
                      <a:schemeClr val="tx2"/>
                    </a:solidFill>
                  </a:tcPr>
                </a:tc>
                <a:extLst>
                  <a:ext uri="{0D108BD9-81ED-4DB2-BD59-A6C34878D82A}">
                    <a16:rowId xmlns:a16="http://schemas.microsoft.com/office/drawing/2014/main" val="1895310377"/>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אחוז מכלל הזכאים</a:t>
                      </a:r>
                    </a:p>
                  </a:txBody>
                  <a:tcPr marL="6350" marR="6350" marT="6350" marB="0" anchor="b"/>
                </a:tc>
                <a:extLst>
                  <a:ext uri="{0D108BD9-81ED-4DB2-BD59-A6C34878D82A}">
                    <a16:rowId xmlns:a16="http://schemas.microsoft.com/office/drawing/2014/main" val="25594969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8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זכאים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346,00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350" marR="6350" marT="6350" marB="0" anchor="b"/>
                </a:tc>
                <a:extLst>
                  <a:ext uri="{0D108BD9-81ED-4DB2-BD59-A6C34878D82A}">
                    <a16:rowId xmlns:a16="http://schemas.microsoft.com/office/drawing/2014/main" val="433111868"/>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בבית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279,319</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81%</a:t>
                      </a:r>
                    </a:p>
                  </a:txBody>
                  <a:tcPr marL="6350" marR="6350" marT="6350" marB="0" anchor="b"/>
                </a:tc>
                <a:extLst>
                  <a:ext uri="{0D108BD9-81ED-4DB2-BD59-A6C34878D82A}">
                    <a16:rowId xmlns:a16="http://schemas.microsoft.com/office/drawing/2014/main" val="74973186"/>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טיפול אישי במרכז יום</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12,898</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a:t>
                      </a:r>
                    </a:p>
                  </a:txBody>
                  <a:tcPr marL="6350" marR="6350" marT="6350" marB="0" anchor="b"/>
                </a:tc>
                <a:extLst>
                  <a:ext uri="{0D108BD9-81ED-4DB2-BD59-A6C34878D82A}">
                    <a16:rowId xmlns:a16="http://schemas.microsoft.com/office/drawing/2014/main" val="2215869084"/>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מוצרי ספיגה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39,116</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11.3%</a:t>
                      </a:r>
                    </a:p>
                  </a:txBody>
                  <a:tcPr marL="6350" marR="6350" marT="6350" marB="0" anchor="b"/>
                </a:tc>
                <a:extLst>
                  <a:ext uri="{0D108BD9-81ED-4DB2-BD59-A6C34878D82A}">
                    <a16:rowId xmlns:a16="http://schemas.microsoft.com/office/drawing/2014/main" val="247969896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משדרי מצוקה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23,721</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6.9%</a:t>
                      </a:r>
                    </a:p>
                  </a:txBody>
                  <a:tcPr marL="6350" marR="6350" marT="6350" marB="0" anchor="b"/>
                </a:tc>
                <a:extLst>
                  <a:ext uri="{0D108BD9-81ED-4DB2-BD59-A6C34878D82A}">
                    <a16:rowId xmlns:a16="http://schemas.microsoft.com/office/drawing/2014/main" val="311252168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שירותי כביסה</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644</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0.2%</a:t>
                      </a:r>
                    </a:p>
                  </a:txBody>
                  <a:tcPr marL="6350" marR="6350" marT="6350" marB="0" anchor="b"/>
                </a:tc>
                <a:extLst>
                  <a:ext uri="{0D108BD9-81ED-4DB2-BD59-A6C34878D82A}">
                    <a16:rowId xmlns:a16="http://schemas.microsoft.com/office/drawing/2014/main" val="2875743753"/>
                  </a:ext>
                </a:extLst>
              </a:tr>
              <a:tr h="334049">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קהילה תומכת</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5,150</a:t>
                      </a:r>
                    </a:p>
                  </a:txBody>
                  <a:tcPr marL="6350" marR="6350" marT="6350" marB="0" anchor="b"/>
                </a:tc>
                <a:tc>
                  <a:txBody>
                    <a:bodyPr/>
                    <a:lstStyle/>
                    <a:p>
                      <a:pPr marL="0" algn="ctr" defTabSz="914400" rtl="1" eaLnBrk="1" fontAlgn="b" latinLnBrk="0" hangingPunct="1"/>
                      <a:r>
                        <a:rPr kumimoji="0" lang="he-IL" sz="28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1.5%</a:t>
                      </a:r>
                    </a:p>
                  </a:txBody>
                  <a:tcPr marL="6350" marR="6350" marT="6350" marB="0" anchor="b"/>
                </a:tc>
                <a:extLst>
                  <a:ext uri="{0D108BD9-81ED-4DB2-BD59-A6C34878D82A}">
                    <a16:rowId xmlns:a16="http://schemas.microsoft.com/office/drawing/2014/main" val="2302197178"/>
                  </a:ext>
                </a:extLst>
              </a:tr>
            </a:tbl>
          </a:graphicData>
        </a:graphic>
      </p:graphicFrame>
      <p:sp>
        <p:nvSpPr>
          <p:cNvPr id="6" name="TextBox 5"/>
          <p:cNvSpPr txBox="1"/>
          <p:nvPr/>
        </p:nvSpPr>
        <p:spPr>
          <a:xfrm>
            <a:off x="6553407" y="6488669"/>
            <a:ext cx="4876800" cy="369332"/>
          </a:xfrm>
          <a:prstGeom prst="rect">
            <a:avLst/>
          </a:prstGeom>
          <a:noFill/>
        </p:spPr>
        <p:txBody>
          <a:bodyPr wrap="square" rtlCol="1">
            <a:spAutoFit/>
          </a:bodyPr>
          <a:lstStyle/>
          <a:p>
            <a:r>
              <a:rPr lang="he-IL" dirty="0"/>
              <a:t>* נתונים נכון ל 12/23</a:t>
            </a:r>
          </a:p>
        </p:txBody>
      </p:sp>
      <p:pic>
        <p:nvPicPr>
          <p:cNvPr id="7"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0" y="5192691"/>
            <a:ext cx="3191085" cy="1619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מלבן 3"/>
          <p:cNvSpPr/>
          <p:nvPr/>
        </p:nvSpPr>
        <p:spPr>
          <a:xfrm>
            <a:off x="2844800" y="3103584"/>
            <a:ext cx="1371600" cy="40640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36467048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101600" y="-48221"/>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518" b="-9518"/>
            </a:stretch>
          </a:blipFill>
        </p:spPr>
      </p:sp>
      <p:grpSp>
        <p:nvGrpSpPr>
          <p:cNvPr id="3" name="Group 3"/>
          <p:cNvGrpSpPr/>
          <p:nvPr/>
        </p:nvGrpSpPr>
        <p:grpSpPr>
          <a:xfrm>
            <a:off x="1194037" y="0"/>
            <a:ext cx="3293695" cy="6858000"/>
            <a:chOff x="0" y="0"/>
            <a:chExt cx="1301213" cy="2709333"/>
          </a:xfrm>
          <a:solidFill>
            <a:schemeClr val="accent5">
              <a:lumMod val="50000"/>
            </a:schemeClr>
          </a:solidFill>
        </p:grpSpPr>
        <p:sp>
          <p:nvSpPr>
            <p:cNvPr id="4" name="Freeform 4"/>
            <p:cNvSpPr/>
            <p:nvPr/>
          </p:nvSpPr>
          <p:spPr>
            <a:xfrm>
              <a:off x="0" y="0"/>
              <a:ext cx="1301213" cy="2709333"/>
            </a:xfrm>
            <a:custGeom>
              <a:avLst/>
              <a:gdLst/>
              <a:ahLst/>
              <a:cxnLst/>
              <a:rect l="l" t="t" r="r" b="b"/>
              <a:pathLst>
                <a:path w="1301213" h="2709333">
                  <a:moveTo>
                    <a:pt x="0" y="0"/>
                  </a:moveTo>
                  <a:lnTo>
                    <a:pt x="1301213" y="0"/>
                  </a:lnTo>
                  <a:lnTo>
                    <a:pt x="1301213" y="2709333"/>
                  </a:lnTo>
                  <a:lnTo>
                    <a:pt x="0" y="2709333"/>
                  </a:lnTo>
                  <a:close/>
                </a:path>
              </a:pathLst>
            </a:custGeom>
            <a:grpFill/>
          </p:spPr>
        </p:sp>
        <p:sp>
          <p:nvSpPr>
            <p:cNvPr id="5" name="TextBox 5"/>
            <p:cNvSpPr txBox="1"/>
            <p:nvPr/>
          </p:nvSpPr>
          <p:spPr>
            <a:xfrm>
              <a:off x="0" y="-38100"/>
              <a:ext cx="1301213" cy="2747433"/>
            </a:xfrm>
            <a:prstGeom prst="rect">
              <a:avLst/>
            </a:prstGeom>
            <a:grpFill/>
          </p:spPr>
          <p:txBody>
            <a:bodyPr lIns="33867" tIns="33867" rIns="33867" bIns="33867" rtlCol="0" anchor="ctr"/>
            <a:lstStyle/>
            <a:p>
              <a:pPr algn="ctr">
                <a:lnSpc>
                  <a:spcPts val="1773"/>
                </a:lnSpc>
                <a:spcBef>
                  <a:spcPct val="0"/>
                </a:spcBef>
              </a:pPr>
              <a:endParaRPr sz="1200"/>
            </a:p>
          </p:txBody>
        </p:sp>
      </p:grpSp>
      <p:grpSp>
        <p:nvGrpSpPr>
          <p:cNvPr id="9" name="Group 9"/>
          <p:cNvGrpSpPr/>
          <p:nvPr/>
        </p:nvGrpSpPr>
        <p:grpSpPr>
          <a:xfrm rot="-2700000">
            <a:off x="4553014" y="3764002"/>
            <a:ext cx="11122285" cy="4791646"/>
            <a:chOff x="0" y="0"/>
            <a:chExt cx="4393989" cy="1892996"/>
          </a:xfrm>
        </p:grpSpPr>
        <p:sp>
          <p:nvSpPr>
            <p:cNvPr id="10" name="Freeform 10"/>
            <p:cNvSpPr/>
            <p:nvPr/>
          </p:nvSpPr>
          <p:spPr>
            <a:xfrm>
              <a:off x="0" y="0"/>
              <a:ext cx="4393989" cy="1892996"/>
            </a:xfrm>
            <a:custGeom>
              <a:avLst/>
              <a:gdLst/>
              <a:ahLst/>
              <a:cxnLst/>
              <a:rect l="l" t="t" r="r" b="b"/>
              <a:pathLst>
                <a:path w="4393989" h="1892996">
                  <a:moveTo>
                    <a:pt x="0" y="0"/>
                  </a:moveTo>
                  <a:lnTo>
                    <a:pt x="4393989" y="0"/>
                  </a:lnTo>
                  <a:lnTo>
                    <a:pt x="4393989" y="1892996"/>
                  </a:lnTo>
                  <a:lnTo>
                    <a:pt x="0" y="1892996"/>
                  </a:lnTo>
                  <a:close/>
                </a:path>
              </a:pathLst>
            </a:custGeom>
            <a:solidFill>
              <a:srgbClr val="00B2BD">
                <a:alpha val="1961"/>
              </a:srgbClr>
            </a:solidFill>
          </p:spPr>
        </p:sp>
        <p:sp>
          <p:nvSpPr>
            <p:cNvPr id="11" name="TextBox 11"/>
            <p:cNvSpPr txBox="1"/>
            <p:nvPr/>
          </p:nvSpPr>
          <p:spPr>
            <a:xfrm>
              <a:off x="0" y="-38100"/>
              <a:ext cx="4393989" cy="1931096"/>
            </a:xfrm>
            <a:prstGeom prst="rect">
              <a:avLst/>
            </a:prstGeom>
          </p:spPr>
          <p:txBody>
            <a:bodyPr lIns="33867" tIns="33867" rIns="33867" bIns="33867" rtlCol="0" anchor="ctr"/>
            <a:lstStyle/>
            <a:p>
              <a:pPr algn="ctr">
                <a:lnSpc>
                  <a:spcPts val="1773"/>
                </a:lnSpc>
                <a:spcBef>
                  <a:spcPct val="0"/>
                </a:spcBef>
              </a:pPr>
              <a:endParaRPr sz="1200"/>
            </a:p>
          </p:txBody>
        </p:sp>
      </p:grpSp>
      <p:grpSp>
        <p:nvGrpSpPr>
          <p:cNvPr id="15" name="Group 15"/>
          <p:cNvGrpSpPr/>
          <p:nvPr/>
        </p:nvGrpSpPr>
        <p:grpSpPr>
          <a:xfrm>
            <a:off x="5420873" y="1388093"/>
            <a:ext cx="6085327" cy="4081814"/>
            <a:chOff x="0" y="0"/>
            <a:chExt cx="14544035" cy="9755605"/>
          </a:xfrm>
          <a:solidFill>
            <a:schemeClr val="bg1">
              <a:lumMod val="65000"/>
            </a:schemeClr>
          </a:solidFill>
        </p:grpSpPr>
        <p:sp>
          <p:nvSpPr>
            <p:cNvPr id="16" name="Freeform 16"/>
            <p:cNvSpPr/>
            <p:nvPr/>
          </p:nvSpPr>
          <p:spPr>
            <a:xfrm>
              <a:off x="0" y="0"/>
              <a:ext cx="14544035" cy="9755605"/>
            </a:xfrm>
            <a:custGeom>
              <a:avLst/>
              <a:gdLst/>
              <a:ahLst/>
              <a:cxnLst/>
              <a:rect l="l" t="t" r="r" b="b"/>
              <a:pathLst>
                <a:path w="14544035" h="9755605">
                  <a:moveTo>
                    <a:pt x="0" y="0"/>
                  </a:moveTo>
                  <a:lnTo>
                    <a:pt x="0" y="9755605"/>
                  </a:lnTo>
                  <a:lnTo>
                    <a:pt x="14544035" y="9755605"/>
                  </a:lnTo>
                  <a:lnTo>
                    <a:pt x="14544035" y="0"/>
                  </a:lnTo>
                  <a:lnTo>
                    <a:pt x="0" y="0"/>
                  </a:lnTo>
                  <a:close/>
                  <a:moveTo>
                    <a:pt x="14483076" y="9694645"/>
                  </a:moveTo>
                  <a:lnTo>
                    <a:pt x="59690" y="9694645"/>
                  </a:lnTo>
                  <a:lnTo>
                    <a:pt x="59690" y="59690"/>
                  </a:lnTo>
                  <a:lnTo>
                    <a:pt x="14483076" y="59690"/>
                  </a:lnTo>
                  <a:lnTo>
                    <a:pt x="14483076" y="9694645"/>
                  </a:lnTo>
                  <a:close/>
                </a:path>
              </a:pathLst>
            </a:custGeom>
            <a:grpFill/>
          </p:spPr>
        </p:sp>
      </p:grpSp>
      <p:sp>
        <p:nvSpPr>
          <p:cNvPr id="19" name="TextBox 19"/>
          <p:cNvSpPr txBox="1"/>
          <p:nvPr/>
        </p:nvSpPr>
        <p:spPr>
          <a:xfrm>
            <a:off x="4968226" y="1372190"/>
            <a:ext cx="6545470" cy="692497"/>
          </a:xfrm>
          <a:prstGeom prst="rect">
            <a:avLst/>
          </a:prstGeom>
        </p:spPr>
        <p:txBody>
          <a:bodyPr wrap="square" lIns="0" tIns="0" rIns="0" bIns="0" rtlCol="0" anchor="t">
            <a:spAutoFit/>
          </a:bodyPr>
          <a:lstStyle/>
          <a:p>
            <a:pPr>
              <a:lnSpc>
                <a:spcPts val="5366"/>
              </a:lnSpc>
            </a:pPr>
            <a:endParaRPr lang="he-IL" sz="2667" spc="181" dirty="0">
              <a:solidFill>
                <a:srgbClr val="FF0000"/>
              </a:solidFill>
              <a:latin typeface="Guttman Yad-Brush" panose="02010401010101010101" pitchFamily="2" charset="-79"/>
              <a:cs typeface="Guttman Yad-Brush" panose="02010401010101010101" pitchFamily="2" charset="-79"/>
            </a:endParaRPr>
          </a:p>
        </p:txBody>
      </p:sp>
      <p:pic>
        <p:nvPicPr>
          <p:cNvPr id="14" name="תמונה 13">
            <a:extLst>
              <a:ext uri="{FF2B5EF4-FFF2-40B4-BE49-F238E27FC236}">
                <a16:creationId xmlns:a16="http://schemas.microsoft.com/office/drawing/2014/main" id="{EE0FDD0B-689E-4ED7-8123-EAAE33C1AC2A}"/>
              </a:ext>
            </a:extLst>
          </p:cNvPr>
          <p:cNvPicPr>
            <a:picLocks noChangeAspect="1"/>
          </p:cNvPicPr>
          <p:nvPr/>
        </p:nvPicPr>
        <p:blipFill>
          <a:blip r:embed="rId4"/>
          <a:stretch>
            <a:fillRect/>
          </a:stretch>
        </p:blipFill>
        <p:spPr>
          <a:xfrm>
            <a:off x="1194036" y="1388093"/>
            <a:ext cx="4226836" cy="4081814"/>
          </a:xfrm>
          <a:prstGeom prst="rect">
            <a:avLst/>
          </a:prstGeom>
          <a:ln>
            <a:noFill/>
          </a:ln>
          <a:effectLst>
            <a:softEdge rad="112500"/>
          </a:effectLst>
        </p:spPr>
      </p:pic>
      <p:sp>
        <p:nvSpPr>
          <p:cNvPr id="8" name="TextBox 7"/>
          <p:cNvSpPr txBox="1"/>
          <p:nvPr/>
        </p:nvSpPr>
        <p:spPr>
          <a:xfrm>
            <a:off x="3454400" y="342021"/>
            <a:ext cx="10210800" cy="810350"/>
          </a:xfrm>
          <a:prstGeom prst="rect">
            <a:avLst/>
          </a:prstGeom>
          <a:noFill/>
        </p:spPr>
        <p:txBody>
          <a:bodyPr wrap="square" rtlCol="1">
            <a:spAutoFit/>
          </a:bodyPr>
          <a:lstStyle/>
          <a:p>
            <a:pPr algn="ctr"/>
            <a:r>
              <a:rPr lang="he-IL" sz="4666" spc="181" dirty="0">
                <a:solidFill>
                  <a:schemeClr val="tx2"/>
                </a:solidFill>
                <a:latin typeface="Guttman Yad-Brush" panose="02010401010101010101" pitchFamily="2" charset="-79"/>
                <a:cs typeface="Guttman Yad-Brush" panose="02010401010101010101" pitchFamily="2" charset="-79"/>
              </a:rPr>
              <a:t>מדדי מיצוי זכויות: </a:t>
            </a:r>
          </a:p>
        </p:txBody>
      </p:sp>
      <p:graphicFrame>
        <p:nvGraphicFramePr>
          <p:cNvPr id="7" name="טבלה 6"/>
          <p:cNvGraphicFramePr>
            <a:graphicFrameLocks noGrp="1"/>
          </p:cNvGraphicFramePr>
          <p:nvPr>
            <p:extLst>
              <p:ext uri="{D42A27DB-BD31-4B8C-83A1-F6EECF244321}">
                <p14:modId xmlns:p14="http://schemas.microsoft.com/office/powerpoint/2010/main" val="4202512708"/>
              </p:ext>
            </p:extLst>
          </p:nvPr>
        </p:nvGraphicFramePr>
        <p:xfrm>
          <a:off x="5452869" y="1375503"/>
          <a:ext cx="6017135" cy="4048415"/>
        </p:xfrm>
        <a:graphic>
          <a:graphicData uri="http://schemas.openxmlformats.org/drawingml/2006/table">
            <a:tbl>
              <a:tblPr rtl="1" firstRow="1" bandRow="1">
                <a:tableStyleId>{B301B821-A1FF-4177-AEE7-76D212191A09}</a:tableStyleId>
              </a:tblPr>
              <a:tblGrid>
                <a:gridCol w="2171205">
                  <a:extLst>
                    <a:ext uri="{9D8B030D-6E8A-4147-A177-3AD203B41FA5}">
                      <a16:colId xmlns:a16="http://schemas.microsoft.com/office/drawing/2014/main" val="3052753508"/>
                    </a:ext>
                  </a:extLst>
                </a:gridCol>
                <a:gridCol w="1978975">
                  <a:extLst>
                    <a:ext uri="{9D8B030D-6E8A-4147-A177-3AD203B41FA5}">
                      <a16:colId xmlns:a16="http://schemas.microsoft.com/office/drawing/2014/main" val="239558192"/>
                    </a:ext>
                  </a:extLst>
                </a:gridCol>
                <a:gridCol w="1866955">
                  <a:extLst>
                    <a:ext uri="{9D8B030D-6E8A-4147-A177-3AD203B41FA5}">
                      <a16:colId xmlns:a16="http://schemas.microsoft.com/office/drawing/2014/main" val="88228322"/>
                    </a:ext>
                  </a:extLst>
                </a:gridCol>
              </a:tblGrid>
              <a:tr h="462416">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סוג תביעה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כמות </a:t>
                      </a:r>
                    </a:p>
                  </a:txBody>
                  <a:tcPr marL="60960" marR="60960" marT="30480" marB="30480"/>
                </a:tc>
                <a:tc>
                  <a:txBody>
                    <a:bodyPr/>
                    <a:lstStyle/>
                    <a:p>
                      <a:pPr algn="ctr" rtl="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משך זמן טיפול </a:t>
                      </a:r>
                    </a:p>
                  </a:txBody>
                  <a:tcPr marL="60960" marR="60960" marT="30480" marB="30480"/>
                </a:tc>
                <a:extLst>
                  <a:ext uri="{0D108BD9-81ED-4DB2-BD59-A6C34878D82A}">
                    <a16:rowId xmlns:a16="http://schemas.microsoft.com/office/drawing/2014/main" val="2074906627"/>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סך </a:t>
                      </a:r>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הכל</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תביעות </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378,900</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24 ימים </a:t>
                      </a:r>
                    </a:p>
                  </a:txBody>
                  <a:tcPr marL="60960" marR="60960" marT="30480" marB="30480"/>
                </a:tc>
                <a:extLst>
                  <a:ext uri="{0D108BD9-81ED-4DB2-BD59-A6C34878D82A}">
                    <a16:rowId xmlns:a16="http://schemas.microsoft.com/office/drawing/2014/main" val="1068003580"/>
                  </a:ext>
                </a:extLst>
              </a:tr>
              <a:tr h="558712">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תביעות ראשונות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97,480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2946580039"/>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החמרות</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169,900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23 ימים </a:t>
                      </a:r>
                    </a:p>
                  </a:txBody>
                  <a:tcPr marL="60960" marR="60960" marT="30480" marB="30480"/>
                </a:tc>
                <a:extLst>
                  <a:ext uri="{0D108BD9-81ED-4DB2-BD59-A6C34878D82A}">
                    <a16:rowId xmlns:a16="http://schemas.microsoft.com/office/drawing/2014/main" val="3531149575"/>
                  </a:ext>
                </a:extLst>
              </a:tr>
              <a:tr h="792480">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מחלקה ראשונה</a:t>
                      </a:r>
                    </a:p>
                  </a:txBody>
                  <a:tcPr marL="60960" marR="60960" marT="30480" marB="30480"/>
                </a:tc>
                <a:tc>
                  <a:txBody>
                    <a:bodyPr/>
                    <a:lstStyle/>
                    <a:p>
                      <a:pPr marL="0" marR="0" lvl="0" indent="0" algn="ctr" defTabSz="914400" rtl="1" eaLnBrk="1" fontAlgn="b" latinLnBrk="0" hangingPunct="1">
                        <a:lnSpc>
                          <a:spcPct val="100000"/>
                        </a:lnSpc>
                        <a:spcBef>
                          <a:spcPts val="0"/>
                        </a:spcBef>
                        <a:spcAft>
                          <a:spcPts val="0"/>
                        </a:spcAft>
                        <a:buClrTx/>
                        <a:buSzTx/>
                        <a:buFontTx/>
                        <a:buNone/>
                        <a:tabLst/>
                        <a:defRPr/>
                      </a:pP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37,011</a:t>
                      </a:r>
                    </a:p>
                    <a:p>
                      <a:pPr marL="0" algn="ctr" defTabSz="914400" rtl="1" eaLnBrk="1" fontAlgn="b" latinLnBrk="0" hangingPunct="1"/>
                      <a:endPar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endParaRP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21 ימים </a:t>
                      </a:r>
                    </a:p>
                  </a:txBody>
                  <a:tcPr marL="60960" marR="60960" marT="30480" marB="30480"/>
                </a:tc>
                <a:extLst>
                  <a:ext uri="{0D108BD9-81ED-4DB2-BD59-A6C34878D82A}">
                    <a16:rowId xmlns:a16="http://schemas.microsoft.com/office/drawing/2014/main" val="6329211"/>
                  </a:ext>
                </a:extLst>
              </a:tr>
              <a:tr h="517495">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תום זמניות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75,400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22 ימים </a:t>
                      </a:r>
                    </a:p>
                  </a:txBody>
                  <a:tcPr marL="60960" marR="60960" marT="30480" marB="30480"/>
                </a:tc>
                <a:extLst>
                  <a:ext uri="{0D108BD9-81ED-4DB2-BD59-A6C34878D82A}">
                    <a16:rowId xmlns:a16="http://schemas.microsoft.com/office/drawing/2014/main" val="94236455"/>
                  </a:ext>
                </a:extLst>
              </a:tr>
              <a:tr h="462416">
                <a:tc>
                  <a:txBody>
                    <a:bodyPr/>
                    <a:lstStyle/>
                    <a:p>
                      <a:pPr marL="0" algn="ctr" defTabSz="914400" rtl="1" eaLnBrk="1" fontAlgn="b" latinLnBrk="0" hangingPunct="1"/>
                      <a:r>
                        <a:rPr kumimoji="0" lang="he-IL" sz="2400" b="1" i="0" u="none" strike="noStrike" kern="1200" cap="none" spc="0" normalizeH="0" baseline="0" dirty="0" err="1">
                          <a:ln>
                            <a:noFill/>
                          </a:ln>
                          <a:solidFill>
                            <a:srgbClr val="002060"/>
                          </a:solidFill>
                          <a:effectLst/>
                          <a:uLnTx/>
                          <a:uFillTx/>
                          <a:latin typeface="Calibri Light" panose="020F0302020204030204" pitchFamily="34" charset="0"/>
                          <a:ea typeface="+mn-ea"/>
                          <a:cs typeface="Calibri Light" panose="020F0302020204030204" pitchFamily="34" charset="0"/>
                        </a:rPr>
                        <a:t>ערירים</a:t>
                      </a:r>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 </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3,730</a:t>
                      </a:r>
                    </a:p>
                  </a:txBody>
                  <a:tcPr marL="60960" marR="60960" marT="30480" marB="30480"/>
                </a:tc>
                <a:tc>
                  <a:txBody>
                    <a:bodyPr/>
                    <a:lstStyle/>
                    <a:p>
                      <a:pPr marL="0" algn="ctr" defTabSz="914400" rtl="1" eaLnBrk="1" fontAlgn="b" latinLnBrk="0" hangingPunct="1"/>
                      <a:r>
                        <a:rPr kumimoji="0" lang="he-IL" sz="2400" b="1" i="0" u="none" strike="noStrike" kern="1200" cap="none" spc="0" normalizeH="0" baseline="0" dirty="0">
                          <a:ln>
                            <a:noFill/>
                          </a:ln>
                          <a:solidFill>
                            <a:srgbClr val="002060"/>
                          </a:solidFill>
                          <a:effectLst/>
                          <a:uLnTx/>
                          <a:uFillTx/>
                          <a:latin typeface="Calibri Light" panose="020F0302020204030204" pitchFamily="34" charset="0"/>
                          <a:ea typeface="+mn-ea"/>
                          <a:cs typeface="Calibri Light" panose="020F0302020204030204" pitchFamily="34" charset="0"/>
                        </a:rPr>
                        <a:t>57 ימים </a:t>
                      </a:r>
                    </a:p>
                  </a:txBody>
                  <a:tcPr marL="60960" marR="60960" marT="30480" marB="30480"/>
                </a:tc>
                <a:extLst>
                  <a:ext uri="{0D108BD9-81ED-4DB2-BD59-A6C34878D82A}">
                    <a16:rowId xmlns:a16="http://schemas.microsoft.com/office/drawing/2014/main" val="2425530235"/>
                  </a:ext>
                </a:extLst>
              </a:tr>
            </a:tbl>
          </a:graphicData>
        </a:graphic>
      </p:graphicFrame>
      <p:sp>
        <p:nvSpPr>
          <p:cNvPr id="12" name="אליפסה 11"/>
          <p:cNvSpPr/>
          <p:nvPr/>
        </p:nvSpPr>
        <p:spPr>
          <a:xfrm>
            <a:off x="5646900" y="4948809"/>
            <a:ext cx="1371600" cy="58929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sz="1200"/>
          </a:p>
        </p:txBody>
      </p:sp>
    </p:spTree>
    <p:extLst>
      <p:ext uri="{BB962C8B-B14F-4D97-AF65-F5344CB8AC3E}">
        <p14:creationId xmlns:p14="http://schemas.microsoft.com/office/powerpoint/2010/main" val="22488887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cs typeface="+mn-cs"/>
              </a:rPr>
              <a:t>סטטוס מהלכים</a:t>
            </a:r>
          </a:p>
        </p:txBody>
      </p:sp>
      <p:sp>
        <p:nvSpPr>
          <p:cNvPr id="3" name="מציין מיקום תוכן 2"/>
          <p:cNvSpPr>
            <a:spLocks noGrp="1"/>
          </p:cNvSpPr>
          <p:nvPr>
            <p:ph idx="1"/>
          </p:nvPr>
        </p:nvSpPr>
        <p:spPr>
          <a:xfrm>
            <a:off x="1" y="1155031"/>
            <a:ext cx="11871158" cy="5454315"/>
          </a:xfrm>
        </p:spPr>
        <p:txBody>
          <a:bodyPr>
            <a:normAutofit/>
          </a:bodyPr>
          <a:lstStyle/>
          <a:p>
            <a:pPr marL="0" indent="0">
              <a:buNone/>
            </a:pPr>
            <a:endParaRPr lang="he-IL" sz="1400" dirty="0"/>
          </a:p>
          <a:p>
            <a:r>
              <a:rPr lang="he-IL" sz="1400" dirty="0"/>
              <a:t>תיאור הבעיה: תקציב, חוסר בחירה והתאמה, תוצאות, </a:t>
            </a:r>
            <a:r>
              <a:rPr lang="he-IL" sz="1400" dirty="0" err="1"/>
              <a:t>תמרוץ</a:t>
            </a:r>
            <a:r>
              <a:rPr lang="he-IL" sz="1400" dirty="0"/>
              <a:t> שלילי לזקן ולמערכות, כמה מהמחלקות וממקבלי השירותים מקבלי סיעוד</a:t>
            </a:r>
            <a:endParaRPr lang="en-US" sz="1400" dirty="0"/>
          </a:p>
          <a:p>
            <a:pPr marL="0" indent="0">
              <a:buNone/>
            </a:pPr>
            <a:endParaRPr lang="he-IL" sz="1400" dirty="0"/>
          </a:p>
          <a:p>
            <a:pPr marL="0" indent="0">
              <a:buNone/>
            </a:pPr>
            <a:r>
              <a:rPr lang="he-IL" sz="2000" b="1" dirty="0"/>
              <a:t>מהלכים מול חוק סיעוד-</a:t>
            </a:r>
            <a:endParaRPr lang="en-US" sz="2000" b="1" dirty="0"/>
          </a:p>
          <a:p>
            <a:pPr marL="0" indent="0">
              <a:buNone/>
            </a:pPr>
            <a:r>
              <a:rPr lang="he-IL" sz="1600" dirty="0"/>
              <a:t>1.  </a:t>
            </a:r>
            <a:r>
              <a:rPr lang="he-IL" sz="1800" dirty="0" err="1"/>
              <a:t>איפיון</a:t>
            </a:r>
            <a:r>
              <a:rPr lang="he-IL" sz="1800" dirty="0"/>
              <a:t> ומחקר פרופילים- </a:t>
            </a:r>
            <a:r>
              <a:rPr lang="he-IL" sz="1800" dirty="0" err="1"/>
              <a:t>ברוקדייל</a:t>
            </a:r>
            <a:r>
              <a:rPr lang="he-IL" sz="1800" dirty="0"/>
              <a:t> (</a:t>
            </a:r>
            <a:r>
              <a:rPr lang="he-IL" sz="1800" b="1" dirty="0"/>
              <a:t>יפורסם בקרוב</a:t>
            </a:r>
            <a:r>
              <a:rPr lang="he-IL" sz="1800" dirty="0"/>
              <a:t>)</a:t>
            </a:r>
            <a:endParaRPr lang="en-US" sz="1800" dirty="0"/>
          </a:p>
          <a:p>
            <a:pPr marL="0" indent="0">
              <a:buNone/>
            </a:pPr>
            <a:r>
              <a:rPr lang="he-IL" sz="1800" dirty="0"/>
              <a:t>2.  סקירת ספרות ומחקר למניעה בשירותים (</a:t>
            </a:r>
            <a:r>
              <a:rPr lang="he-IL" sz="1800" b="1" dirty="0"/>
              <a:t>בהתנעה</a:t>
            </a:r>
            <a:r>
              <a:rPr lang="he-IL" sz="1800" dirty="0"/>
              <a:t>)</a:t>
            </a:r>
            <a:endParaRPr lang="en-US" sz="1800" dirty="0"/>
          </a:p>
          <a:p>
            <a:pPr marL="0" indent="0">
              <a:buNone/>
            </a:pPr>
            <a:r>
              <a:rPr lang="he-IL" sz="1800" dirty="0"/>
              <a:t>3. מדידה של שירותים </a:t>
            </a:r>
            <a:r>
              <a:rPr lang="he-IL" sz="1800" b="1" dirty="0"/>
              <a:t>(דורש העברות מידע) </a:t>
            </a:r>
            <a:r>
              <a:rPr lang="he-IL" sz="1800" dirty="0" err="1"/>
              <a:t>תעדוף</a:t>
            </a:r>
            <a:r>
              <a:rPr lang="he-IL" sz="1800" dirty="0"/>
              <a:t> מה שדוחק (</a:t>
            </a:r>
            <a:r>
              <a:rPr lang="he-IL" sz="1800" b="1" dirty="0"/>
              <a:t>אלגוריתם</a:t>
            </a:r>
            <a:r>
              <a:rPr lang="he-IL" sz="1800" dirty="0"/>
              <a:t>)- </a:t>
            </a:r>
            <a:r>
              <a:rPr lang="en-US" sz="1800" dirty="0"/>
              <a:t>ROI</a:t>
            </a:r>
            <a:r>
              <a:rPr lang="he-IL" sz="1800" dirty="0"/>
              <a:t> כלכלי מול רמות סיעוד </a:t>
            </a:r>
            <a:r>
              <a:rPr lang="he-IL" sz="1800" dirty="0" err="1"/>
              <a:t>בבטל"א</a:t>
            </a:r>
            <a:r>
              <a:rPr lang="he-IL" sz="1800" dirty="0"/>
              <a:t> ומול העלויות בקופ"ח </a:t>
            </a:r>
            <a:r>
              <a:rPr lang="he-IL" sz="1800" b="1" dirty="0"/>
              <a:t>(הושלם)</a:t>
            </a:r>
            <a:endParaRPr lang="en-US" sz="1800" b="1" dirty="0"/>
          </a:p>
          <a:p>
            <a:pPr marL="0" indent="0">
              <a:buNone/>
            </a:pPr>
            <a:r>
              <a:rPr lang="he-IL" sz="1800" dirty="0"/>
              <a:t>4. אופטימיזציה של צרכים ומענים- פרופיל אוכלוסיות ומענים מותאמים (פרסונליזציה של שירותים). בפיתוח </a:t>
            </a:r>
            <a:r>
              <a:rPr lang="he-IL" sz="1800" dirty="0" err="1"/>
              <a:t>פרוייקט</a:t>
            </a:r>
            <a:r>
              <a:rPr lang="he-IL" sz="1800" dirty="0"/>
              <a:t> משותף עם </a:t>
            </a:r>
            <a:r>
              <a:rPr lang="he-IL" sz="1800" dirty="0" err="1"/>
              <a:t>גוינט</a:t>
            </a:r>
            <a:r>
              <a:rPr lang="he-IL" sz="1800" dirty="0"/>
              <a:t> ומערך </a:t>
            </a:r>
            <a:r>
              <a:rPr lang="he-IL" sz="1800" dirty="0" err="1"/>
              <a:t>הדיגיטל</a:t>
            </a:r>
            <a:r>
              <a:rPr lang="he-IL" sz="1800" dirty="0"/>
              <a:t>. </a:t>
            </a:r>
            <a:r>
              <a:rPr lang="he-IL" sz="1800" b="1" dirty="0"/>
              <a:t>בפיתוח</a:t>
            </a:r>
            <a:endParaRPr lang="en-US" sz="1800" dirty="0"/>
          </a:p>
          <a:p>
            <a:pPr marL="0" indent="0">
              <a:buNone/>
            </a:pPr>
            <a:r>
              <a:rPr lang="he-IL" sz="1800" dirty="0"/>
              <a:t>5. </a:t>
            </a:r>
            <a:r>
              <a:rPr lang="en-US" sz="1800" dirty="0"/>
              <a:t>EY </a:t>
            </a:r>
            <a:r>
              <a:rPr lang="he-IL" sz="1800" dirty="0"/>
              <a:t>מדידה- </a:t>
            </a:r>
            <a:r>
              <a:rPr lang="he-IL" sz="1800" dirty="0" err="1"/>
              <a:t>תמרוצים</a:t>
            </a:r>
            <a:r>
              <a:rPr lang="he-IL" sz="1800" dirty="0"/>
              <a:t>, מודל שירותים וחיבור לרשויות ולמחלקות. </a:t>
            </a:r>
            <a:r>
              <a:rPr lang="he-IL" sz="1800" b="1" dirty="0"/>
              <a:t>בפיתוח</a:t>
            </a:r>
            <a:endParaRPr lang="en-US" sz="1800" b="1" dirty="0"/>
          </a:p>
          <a:p>
            <a:pPr marL="0" indent="0">
              <a:buNone/>
            </a:pPr>
            <a:r>
              <a:rPr lang="he-IL" sz="1800" dirty="0"/>
              <a:t>6.  </a:t>
            </a:r>
            <a:r>
              <a:rPr lang="he-IL" sz="1800" b="1" dirty="0"/>
              <a:t>ועדת מניעה רב מערכתית-</a:t>
            </a:r>
            <a:r>
              <a:rPr lang="he-IL" sz="1800" dirty="0"/>
              <a:t> 3 צירי פעולה: מדיניות, </a:t>
            </a:r>
            <a:r>
              <a:rPr lang="he-IL" sz="1800" dirty="0" err="1"/>
              <a:t>תמרוצים</a:t>
            </a:r>
            <a:r>
              <a:rPr lang="he-IL" sz="1800" dirty="0"/>
              <a:t>, מדידה והרחבת והתאמת השירותים. </a:t>
            </a:r>
            <a:r>
              <a:rPr lang="he-IL" sz="1800" b="1" dirty="0"/>
              <a:t>בפיתוח</a:t>
            </a:r>
            <a:endParaRPr lang="en-US" sz="1800" b="1" dirty="0"/>
          </a:p>
          <a:p>
            <a:pPr marL="0" indent="0">
              <a:buNone/>
            </a:pPr>
            <a:r>
              <a:rPr lang="he-IL" sz="1800" dirty="0"/>
              <a:t>7. תפיסת תפקוד ומניעה רב מערכתית- </a:t>
            </a:r>
            <a:r>
              <a:rPr lang="he-IL" sz="1800" dirty="0" err="1"/>
              <a:t>ישום</a:t>
            </a:r>
            <a:r>
              <a:rPr lang="he-IL" sz="1800" dirty="0"/>
              <a:t> התפיסה וממשקים בין מערכות (הפניות הדדיות ועוד) </a:t>
            </a:r>
            <a:r>
              <a:rPr lang="he-IL" sz="1800" b="1" dirty="0"/>
              <a:t>בפיתוח</a:t>
            </a:r>
            <a:endParaRPr lang="en-US" sz="1800" b="1" dirty="0"/>
          </a:p>
          <a:p>
            <a:pPr marL="0" indent="0">
              <a:buNone/>
            </a:pPr>
            <a:r>
              <a:rPr lang="he-IL" sz="1800" dirty="0"/>
              <a:t>8. סל מותאם אישית </a:t>
            </a:r>
            <a:r>
              <a:rPr lang="en-US" sz="1800" dirty="0"/>
              <a:t>AI </a:t>
            </a:r>
            <a:r>
              <a:rPr lang="he-IL" sz="1800" dirty="0"/>
              <a:t>- צרכים, רצונות, המלצות ומדידה. הצרכן כלקוח הספקים מרצים אותו..</a:t>
            </a:r>
            <a:endParaRPr lang="en-US" sz="1800" dirty="0"/>
          </a:p>
          <a:p>
            <a:pPr marL="0" indent="0">
              <a:buNone/>
            </a:pPr>
            <a:r>
              <a:rPr lang="he-IL" sz="1800" dirty="0"/>
              <a:t>9.ניתוח דאטה קיים להתאמה אישית (</a:t>
            </a:r>
            <a:r>
              <a:rPr lang="he-IL" sz="1800" dirty="0" err="1"/>
              <a:t>דיגיתל</a:t>
            </a:r>
            <a:r>
              <a:rPr lang="he-IL" sz="1800" dirty="0"/>
              <a:t>). </a:t>
            </a:r>
            <a:endParaRPr lang="en-US" sz="1800" dirty="0"/>
          </a:p>
          <a:p>
            <a:pPr marL="0" indent="0">
              <a:buNone/>
            </a:pPr>
            <a:endParaRPr lang="en-US" sz="1400" dirty="0"/>
          </a:p>
          <a:p>
            <a:endParaRPr lang="he-IL" sz="1400" dirty="0"/>
          </a:p>
        </p:txBody>
      </p:sp>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24060706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dirty="0"/>
              <a:t>מקבלי חוק סיעוד 4.2024:</a:t>
            </a:r>
          </a:p>
        </p:txBody>
      </p:sp>
      <p:graphicFrame>
        <p:nvGraphicFramePr>
          <p:cNvPr id="12" name="אובייקט 11"/>
          <p:cNvGraphicFramePr>
            <a:graphicFrameLocks noChangeAspect="1"/>
          </p:cNvGraphicFramePr>
          <p:nvPr>
            <p:extLst>
              <p:ext uri="{D42A27DB-BD31-4B8C-83A1-F6EECF244321}">
                <p14:modId xmlns:p14="http://schemas.microsoft.com/office/powerpoint/2010/main" val="579180899"/>
              </p:ext>
            </p:extLst>
          </p:nvPr>
        </p:nvGraphicFramePr>
        <p:xfrm>
          <a:off x="1665288" y="1998663"/>
          <a:ext cx="8542337" cy="2011362"/>
        </p:xfrm>
        <a:graphic>
          <a:graphicData uri="http://schemas.openxmlformats.org/presentationml/2006/ole">
            <mc:AlternateContent xmlns:mc="http://schemas.openxmlformats.org/markup-compatibility/2006">
              <mc:Choice xmlns:v="urn:schemas-microsoft-com:vml" Requires="v">
                <p:oleObj spid="_x0000_s1026" name="גליון עבודה" r:id="rId4" imgW="7191404" imgH="1695364" progId="Excel.Sheet.12">
                  <p:embed/>
                </p:oleObj>
              </mc:Choice>
              <mc:Fallback>
                <p:oleObj name="גליון עבודה" r:id="rId4" imgW="7191404" imgH="1695364" progId="Excel.Sheet.12">
                  <p:embed/>
                  <p:pic>
                    <p:nvPicPr>
                      <p:cNvPr id="0" name=""/>
                      <p:cNvPicPr/>
                      <p:nvPr/>
                    </p:nvPicPr>
                    <p:blipFill>
                      <a:blip r:embed="rId5"/>
                      <a:stretch>
                        <a:fillRect/>
                      </a:stretch>
                    </p:blipFill>
                    <p:spPr>
                      <a:xfrm>
                        <a:off x="1665288" y="1998663"/>
                        <a:ext cx="8542337" cy="2011362"/>
                      </a:xfrm>
                      <a:prstGeom prst="rect">
                        <a:avLst/>
                      </a:prstGeom>
                    </p:spPr>
                  </p:pic>
                </p:oleObj>
              </mc:Fallback>
            </mc:AlternateContent>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5" name="TextBox 4"/>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66438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800493" y="684982"/>
            <a:ext cx="10515600" cy="4351338"/>
          </a:xfrm>
        </p:spPr>
        <p:txBody>
          <a:bodyPr/>
          <a:lstStyle/>
          <a:p>
            <a:endParaRPr lang="he-IL" dirty="0"/>
          </a:p>
          <a:p>
            <a:r>
              <a:rPr lang="he-IL" b="1" dirty="0"/>
              <a:t>טבלת המרה פר בן אדם:</a:t>
            </a:r>
          </a:p>
          <a:p>
            <a:endParaRPr lang="he-IL" dirty="0"/>
          </a:p>
          <a:p>
            <a:endParaRPr lang="he-IL" dirty="0"/>
          </a:p>
          <a:p>
            <a:endParaRPr lang="he-IL" dirty="0"/>
          </a:p>
        </p:txBody>
      </p:sp>
      <p:graphicFrame>
        <p:nvGraphicFramePr>
          <p:cNvPr id="4" name="טבלה 3">
            <a:extLst>
              <a:ext uri="{FF2B5EF4-FFF2-40B4-BE49-F238E27FC236}">
                <a16:creationId xmlns:a16="http://schemas.microsoft.com/office/drawing/2014/main" id="{38E7FBBA-F1AD-3084-F226-02A24DA8449E}"/>
              </a:ext>
            </a:extLst>
          </p:cNvPr>
          <p:cNvGraphicFramePr>
            <a:graphicFrameLocks noGrp="1"/>
          </p:cNvGraphicFramePr>
          <p:nvPr>
            <p:extLst>
              <p:ext uri="{D42A27DB-BD31-4B8C-83A1-F6EECF244321}">
                <p14:modId xmlns:p14="http://schemas.microsoft.com/office/powerpoint/2010/main" val="3517677736"/>
              </p:ext>
            </p:extLst>
          </p:nvPr>
        </p:nvGraphicFramePr>
        <p:xfrm>
          <a:off x="5092583" y="2011444"/>
          <a:ext cx="6048667" cy="1698413"/>
        </p:xfrm>
        <a:graphic>
          <a:graphicData uri="http://schemas.openxmlformats.org/drawingml/2006/table">
            <a:tbl>
              <a:tblPr rtl="1"/>
              <a:tblGrid>
                <a:gridCol w="764042">
                  <a:extLst>
                    <a:ext uri="{9D8B030D-6E8A-4147-A177-3AD203B41FA5}">
                      <a16:colId xmlns:a16="http://schemas.microsoft.com/office/drawing/2014/main" val="3727147418"/>
                    </a:ext>
                  </a:extLst>
                </a:gridCol>
                <a:gridCol w="838324">
                  <a:extLst>
                    <a:ext uri="{9D8B030D-6E8A-4147-A177-3AD203B41FA5}">
                      <a16:colId xmlns:a16="http://schemas.microsoft.com/office/drawing/2014/main" val="1595983307"/>
                    </a:ext>
                  </a:extLst>
                </a:gridCol>
                <a:gridCol w="891382">
                  <a:extLst>
                    <a:ext uri="{9D8B030D-6E8A-4147-A177-3AD203B41FA5}">
                      <a16:colId xmlns:a16="http://schemas.microsoft.com/office/drawing/2014/main" val="1708214648"/>
                    </a:ext>
                  </a:extLst>
                </a:gridCol>
                <a:gridCol w="1330000">
                  <a:extLst>
                    <a:ext uri="{9D8B030D-6E8A-4147-A177-3AD203B41FA5}">
                      <a16:colId xmlns:a16="http://schemas.microsoft.com/office/drawing/2014/main" val="792998207"/>
                    </a:ext>
                  </a:extLst>
                </a:gridCol>
                <a:gridCol w="877234">
                  <a:extLst>
                    <a:ext uri="{9D8B030D-6E8A-4147-A177-3AD203B41FA5}">
                      <a16:colId xmlns:a16="http://schemas.microsoft.com/office/drawing/2014/main" val="4129294331"/>
                    </a:ext>
                  </a:extLst>
                </a:gridCol>
                <a:gridCol w="1347685">
                  <a:extLst>
                    <a:ext uri="{9D8B030D-6E8A-4147-A177-3AD203B41FA5}">
                      <a16:colId xmlns:a16="http://schemas.microsoft.com/office/drawing/2014/main" val="830834977"/>
                    </a:ext>
                  </a:extLst>
                </a:gridCol>
              </a:tblGrid>
              <a:tr h="406805">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ניתן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יחס המרה לכסף</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יחידות מקבלים</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highlight>
                            <a:srgbClr val="FFC000"/>
                          </a:highligh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r" rtl="1" fontAlgn="t"/>
                      <a:r>
                        <a:rPr lang="he-IL" sz="1100" b="1" i="0" u="none" strike="noStrike">
                          <a:solidFill>
                            <a:srgbClr val="000000"/>
                          </a:solidFill>
                          <a:effectLst/>
                          <a:highlight>
                            <a:srgbClr val="FFC000"/>
                          </a:highlight>
                          <a:latin typeface="Arial" panose="020B0604020202020204" pitchFamily="34" charset="0"/>
                        </a:rPr>
                        <a:t>דוגמא לכמה כסף אפשר להמיר</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842800750"/>
                  </a:ext>
                </a:extLst>
              </a:tr>
              <a:tr h="213573">
                <a:tc>
                  <a:txBody>
                    <a:bodyPr/>
                    <a:lstStyle/>
                    <a:p>
                      <a:pPr algn="ctr" rtl="1" fontAlgn="ctr"/>
                      <a:r>
                        <a:rPr lang="he-IL" sz="1200" b="1"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1535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51183474"/>
                  </a:ext>
                </a:extLst>
              </a:tr>
              <a:tr h="213573">
                <a:tc>
                  <a:txBody>
                    <a:bodyPr/>
                    <a:lstStyle/>
                    <a:p>
                      <a:pPr algn="ctr" rtl="1" fontAlgn="ctr"/>
                      <a:r>
                        <a:rPr lang="he-IL" sz="1200" b="1"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rowSpan="5">
                  <a:txBody>
                    <a:bodyPr/>
                    <a:lstStyle/>
                    <a:p>
                      <a:pPr algn="ctr" rtl="1" fontAlgn="ctr"/>
                      <a:r>
                        <a:rPr lang="he-IL" sz="1200" b="1" i="0" u="none" strike="noStrike">
                          <a:solidFill>
                            <a:srgbClr val="000000"/>
                          </a:solidFill>
                          <a:effectLst/>
                          <a:latin typeface="Arial" panose="020B0604020202020204" pitchFamily="34"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latin typeface="Arial" panose="020B0604020202020204" pitchFamily="34" charset="0"/>
                        </a:rPr>
                        <a:t>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2790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737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05257277"/>
                  </a:ext>
                </a:extLst>
              </a:tr>
              <a:tr h="213573">
                <a:tc>
                  <a:txBody>
                    <a:bodyPr/>
                    <a:lstStyle/>
                    <a:p>
                      <a:pPr algn="ctr" rtl="1" fontAlgn="ctr"/>
                      <a:r>
                        <a:rPr lang="he-IL" sz="1200" b="1"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dirty="0">
                          <a:solidFill>
                            <a:srgbClr val="000000"/>
                          </a:solidFill>
                          <a:effectLst/>
                          <a:latin typeface="Arial" panose="020B0604020202020204" pitchFamily="34" charset="0"/>
                        </a:rPr>
                        <a:t>17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4743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1,252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81591550"/>
                  </a:ext>
                </a:extLst>
              </a:tr>
              <a:tr h="213573">
                <a:tc>
                  <a:txBody>
                    <a:bodyPr/>
                    <a:lstStyle/>
                    <a:p>
                      <a:pPr algn="ctr" rtl="1" fontAlgn="ctr"/>
                      <a:r>
                        <a:rPr lang="he-IL" sz="1200" b="1"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5859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1,547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9974257"/>
                  </a:ext>
                </a:extLst>
              </a:tr>
              <a:tr h="213573">
                <a:tc>
                  <a:txBody>
                    <a:bodyPr/>
                    <a:lstStyle/>
                    <a:p>
                      <a:pPr algn="ctr" rtl="1" fontAlgn="ctr"/>
                      <a:r>
                        <a:rPr lang="he-IL" sz="1200" b="1"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a:solidFill>
                            <a:srgbClr val="000000"/>
                          </a:solidFill>
                          <a:effectLst/>
                          <a:highlight>
                            <a:srgbClr val="FFF2CC"/>
                          </a:highlight>
                          <a:latin typeface="Arial" panose="020B0604020202020204" pitchFamily="34" charset="0"/>
                        </a:rPr>
                        <a:t>7254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a:solidFill>
                            <a:srgbClr val="000000"/>
                          </a:solidFill>
                          <a:effectLst/>
                          <a:latin typeface="Arial" panose="020B0604020202020204" pitchFamily="34" charset="0"/>
                        </a:rPr>
                        <a:t> ₪                1,915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6366104"/>
                  </a:ext>
                </a:extLst>
              </a:tr>
              <a:tr h="223743">
                <a:tc>
                  <a:txBody>
                    <a:bodyPr/>
                    <a:lstStyle/>
                    <a:p>
                      <a:pPr algn="ctr" rtl="1" fontAlgn="ctr"/>
                      <a:r>
                        <a:rPr lang="he-IL" sz="1200" b="1"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rtl="1"/>
                      <a:endParaRPr lang="he-IL"/>
                    </a:p>
                  </a:txBody>
                  <a:tcPr/>
                </a:tc>
                <a:tc vMerge="1">
                  <a:txBody>
                    <a:bodyPr/>
                    <a:lstStyle/>
                    <a:p>
                      <a:pPr rtl="1"/>
                      <a:endParaRPr lang="he-IL"/>
                    </a:p>
                  </a:txBody>
                  <a:tcPr/>
                </a:tc>
                <a:tc>
                  <a:txBody>
                    <a:bodyPr/>
                    <a:lstStyle/>
                    <a:p>
                      <a:pPr algn="ctr" rtl="1" fontAlgn="ctr"/>
                      <a:r>
                        <a:rPr lang="he-IL" sz="1200" b="1" i="0" u="none" strike="noStrike">
                          <a:solidFill>
                            <a:srgbClr val="000000"/>
                          </a:solidFill>
                          <a:effectLst/>
                          <a:latin typeface="Arial" panose="020B0604020202020204" pitchFamily="34" charset="0"/>
                        </a:rPr>
                        <a:t>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1" fontAlgn="ctr"/>
                      <a:r>
                        <a:rPr lang="he-IL" sz="1200" b="1" i="0" u="none" strike="noStrike" dirty="0">
                          <a:solidFill>
                            <a:srgbClr val="000000"/>
                          </a:solidFill>
                          <a:effectLst/>
                          <a:highlight>
                            <a:srgbClr val="FFF2CC"/>
                          </a:highlight>
                          <a:latin typeface="Arial" panose="020B0604020202020204" pitchFamily="34" charset="0"/>
                        </a:rPr>
                        <a:t>8370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ctr" rtl="1" fontAlgn="ctr"/>
                      <a:r>
                        <a:rPr lang="he-IL" sz="1200" b="1" i="0" u="none" strike="noStrike" dirty="0">
                          <a:solidFill>
                            <a:srgbClr val="000000"/>
                          </a:solidFill>
                          <a:effectLst/>
                          <a:latin typeface="Arial" panose="020B0604020202020204" pitchFamily="34" charset="0"/>
                        </a:rPr>
                        <a:t> ₪                2,210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8128500"/>
                  </a:ext>
                </a:extLst>
              </a:tr>
            </a:tbl>
          </a:graphicData>
        </a:graphic>
      </p:graphicFrame>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53588529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אז מה הם בוחרים?</a:t>
            </a:r>
          </a:p>
        </p:txBody>
      </p:sp>
      <p:graphicFrame>
        <p:nvGraphicFramePr>
          <p:cNvPr id="6" name="מציין מיקום תוכן 5"/>
          <p:cNvGraphicFramePr>
            <a:graphicFrameLocks noGrp="1"/>
          </p:cNvGraphicFramePr>
          <p:nvPr>
            <p:ph idx="1"/>
            <p:extLst>
              <p:ext uri="{D42A27DB-BD31-4B8C-83A1-F6EECF244321}">
                <p14:modId xmlns:p14="http://schemas.microsoft.com/office/powerpoint/2010/main" val="863077629"/>
              </p:ext>
            </p:extLst>
          </p:nvPr>
        </p:nvGraphicFramePr>
        <p:xfrm>
          <a:off x="4221881" y="2262981"/>
          <a:ext cx="6151858" cy="2026505"/>
        </p:xfrm>
        <a:graphic>
          <a:graphicData uri="http://schemas.openxmlformats.org/drawingml/2006/table">
            <a:tbl>
              <a:tblPr rtl="1" firstRow="1" bandRow="1"/>
              <a:tblGrid>
                <a:gridCol w="1440234">
                  <a:extLst>
                    <a:ext uri="{9D8B030D-6E8A-4147-A177-3AD203B41FA5}">
                      <a16:colId xmlns:a16="http://schemas.microsoft.com/office/drawing/2014/main" val="2408701532"/>
                    </a:ext>
                  </a:extLst>
                </a:gridCol>
                <a:gridCol w="1111038">
                  <a:extLst>
                    <a:ext uri="{9D8B030D-6E8A-4147-A177-3AD203B41FA5}">
                      <a16:colId xmlns:a16="http://schemas.microsoft.com/office/drawing/2014/main" val="1749978262"/>
                    </a:ext>
                  </a:extLst>
                </a:gridCol>
                <a:gridCol w="1378510">
                  <a:extLst>
                    <a:ext uri="{9D8B030D-6E8A-4147-A177-3AD203B41FA5}">
                      <a16:colId xmlns:a16="http://schemas.microsoft.com/office/drawing/2014/main" val="2331787055"/>
                    </a:ext>
                  </a:extLst>
                </a:gridCol>
                <a:gridCol w="1111038">
                  <a:extLst>
                    <a:ext uri="{9D8B030D-6E8A-4147-A177-3AD203B41FA5}">
                      <a16:colId xmlns:a16="http://schemas.microsoft.com/office/drawing/2014/main" val="2260070688"/>
                    </a:ext>
                  </a:extLst>
                </a:gridCol>
                <a:gridCol w="1111038">
                  <a:extLst>
                    <a:ext uri="{9D8B030D-6E8A-4147-A177-3AD203B41FA5}">
                      <a16:colId xmlns:a16="http://schemas.microsoft.com/office/drawing/2014/main" val="1270198861"/>
                    </a:ext>
                  </a:extLst>
                </a:gridCol>
              </a:tblGrid>
              <a:tr h="221497">
                <a:tc>
                  <a:txBody>
                    <a:bodyPr/>
                    <a:lstStyle/>
                    <a:p>
                      <a:pPr algn="ctr" rtl="1" fontAlgn="b"/>
                      <a:r>
                        <a:rPr lang="he-IL" sz="1400" b="0" i="0" u="none" strike="noStrike">
                          <a:solidFill>
                            <a:srgbClr val="000000"/>
                          </a:solidFill>
                          <a:effectLst/>
                          <a:latin typeface="Arial" panose="020B0604020202020204" pitchFamily="34" charset="0"/>
                        </a:rPr>
                        <a:t>רמה </a:t>
                      </a:r>
                    </a:p>
                  </a:txBody>
                  <a:tcPr marL="9525" marR="9525" marT="9525"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בכסף</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משולבת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a:solidFill>
                            <a:srgbClr val="000000"/>
                          </a:solidFill>
                          <a:effectLst/>
                          <a:latin typeface="Arial" panose="020B0604020202020204" pitchFamily="34" charset="0"/>
                        </a:rPr>
                        <a:t>גמלה בעין  </a:t>
                      </a:r>
                    </a:p>
                  </a:txBody>
                  <a:tcPr marL="9525" marR="9525" marT="9525" marB="0" anchor="b">
                    <a:lnL>
                      <a:noFill/>
                    </a:lnL>
                    <a:lnR>
                      <a:noFill/>
                    </a:lnR>
                    <a:lnT w="12700" cap="flat" cmpd="sng" algn="ctr">
                      <a:solidFill>
                        <a:srgbClr val="000000"/>
                      </a:solidFill>
                      <a:prstDash val="solid"/>
                      <a:round/>
                      <a:headEnd type="none" w="med" len="med"/>
                      <a:tailEnd type="none" w="med" len="med"/>
                    </a:lnT>
                    <a:lnB>
                      <a:noFill/>
                    </a:lnB>
                    <a:solidFill>
                      <a:srgbClr val="FFC000"/>
                    </a:solidFill>
                  </a:tcPr>
                </a:tc>
                <a:tc>
                  <a:txBody>
                    <a:bodyPr/>
                    <a:lstStyle/>
                    <a:p>
                      <a:pPr algn="r" rtl="1" fontAlgn="b"/>
                      <a:r>
                        <a:rPr lang="he-IL" sz="1400" b="0" i="0" u="none" strike="noStrike" dirty="0">
                          <a:solidFill>
                            <a:srgbClr val="000000"/>
                          </a:solidFill>
                          <a:effectLst/>
                          <a:latin typeface="Arial" panose="020B0604020202020204" pitchFamily="34" charset="0"/>
                        </a:rPr>
                        <a:t>סה"כ </a:t>
                      </a:r>
                    </a:p>
                  </a:txBody>
                  <a:tcPr marL="9525" marR="9525" marT="9525" marB="0" anchor="b">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FC000"/>
                    </a:solidFill>
                  </a:tcPr>
                </a:tc>
                <a:extLst>
                  <a:ext uri="{0D108BD9-81ED-4DB2-BD59-A6C34878D82A}">
                    <a16:rowId xmlns:a16="http://schemas.microsoft.com/office/drawing/2014/main" val="2687450622"/>
                  </a:ext>
                </a:extLst>
              </a:tr>
              <a:tr h="233155">
                <a:tc>
                  <a:txBody>
                    <a:bodyPr/>
                    <a:lstStyle/>
                    <a:p>
                      <a:pPr algn="ctr" rtl="0" fontAlgn="b"/>
                      <a:r>
                        <a:rPr lang="he-IL" sz="1400" b="0" i="0" u="none" strike="noStrike">
                          <a:solidFill>
                            <a:srgbClr val="000000"/>
                          </a:solidFill>
                          <a:effectLst/>
                          <a:latin typeface="Arial" panose="020B0604020202020204" pitchFamily="34" charset="0"/>
                        </a:rPr>
                        <a:t>1</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1" i="0" u="none" strike="noStrike">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47,433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487524445"/>
                  </a:ext>
                </a:extLst>
              </a:tr>
              <a:tr h="221497">
                <a:tc>
                  <a:txBody>
                    <a:bodyPr/>
                    <a:lstStyle/>
                    <a:p>
                      <a:pPr algn="ctr" rtl="0" fontAlgn="b"/>
                      <a:r>
                        <a:rPr lang="he-IL" sz="1400" b="0" i="0" u="none" strike="noStrike">
                          <a:solidFill>
                            <a:srgbClr val="000000"/>
                          </a:solidFill>
                          <a:effectLst/>
                          <a:latin typeface="Arial" panose="020B0604020202020204" pitchFamily="34" charset="0"/>
                        </a:rPr>
                        <a:t>2</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75%</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66,392</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22600891"/>
                  </a:ext>
                </a:extLst>
              </a:tr>
              <a:tr h="221497">
                <a:tc>
                  <a:txBody>
                    <a:bodyPr/>
                    <a:lstStyle/>
                    <a:p>
                      <a:pPr algn="ctr" rtl="0" fontAlgn="b"/>
                      <a:r>
                        <a:rPr lang="he-IL" sz="1400" b="0" i="0" u="none" strike="noStrike">
                          <a:solidFill>
                            <a:srgbClr val="000000"/>
                          </a:solidFill>
                          <a:effectLst/>
                          <a:latin typeface="Arial" panose="020B0604020202020204" pitchFamily="34" charset="0"/>
                        </a:rPr>
                        <a:t>3</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80%</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17%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84,496</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236863694"/>
                  </a:ext>
                </a:extLst>
              </a:tr>
              <a:tr h="221497">
                <a:tc>
                  <a:txBody>
                    <a:bodyPr/>
                    <a:lstStyle/>
                    <a:p>
                      <a:pPr algn="ctr" rtl="0" fontAlgn="b"/>
                      <a:r>
                        <a:rPr lang="he-IL" sz="1400" b="0" i="0" u="none" strike="noStrike">
                          <a:solidFill>
                            <a:srgbClr val="000000"/>
                          </a:solidFill>
                          <a:effectLst/>
                          <a:latin typeface="Arial" panose="020B0604020202020204" pitchFamily="34" charset="0"/>
                        </a:rPr>
                        <a:t>4</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74%</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21%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52,585</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2114843729"/>
                  </a:ext>
                </a:extLst>
              </a:tr>
              <a:tr h="221497">
                <a:tc>
                  <a:txBody>
                    <a:bodyPr/>
                    <a:lstStyle/>
                    <a:p>
                      <a:pPr algn="ctr" rtl="0" fontAlgn="b"/>
                      <a:r>
                        <a:rPr lang="he-IL" sz="1400" b="0" i="0" u="none" strike="noStrike">
                          <a:solidFill>
                            <a:srgbClr val="000000"/>
                          </a:solidFill>
                          <a:effectLst/>
                          <a:latin typeface="Arial" panose="020B0604020202020204" pitchFamily="34" charset="0"/>
                        </a:rPr>
                        <a:t>5</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8%</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64%</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28%</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36,093</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418446966"/>
                  </a:ext>
                </a:extLst>
              </a:tr>
              <a:tr h="221497">
                <a:tc>
                  <a:txBody>
                    <a:bodyPr/>
                    <a:lstStyle/>
                    <a:p>
                      <a:pPr algn="ctr" rtl="0" fontAlgn="b"/>
                      <a:r>
                        <a:rPr lang="he-IL" sz="1400" b="0" i="0" u="none" strike="noStrike">
                          <a:solidFill>
                            <a:srgbClr val="000000"/>
                          </a:solidFill>
                          <a:effectLst/>
                          <a:latin typeface="Arial" panose="020B0604020202020204" pitchFamily="34" charset="0"/>
                        </a:rPr>
                        <a:t>6</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14%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a:t>
                      </a:r>
                    </a:p>
                  </a:txBody>
                  <a:tcPr marL="9525" marR="9525" marT="9525" marB="0" anchor="b">
                    <a:lnL>
                      <a:noFill/>
                    </a:lnL>
                    <a:lnR>
                      <a:noFill/>
                    </a:lnR>
                    <a:lnT>
                      <a:noFill/>
                    </a:lnT>
                    <a:lnB>
                      <a:noFill/>
                    </a:lnB>
                  </a:tcPr>
                </a:tc>
                <a:tc>
                  <a:txBody>
                    <a:bodyPr/>
                    <a:lstStyle/>
                    <a:p>
                      <a:pPr algn="r" rtl="0" fontAlgn="b"/>
                      <a:r>
                        <a:rPr lang="he-IL" sz="1400" b="1" i="0" u="none" strike="noStrike" dirty="0">
                          <a:solidFill>
                            <a:srgbClr val="000000"/>
                          </a:solidFill>
                          <a:effectLst/>
                          <a:latin typeface="Arial" panose="020B0604020202020204" pitchFamily="34" charset="0"/>
                        </a:rPr>
                        <a:t>31%</a:t>
                      </a:r>
                    </a:p>
                  </a:txBody>
                  <a:tcPr marL="9525" marR="9525" marT="9525" marB="0" anchor="b">
                    <a:lnL>
                      <a:noFill/>
                    </a:lnL>
                    <a:lnR>
                      <a:noFill/>
                    </a:lnR>
                    <a:lnT>
                      <a:noFill/>
                    </a:lnT>
                    <a:lnB>
                      <a:noFill/>
                    </a:lnB>
                    <a:solidFill>
                      <a:srgbClr val="FFE699"/>
                    </a:solidFill>
                  </a:tcPr>
                </a:tc>
                <a:tc>
                  <a:txBody>
                    <a:bodyPr/>
                    <a:lstStyle/>
                    <a:p>
                      <a:pPr algn="r" rtl="0" fontAlgn="b"/>
                      <a:r>
                        <a:rPr lang="he-IL" sz="1400" b="0" i="0" u="none" strike="noStrike">
                          <a:solidFill>
                            <a:srgbClr val="000000"/>
                          </a:solidFill>
                          <a:effectLst/>
                          <a:latin typeface="Arial" panose="020B0604020202020204" pitchFamily="34" charset="0"/>
                        </a:rPr>
                        <a:t>59,001</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32702371"/>
                  </a:ext>
                </a:extLst>
              </a:tr>
              <a:tr h="221497">
                <a:tc>
                  <a:txBody>
                    <a:bodyPr/>
                    <a:lstStyle/>
                    <a:p>
                      <a:pPr algn="r" rtl="1" fontAlgn="b"/>
                      <a:r>
                        <a:rPr lang="he-IL" sz="1400" b="0" i="0" u="none" strike="noStrike">
                          <a:solidFill>
                            <a:srgbClr val="000000"/>
                          </a:solidFill>
                          <a:effectLst/>
                          <a:latin typeface="Arial" panose="020B0604020202020204" pitchFamily="34" charset="0"/>
                        </a:rPr>
                        <a:t>סך הכל</a:t>
                      </a:r>
                    </a:p>
                  </a:txBody>
                  <a:tcPr marL="9525" marR="9525" marT="9525" marB="0" anchor="b">
                    <a:lnL w="12700" cap="flat" cmpd="sng" algn="ctr">
                      <a:solidFill>
                        <a:srgbClr val="000000"/>
                      </a:solidFill>
                      <a:prstDash val="solid"/>
                      <a:round/>
                      <a:headEnd type="none" w="med" len="med"/>
                      <a:tailEnd type="none" w="med" len="med"/>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55,397</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213,654</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76,711</a:t>
                      </a:r>
                    </a:p>
                  </a:txBody>
                  <a:tcPr marL="9525" marR="9525" marT="9525" marB="0" anchor="b">
                    <a:lnL>
                      <a:noFill/>
                    </a:lnL>
                    <a:lnR>
                      <a:noFill/>
                    </a:lnR>
                    <a:lnT>
                      <a:noFill/>
                    </a:lnT>
                    <a:lnB>
                      <a:noFill/>
                    </a:lnB>
                  </a:tcPr>
                </a:tc>
                <a:tc>
                  <a:txBody>
                    <a:bodyPr/>
                    <a:lstStyle/>
                    <a:p>
                      <a:pPr algn="r" rtl="0" fontAlgn="b"/>
                      <a:r>
                        <a:rPr lang="he-IL" sz="1400" b="0" i="0" u="none" strike="noStrike">
                          <a:solidFill>
                            <a:srgbClr val="000000"/>
                          </a:solidFill>
                          <a:effectLst/>
                          <a:latin typeface="Arial" panose="020B0604020202020204" pitchFamily="34" charset="0"/>
                        </a:rPr>
                        <a:t>346,000</a:t>
                      </a:r>
                    </a:p>
                  </a:txBody>
                  <a:tcPr marL="9525" marR="9525" marT="9525" marB="0" anchor="b">
                    <a:lnL>
                      <a:noFill/>
                    </a:lnL>
                    <a:lnR w="1270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932182883"/>
                  </a:ext>
                </a:extLst>
              </a:tr>
              <a:tr h="233155">
                <a:tc>
                  <a:txBody>
                    <a:bodyPr/>
                    <a:lstStyle/>
                    <a:p>
                      <a:pPr algn="l" rtl="1" fontAlgn="b"/>
                      <a:r>
                        <a:rPr lang="he-IL" sz="1400" b="0" i="0" u="none" strike="noStrike">
                          <a:solidFill>
                            <a:srgbClr val="000000"/>
                          </a:solidFill>
                          <a:effectLst/>
                          <a:latin typeface="Arial" panose="020B0604020202020204" pitchFamily="34" charset="0"/>
                        </a:rPr>
                        <a:t>% מסוג הגמלה</a:t>
                      </a:r>
                    </a:p>
                  </a:txBody>
                  <a:tcPr marL="9525" marR="9525" marT="9525"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16%</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62%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r" rtl="0" fontAlgn="b"/>
                      <a:r>
                        <a:rPr lang="he-IL" sz="1400" b="0" i="0" u="none" strike="noStrike">
                          <a:solidFill>
                            <a:srgbClr val="000000"/>
                          </a:solidFill>
                          <a:effectLst/>
                          <a:latin typeface="Arial" panose="020B0604020202020204" pitchFamily="34" charset="0"/>
                        </a:rPr>
                        <a:t>22%</a:t>
                      </a:r>
                    </a:p>
                  </a:txBody>
                  <a:tcPr marL="9525" marR="9525" marT="9525" marB="0" anchor="b">
                    <a:lnL>
                      <a:noFill/>
                    </a:lnL>
                    <a:lnR>
                      <a:noFill/>
                    </a:lnR>
                    <a:lnT>
                      <a:noFill/>
                    </a:lnT>
                    <a:lnB w="12700" cap="flat" cmpd="sng" algn="ctr">
                      <a:solidFill>
                        <a:srgbClr val="000000"/>
                      </a:solidFill>
                      <a:prstDash val="solid"/>
                      <a:round/>
                      <a:headEnd type="none" w="med" len="med"/>
                      <a:tailEnd type="none" w="med" len="med"/>
                    </a:lnB>
                  </a:tcPr>
                </a:tc>
                <a:tc>
                  <a:txBody>
                    <a:bodyPr/>
                    <a:lstStyle/>
                    <a:p>
                      <a:pPr algn="l" rtl="0" fontAlgn="b"/>
                      <a:r>
                        <a:rPr lang="he-IL" sz="1400" b="0" i="0" u="none" strike="noStrike" dirty="0">
                          <a:solidFill>
                            <a:srgbClr val="000000"/>
                          </a:solidFill>
                          <a:effectLst/>
                          <a:latin typeface="Arial" panose="020B0604020202020204" pitchFamily="34" charset="0"/>
                        </a:rPr>
                        <a:t> </a:t>
                      </a:r>
                    </a:p>
                  </a:txBody>
                  <a:tcPr marL="9525" marR="9525" marT="9525"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31060160"/>
                  </a:ext>
                </a:extLst>
              </a:tr>
            </a:tbl>
          </a:graphicData>
        </a:graphic>
      </p:graphicFrame>
      <p:sp>
        <p:nvSpPr>
          <p:cNvPr id="7" name="מלבן 6"/>
          <p:cNvSpPr/>
          <p:nvPr/>
        </p:nvSpPr>
        <p:spPr>
          <a:xfrm>
            <a:off x="2932911" y="4861779"/>
            <a:ext cx="2073003" cy="400110"/>
          </a:xfrm>
          <a:prstGeom prst="rect">
            <a:avLst/>
          </a:prstGeom>
          <a:solidFill>
            <a:schemeClr val="accent5">
              <a:lumMod val="50000"/>
            </a:schemeClr>
          </a:solidFill>
          <a:ln>
            <a:noFill/>
          </a:ln>
        </p:spPr>
        <p:style>
          <a:lnRef idx="0">
            <a:scrgbClr r="0" g="0" b="0"/>
          </a:lnRef>
          <a:fillRef idx="0">
            <a:scrgbClr r="0" g="0" b="0"/>
          </a:fillRef>
          <a:effectRef idx="0">
            <a:scrgbClr r="0" g="0" b="0"/>
          </a:effectRef>
          <a:fontRef idx="minor">
            <a:schemeClr val="lt1"/>
          </a:fontRef>
        </p:style>
        <p:txBody>
          <a:bodyPr wrap="none">
            <a:spAutoFit/>
          </a:bodyPr>
          <a:lstStyle/>
          <a:p>
            <a:r>
              <a:rPr lang="he-IL" sz="2000" dirty="0"/>
              <a:t>מה שנותנים להם...</a:t>
            </a:r>
          </a:p>
        </p:txBody>
      </p:sp>
      <p:sp>
        <p:nvSpPr>
          <p:cNvPr id="5" name="מלבן 4"/>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5380390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כותרת 1"/>
          <p:cNvSpPr>
            <a:spLocks noGrp="1"/>
          </p:cNvSpPr>
          <p:nvPr>
            <p:ph type="title"/>
          </p:nvPr>
        </p:nvSpPr>
        <p:spPr>
          <a:xfrm>
            <a:off x="854825" y="281998"/>
            <a:ext cx="10515600" cy="1325563"/>
          </a:xfrm>
        </p:spPr>
        <p:txBody>
          <a:bodyPr/>
          <a:lstStyle/>
          <a:p>
            <a:r>
              <a:rPr lang="en-US" dirty="0"/>
              <a:t>ROI</a:t>
            </a:r>
            <a:r>
              <a:rPr lang="he-IL" dirty="0"/>
              <a:t> </a:t>
            </a:r>
            <a:r>
              <a:rPr lang="he-IL" dirty="0" err="1"/>
              <a:t>לבטל"א</a:t>
            </a:r>
            <a:r>
              <a:rPr lang="he-IL" dirty="0"/>
              <a:t> וקופ"ח לפי רמות סיעוד</a:t>
            </a:r>
          </a:p>
        </p:txBody>
      </p:sp>
      <p:graphicFrame>
        <p:nvGraphicFramePr>
          <p:cNvPr id="4" name="תרשים 3"/>
          <p:cNvGraphicFramePr>
            <a:graphicFrameLocks/>
          </p:cNvGraphicFramePr>
          <p:nvPr>
            <p:extLst>
              <p:ext uri="{D42A27DB-BD31-4B8C-83A1-F6EECF244321}">
                <p14:modId xmlns:p14="http://schemas.microsoft.com/office/powerpoint/2010/main" val="2120210832"/>
              </p:ext>
            </p:extLst>
          </p:nvPr>
        </p:nvGraphicFramePr>
        <p:xfrm>
          <a:off x="0" y="2703672"/>
          <a:ext cx="5270269" cy="387233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מציין מיקום תוכן 6"/>
          <p:cNvGraphicFramePr>
            <a:graphicFrameLocks noGrp="1"/>
          </p:cNvGraphicFramePr>
          <p:nvPr>
            <p:ph idx="1"/>
            <p:extLst>
              <p:ext uri="{D42A27DB-BD31-4B8C-83A1-F6EECF244321}">
                <p14:modId xmlns:p14="http://schemas.microsoft.com/office/powerpoint/2010/main" val="378096609"/>
              </p:ext>
            </p:extLst>
          </p:nvPr>
        </p:nvGraphicFramePr>
        <p:xfrm>
          <a:off x="3350032" y="1442336"/>
          <a:ext cx="8564762" cy="1915241"/>
        </p:xfrm>
        <a:graphic>
          <a:graphicData uri="http://schemas.openxmlformats.org/drawingml/2006/table">
            <a:tbl>
              <a:tblPr rtl="1"/>
              <a:tblGrid>
                <a:gridCol w="761668">
                  <a:extLst>
                    <a:ext uri="{9D8B030D-6E8A-4147-A177-3AD203B41FA5}">
                      <a16:colId xmlns:a16="http://schemas.microsoft.com/office/drawing/2014/main" val="2342730078"/>
                    </a:ext>
                  </a:extLst>
                </a:gridCol>
                <a:gridCol w="809877">
                  <a:extLst>
                    <a:ext uri="{9D8B030D-6E8A-4147-A177-3AD203B41FA5}">
                      <a16:colId xmlns:a16="http://schemas.microsoft.com/office/drawing/2014/main" val="1357150028"/>
                    </a:ext>
                  </a:extLst>
                </a:gridCol>
                <a:gridCol w="1079835">
                  <a:extLst>
                    <a:ext uri="{9D8B030D-6E8A-4147-A177-3AD203B41FA5}">
                      <a16:colId xmlns:a16="http://schemas.microsoft.com/office/drawing/2014/main" val="1301908837"/>
                    </a:ext>
                  </a:extLst>
                </a:gridCol>
                <a:gridCol w="797021">
                  <a:extLst>
                    <a:ext uri="{9D8B030D-6E8A-4147-A177-3AD203B41FA5}">
                      <a16:colId xmlns:a16="http://schemas.microsoft.com/office/drawing/2014/main" val="3854073063"/>
                    </a:ext>
                  </a:extLst>
                </a:gridCol>
                <a:gridCol w="1224456">
                  <a:extLst>
                    <a:ext uri="{9D8B030D-6E8A-4147-A177-3AD203B41FA5}">
                      <a16:colId xmlns:a16="http://schemas.microsoft.com/office/drawing/2014/main" val="3739133506"/>
                    </a:ext>
                  </a:extLst>
                </a:gridCol>
                <a:gridCol w="758455">
                  <a:extLst>
                    <a:ext uri="{9D8B030D-6E8A-4147-A177-3AD203B41FA5}">
                      <a16:colId xmlns:a16="http://schemas.microsoft.com/office/drawing/2014/main" val="3247342757"/>
                    </a:ext>
                  </a:extLst>
                </a:gridCol>
                <a:gridCol w="1147325">
                  <a:extLst>
                    <a:ext uri="{9D8B030D-6E8A-4147-A177-3AD203B41FA5}">
                      <a16:colId xmlns:a16="http://schemas.microsoft.com/office/drawing/2014/main" val="4195802496"/>
                    </a:ext>
                  </a:extLst>
                </a:gridCol>
                <a:gridCol w="1185890">
                  <a:extLst>
                    <a:ext uri="{9D8B030D-6E8A-4147-A177-3AD203B41FA5}">
                      <a16:colId xmlns:a16="http://schemas.microsoft.com/office/drawing/2014/main" val="4293482147"/>
                    </a:ext>
                  </a:extLst>
                </a:gridCol>
                <a:gridCol w="800235">
                  <a:extLst>
                    <a:ext uri="{9D8B030D-6E8A-4147-A177-3AD203B41FA5}">
                      <a16:colId xmlns:a16="http://schemas.microsoft.com/office/drawing/2014/main" val="3814229868"/>
                    </a:ext>
                  </a:extLst>
                </a:gridCol>
              </a:tblGrid>
              <a:tr h="224348">
                <a:tc>
                  <a:txBody>
                    <a:bodyPr/>
                    <a:lstStyle/>
                    <a:p>
                      <a:pPr algn="ctr" rtl="1" fontAlgn="t"/>
                      <a:r>
                        <a:rPr lang="he-IL" sz="1100" b="1" i="0" u="none" strike="noStrike">
                          <a:solidFill>
                            <a:srgbClr val="000000"/>
                          </a:solidFill>
                          <a:effectLst/>
                          <a:latin typeface="Arial" panose="020B0604020202020204" pitchFamily="34" charset="0"/>
                        </a:rPr>
                        <a:t>רמה </a:t>
                      </a:r>
                    </a:p>
                  </a:txBody>
                  <a:tcPr marL="9525" marR="9525" marT="9525" marB="0">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כמה העלות למדינה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בהישארות ברמה לחודש</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חסכון לשנה בבטלא</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העלות לקופ"ח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000" b="1" i="0" u="none" strike="noStrike">
                          <a:solidFill>
                            <a:srgbClr val="000000"/>
                          </a:solidFill>
                          <a:effectLst/>
                          <a:latin typeface="Arial" panose="020B0604020202020204" pitchFamily="34" charset="0"/>
                        </a:rPr>
                        <a:t>חסכון לשנה בקופ"ח</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rtl="1" fontAlgn="t"/>
                      <a:r>
                        <a:rPr lang="he-IL" sz="1100" b="1" i="0" u="none" strike="noStrike">
                          <a:solidFill>
                            <a:srgbClr val="000000"/>
                          </a:solidFill>
                          <a:effectLst/>
                          <a:latin typeface="Arial" panose="020B0604020202020204" pitchFamily="34" charset="0"/>
                        </a:rPr>
                        <a:t>סה"כ חסכון לשנה</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gridSpan="2">
                  <a:txBody>
                    <a:bodyPr/>
                    <a:lstStyle/>
                    <a:p>
                      <a:pPr algn="ctr" rtl="1" fontAlgn="ctr"/>
                      <a:r>
                        <a:rPr lang="he-IL" sz="1100" b="1" i="0" u="none" strike="noStrike">
                          <a:solidFill>
                            <a:srgbClr val="000000"/>
                          </a:solidFill>
                          <a:effectLst/>
                          <a:latin typeface="Arial" panose="020B0604020202020204" pitchFamily="34" charset="0"/>
                        </a:rPr>
                        <a:t>עלות שירותים לשנה</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pPr rtl="1"/>
                      <a:endParaRPr lang="he-IL"/>
                    </a:p>
                  </a:txBody>
                  <a:tcPr/>
                </a:tc>
                <a:extLst>
                  <a:ext uri="{0D108BD9-81ED-4DB2-BD59-A6C34878D82A}">
                    <a16:rowId xmlns:a16="http://schemas.microsoft.com/office/drawing/2014/main" val="2641884873"/>
                  </a:ext>
                </a:extLst>
              </a:tr>
              <a:tr h="224348">
                <a:tc>
                  <a:txBody>
                    <a:bodyPr/>
                    <a:lstStyle/>
                    <a:p>
                      <a:pPr algn="ctr" rtl="1" fontAlgn="ctr"/>
                      <a:r>
                        <a:rPr lang="he-IL" sz="1100" b="0" i="0" u="none" strike="noStrike">
                          <a:solidFill>
                            <a:srgbClr val="000000"/>
                          </a:solidFill>
                          <a:effectLst/>
                          <a:latin typeface="Arial" panose="020B0604020202020204" pitchFamily="34" charset="0"/>
                        </a:rPr>
                        <a:t>0</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1,535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18,414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10,253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5,483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23,897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1,920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קהילה תומכת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1871262"/>
                  </a:ext>
                </a:extLst>
              </a:tr>
              <a:tr h="224348">
                <a:tc>
                  <a:txBody>
                    <a:bodyPr/>
                    <a:lstStyle/>
                    <a:p>
                      <a:pPr algn="ctr" rtl="1" fontAlgn="ctr"/>
                      <a:r>
                        <a:rPr lang="he-IL" sz="1100" b="0" i="0" u="none" strike="noStrike">
                          <a:solidFill>
                            <a:srgbClr val="000000"/>
                          </a:solidFill>
                          <a:effectLst/>
                          <a:latin typeface="Arial" panose="020B0604020202020204" pitchFamily="34" charset="0"/>
                        </a:rPr>
                        <a:t>1</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1,535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1,256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15,066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15,736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405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20,549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8,688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מופת</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3892679"/>
                  </a:ext>
                </a:extLst>
              </a:tr>
              <a:tr h="224348">
                <a:tc>
                  <a:txBody>
                    <a:bodyPr/>
                    <a:lstStyle/>
                    <a:p>
                      <a:pPr algn="ctr" rtl="1" fontAlgn="ctr"/>
                      <a:r>
                        <a:rPr lang="he-IL" sz="1100" b="0" i="0" u="none" strike="noStrike">
                          <a:solidFill>
                            <a:srgbClr val="000000"/>
                          </a:solidFill>
                          <a:effectLst/>
                          <a:latin typeface="Arial" panose="020B0604020202020204" pitchFamily="34" charset="0"/>
                        </a:rPr>
                        <a:t>2</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2,790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1,953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23,436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16,141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2,508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23,841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23,220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rtl="1" fontAlgn="b"/>
                      <a:r>
                        <a:rPr lang="he-IL" sz="1100" b="0" i="0" u="none" strike="noStrike">
                          <a:solidFill>
                            <a:srgbClr val="000000"/>
                          </a:solidFill>
                          <a:effectLst/>
                          <a:latin typeface="Arial" panose="020B0604020202020204" pitchFamily="34" charset="0"/>
                        </a:rPr>
                        <a:t>מרכז יום</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3604184"/>
                  </a:ext>
                </a:extLst>
              </a:tr>
              <a:tr h="224348">
                <a:tc>
                  <a:txBody>
                    <a:bodyPr/>
                    <a:lstStyle/>
                    <a:p>
                      <a:pPr algn="ctr" rtl="1" fontAlgn="ctr"/>
                      <a:r>
                        <a:rPr lang="he-IL" sz="1100" b="0" i="0" u="none" strike="noStrike">
                          <a:solidFill>
                            <a:srgbClr val="000000"/>
                          </a:solidFill>
                          <a:effectLst/>
                          <a:latin typeface="Arial" panose="020B0604020202020204" pitchFamily="34" charset="0"/>
                        </a:rPr>
                        <a:t>3</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4,743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18,648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3,523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15,900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31712138"/>
                  </a:ext>
                </a:extLst>
              </a:tr>
              <a:tr h="224348">
                <a:tc>
                  <a:txBody>
                    <a:bodyPr/>
                    <a:lstStyle/>
                    <a:p>
                      <a:pPr algn="ctr" rtl="1" fontAlgn="ctr"/>
                      <a:r>
                        <a:rPr lang="he-IL" sz="1100" b="0" i="0" u="none" strike="noStrike">
                          <a:solidFill>
                            <a:srgbClr val="000000"/>
                          </a:solidFill>
                          <a:effectLst/>
                          <a:latin typeface="Arial" panose="020B0604020202020204" pitchFamily="34" charset="0"/>
                        </a:rPr>
                        <a:t>4</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5,859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1,395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16,740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22,172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718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20,263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1926710387"/>
                  </a:ext>
                </a:extLst>
              </a:tr>
              <a:tr h="224348">
                <a:tc>
                  <a:txBody>
                    <a:bodyPr/>
                    <a:lstStyle/>
                    <a:p>
                      <a:pPr algn="ctr" rtl="1" fontAlgn="ctr"/>
                      <a:r>
                        <a:rPr lang="he-IL" sz="1100" b="0" i="0" u="none" strike="noStrike">
                          <a:solidFill>
                            <a:srgbClr val="000000"/>
                          </a:solidFill>
                          <a:effectLst/>
                          <a:latin typeface="Arial" panose="020B0604020202020204" pitchFamily="34" charset="0"/>
                        </a:rPr>
                        <a:t>5</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7,254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1,116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13,392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22,889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900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r>
                        <a:rPr lang="he-IL" sz="1100" b="1" i="0" u="none" strike="noStrike">
                          <a:solidFill>
                            <a:srgbClr val="000000"/>
                          </a:solidFill>
                          <a:effectLst/>
                          <a:latin typeface="Arial" panose="020B0604020202020204" pitchFamily="34" charset="0"/>
                        </a:rPr>
                        <a:t> ₪            14,110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004924704"/>
                  </a:ext>
                </a:extLst>
              </a:tr>
              <a:tr h="224348">
                <a:tc>
                  <a:txBody>
                    <a:bodyPr/>
                    <a:lstStyle/>
                    <a:p>
                      <a:pPr algn="ctr" rtl="1" fontAlgn="ctr"/>
                      <a:r>
                        <a:rPr lang="he-IL" sz="1100" b="0" i="0" u="none" strike="noStrike">
                          <a:solidFill>
                            <a:srgbClr val="000000"/>
                          </a:solidFill>
                          <a:effectLst/>
                          <a:latin typeface="Arial" panose="020B0604020202020204" pitchFamily="34" charset="0"/>
                        </a:rPr>
                        <a:t>6</a:t>
                      </a:r>
                    </a:p>
                  </a:txBody>
                  <a:tcPr marL="9525" marR="9525" marT="9525"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fontAlgn="ctr"/>
                      <a:r>
                        <a:rPr lang="he-IL" sz="1100" b="1" i="0" u="none" strike="noStrike">
                          <a:solidFill>
                            <a:srgbClr val="000000"/>
                          </a:solidFill>
                          <a:effectLst/>
                          <a:latin typeface="Arial" panose="020B0604020202020204" pitchFamily="34" charset="0"/>
                        </a:rPr>
                        <a:t>         8,370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23,789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r>
                        <a:rPr lang="he-IL" sz="1100" b="0" i="0" u="none" strike="noStrike">
                          <a:solidFill>
                            <a:srgbClr val="000000"/>
                          </a:solidFill>
                          <a:effectLst/>
                          <a:latin typeface="Arial" panose="020B060402020202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rtl="0" fontAlgn="b"/>
                      <a:endParaRPr lang="he-IL" sz="1100" b="0" i="0" u="none" strike="noStrike">
                        <a:solidFill>
                          <a:srgbClr val="000000"/>
                        </a:solidFill>
                        <a:effectLst/>
                        <a:latin typeface="Arial" panose="020B0604020202020204" pitchFamily="34" charset="0"/>
                      </a:endParaRPr>
                    </a:p>
                  </a:txBody>
                  <a:tcPr marL="9525" marR="9525" marT="9525"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rtl="0" fontAlgn="b"/>
                      <a:endParaRPr lang="he-IL" sz="1100" b="0" i="0" u="none" strike="noStrike" dirty="0">
                        <a:solidFill>
                          <a:srgbClr val="000000"/>
                        </a:solidFill>
                        <a:effectLst/>
                        <a:latin typeface="Arial" panose="020B0604020202020204" pitchFamily="34" charset="0"/>
                      </a:endParaRPr>
                    </a:p>
                  </a:txBody>
                  <a:tcPr marL="9525" marR="9525" marT="9525" marB="0" anchor="b">
                    <a:lnL>
                      <a:noFill/>
                    </a:lnL>
                    <a:lnR>
                      <a:noFill/>
                    </a:lnR>
                    <a:lnT>
                      <a:noFill/>
                    </a:lnT>
                    <a:lnB>
                      <a:noFill/>
                    </a:lnB>
                  </a:tcPr>
                </a:tc>
                <a:extLst>
                  <a:ext uri="{0D108BD9-81ED-4DB2-BD59-A6C34878D82A}">
                    <a16:rowId xmlns:a16="http://schemas.microsoft.com/office/drawing/2014/main" val="3268918540"/>
                  </a:ext>
                </a:extLst>
              </a:tr>
            </a:tbl>
          </a:graphicData>
        </a:graphic>
      </p:graphicFrame>
      <p:sp>
        <p:nvSpPr>
          <p:cNvPr id="5" name="מלבן 4"/>
          <p:cNvSpPr/>
          <p:nvPr/>
        </p:nvSpPr>
        <p:spPr>
          <a:xfrm>
            <a:off x="-7346" y="1"/>
            <a:ext cx="291550" cy="6857999"/>
          </a:xfrm>
          <a:prstGeom prst="rect">
            <a:avLst/>
          </a:prstGeom>
          <a:solidFill>
            <a:srgbClr val="FFC000"/>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TextBox 5"/>
          <p:cNvSpPr txBox="1"/>
          <p:nvPr/>
        </p:nvSpPr>
        <p:spPr>
          <a:xfrm rot="16200000">
            <a:off x="-540481" y="460062"/>
            <a:ext cx="1258678" cy="338554"/>
          </a:xfrm>
          <a:prstGeom prst="rect">
            <a:avLst/>
          </a:prstGeom>
          <a:solidFill>
            <a:srgbClr val="FFC000"/>
          </a:solidFill>
        </p:spPr>
        <p:txBody>
          <a:bodyPr wrap="none" rtlCol="1">
            <a:spAutoFit/>
          </a:bodyPr>
          <a:lstStyle/>
          <a:p>
            <a:r>
              <a:rPr lang="he-IL" sz="1600" b="1" dirty="0"/>
              <a:t>קהילה לכולם</a:t>
            </a:r>
          </a:p>
        </p:txBody>
      </p:sp>
      <p:sp>
        <p:nvSpPr>
          <p:cNvPr id="9" name="מלבן 8"/>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27350434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תרשים 5"/>
          <p:cNvGraphicFramePr>
            <a:graphicFrameLocks/>
          </p:cNvGraphicFramePr>
          <p:nvPr/>
        </p:nvGraphicFramePr>
        <p:xfrm>
          <a:off x="2523311" y="1144014"/>
          <a:ext cx="8273998" cy="4915041"/>
        </p:xfrm>
        <a:graphic>
          <a:graphicData uri="http://schemas.openxmlformats.org/drawingml/2006/chart">
            <c:chart xmlns:c="http://schemas.openxmlformats.org/drawingml/2006/chart" xmlns:r="http://schemas.openxmlformats.org/officeDocument/2006/relationships" r:id="rId3"/>
          </a:graphicData>
        </a:graphic>
      </p:graphicFrame>
      <p:sp>
        <p:nvSpPr>
          <p:cNvPr id="4" name="מלבן 3"/>
          <p:cNvSpPr/>
          <p:nvPr/>
        </p:nvSpPr>
        <p:spPr>
          <a:xfrm>
            <a:off x="-7346" y="1"/>
            <a:ext cx="291550" cy="6857999"/>
          </a:xfrm>
          <a:prstGeom prst="rect">
            <a:avLst/>
          </a:prstGeom>
          <a:solidFill>
            <a:srgbClr val="70AD47"/>
          </a:solidFill>
          <a:ln>
            <a:solidFill>
              <a:srgbClr val="8C8DC5"/>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7" name="Oval 9">
            <a:extLst>
              <a:ext uri="{FF2B5EF4-FFF2-40B4-BE49-F238E27FC236}">
                <a16:creationId xmlns:a16="http://schemas.microsoft.com/office/drawing/2014/main" id="{45C90494-62D2-599F-30EA-7652EE4A3D67}"/>
              </a:ext>
            </a:extLst>
          </p:cNvPr>
          <p:cNvSpPr/>
          <p:nvPr/>
        </p:nvSpPr>
        <p:spPr>
          <a:xfrm>
            <a:off x="9520123" y="7292009"/>
            <a:ext cx="252000" cy="252000"/>
          </a:xfrm>
          <a:prstGeom prst="ellipse">
            <a:avLst/>
          </a:prstGeom>
          <a:solidFill>
            <a:srgbClr val="70AD47"/>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dirty="0">
              <a:ln>
                <a:noFill/>
              </a:ln>
              <a:solidFill>
                <a:sysClr val="windowText" lastClr="000000"/>
              </a:solidFill>
              <a:effectLst/>
              <a:uLnTx/>
              <a:uFillTx/>
              <a:latin typeface="Open Sans Hebrew" panose="00000500000000000000" pitchFamily="2" charset="-79"/>
              <a:ea typeface="+mn-ea"/>
              <a:cs typeface="Open Sans Hebrew" panose="00000500000000000000" pitchFamily="2" charset="-79"/>
            </a:endParaRPr>
          </a:p>
        </p:txBody>
      </p:sp>
      <p:sp>
        <p:nvSpPr>
          <p:cNvPr id="8" name="TextBox 7"/>
          <p:cNvSpPr txBox="1"/>
          <p:nvPr/>
        </p:nvSpPr>
        <p:spPr>
          <a:xfrm rot="16200000">
            <a:off x="-623987" y="566656"/>
            <a:ext cx="1266693" cy="515782"/>
          </a:xfrm>
          <a:prstGeom prst="rect">
            <a:avLst/>
          </a:prstGeom>
          <a:noFill/>
        </p:spPr>
        <p:txBody>
          <a:bodyPr wrap="none" rtlCol="1">
            <a:spAutoFit/>
          </a:bodyPr>
          <a:lstStyle/>
          <a:p>
            <a:pPr lvl="0">
              <a:lnSpc>
                <a:spcPct val="200000"/>
              </a:lnSpc>
              <a:defRPr/>
            </a:pPr>
            <a:r>
              <a:rPr lang="he-IL" sz="1600" b="1" dirty="0">
                <a:latin typeface="Calibri" panose="020F0502020204030204" pitchFamily="34" charset="0"/>
                <a:ea typeface="Open Sans" panose="020B0606030504020204" pitchFamily="34" charset="0"/>
                <a:cs typeface="Calibri" panose="020F0502020204030204" pitchFamily="34" charset="0"/>
              </a:rPr>
              <a:t>נתונים נוספים</a:t>
            </a:r>
          </a:p>
        </p:txBody>
      </p:sp>
    </p:spTree>
    <p:extLst>
      <p:ext uri="{BB962C8B-B14F-4D97-AF65-F5344CB8AC3E}">
        <p14:creationId xmlns:p14="http://schemas.microsoft.com/office/powerpoint/2010/main" val="340516117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מלבן 7"/>
          <p:cNvSpPr/>
          <p:nvPr/>
        </p:nvSpPr>
        <p:spPr>
          <a:xfrm>
            <a:off x="0" y="0"/>
            <a:ext cx="4216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6" name="מציין מיקום תוכן 2">
            <a:extLst>
              <a:ext uri="{FF2B5EF4-FFF2-40B4-BE49-F238E27FC236}">
                <a16:creationId xmlns:a16="http://schemas.microsoft.com/office/drawing/2014/main" id="{819ACCF5-3375-4D52-8EB1-938F6D843BF9}"/>
              </a:ext>
            </a:extLst>
          </p:cNvPr>
          <p:cNvGraphicFramePr>
            <a:graphicFrameLocks noGrp="1"/>
          </p:cNvGraphicFramePr>
          <p:nvPr>
            <p:ph idx="1"/>
            <p:extLst>
              <p:ext uri="{D42A27DB-BD31-4B8C-83A1-F6EECF244321}">
                <p14:modId xmlns:p14="http://schemas.microsoft.com/office/powerpoint/2010/main" val="1814183895"/>
              </p:ext>
            </p:extLst>
          </p:nvPr>
        </p:nvGraphicFramePr>
        <p:xfrm>
          <a:off x="5235903" y="378654"/>
          <a:ext cx="6722533" cy="63438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תמונה 5"/>
          <p:cNvPicPr>
            <a:picLocks noChangeAspect="1"/>
          </p:cNvPicPr>
          <p:nvPr/>
        </p:nvPicPr>
        <p:blipFill rotWithShape="1">
          <a:blip r:embed="rId8"/>
          <a:srcRect l="5129" t="769" r="11516" b="-769"/>
          <a:stretch/>
        </p:blipFill>
        <p:spPr>
          <a:xfrm>
            <a:off x="0" y="5158826"/>
            <a:ext cx="4245429" cy="1699174"/>
          </a:xfrm>
          <a:prstGeom prst="rect">
            <a:avLst/>
          </a:prstGeom>
        </p:spPr>
      </p:pic>
      <p:sp>
        <p:nvSpPr>
          <p:cNvPr id="7" name="מלבן 6"/>
          <p:cNvSpPr/>
          <p:nvPr/>
        </p:nvSpPr>
        <p:spPr>
          <a:xfrm>
            <a:off x="-80817" y="1577121"/>
            <a:ext cx="4297217" cy="3046988"/>
          </a:xfrm>
          <a:prstGeom prst="rect">
            <a:avLst/>
          </a:prstGeom>
          <a:no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48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המלצות משרד הרווחה והביטחון החברתי לוועדת שרים: </a:t>
            </a:r>
            <a:r>
              <a:rPr kumimoji="0" lang="he-IL" sz="12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(2022)</a:t>
            </a:r>
            <a:endParaRPr kumimoji="0" lang="he-IL" sz="48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3625692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מלבן 6"/>
          <p:cNvSpPr/>
          <p:nvPr/>
        </p:nvSpPr>
        <p:spPr>
          <a:xfrm>
            <a:off x="0" y="0"/>
            <a:ext cx="42164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he-IL" sz="1800" b="0" i="0" u="none" strike="noStrike" kern="1200" cap="none" spc="0" normalizeH="0" baseline="0" noProof="0">
              <a:ln>
                <a:noFill/>
              </a:ln>
              <a:solidFill>
                <a:prstClr val="white"/>
              </a:solidFill>
              <a:effectLst/>
              <a:uLnTx/>
              <a:uFillTx/>
              <a:latin typeface="Calibri" panose="020F0502020204030204"/>
              <a:ea typeface="+mn-ea"/>
              <a:cs typeface="Arial" panose="020B0604020202020204" pitchFamily="34" charset="0"/>
            </a:endParaRPr>
          </a:p>
        </p:txBody>
      </p:sp>
      <p:graphicFrame>
        <p:nvGraphicFramePr>
          <p:cNvPr id="16" name="מציין מיקום תוכן 2">
            <a:extLst>
              <a:ext uri="{FF2B5EF4-FFF2-40B4-BE49-F238E27FC236}">
                <a16:creationId xmlns:a16="http://schemas.microsoft.com/office/drawing/2014/main" id="{819ACCF5-3375-4D52-8EB1-938F6D843BF9}"/>
              </a:ext>
            </a:extLst>
          </p:cNvPr>
          <p:cNvGraphicFramePr>
            <a:graphicFrameLocks noGrp="1"/>
          </p:cNvGraphicFramePr>
          <p:nvPr>
            <p:ph idx="1"/>
          </p:nvPr>
        </p:nvGraphicFramePr>
        <p:xfrm>
          <a:off x="5093206" y="321733"/>
          <a:ext cx="6912527" cy="65362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תמונה 5"/>
          <p:cNvPicPr>
            <a:picLocks noChangeAspect="1"/>
          </p:cNvPicPr>
          <p:nvPr/>
        </p:nvPicPr>
        <p:blipFill rotWithShape="1">
          <a:blip r:embed="rId8"/>
          <a:srcRect l="4677" r="12225"/>
          <a:stretch/>
        </p:blipFill>
        <p:spPr>
          <a:xfrm>
            <a:off x="0" y="5158826"/>
            <a:ext cx="4232365" cy="1699174"/>
          </a:xfrm>
          <a:prstGeom prst="rect">
            <a:avLst/>
          </a:prstGeom>
        </p:spPr>
      </p:pic>
      <p:sp>
        <p:nvSpPr>
          <p:cNvPr id="2" name="מלבן 1"/>
          <p:cNvSpPr/>
          <p:nvPr/>
        </p:nvSpPr>
        <p:spPr>
          <a:xfrm>
            <a:off x="0" y="1609917"/>
            <a:ext cx="4297217" cy="2185214"/>
          </a:xfrm>
          <a:prstGeom prst="rect">
            <a:avLst/>
          </a:prstGeom>
          <a:noFill/>
        </p:spPr>
        <p:txBody>
          <a:bodyPr wrap="square" lIns="91440" tIns="45720" rIns="91440" bIns="4572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המלצות</a:t>
            </a:r>
            <a:r>
              <a:rPr kumimoji="0" lang="en-US"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
            </a:r>
            <a:br>
              <a:rPr kumimoji="0" lang="en-US"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br>
            <a:r>
              <a:rPr kumimoji="0" lang="he-IL" sz="60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rPr>
              <a:t> נוספות</a:t>
            </a:r>
            <a:endParaRPr lang="he-IL" sz="6000" b="1" dirty="0">
              <a:ln w="10160">
                <a:solidFill>
                  <a:prstClr val="white"/>
                </a:solidFill>
                <a:prstDash val="solid"/>
              </a:ln>
              <a:solidFill>
                <a:schemeClr val="bg1"/>
              </a:solidFill>
              <a:effectLst>
                <a:outerShdw blurRad="38100" dist="22860" dir="5400000" algn="tl" rotWithShape="0">
                  <a:srgbClr val="000000">
                    <a:alpha val="30000"/>
                  </a:srgbClr>
                </a:outerShdw>
              </a:effectLst>
              <a:latin typeface="Calibri" panose="020F0502020204030204" pitchFamily="34" charset="0"/>
              <a:cs typeface="Calibri" panose="020F0502020204030204" pitchFamily="34" charset="0"/>
              <a:sym typeface="Wingdings" panose="05000000000000000000" pitchFamily="2" charset="2"/>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he-IL" sz="16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sym typeface="Wingdings" panose="05000000000000000000" pitchFamily="2" charset="2"/>
              </a:rPr>
              <a:t>2022)</a:t>
            </a:r>
            <a:r>
              <a:rPr kumimoji="0" lang="en-US" sz="16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sym typeface="Wingdings" panose="05000000000000000000" pitchFamily="2" charset="2"/>
              </a:rPr>
              <a:t>)</a:t>
            </a:r>
            <a:endParaRPr kumimoji="0" lang="he-IL" sz="1600" b="1" i="0" u="none" strike="noStrike" kern="1200" cap="none" spc="0" normalizeH="0" baseline="0" noProof="0" dirty="0">
              <a:ln w="10160">
                <a:solidFill>
                  <a:prstClr val="white"/>
                </a:solidFill>
                <a:prstDash val="solid"/>
              </a:ln>
              <a:solidFill>
                <a:schemeClr val="bg1"/>
              </a:solidFill>
              <a:effectLst>
                <a:outerShdw blurRad="38100" dist="22860" dir="5400000" algn="tl" rotWithShape="0">
                  <a:srgbClr val="000000">
                    <a:alpha val="30000"/>
                  </a:srgbClr>
                </a:outerShdw>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16988005"/>
      </p:ext>
    </p:extLst>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howeet theme">
  <a:themeElements>
    <a:clrScheme name="Showeet">
      <a:dk1>
        <a:srgbClr val="95A5A6"/>
      </a:dk1>
      <a:lt1>
        <a:sysClr val="window" lastClr="FFFFFF"/>
      </a:lt1>
      <a:dk2>
        <a:srgbClr val="2C3E50"/>
      </a:dk2>
      <a:lt2>
        <a:srgbClr val="F2F2F2"/>
      </a:lt2>
      <a:accent1>
        <a:srgbClr val="2980B9"/>
      </a:accent1>
      <a:accent2>
        <a:srgbClr val="16A085"/>
      </a:accent2>
      <a:accent3>
        <a:srgbClr val="9BBB59"/>
      </a:accent3>
      <a:accent4>
        <a:srgbClr val="F39C12"/>
      </a:accent4>
      <a:accent5>
        <a:srgbClr val="C0392B"/>
      </a:accent5>
      <a:accent6>
        <a:srgbClr val="4B2C50"/>
      </a:accent6>
      <a:hlink>
        <a:srgbClr val="16A085"/>
      </a:hlink>
      <a:folHlink>
        <a:srgbClr val="107863"/>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קליברי">
      <a:majorFont>
        <a:latin typeface="Calibri"/>
        <a:ea typeface=""/>
        <a:cs typeface="Calibri"/>
      </a:majorFont>
      <a:minorFont>
        <a:latin typeface="Calibri"/>
        <a:ea typeface=""/>
        <a:cs typeface="Calibr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ערכת נושא Office">
  <a:themeElements>
    <a:clrScheme name="כחול">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r" rtl="1">
          <a:defRPr dirty="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4571</TotalTime>
  <Words>4943</Words>
  <Application>Microsoft Office PowerPoint</Application>
  <PresentationFormat>מסך רחב</PresentationFormat>
  <Paragraphs>1084</Paragraphs>
  <Slides>63</Slides>
  <Notes>61</Notes>
  <HiddenSlides>17</HiddenSlides>
  <MMClips>0</MMClips>
  <ScaleCrop>false</ScaleCrop>
  <HeadingPairs>
    <vt:vector size="8" baseType="variant">
      <vt:variant>
        <vt:lpstr>גופנים בשימוש</vt:lpstr>
      </vt:variant>
      <vt:variant>
        <vt:i4>28</vt:i4>
      </vt:variant>
      <vt:variant>
        <vt:lpstr>ערכת נושא</vt:lpstr>
      </vt:variant>
      <vt:variant>
        <vt:i4>5</vt:i4>
      </vt:variant>
      <vt:variant>
        <vt:lpstr>שרתי OLE מוטבעים</vt:lpstr>
      </vt:variant>
      <vt:variant>
        <vt:i4>1</vt:i4>
      </vt:variant>
      <vt:variant>
        <vt:lpstr>כותרות שקופיות</vt:lpstr>
      </vt:variant>
      <vt:variant>
        <vt:i4>63</vt:i4>
      </vt:variant>
    </vt:vector>
  </HeadingPairs>
  <TitlesOfParts>
    <vt:vector size="97" baseType="lpstr">
      <vt:lpstr>맑은 고딕</vt:lpstr>
      <vt:lpstr>Abadi Extra Light</vt:lpstr>
      <vt:lpstr>Almoni Neue DL 4.0 AAA</vt:lpstr>
      <vt:lpstr>Almoni Neue DL 4.0 AAA Medium</vt:lpstr>
      <vt:lpstr>Aptos</vt:lpstr>
      <vt:lpstr>Aptos Display</vt:lpstr>
      <vt:lpstr>Arial</vt:lpstr>
      <vt:lpstr>Assistant</vt:lpstr>
      <vt:lpstr>Assistant Light</vt:lpstr>
      <vt:lpstr>Calibri</vt:lpstr>
      <vt:lpstr>Calibri Light</vt:lpstr>
      <vt:lpstr>David</vt:lpstr>
      <vt:lpstr>Droid Serif</vt:lpstr>
      <vt:lpstr>Guttman Kav</vt:lpstr>
      <vt:lpstr>Guttman Yad-Brush</vt:lpstr>
      <vt:lpstr>Gveret Levin AlefAlefAlef</vt:lpstr>
      <vt:lpstr>Helvetica Neue</vt:lpstr>
      <vt:lpstr>Helvetica Neue Medium</vt:lpstr>
      <vt:lpstr>Open Sans</vt:lpstr>
      <vt:lpstr>Open Sans Hebrew</vt:lpstr>
      <vt:lpstr>Pontano Sans</vt:lpstr>
      <vt:lpstr>Segoe UI</vt:lpstr>
      <vt:lpstr>Segoe UI Black</vt:lpstr>
      <vt:lpstr>Segoe UI Semilight</vt:lpstr>
      <vt:lpstr>Tahoma</vt:lpstr>
      <vt:lpstr>Times New Roman</vt:lpstr>
      <vt:lpstr>Varela Round</vt:lpstr>
      <vt:lpstr>Wingdings</vt:lpstr>
      <vt:lpstr>ערכת נושא Office</vt:lpstr>
      <vt:lpstr>Showeet theme</vt:lpstr>
      <vt:lpstr>1_ערכת נושא Office</vt:lpstr>
      <vt:lpstr>2_ערכת נושא Office</vt:lpstr>
      <vt:lpstr>Office Theme</vt:lpstr>
      <vt:lpstr>גליון עבודה</vt:lpstr>
      <vt:lpstr>מצגת של PowerPoint‏</vt:lpstr>
      <vt:lpstr>מצגת של PowerPoint‏</vt:lpstr>
      <vt:lpstr>מצגת של PowerPoint‏</vt:lpstr>
      <vt:lpstr>מספר ושיעור זכאי גמלת סיעוד לפי שנים </vt:lpstr>
      <vt:lpstr>הפיצול בסיעוד</vt:lpstr>
      <vt:lpstr>מצגת של PowerPoint‏</vt:lpstr>
      <vt:lpstr>תמצית עיקרי הרפורמה:</vt:lpstr>
      <vt:lpstr>רמות הגמלה לפני הרפורמה ואחריה</vt:lpstr>
      <vt:lpstr>מצגת של PowerPoint‏</vt:lpstr>
      <vt:lpstr>השפעות רפורמת 2018</vt:lpstr>
      <vt:lpstr>אחוז המרה לפי שירותים 2024</vt:lpstr>
      <vt:lpstr>מצגת של PowerPoint‏</vt:lpstr>
      <vt:lpstr>אחוז זקנים המקבלים סיעוד בעולם 2018</vt:lpstr>
      <vt:lpstr>אחוז בני +65 אשר מקבלים טיפול במוסד (2018)</vt:lpstr>
      <vt:lpstr>בריאות – שנות חיים בריאים בגיל 65  - נשים המדד המוצע: אחוז השנים הבריאות בגיל 65</vt:lpstr>
      <vt:lpstr>בריאות – שנות חיים בריאים בגיל 65  - גברים המדד המוצע: אחוז השנים הבריאות בגיל 65</vt:lpstr>
      <vt:lpstr>בריאות –תפקוד ADL</vt:lpstr>
      <vt:lpstr>בריאות –תפקוד IADL</vt:lpstr>
      <vt:lpstr>מצגת של PowerPoint‏</vt:lpstr>
      <vt:lpstr>מצגת של PowerPoint‏</vt:lpstr>
      <vt:lpstr>מצגת של PowerPoint‏</vt:lpstr>
      <vt:lpstr>מצגת של PowerPoint‏</vt:lpstr>
      <vt:lpstr>בעיות עיקריות בחוק סיעוד 2024: </vt:lpstr>
      <vt:lpstr>המלצות ועדה בין משרדית למניעת הדרדרות תפקודית (דו"ח קידר) 9.2022</vt:lpstr>
      <vt:lpstr>דו"ח רשת הביטחון הסיעודית בישראל אורי אוליאל 10.2022</vt:lpstr>
      <vt:lpstr>חוק ההסדרים גרסה ב' (2.2023)</vt:lpstr>
      <vt:lpstr>מצגת של PowerPoint‏</vt:lpstr>
      <vt:lpstr>כיוון משותף של מערכת הרווחה: </vt:lpstr>
      <vt:lpstr>מצגת של PowerPoint‏</vt:lpstr>
      <vt:lpstr>פורום ברק</vt:lpstr>
      <vt:lpstr>מודיעין עסקי: שחקני המפתח, אינטרסים והצצה אל מאחורי הקלעים</vt:lpstr>
      <vt:lpstr>מצגת של PowerPoint‏</vt:lpstr>
      <vt:lpstr>מצגת של PowerPoint‏</vt:lpstr>
      <vt:lpstr>ועדה בין משרדית וחוק ההסדרים</vt:lpstr>
      <vt:lpstr>מצגת של PowerPoint‏</vt:lpstr>
      <vt:lpstr>נתונים- קהילה תומכת היום:</vt:lpstr>
      <vt:lpstr>מצגת של PowerPoint‏</vt:lpstr>
      <vt:lpstr>מצגת של PowerPoint‏</vt:lpstr>
      <vt:lpstr>קהילה תומכת כשירות בסיס לכולם (MVP ברמה 1-2)</vt:lpstr>
      <vt:lpstr>מצגת של PowerPoint‏</vt:lpstr>
      <vt:lpstr>מצגת של PowerPoint‏</vt:lpstr>
      <vt:lpstr>סל שירותים אישי מבוסס נתונים לבחירת הזקן</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ROI במניעה לפי רמות סיעוד</vt:lpstr>
      <vt:lpstr>מצגת של PowerPoint‏</vt:lpstr>
      <vt:lpstr>מצגת של PowerPoint‏</vt:lpstr>
      <vt:lpstr>מצגת של PowerPoint‏</vt:lpstr>
      <vt:lpstr>מצגת של PowerPoint‏</vt:lpstr>
      <vt:lpstr>סטטוס מהלכים</vt:lpstr>
      <vt:lpstr>מצגת של PowerPoint‏</vt:lpstr>
      <vt:lpstr>מצגת של PowerPoint‏</vt:lpstr>
      <vt:lpstr>אז מה הם בוחרים?</vt:lpstr>
      <vt:lpstr>ROI לבטל"א וקופ"ח לפי רמות סיעוד</vt:lpstr>
      <vt:lpstr>מצגת של PowerPoint‏</vt:lpstr>
      <vt:lpstr>מצגת של PowerPoint‏</vt:lpstr>
      <vt:lpstr>מצגת של PowerPoint‏</vt:lpstr>
    </vt:vector>
  </TitlesOfParts>
  <Company>Molsa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עמית שמואליאן</dc:creator>
  <cp:lastModifiedBy>אביעד יצחקי</cp:lastModifiedBy>
  <cp:revision>227</cp:revision>
  <dcterms:created xsi:type="dcterms:W3CDTF">2022-08-02T10:23:38Z</dcterms:created>
  <dcterms:modified xsi:type="dcterms:W3CDTF">2024-09-15T10:55:49Z</dcterms:modified>
</cp:coreProperties>
</file>