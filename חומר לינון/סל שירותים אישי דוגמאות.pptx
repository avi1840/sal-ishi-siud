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8"/>
  </p:notesMasterIdLst>
  <p:sldIdLst>
    <p:sldId id="335" r:id="rId2"/>
    <p:sldId id="2145707136" r:id="rId3"/>
    <p:sldId id="2145707137" r:id="rId4"/>
    <p:sldId id="2145707150" r:id="rId5"/>
    <p:sldId id="2145707151" r:id="rId6"/>
    <p:sldId id="298" r:id="rId7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013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1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2DAC69-F2DF-426A-A72B-3FFD1EE774B8}" type="doc">
      <dgm:prSet loTypeId="urn:microsoft.com/office/officeart/2005/8/layout/venn3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pPr rtl="1"/>
          <a:endParaRPr lang="he-IL"/>
        </a:p>
      </dgm:t>
    </dgm:pt>
    <dgm:pt modelId="{59D664AA-9CE7-4157-80AE-CECD1FDCC6FA}">
      <dgm:prSet phldrT="[טקסט]"/>
      <dgm:spPr/>
      <dgm:t>
        <a:bodyPr/>
        <a:lstStyle/>
        <a:p>
          <a:pPr rtl="1"/>
          <a:r>
            <a:rPr lang="he-IL" dirty="0"/>
            <a:t>מרכז יום?</a:t>
          </a:r>
        </a:p>
      </dgm:t>
    </dgm:pt>
    <dgm:pt modelId="{5C6BFA4E-AD37-4F8C-8886-9F39FBBDC9FC}" type="parTrans" cxnId="{0E0A6C3F-8131-42F7-B5B8-8AD70CF6F9EA}">
      <dgm:prSet/>
      <dgm:spPr/>
      <dgm:t>
        <a:bodyPr/>
        <a:lstStyle/>
        <a:p>
          <a:pPr rtl="1"/>
          <a:endParaRPr lang="he-IL"/>
        </a:p>
      </dgm:t>
    </dgm:pt>
    <dgm:pt modelId="{F9A47966-D787-4858-B077-5EB512418C8F}" type="sibTrans" cxnId="{0E0A6C3F-8131-42F7-B5B8-8AD70CF6F9EA}">
      <dgm:prSet/>
      <dgm:spPr/>
      <dgm:t>
        <a:bodyPr/>
        <a:lstStyle/>
        <a:p>
          <a:pPr rtl="1"/>
          <a:endParaRPr lang="he-IL"/>
        </a:p>
      </dgm:t>
    </dgm:pt>
    <dgm:pt modelId="{AD921FC4-BC1B-4332-86D5-9520EAAAF1E4}">
      <dgm:prSet phldrT="[טקסט]"/>
      <dgm:spPr/>
      <dgm:t>
        <a:bodyPr/>
        <a:lstStyle/>
        <a:p>
          <a:pPr rtl="1"/>
          <a:r>
            <a:rPr lang="he-IL" dirty="0"/>
            <a:t>שירותי כביסה?</a:t>
          </a:r>
        </a:p>
      </dgm:t>
    </dgm:pt>
    <dgm:pt modelId="{AB9E7979-E2E9-49B1-94D7-F97E27754371}" type="parTrans" cxnId="{5FDF2474-5A49-44E0-9390-AE97E1C0ABA5}">
      <dgm:prSet/>
      <dgm:spPr/>
      <dgm:t>
        <a:bodyPr/>
        <a:lstStyle/>
        <a:p>
          <a:pPr rtl="1"/>
          <a:endParaRPr lang="he-IL"/>
        </a:p>
      </dgm:t>
    </dgm:pt>
    <dgm:pt modelId="{862EEECD-B879-441A-BDFD-367BA2D1ED03}" type="sibTrans" cxnId="{5FDF2474-5A49-44E0-9390-AE97E1C0ABA5}">
      <dgm:prSet/>
      <dgm:spPr/>
      <dgm:t>
        <a:bodyPr/>
        <a:lstStyle/>
        <a:p>
          <a:pPr rtl="1"/>
          <a:endParaRPr lang="he-IL"/>
        </a:p>
      </dgm:t>
    </dgm:pt>
    <dgm:pt modelId="{1EC8D0A6-0C22-4B81-B82E-FB70D299AD5C}">
      <dgm:prSet phldrT="[טקסט]"/>
      <dgm:spPr/>
      <dgm:t>
        <a:bodyPr/>
        <a:lstStyle/>
        <a:p>
          <a:pPr rtl="1"/>
          <a:r>
            <a:rPr lang="he-IL" dirty="0"/>
            <a:t>כסף?</a:t>
          </a:r>
        </a:p>
      </dgm:t>
    </dgm:pt>
    <dgm:pt modelId="{0DF6C506-7703-4727-99B0-EA97DC9C80D5}" type="parTrans" cxnId="{96A6A66D-8680-471B-A5CA-89D16FDE248D}">
      <dgm:prSet/>
      <dgm:spPr/>
      <dgm:t>
        <a:bodyPr/>
        <a:lstStyle/>
        <a:p>
          <a:pPr rtl="1"/>
          <a:endParaRPr lang="he-IL"/>
        </a:p>
      </dgm:t>
    </dgm:pt>
    <dgm:pt modelId="{A3C5FFE0-7A44-446D-9F87-7D8233D4A061}" type="sibTrans" cxnId="{96A6A66D-8680-471B-A5CA-89D16FDE248D}">
      <dgm:prSet/>
      <dgm:spPr/>
      <dgm:t>
        <a:bodyPr/>
        <a:lstStyle/>
        <a:p>
          <a:pPr rtl="1"/>
          <a:endParaRPr lang="he-IL"/>
        </a:p>
      </dgm:t>
    </dgm:pt>
    <dgm:pt modelId="{E07DAE9D-86FF-41A9-8360-85081503093B}">
      <dgm:prSet phldrT="[טקסט]"/>
      <dgm:spPr/>
      <dgm:t>
        <a:bodyPr/>
        <a:lstStyle/>
        <a:p>
          <a:pPr rtl="1"/>
          <a:r>
            <a:rPr lang="he-IL" dirty="0"/>
            <a:t>מטפלת?</a:t>
          </a:r>
        </a:p>
      </dgm:t>
    </dgm:pt>
    <dgm:pt modelId="{AB5EB4CD-CF8C-4456-8EA6-099F089745E5}" type="parTrans" cxnId="{12F8859B-13D8-41ED-85F9-28B582B22718}">
      <dgm:prSet/>
      <dgm:spPr/>
      <dgm:t>
        <a:bodyPr/>
        <a:lstStyle/>
        <a:p>
          <a:pPr rtl="1"/>
          <a:endParaRPr lang="he-IL"/>
        </a:p>
      </dgm:t>
    </dgm:pt>
    <dgm:pt modelId="{877891B9-F265-4CD3-A814-CF9EFCB9F31B}" type="sibTrans" cxnId="{12F8859B-13D8-41ED-85F9-28B582B22718}">
      <dgm:prSet/>
      <dgm:spPr/>
      <dgm:t>
        <a:bodyPr/>
        <a:lstStyle/>
        <a:p>
          <a:pPr rtl="1"/>
          <a:endParaRPr lang="he-IL"/>
        </a:p>
      </dgm:t>
    </dgm:pt>
    <dgm:pt modelId="{2D9CC6D8-6A0D-4CDD-9EEB-DFA9C355CF6F}">
      <dgm:prSet phldrT="[טקסט]"/>
      <dgm:spPr/>
      <dgm:t>
        <a:bodyPr/>
        <a:lstStyle/>
        <a:p>
          <a:pPr rtl="1"/>
          <a:r>
            <a:rPr lang="he-IL" dirty="0"/>
            <a:t>טיטולים?</a:t>
          </a:r>
        </a:p>
      </dgm:t>
    </dgm:pt>
    <dgm:pt modelId="{BA2A0E90-7ADB-4464-A43B-183B60838950}" type="parTrans" cxnId="{04F669AD-E0F0-4F99-85F9-CFBCFFF7C895}">
      <dgm:prSet/>
      <dgm:spPr/>
      <dgm:t>
        <a:bodyPr/>
        <a:lstStyle/>
        <a:p>
          <a:pPr rtl="1"/>
          <a:endParaRPr lang="he-IL"/>
        </a:p>
      </dgm:t>
    </dgm:pt>
    <dgm:pt modelId="{6BDEE30D-E728-4DA8-A371-F10FEFCEF934}" type="sibTrans" cxnId="{04F669AD-E0F0-4F99-85F9-CFBCFFF7C895}">
      <dgm:prSet/>
      <dgm:spPr/>
      <dgm:t>
        <a:bodyPr/>
        <a:lstStyle/>
        <a:p>
          <a:pPr rtl="1"/>
          <a:endParaRPr lang="he-IL"/>
        </a:p>
      </dgm:t>
    </dgm:pt>
    <dgm:pt modelId="{0C034FC4-A7BE-4A21-801B-EDBC92E45A61}" type="pres">
      <dgm:prSet presAssocID="{A92DAC69-F2DF-426A-A72B-3FFD1EE774B8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pPr rtl="1"/>
          <a:endParaRPr lang="he-IL"/>
        </a:p>
      </dgm:t>
    </dgm:pt>
    <dgm:pt modelId="{5878192A-A055-49A5-A975-99AB0E689D6E}" type="pres">
      <dgm:prSet presAssocID="{59D664AA-9CE7-4157-80AE-CECD1FDCC6FA}" presName="Name5" presStyleLbl="vennNode1" presStyleIdx="0" presStyleCnt="5">
        <dgm:presLayoutVars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D5ABBE1E-D58A-472D-B28B-BD148DDDD197}" type="pres">
      <dgm:prSet presAssocID="{F9A47966-D787-4858-B077-5EB512418C8F}" presName="space" presStyleCnt="0"/>
      <dgm:spPr/>
    </dgm:pt>
    <dgm:pt modelId="{D8E91E25-8363-4A79-9E86-77E442B0FFAC}" type="pres">
      <dgm:prSet presAssocID="{AD921FC4-BC1B-4332-86D5-9520EAAAF1E4}" presName="Name5" presStyleLbl="vennNode1" presStyleIdx="1" presStyleCnt="5">
        <dgm:presLayoutVars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1A14723C-D669-4DE8-8F0A-2CD8219F7E6D}" type="pres">
      <dgm:prSet presAssocID="{862EEECD-B879-441A-BDFD-367BA2D1ED03}" presName="space" presStyleCnt="0"/>
      <dgm:spPr/>
    </dgm:pt>
    <dgm:pt modelId="{A29250C1-4D38-4611-B7E7-90B5A88926EF}" type="pres">
      <dgm:prSet presAssocID="{1EC8D0A6-0C22-4B81-B82E-FB70D299AD5C}" presName="Name5" presStyleLbl="vennNode1" presStyleIdx="2" presStyleCnt="5">
        <dgm:presLayoutVars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232CCE3E-D612-4A67-996E-024B4B38B1C1}" type="pres">
      <dgm:prSet presAssocID="{A3C5FFE0-7A44-446D-9F87-7D8233D4A061}" presName="space" presStyleCnt="0"/>
      <dgm:spPr/>
    </dgm:pt>
    <dgm:pt modelId="{C36CB827-37E2-4CA7-BDEA-8A5B2412EC55}" type="pres">
      <dgm:prSet presAssocID="{E07DAE9D-86FF-41A9-8360-85081503093B}" presName="Name5" presStyleLbl="vennNode1" presStyleIdx="3" presStyleCnt="5">
        <dgm:presLayoutVars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A7027685-E3E3-4A52-A937-28A4159C24A7}" type="pres">
      <dgm:prSet presAssocID="{877891B9-F265-4CD3-A814-CF9EFCB9F31B}" presName="space" presStyleCnt="0"/>
      <dgm:spPr/>
    </dgm:pt>
    <dgm:pt modelId="{084B70BC-296E-42EE-B9F0-4B73CE7ED8F5}" type="pres">
      <dgm:prSet presAssocID="{2D9CC6D8-6A0D-4CDD-9EEB-DFA9C355CF6F}" presName="Name5" presStyleLbl="vennNode1" presStyleIdx="4" presStyleCnt="5">
        <dgm:presLayoutVars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</dgm:ptLst>
  <dgm:cxnLst>
    <dgm:cxn modelId="{5FDF2474-5A49-44E0-9390-AE97E1C0ABA5}" srcId="{A92DAC69-F2DF-426A-A72B-3FFD1EE774B8}" destId="{AD921FC4-BC1B-4332-86D5-9520EAAAF1E4}" srcOrd="1" destOrd="0" parTransId="{AB9E7979-E2E9-49B1-94D7-F97E27754371}" sibTransId="{862EEECD-B879-441A-BDFD-367BA2D1ED03}"/>
    <dgm:cxn modelId="{12F8859B-13D8-41ED-85F9-28B582B22718}" srcId="{A92DAC69-F2DF-426A-A72B-3FFD1EE774B8}" destId="{E07DAE9D-86FF-41A9-8360-85081503093B}" srcOrd="3" destOrd="0" parTransId="{AB5EB4CD-CF8C-4456-8EA6-099F089745E5}" sibTransId="{877891B9-F265-4CD3-A814-CF9EFCB9F31B}"/>
    <dgm:cxn modelId="{04F669AD-E0F0-4F99-85F9-CFBCFFF7C895}" srcId="{A92DAC69-F2DF-426A-A72B-3FFD1EE774B8}" destId="{2D9CC6D8-6A0D-4CDD-9EEB-DFA9C355CF6F}" srcOrd="4" destOrd="0" parTransId="{BA2A0E90-7ADB-4464-A43B-183B60838950}" sibTransId="{6BDEE30D-E728-4DA8-A371-F10FEFCEF934}"/>
    <dgm:cxn modelId="{A67B9C02-0280-41E1-8B6E-CB9FE5073514}" type="presOf" srcId="{AD921FC4-BC1B-4332-86D5-9520EAAAF1E4}" destId="{D8E91E25-8363-4A79-9E86-77E442B0FFAC}" srcOrd="0" destOrd="0" presId="urn:microsoft.com/office/officeart/2005/8/layout/venn3"/>
    <dgm:cxn modelId="{96A6A66D-8680-471B-A5CA-89D16FDE248D}" srcId="{A92DAC69-F2DF-426A-A72B-3FFD1EE774B8}" destId="{1EC8D0A6-0C22-4B81-B82E-FB70D299AD5C}" srcOrd="2" destOrd="0" parTransId="{0DF6C506-7703-4727-99B0-EA97DC9C80D5}" sibTransId="{A3C5FFE0-7A44-446D-9F87-7D8233D4A061}"/>
    <dgm:cxn modelId="{60563097-BA99-4945-AD87-D4641E97B8BF}" type="presOf" srcId="{2D9CC6D8-6A0D-4CDD-9EEB-DFA9C355CF6F}" destId="{084B70BC-296E-42EE-B9F0-4B73CE7ED8F5}" srcOrd="0" destOrd="0" presId="urn:microsoft.com/office/officeart/2005/8/layout/venn3"/>
    <dgm:cxn modelId="{2D087E55-B05D-406A-849F-099E4B3777C5}" type="presOf" srcId="{59D664AA-9CE7-4157-80AE-CECD1FDCC6FA}" destId="{5878192A-A055-49A5-A975-99AB0E689D6E}" srcOrd="0" destOrd="0" presId="urn:microsoft.com/office/officeart/2005/8/layout/venn3"/>
    <dgm:cxn modelId="{06A77C03-6AD8-41F2-AC66-33EC00CAD961}" type="presOf" srcId="{1EC8D0A6-0C22-4B81-B82E-FB70D299AD5C}" destId="{A29250C1-4D38-4611-B7E7-90B5A88926EF}" srcOrd="0" destOrd="0" presId="urn:microsoft.com/office/officeart/2005/8/layout/venn3"/>
    <dgm:cxn modelId="{0E0A6C3F-8131-42F7-B5B8-8AD70CF6F9EA}" srcId="{A92DAC69-F2DF-426A-A72B-3FFD1EE774B8}" destId="{59D664AA-9CE7-4157-80AE-CECD1FDCC6FA}" srcOrd="0" destOrd="0" parTransId="{5C6BFA4E-AD37-4F8C-8886-9F39FBBDC9FC}" sibTransId="{F9A47966-D787-4858-B077-5EB512418C8F}"/>
    <dgm:cxn modelId="{28522FD2-7B23-48A2-94EB-E85347CF3C80}" type="presOf" srcId="{E07DAE9D-86FF-41A9-8360-85081503093B}" destId="{C36CB827-37E2-4CA7-BDEA-8A5B2412EC55}" srcOrd="0" destOrd="0" presId="urn:microsoft.com/office/officeart/2005/8/layout/venn3"/>
    <dgm:cxn modelId="{D579D054-F67A-46CC-83D5-C84B457F0643}" type="presOf" srcId="{A92DAC69-F2DF-426A-A72B-3FFD1EE774B8}" destId="{0C034FC4-A7BE-4A21-801B-EDBC92E45A61}" srcOrd="0" destOrd="0" presId="urn:microsoft.com/office/officeart/2005/8/layout/venn3"/>
    <dgm:cxn modelId="{E3D563C0-6ED8-4731-918C-907B5C5F58FD}" type="presParOf" srcId="{0C034FC4-A7BE-4A21-801B-EDBC92E45A61}" destId="{5878192A-A055-49A5-A975-99AB0E689D6E}" srcOrd="0" destOrd="0" presId="urn:microsoft.com/office/officeart/2005/8/layout/venn3"/>
    <dgm:cxn modelId="{32EDCF10-3902-4DF1-AF94-732C70726757}" type="presParOf" srcId="{0C034FC4-A7BE-4A21-801B-EDBC92E45A61}" destId="{D5ABBE1E-D58A-472D-B28B-BD148DDDD197}" srcOrd="1" destOrd="0" presId="urn:microsoft.com/office/officeart/2005/8/layout/venn3"/>
    <dgm:cxn modelId="{6221BB87-D1FD-4690-917F-6234DA643468}" type="presParOf" srcId="{0C034FC4-A7BE-4A21-801B-EDBC92E45A61}" destId="{D8E91E25-8363-4A79-9E86-77E442B0FFAC}" srcOrd="2" destOrd="0" presId="urn:microsoft.com/office/officeart/2005/8/layout/venn3"/>
    <dgm:cxn modelId="{F4A92CE3-C80F-4345-B133-4F2EB78F0C50}" type="presParOf" srcId="{0C034FC4-A7BE-4A21-801B-EDBC92E45A61}" destId="{1A14723C-D669-4DE8-8F0A-2CD8219F7E6D}" srcOrd="3" destOrd="0" presId="urn:microsoft.com/office/officeart/2005/8/layout/venn3"/>
    <dgm:cxn modelId="{334E7AF1-7BFB-405E-84BB-9A701B25AD76}" type="presParOf" srcId="{0C034FC4-A7BE-4A21-801B-EDBC92E45A61}" destId="{A29250C1-4D38-4611-B7E7-90B5A88926EF}" srcOrd="4" destOrd="0" presId="urn:microsoft.com/office/officeart/2005/8/layout/venn3"/>
    <dgm:cxn modelId="{4C0A6907-E79A-4784-813D-E195F3BA83A3}" type="presParOf" srcId="{0C034FC4-A7BE-4A21-801B-EDBC92E45A61}" destId="{232CCE3E-D612-4A67-996E-024B4B38B1C1}" srcOrd="5" destOrd="0" presId="urn:microsoft.com/office/officeart/2005/8/layout/venn3"/>
    <dgm:cxn modelId="{B10A97DD-D653-4411-AF74-AD9E468B75D4}" type="presParOf" srcId="{0C034FC4-A7BE-4A21-801B-EDBC92E45A61}" destId="{C36CB827-37E2-4CA7-BDEA-8A5B2412EC55}" srcOrd="6" destOrd="0" presId="urn:microsoft.com/office/officeart/2005/8/layout/venn3"/>
    <dgm:cxn modelId="{F482A760-2CC3-49AC-9200-0DB8FD0B6F4C}" type="presParOf" srcId="{0C034FC4-A7BE-4A21-801B-EDBC92E45A61}" destId="{A7027685-E3E3-4A52-A937-28A4159C24A7}" srcOrd="7" destOrd="0" presId="urn:microsoft.com/office/officeart/2005/8/layout/venn3"/>
    <dgm:cxn modelId="{3A74B44F-783F-403B-A198-888934510A79}" type="presParOf" srcId="{0C034FC4-A7BE-4A21-801B-EDBC92E45A61}" destId="{084B70BC-296E-42EE-B9F0-4B73CE7ED8F5}" srcOrd="8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78192A-A055-49A5-A975-99AB0E689D6E}">
      <dsp:nvSpPr>
        <dsp:cNvPr id="0" name=""/>
        <dsp:cNvSpPr/>
      </dsp:nvSpPr>
      <dsp:spPr>
        <a:xfrm>
          <a:off x="841" y="965341"/>
          <a:ext cx="1641430" cy="1641430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0333" tIns="26670" rIns="90333" bIns="26670" numCol="1" spcCol="1270" anchor="ctr" anchorCtr="0">
          <a:noAutofit/>
        </a:bodyPr>
        <a:lstStyle/>
        <a:p>
          <a:pPr lvl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100" kern="1200" dirty="0"/>
            <a:t>מרכז יום?</a:t>
          </a:r>
        </a:p>
      </dsp:txBody>
      <dsp:txXfrm>
        <a:off x="241223" y="1205723"/>
        <a:ext cx="1160666" cy="1160666"/>
      </dsp:txXfrm>
    </dsp:sp>
    <dsp:sp modelId="{D8E91E25-8363-4A79-9E86-77E442B0FFAC}">
      <dsp:nvSpPr>
        <dsp:cNvPr id="0" name=""/>
        <dsp:cNvSpPr/>
      </dsp:nvSpPr>
      <dsp:spPr>
        <a:xfrm>
          <a:off x="1313985" y="965341"/>
          <a:ext cx="1641430" cy="1641430"/>
        </a:xfrm>
        <a:prstGeom prst="ellipse">
          <a:avLst/>
        </a:prstGeom>
        <a:solidFill>
          <a:schemeClr val="accent4">
            <a:alpha val="50000"/>
            <a:hueOff val="2450223"/>
            <a:satOff val="-10194"/>
            <a:lumOff val="24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0333" tIns="26670" rIns="90333" bIns="26670" numCol="1" spcCol="1270" anchor="ctr" anchorCtr="0">
          <a:noAutofit/>
        </a:bodyPr>
        <a:lstStyle/>
        <a:p>
          <a:pPr lvl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100" kern="1200" dirty="0"/>
            <a:t>שירותי כביסה?</a:t>
          </a:r>
        </a:p>
      </dsp:txBody>
      <dsp:txXfrm>
        <a:off x="1554367" y="1205723"/>
        <a:ext cx="1160666" cy="1160666"/>
      </dsp:txXfrm>
    </dsp:sp>
    <dsp:sp modelId="{A29250C1-4D38-4611-B7E7-90B5A88926EF}">
      <dsp:nvSpPr>
        <dsp:cNvPr id="0" name=""/>
        <dsp:cNvSpPr/>
      </dsp:nvSpPr>
      <dsp:spPr>
        <a:xfrm>
          <a:off x="2627129" y="965341"/>
          <a:ext cx="1641430" cy="1641430"/>
        </a:xfrm>
        <a:prstGeom prst="ellipse">
          <a:avLst/>
        </a:prstGeom>
        <a:solidFill>
          <a:schemeClr val="accent4">
            <a:alpha val="50000"/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0333" tIns="26670" rIns="90333" bIns="26670" numCol="1" spcCol="1270" anchor="ctr" anchorCtr="0">
          <a:noAutofit/>
        </a:bodyPr>
        <a:lstStyle/>
        <a:p>
          <a:pPr lvl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100" kern="1200" dirty="0"/>
            <a:t>כסף?</a:t>
          </a:r>
        </a:p>
      </dsp:txBody>
      <dsp:txXfrm>
        <a:off x="2867511" y="1205723"/>
        <a:ext cx="1160666" cy="1160666"/>
      </dsp:txXfrm>
    </dsp:sp>
    <dsp:sp modelId="{C36CB827-37E2-4CA7-BDEA-8A5B2412EC55}">
      <dsp:nvSpPr>
        <dsp:cNvPr id="0" name=""/>
        <dsp:cNvSpPr/>
      </dsp:nvSpPr>
      <dsp:spPr>
        <a:xfrm>
          <a:off x="3940274" y="965341"/>
          <a:ext cx="1641430" cy="1641430"/>
        </a:xfrm>
        <a:prstGeom prst="ellipse">
          <a:avLst/>
        </a:prstGeom>
        <a:solidFill>
          <a:schemeClr val="accent4">
            <a:alpha val="50000"/>
            <a:hueOff val="7350668"/>
            <a:satOff val="-30583"/>
            <a:lumOff val="72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0333" tIns="26670" rIns="90333" bIns="26670" numCol="1" spcCol="1270" anchor="ctr" anchorCtr="0">
          <a:noAutofit/>
        </a:bodyPr>
        <a:lstStyle/>
        <a:p>
          <a:pPr lvl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100" kern="1200" dirty="0"/>
            <a:t>מטפלת?</a:t>
          </a:r>
        </a:p>
      </dsp:txBody>
      <dsp:txXfrm>
        <a:off x="4180656" y="1205723"/>
        <a:ext cx="1160666" cy="1160666"/>
      </dsp:txXfrm>
    </dsp:sp>
    <dsp:sp modelId="{084B70BC-296E-42EE-B9F0-4B73CE7ED8F5}">
      <dsp:nvSpPr>
        <dsp:cNvPr id="0" name=""/>
        <dsp:cNvSpPr/>
      </dsp:nvSpPr>
      <dsp:spPr>
        <a:xfrm>
          <a:off x="5253418" y="965341"/>
          <a:ext cx="1641430" cy="1641430"/>
        </a:xfrm>
        <a:prstGeom prst="ellipse">
          <a:avLst/>
        </a:prstGeom>
        <a:solidFill>
          <a:schemeClr val="accent4">
            <a:alpha val="50000"/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0333" tIns="26670" rIns="90333" bIns="26670" numCol="1" spcCol="1270" anchor="ctr" anchorCtr="0">
          <a:noAutofit/>
        </a:bodyPr>
        <a:lstStyle/>
        <a:p>
          <a:pPr lvl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100" kern="1200" dirty="0"/>
            <a:t>טיטולים?</a:t>
          </a:r>
        </a:p>
      </dsp:txBody>
      <dsp:txXfrm>
        <a:off x="5493800" y="1205723"/>
        <a:ext cx="1160666" cy="11606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FDD26B23-E926-4D0E-9A95-A6C5CBFBE4E8}" type="datetimeFigureOut">
              <a:rPr lang="he-IL" smtClean="0"/>
              <a:t>י"ג/סיון/תשפ"ד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A28CAFD-51E0-4C67-B1CB-9897C5A735A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02817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80% </a:t>
            </a:r>
            <a:r>
              <a:rPr lang="en-US" baseline="0" dirty="0"/>
              <a:t> </a:t>
            </a:r>
            <a:r>
              <a:rPr lang="he-IL" baseline="0" dirty="0"/>
              <a:t>מהבריאות בקהילה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3FB198-B410-4AA9-86F5-D09177D6400A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0653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3FB198-B410-4AA9-86F5-D09177D6400A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97328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יש כבר פלטפורמה דיגיטלית שעובדת שעושה התאמה אישית על בסיס תפקוד באמצעות </a:t>
            </a:r>
            <a:r>
              <a:rPr lang="en-US" dirty="0"/>
              <a:t>AI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3FB198-B410-4AA9-86F5-D09177D6400A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7346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3FB198-B410-4AA9-86F5-D09177D6400A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23790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B8DE725-3CB0-2734-B1B7-C7F5C9B59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E901307-3024-13C3-68AC-A131E331B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85C496F-87DB-247F-313E-789374F03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5E39-9A01-4050-9295-303E34B675E8}" type="datetimeFigureOut">
              <a:rPr lang="he-IL" smtClean="0"/>
              <a:t>י"ג/סיון/תשפ"ד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843C35A-FEB3-B55D-CDDA-13794FEA0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5BAF367-BAFD-E76D-78D4-0CF575B7E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77958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BC76CD6-513E-D59E-F93B-CAB655F21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BFB58BE-A3C4-0C08-70E4-38E0DAC8F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4B947D9-E910-7096-EDEA-60B47B004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5E39-9A01-4050-9295-303E34B675E8}" type="datetimeFigureOut">
              <a:rPr lang="he-IL" smtClean="0"/>
              <a:t>י"ג/סיון/תשפ"ד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AA0F988-3C9A-8A62-B72C-F23025DE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45A760A-6B80-FDA2-8DF9-29E91144E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61027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4B61CA6-6A89-85F2-AB42-332489326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AF4C8ED-CAD9-A101-428D-FC3DA1E3A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118F351-CA5C-75D7-0AE5-2D5407AC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5E39-9A01-4050-9295-303E34B675E8}" type="datetimeFigureOut">
              <a:rPr lang="he-IL" smtClean="0"/>
              <a:t>י"ג/סיון/תשפ"ד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226467F-F23A-17DC-3045-429368827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5562764-6F18-237B-DADC-E96133380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00161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F85A88C-46F7-7F04-3262-04FD54502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23290CD-5C5D-FD9B-9459-109DE5958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85EF654-96A3-89E6-F3CF-B53D2B163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D52EB54-4E97-D3A4-7F48-7E11E77D8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5E39-9A01-4050-9295-303E34B675E8}" type="datetimeFigureOut">
              <a:rPr lang="he-IL" smtClean="0"/>
              <a:t>י"ג/סיון/תשפ"ד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38364C9-B8F8-272C-EADA-B7643C5B9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A8D2CB7-3C85-5746-DA91-A5770E033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43393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2352187-C49B-82AB-8765-E4BFF1379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3D482E2-4EBA-DF81-763E-7A6A0A080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C3B0CC9-4786-9335-438B-700E9D207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32F58EFD-50A5-F4C9-1068-BCB0CA743A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306032FE-AE91-C3B8-72F2-F22B981DFB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26FDA2A3-F407-C732-7FE5-C6EDD225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5E39-9A01-4050-9295-303E34B675E8}" type="datetimeFigureOut">
              <a:rPr lang="he-IL" smtClean="0"/>
              <a:t>י"ג/סיון/תשפ"ד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7D98AC72-6A10-76D6-6337-D6C3A5C5B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027969EB-3611-126F-CE09-13A8EA88D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037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F3F24AB-E2F0-B37A-67C7-A767C8FA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1C66BB14-2B57-5822-412E-A698D9057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5E39-9A01-4050-9295-303E34B675E8}" type="datetimeFigureOut">
              <a:rPr lang="he-IL" smtClean="0"/>
              <a:t>י"ג/סיון/תשפ"ד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502FB4F-AFBA-BDD5-9A8E-C992C345C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2509E0-A6C8-4CF9-061B-509A21407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3668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DE9DA5CF-CE38-EB85-77DB-432AB613D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5E39-9A01-4050-9295-303E34B675E8}" type="datetimeFigureOut">
              <a:rPr lang="he-IL" smtClean="0"/>
              <a:t>י"ג/סיון/תשפ"ד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111DF85-AA2C-A519-79BD-6D322692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8B978C-CACE-1974-BFC4-BD54AEF6E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62400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BAC769C-69C1-F126-5271-A26314E3C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E1CBA65-5D00-C192-7002-099E9ADB4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E926D5C-E39D-5F64-A414-7EA9A5FE6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23D08A1-5BE6-FA43-DC63-4A74CE097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5E39-9A01-4050-9295-303E34B675E8}" type="datetimeFigureOut">
              <a:rPr lang="he-IL" smtClean="0"/>
              <a:t>י"ג/סיון/תשפ"ד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338BA08-7758-65D1-C516-86646F86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384D087-A280-EDEB-4339-56DA49B22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3413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BDADAE5-3AFA-8868-07C6-D39543C2E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D3DED182-3C89-68D2-6449-2D0C0F098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07514BC-EF53-F471-F3F3-72EF6267A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ACDDBF4-F2F1-CA53-D1AF-A8393E094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5E39-9A01-4050-9295-303E34B675E8}" type="datetimeFigureOut">
              <a:rPr lang="he-IL" smtClean="0"/>
              <a:t>י"ג/סיון/תשפ"ד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F47522E-2502-4392-B7DC-C4FD73601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387269E-C5A7-E348-52DC-50504EB6C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45723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DB7C169-BD66-1DDC-B83F-FE8F82521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5123ACE-E786-BDA3-3D40-8BC40116D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1315AF9-4662-E91E-72AD-BAFC3FDF0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5E39-9A01-4050-9295-303E34B675E8}" type="datetimeFigureOut">
              <a:rPr lang="he-IL" smtClean="0"/>
              <a:t>י"ג/סיון/תשפ"ד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C4AA696-A828-53B7-76E4-67D6DF711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2DA8F10-F122-9907-56B1-3C29F808F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044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AFE74C91-027E-9F81-D67C-74BAFA8578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E653FA9-0567-A069-369F-3648A1E614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EBF097B-BE12-E233-3010-A6FB425D8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5E39-9A01-4050-9295-303E34B675E8}" type="datetimeFigureOut">
              <a:rPr lang="he-IL" smtClean="0"/>
              <a:t>י"ג/סיון/תשפ"ד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83C1E4F-13AB-5A0E-8727-21BE239B9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135976E-BF31-D2C3-FF01-2DCE1A23B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36450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B26D47B5-35F9-046C-E2E2-7686D29BD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28C1493-2ED1-FD02-5921-9A6115F63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2635F43-17AD-550A-C340-9E983A6DE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225E39-9A01-4050-9295-303E34B675E8}" type="datetimeFigureOut">
              <a:rPr lang="he-IL" smtClean="0"/>
              <a:t>י"ג/סיון/תשפ"ד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D1823C6-754C-4FA5-3733-F78A2144BC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0BBCF11-5A66-2104-5AEF-EB444C9E2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22217-CC90-48DD-8CE9-B4B5A2DA73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04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 descr="C:\Users\USER\Downloads\עיצוב ללא שם (1).png">
            <a:extLst>
              <a:ext uri="{FF2B5EF4-FFF2-40B4-BE49-F238E27FC236}">
                <a16:creationId xmlns:a16="http://schemas.microsoft.com/office/drawing/2014/main" id="{63A64E2B-89CE-8A00-D294-0ACF660075FE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872194" y="90195"/>
            <a:ext cx="1438836" cy="54986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F0B2B9E1-7D19-A411-64F5-C0CD1D5E8BB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24" r="15587"/>
          <a:stretch/>
        </p:blipFill>
        <p:spPr>
          <a:xfrm>
            <a:off x="11353800" y="-2143"/>
            <a:ext cx="603355" cy="734536"/>
          </a:xfrm>
          <a:prstGeom prst="rect">
            <a:avLst/>
          </a:prstGeom>
        </p:spPr>
      </p:pic>
      <p:sp>
        <p:nvSpPr>
          <p:cNvPr id="8" name="מלבן 7"/>
          <p:cNvSpPr/>
          <p:nvPr/>
        </p:nvSpPr>
        <p:spPr>
          <a:xfrm>
            <a:off x="3093" y="0"/>
            <a:ext cx="244547" cy="6857999"/>
          </a:xfrm>
          <a:prstGeom prst="rect">
            <a:avLst/>
          </a:prstGeom>
          <a:solidFill>
            <a:srgbClr val="5EC5C5"/>
          </a:solidFill>
          <a:ln>
            <a:solidFill>
              <a:srgbClr val="2CC2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" name="כותרת 2"/>
          <p:cNvSpPr>
            <a:spLocks noGrp="1"/>
          </p:cNvSpPr>
          <p:nvPr>
            <p:ph type="title"/>
          </p:nvPr>
        </p:nvSpPr>
        <p:spPr>
          <a:xfrm>
            <a:off x="1324579" y="983567"/>
            <a:ext cx="10486421" cy="944554"/>
          </a:xfrm>
        </p:spPr>
        <p:txBody>
          <a:bodyPr>
            <a:normAutofit fontScale="90000"/>
          </a:bodyPr>
          <a:lstStyle/>
          <a:p>
            <a:r>
              <a:rPr lang="he-IL" dirty="0"/>
              <a:t>סל שירותים אישי</a:t>
            </a:r>
            <a:br>
              <a:rPr lang="he-IL" dirty="0"/>
            </a:br>
            <a:r>
              <a:rPr lang="he-IL" dirty="0"/>
              <a:t>מבוסס נתונים</a:t>
            </a:r>
            <a:br>
              <a:rPr lang="he-IL" dirty="0"/>
            </a:br>
            <a:r>
              <a:rPr lang="he-IL" dirty="0"/>
              <a:t>לבחירת הזקן</a:t>
            </a:r>
          </a:p>
        </p:txBody>
      </p:sp>
      <p:sp>
        <p:nvSpPr>
          <p:cNvPr id="9" name="אליפסה 8">
            <a:extLst>
              <a:ext uri="{FF2B5EF4-FFF2-40B4-BE49-F238E27FC236}">
                <a16:creationId xmlns:a16="http://schemas.microsoft.com/office/drawing/2014/main" id="{C71533EF-6755-7268-6CA5-79C13828B470}"/>
              </a:ext>
            </a:extLst>
          </p:cNvPr>
          <p:cNvSpPr/>
          <p:nvPr/>
        </p:nvSpPr>
        <p:spPr>
          <a:xfrm>
            <a:off x="3398106" y="1349131"/>
            <a:ext cx="4754458" cy="4719145"/>
          </a:xfrm>
          <a:prstGeom prst="ellipse">
            <a:avLst/>
          </a:prstGeom>
          <a:noFill/>
          <a:ln w="38100">
            <a:solidFill>
              <a:srgbClr val="1323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srgbClr val="13235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D7F2B4F-0FBF-1F14-C16E-0C507BC66D7B}"/>
              </a:ext>
            </a:extLst>
          </p:cNvPr>
          <p:cNvSpPr txBox="1">
            <a:spLocks/>
          </p:cNvSpPr>
          <p:nvPr/>
        </p:nvSpPr>
        <p:spPr>
          <a:xfrm>
            <a:off x="2424865" y="-52593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/>
            </a:r>
            <a:br>
              <a:rPr kumimoji="0" lang="he-IL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</a:br>
            <a:r>
              <a:rPr kumimoji="0" lang="he-IL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ביזור שירותים לאזרח הוותיק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j-ea"/>
              <a:cs typeface="Calibri"/>
            </a:endParaRPr>
          </a:p>
        </p:txBody>
      </p:sp>
      <p:pic>
        <p:nvPicPr>
          <p:cNvPr id="11" name="Graphic 4" descr="Man with cane outline">
            <a:extLst>
              <a:ext uri="{FF2B5EF4-FFF2-40B4-BE49-F238E27FC236}">
                <a16:creationId xmlns:a16="http://schemas.microsoft.com/office/drawing/2014/main" id="{07AE29C9-0235-E0EB-FAD6-0CA385B26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 flipH="1">
            <a:off x="5301119" y="3069871"/>
            <a:ext cx="1044682" cy="1171153"/>
          </a:xfrm>
        </p:spPr>
      </p:pic>
      <p:sp>
        <p:nvSpPr>
          <p:cNvPr id="12" name="תיבת טקסט 14">
            <a:extLst>
              <a:ext uri="{FF2B5EF4-FFF2-40B4-BE49-F238E27FC236}">
                <a16:creationId xmlns:a16="http://schemas.microsoft.com/office/drawing/2014/main" id="{C6CB3823-B702-7BDE-AD0E-7D3DBF43A3A6}"/>
              </a:ext>
            </a:extLst>
          </p:cNvPr>
          <p:cNvSpPr txBox="1"/>
          <p:nvPr/>
        </p:nvSpPr>
        <p:spPr>
          <a:xfrm>
            <a:off x="7456118" y="1515763"/>
            <a:ext cx="207957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              </a:t>
            </a:r>
            <a:endParaRPr kumimoji="0" lang="he-IL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צורה חופשית: צורה 26">
            <a:extLst>
              <a:ext uri="{FF2B5EF4-FFF2-40B4-BE49-F238E27FC236}">
                <a16:creationId xmlns:a16="http://schemas.microsoft.com/office/drawing/2014/main" id="{E3850D9D-E5FF-8C79-4C83-785EE1705BFA}"/>
              </a:ext>
            </a:extLst>
          </p:cNvPr>
          <p:cNvSpPr/>
          <p:nvPr/>
        </p:nvSpPr>
        <p:spPr>
          <a:xfrm>
            <a:off x="8277745" y="1944029"/>
            <a:ext cx="2033820" cy="3422835"/>
          </a:xfrm>
          <a:custGeom>
            <a:avLst/>
            <a:gdLst>
              <a:gd name="connsiteX0" fmla="*/ 0 w 1005021"/>
              <a:gd name="connsiteY0" fmla="*/ 0 h 1005021"/>
              <a:gd name="connsiteX1" fmla="*/ 1005021 w 1005021"/>
              <a:gd name="connsiteY1" fmla="*/ 0 h 1005021"/>
              <a:gd name="connsiteX2" fmla="*/ 1005021 w 1005021"/>
              <a:gd name="connsiteY2" fmla="*/ 1005021 h 1005021"/>
              <a:gd name="connsiteX3" fmla="*/ 0 w 1005021"/>
              <a:gd name="connsiteY3" fmla="*/ 1005021 h 1005021"/>
              <a:gd name="connsiteX4" fmla="*/ 0 w 1005021"/>
              <a:gd name="connsiteY4" fmla="*/ 0 h 100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021" h="1005021">
                <a:moveTo>
                  <a:pt x="0" y="0"/>
                </a:moveTo>
                <a:lnTo>
                  <a:pt x="1005021" y="0"/>
                </a:lnTo>
                <a:lnTo>
                  <a:pt x="1005021" y="1005021"/>
                </a:lnTo>
                <a:lnTo>
                  <a:pt x="0" y="10050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780" tIns="17780" rIns="17780" bIns="17780" numCol="1" spcCol="1270" anchor="ctr" anchorCtr="0">
            <a:noAutofit/>
          </a:bodyPr>
          <a:lstStyle/>
          <a:p>
            <a:pPr marL="0" marR="0" lvl="0" indent="0" algn="ctr" defTabSz="6223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he-IL" sz="2400" b="1" dirty="0">
                <a:solidFill>
                  <a:srgbClr val="13235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סל אישי קהילתי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srgbClr val="13235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–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13235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מעטפת שירותים לבחירת האזרח הוותיק</a:t>
            </a:r>
          </a:p>
        </p:txBody>
      </p:sp>
      <p:cxnSp>
        <p:nvCxnSpPr>
          <p:cNvPr id="14" name="Straight Arrow Connector 6">
            <a:extLst>
              <a:ext uri="{FF2B5EF4-FFF2-40B4-BE49-F238E27FC236}">
                <a16:creationId xmlns:a16="http://schemas.microsoft.com/office/drawing/2014/main" id="{11819716-D485-6175-BE1F-282ECA543710}"/>
              </a:ext>
            </a:extLst>
          </p:cNvPr>
          <p:cNvCxnSpPr/>
          <p:nvPr/>
        </p:nvCxnSpPr>
        <p:spPr>
          <a:xfrm flipV="1">
            <a:off x="6116880" y="2736167"/>
            <a:ext cx="683173" cy="486103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7">
            <a:extLst>
              <a:ext uri="{FF2B5EF4-FFF2-40B4-BE49-F238E27FC236}">
                <a16:creationId xmlns:a16="http://schemas.microsoft.com/office/drawing/2014/main" id="{10DCF2AA-80BE-A4AD-8908-ACA32EE6A344}"/>
              </a:ext>
            </a:extLst>
          </p:cNvPr>
          <p:cNvCxnSpPr>
            <a:cxnSpLocks/>
          </p:cNvCxnSpPr>
          <p:nvPr/>
        </p:nvCxnSpPr>
        <p:spPr>
          <a:xfrm flipV="1">
            <a:off x="5839251" y="2311811"/>
            <a:ext cx="61943" cy="667407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8">
            <a:extLst>
              <a:ext uri="{FF2B5EF4-FFF2-40B4-BE49-F238E27FC236}">
                <a16:creationId xmlns:a16="http://schemas.microsoft.com/office/drawing/2014/main" id="{C0A0B300-6184-936E-EAAB-19720972236D}"/>
              </a:ext>
            </a:extLst>
          </p:cNvPr>
          <p:cNvCxnSpPr>
            <a:cxnSpLocks/>
          </p:cNvCxnSpPr>
          <p:nvPr/>
        </p:nvCxnSpPr>
        <p:spPr>
          <a:xfrm flipH="1" flipV="1">
            <a:off x="4642724" y="3349997"/>
            <a:ext cx="662081" cy="219823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9">
            <a:extLst>
              <a:ext uri="{FF2B5EF4-FFF2-40B4-BE49-F238E27FC236}">
                <a16:creationId xmlns:a16="http://schemas.microsoft.com/office/drawing/2014/main" id="{09C604B3-FD65-B184-3977-5703EFF44986}"/>
              </a:ext>
            </a:extLst>
          </p:cNvPr>
          <p:cNvCxnSpPr>
            <a:cxnSpLocks/>
          </p:cNvCxnSpPr>
          <p:nvPr/>
        </p:nvCxnSpPr>
        <p:spPr>
          <a:xfrm flipH="1">
            <a:off x="4587277" y="3855123"/>
            <a:ext cx="713843" cy="16213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0">
            <a:extLst>
              <a:ext uri="{FF2B5EF4-FFF2-40B4-BE49-F238E27FC236}">
                <a16:creationId xmlns:a16="http://schemas.microsoft.com/office/drawing/2014/main" id="{9B8E4362-FCB8-167D-D6E4-3D866BEB1942}"/>
              </a:ext>
            </a:extLst>
          </p:cNvPr>
          <p:cNvCxnSpPr>
            <a:cxnSpLocks/>
          </p:cNvCxnSpPr>
          <p:nvPr/>
        </p:nvCxnSpPr>
        <p:spPr>
          <a:xfrm flipH="1">
            <a:off x="4873550" y="4261036"/>
            <a:ext cx="471790" cy="404344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1">
            <a:extLst>
              <a:ext uri="{FF2B5EF4-FFF2-40B4-BE49-F238E27FC236}">
                <a16:creationId xmlns:a16="http://schemas.microsoft.com/office/drawing/2014/main" id="{6269D0A6-D2C6-352A-5436-DC164A5C6168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5557108" y="4289069"/>
            <a:ext cx="134177" cy="79043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2">
            <a:extLst>
              <a:ext uri="{FF2B5EF4-FFF2-40B4-BE49-F238E27FC236}">
                <a16:creationId xmlns:a16="http://schemas.microsoft.com/office/drawing/2014/main" id="{7E1BD4C8-B3FB-7E0C-76C8-89D0C45CBDA0}"/>
              </a:ext>
            </a:extLst>
          </p:cNvPr>
          <p:cNvCxnSpPr>
            <a:cxnSpLocks/>
          </p:cNvCxnSpPr>
          <p:nvPr/>
        </p:nvCxnSpPr>
        <p:spPr>
          <a:xfrm>
            <a:off x="6131489" y="4302346"/>
            <a:ext cx="326977" cy="543775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13">
            <a:extLst>
              <a:ext uri="{FF2B5EF4-FFF2-40B4-BE49-F238E27FC236}">
                <a16:creationId xmlns:a16="http://schemas.microsoft.com/office/drawing/2014/main" id="{D6A2BA76-8BFF-FC0A-951B-D4A8953D0363}"/>
              </a:ext>
            </a:extLst>
          </p:cNvPr>
          <p:cNvCxnSpPr>
            <a:cxnSpLocks/>
          </p:cNvCxnSpPr>
          <p:nvPr/>
        </p:nvCxnSpPr>
        <p:spPr>
          <a:xfrm flipV="1">
            <a:off x="6325298" y="3519255"/>
            <a:ext cx="700083" cy="1170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7">
            <a:extLst>
              <a:ext uri="{FF2B5EF4-FFF2-40B4-BE49-F238E27FC236}">
                <a16:creationId xmlns:a16="http://schemas.microsoft.com/office/drawing/2014/main" id="{6520BE6F-8761-B861-E6F0-2A2948C744FC}"/>
              </a:ext>
            </a:extLst>
          </p:cNvPr>
          <p:cNvCxnSpPr>
            <a:cxnSpLocks/>
          </p:cNvCxnSpPr>
          <p:nvPr/>
        </p:nvCxnSpPr>
        <p:spPr>
          <a:xfrm>
            <a:off x="6334575" y="4017253"/>
            <a:ext cx="699232" cy="28509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8">
            <a:extLst>
              <a:ext uri="{FF2B5EF4-FFF2-40B4-BE49-F238E27FC236}">
                <a16:creationId xmlns:a16="http://schemas.microsoft.com/office/drawing/2014/main" id="{1F7F8ED7-35AD-B819-798C-11CDEAAA62BD}"/>
              </a:ext>
            </a:extLst>
          </p:cNvPr>
          <p:cNvCxnSpPr>
            <a:cxnSpLocks/>
          </p:cNvCxnSpPr>
          <p:nvPr/>
        </p:nvCxnSpPr>
        <p:spPr>
          <a:xfrm flipH="1" flipV="1">
            <a:off x="5113919" y="2645514"/>
            <a:ext cx="377414" cy="424357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938A207-7763-6598-3065-862C66E1DA57}"/>
              </a:ext>
            </a:extLst>
          </p:cNvPr>
          <p:cNvSpPr txBox="1"/>
          <p:nvPr/>
        </p:nvSpPr>
        <p:spPr>
          <a:xfrm>
            <a:off x="3677140" y="3004586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מועדון חברתי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361F1E-4302-041C-B146-719731888394}"/>
              </a:ext>
            </a:extLst>
          </p:cNvPr>
          <p:cNvSpPr txBox="1"/>
          <p:nvPr/>
        </p:nvSpPr>
        <p:spPr>
          <a:xfrm>
            <a:off x="3652794" y="3708703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רווחה מרחוק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9307C2-1CA4-2D53-764C-C8EF8ADC59C6}"/>
              </a:ext>
            </a:extLst>
          </p:cNvPr>
          <p:cNvSpPr txBox="1"/>
          <p:nvPr/>
        </p:nvSpPr>
        <p:spPr>
          <a:xfrm>
            <a:off x="4109927" y="4634744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טכנולוגית עזר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24134D-E90F-5A9F-FC91-AED5FABA20C0}"/>
              </a:ext>
            </a:extLst>
          </p:cNvPr>
          <p:cNvSpPr txBox="1"/>
          <p:nvPr/>
        </p:nvSpPr>
        <p:spPr>
          <a:xfrm>
            <a:off x="4284954" y="1908991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יעוץ משפחתי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041463-83C2-6462-0E82-DE2013E89751}"/>
              </a:ext>
            </a:extLst>
          </p:cNvPr>
          <p:cNvSpPr txBox="1"/>
          <p:nvPr/>
        </p:nvSpPr>
        <p:spPr>
          <a:xfrm>
            <a:off x="4997335" y="5079499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התעמלות בפארק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959D09-04DA-46AA-05CE-B8B94373665A}"/>
              </a:ext>
            </a:extLst>
          </p:cNvPr>
          <p:cNvSpPr txBox="1"/>
          <p:nvPr/>
        </p:nvSpPr>
        <p:spPr>
          <a:xfrm>
            <a:off x="6760030" y="3133900"/>
            <a:ext cx="1443858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יעוץ תזונה ובריאות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76670D-4580-7702-7800-00603C1C37DA}"/>
              </a:ext>
            </a:extLst>
          </p:cNvPr>
          <p:cNvSpPr txBox="1"/>
          <p:nvPr/>
        </p:nvSpPr>
        <p:spPr>
          <a:xfrm>
            <a:off x="6741774" y="4289740"/>
            <a:ext cx="11195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תעסוקה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F7D3BC-5274-84FA-401A-348BB8E77A87}"/>
              </a:ext>
            </a:extLst>
          </p:cNvPr>
          <p:cNvSpPr txBox="1"/>
          <p:nvPr/>
        </p:nvSpPr>
        <p:spPr>
          <a:xfrm>
            <a:off x="6496801" y="2302004"/>
            <a:ext cx="11195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התנדבות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1C5937-A365-CF42-5376-56E8CE1D7B3C}"/>
              </a:ext>
            </a:extLst>
          </p:cNvPr>
          <p:cNvSpPr txBox="1"/>
          <p:nvPr/>
        </p:nvSpPr>
        <p:spPr>
          <a:xfrm>
            <a:off x="5345340" y="1538847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יעוץ פיננסי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E11621-D4E0-68EA-B1F3-772C2E7F2893}"/>
              </a:ext>
            </a:extLst>
          </p:cNvPr>
          <p:cNvSpPr txBox="1"/>
          <p:nvPr/>
        </p:nvSpPr>
        <p:spPr>
          <a:xfrm>
            <a:off x="6022607" y="4893757"/>
            <a:ext cx="11195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ניקיון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cxnSp>
        <p:nvCxnSpPr>
          <p:cNvPr id="34" name="Straight Arrow Connector 10">
            <a:extLst>
              <a:ext uri="{FF2B5EF4-FFF2-40B4-BE49-F238E27FC236}">
                <a16:creationId xmlns:a16="http://schemas.microsoft.com/office/drawing/2014/main" id="{9B8E4362-FCB8-167D-D6E4-3D866BEB1942}"/>
              </a:ext>
            </a:extLst>
          </p:cNvPr>
          <p:cNvCxnSpPr>
            <a:cxnSpLocks/>
          </p:cNvCxnSpPr>
          <p:nvPr/>
        </p:nvCxnSpPr>
        <p:spPr>
          <a:xfrm flipH="1" flipV="1">
            <a:off x="4982625" y="3064694"/>
            <a:ext cx="520665" cy="37734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מלבן 1"/>
          <p:cNvSpPr/>
          <p:nvPr/>
        </p:nvSpPr>
        <p:spPr>
          <a:xfrm>
            <a:off x="3868083" y="2635254"/>
            <a:ext cx="1252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בריכה/</a:t>
            </a:r>
            <a:r>
              <a:rPr kumimoji="0" lang="he-IL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חד"כ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grpSp>
        <p:nvGrpSpPr>
          <p:cNvPr id="55" name="קבוצה 54"/>
          <p:cNvGrpSpPr/>
          <p:nvPr/>
        </p:nvGrpSpPr>
        <p:grpSpPr>
          <a:xfrm>
            <a:off x="676004" y="950720"/>
            <a:ext cx="1563719" cy="1307858"/>
            <a:chOff x="1670079" y="2140313"/>
            <a:chExt cx="1642835" cy="1642835"/>
          </a:xfrm>
          <a:solidFill>
            <a:srgbClr val="D8BEEC"/>
          </a:solidFill>
        </p:grpSpPr>
        <p:sp>
          <p:nvSpPr>
            <p:cNvPr id="56" name="אליפסה 55"/>
            <p:cNvSpPr/>
            <p:nvPr/>
          </p:nvSpPr>
          <p:spPr>
            <a:xfrm>
              <a:off x="1670079" y="2140313"/>
              <a:ext cx="1642835" cy="1642835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6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57" name="אליפסה 4"/>
            <p:cNvSpPr txBox="1"/>
            <p:nvPr/>
          </p:nvSpPr>
          <p:spPr>
            <a:xfrm>
              <a:off x="1910667" y="2380901"/>
              <a:ext cx="1161659" cy="1161659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35560" tIns="35560" rIns="35560" bIns="35560" numCol="1" spcCol="1270" anchor="ctr" anchorCtr="0">
              <a:noAutofit/>
            </a:bodyPr>
            <a:lstStyle/>
            <a:p>
              <a:pPr lvl="0" algn="ctr" defTabSz="12446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he-IL" sz="2800" kern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8" name="אליפסה 57"/>
          <p:cNvSpPr/>
          <p:nvPr/>
        </p:nvSpPr>
        <p:spPr>
          <a:xfrm>
            <a:off x="1442560" y="763930"/>
            <a:ext cx="1579998" cy="1221917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he-IL" dirty="0"/>
          </a:p>
        </p:txBody>
      </p:sp>
      <p:sp>
        <p:nvSpPr>
          <p:cNvPr id="59" name="TextBox 58"/>
          <p:cNvSpPr txBox="1"/>
          <p:nvPr/>
        </p:nvSpPr>
        <p:spPr>
          <a:xfrm>
            <a:off x="996903" y="1568215"/>
            <a:ext cx="54609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400" dirty="0"/>
              <a:t>צורך וקושי</a:t>
            </a:r>
          </a:p>
        </p:txBody>
      </p:sp>
      <p:sp>
        <p:nvSpPr>
          <p:cNvPr id="60" name="מלבן 59"/>
          <p:cNvSpPr/>
          <p:nvPr/>
        </p:nvSpPr>
        <p:spPr>
          <a:xfrm>
            <a:off x="2213314" y="1137706"/>
            <a:ext cx="7135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 sz="1400" dirty="0"/>
              <a:t>רצון ובחירה</a:t>
            </a:r>
          </a:p>
        </p:txBody>
      </p:sp>
      <p:sp>
        <p:nvSpPr>
          <p:cNvPr id="62" name="מלבן 61"/>
          <p:cNvSpPr/>
          <p:nvPr/>
        </p:nvSpPr>
        <p:spPr>
          <a:xfrm>
            <a:off x="1299617" y="963795"/>
            <a:ext cx="9099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1400" b="1" dirty="0"/>
              <a:t>שירות מותאם </a:t>
            </a:r>
            <a:r>
              <a:rPr lang="en-US" sz="1400" b="1" dirty="0"/>
              <a:t>Ai</a:t>
            </a:r>
            <a:endParaRPr lang="he-IL" sz="1400" b="1" dirty="0"/>
          </a:p>
        </p:txBody>
      </p:sp>
      <p:sp>
        <p:nvSpPr>
          <p:cNvPr id="66" name="אליפסה 65"/>
          <p:cNvSpPr/>
          <p:nvPr/>
        </p:nvSpPr>
        <p:spPr>
          <a:xfrm>
            <a:off x="804012" y="285081"/>
            <a:ext cx="1660221" cy="1294536"/>
          </a:xfrm>
          <a:prstGeom prst="ellipse">
            <a:avLst/>
          </a:prstGeom>
          <a:solidFill>
            <a:srgbClr val="D3F4A8">
              <a:alpha val="50000"/>
            </a:srgbClr>
          </a:solidFill>
          <a:ln w="127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  <a:miter lim="800000"/>
          </a:ln>
          <a:effectLst/>
        </p:spPr>
      </p:sp>
      <p:sp>
        <p:nvSpPr>
          <p:cNvPr id="67" name="מלבן 66"/>
          <p:cNvSpPr/>
          <p:nvPr/>
        </p:nvSpPr>
        <p:spPr>
          <a:xfrm>
            <a:off x="1314672" y="950383"/>
            <a:ext cx="9099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1400" b="1" dirty="0"/>
              <a:t>שירות מותאם </a:t>
            </a:r>
            <a:r>
              <a:rPr lang="en-US" sz="1400" b="1" dirty="0"/>
              <a:t>Ai</a:t>
            </a:r>
            <a:endParaRPr lang="he-IL" sz="1400" b="1" dirty="0"/>
          </a:p>
        </p:txBody>
      </p:sp>
      <p:pic>
        <p:nvPicPr>
          <p:cNvPr id="69" name="תמונה 6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194" y="6105032"/>
            <a:ext cx="2176782" cy="590049"/>
          </a:xfrm>
          <a:prstGeom prst="rect">
            <a:avLst/>
          </a:prstGeom>
        </p:spPr>
      </p:pic>
      <p:sp>
        <p:nvSpPr>
          <p:cNvPr id="61" name="מלבן 60"/>
          <p:cNvSpPr/>
          <p:nvPr/>
        </p:nvSpPr>
        <p:spPr>
          <a:xfrm>
            <a:off x="996903" y="390758"/>
            <a:ext cx="8916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 sz="1400" dirty="0"/>
              <a:t>מדידה והמלצות</a:t>
            </a:r>
          </a:p>
        </p:txBody>
      </p:sp>
      <p:sp>
        <p:nvSpPr>
          <p:cNvPr id="45" name="TextBox 44"/>
          <p:cNvSpPr txBox="1"/>
          <p:nvPr/>
        </p:nvSpPr>
        <p:spPr>
          <a:xfrm rot="16200000">
            <a:off x="-709672" y="667069"/>
            <a:ext cx="1616148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1600" b="1" dirty="0"/>
              <a:t>סל מותאם אישית</a:t>
            </a:r>
          </a:p>
        </p:txBody>
      </p:sp>
    </p:spTree>
    <p:extLst>
      <p:ext uri="{BB962C8B-B14F-4D97-AF65-F5344CB8AC3E}">
        <p14:creationId xmlns:p14="http://schemas.microsoft.com/office/powerpoint/2010/main" val="3564930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1">
            <a:extLst>
              <a:ext uri="{FF2B5EF4-FFF2-40B4-BE49-F238E27FC236}">
                <a16:creationId xmlns:a16="http://schemas.microsoft.com/office/drawing/2014/main" id="{72DE7AE9-0BF3-D973-E87C-EB41E8709D13}"/>
              </a:ext>
            </a:extLst>
          </p:cNvPr>
          <p:cNvSpPr/>
          <p:nvPr/>
        </p:nvSpPr>
        <p:spPr>
          <a:xfrm>
            <a:off x="1431250" y="1737244"/>
            <a:ext cx="3588173" cy="3293937"/>
          </a:xfrm>
          <a:prstGeom prst="roundRect">
            <a:avLst/>
          </a:prstGeom>
          <a:solidFill>
            <a:schemeClr val="bg1"/>
          </a:solidFill>
          <a:ln>
            <a:solidFill>
              <a:srgbClr val="E7525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D97F194-2F02-BC07-F02B-84F0400E16BE}"/>
              </a:ext>
            </a:extLst>
          </p:cNvPr>
          <p:cNvGrpSpPr>
            <a:grpSpLocks noChangeAspect="1"/>
          </p:cNvGrpSpPr>
          <p:nvPr/>
        </p:nvGrpSpPr>
        <p:grpSpPr>
          <a:xfrm>
            <a:off x="7678489" y="1368598"/>
            <a:ext cx="4048894" cy="4429827"/>
            <a:chOff x="8042765" y="2046515"/>
            <a:chExt cx="3483067" cy="3810764"/>
          </a:xfrm>
        </p:grpSpPr>
        <p:sp>
          <p:nvSpPr>
            <p:cNvPr id="7" name="Rounded Rectangle 111">
              <a:extLst>
                <a:ext uri="{FF2B5EF4-FFF2-40B4-BE49-F238E27FC236}">
                  <a16:creationId xmlns:a16="http://schemas.microsoft.com/office/drawing/2014/main" id="{2E6CBCBE-5B82-5329-43F6-B8A4C66C514F}"/>
                </a:ext>
              </a:extLst>
            </p:cNvPr>
            <p:cNvSpPr/>
            <p:nvPr/>
          </p:nvSpPr>
          <p:spPr>
            <a:xfrm>
              <a:off x="8131154" y="2046515"/>
              <a:ext cx="3311785" cy="3810764"/>
            </a:xfrm>
            <a:prstGeom prst="roundRect">
              <a:avLst>
                <a:gd name="adj" fmla="val 5098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921BBCE-79AE-02B8-ACF4-5F92C767733E}"/>
                </a:ext>
              </a:extLst>
            </p:cNvPr>
            <p:cNvGrpSpPr/>
            <p:nvPr/>
          </p:nvGrpSpPr>
          <p:grpSpPr>
            <a:xfrm>
              <a:off x="8042765" y="2054133"/>
              <a:ext cx="3483067" cy="935810"/>
              <a:chOff x="8196597" y="2046513"/>
              <a:chExt cx="3483067" cy="935810"/>
            </a:xfrm>
          </p:grpSpPr>
          <p:sp>
            <p:nvSpPr>
              <p:cNvPr id="11" name="Rounded Rectangle 103">
                <a:extLst>
                  <a:ext uri="{FF2B5EF4-FFF2-40B4-BE49-F238E27FC236}">
                    <a16:creationId xmlns:a16="http://schemas.microsoft.com/office/drawing/2014/main" id="{4258F36B-39C2-D56D-69BF-1E5B5B20877C}"/>
                  </a:ext>
                </a:extLst>
              </p:cNvPr>
              <p:cNvSpPr/>
              <p:nvPr/>
            </p:nvSpPr>
            <p:spPr>
              <a:xfrm>
                <a:off x="8273404" y="2046513"/>
                <a:ext cx="3325748" cy="869043"/>
              </a:xfrm>
              <a:prstGeom prst="roundRect">
                <a:avLst/>
              </a:prstGeom>
              <a:noFill/>
              <a:ln w="28575">
                <a:solidFill>
                  <a:srgbClr val="5EC5C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FDBA3AF-17A3-63DD-2D71-6C4B91532AAB}"/>
                  </a:ext>
                </a:extLst>
              </p:cNvPr>
              <p:cNvSpPr/>
              <p:nvPr/>
            </p:nvSpPr>
            <p:spPr>
              <a:xfrm>
                <a:off x="8208414" y="2647821"/>
                <a:ext cx="3455728" cy="3345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EDF4C60-0A63-7DCD-5ADF-93D5C438287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22341" y="2495157"/>
                <a:ext cx="157323" cy="157323"/>
              </a:xfrm>
              <a:prstGeom prst="ellipse">
                <a:avLst/>
              </a:prstGeom>
              <a:solidFill>
                <a:srgbClr val="5EC5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CBBA451-A168-4B32-BD4E-95EB9A24A5D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96597" y="2495157"/>
                <a:ext cx="157323" cy="157323"/>
              </a:xfrm>
              <a:prstGeom prst="ellipse">
                <a:avLst/>
              </a:prstGeom>
              <a:solidFill>
                <a:srgbClr val="5EC5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2D0C106-4B6B-050F-081F-38A453418D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65794" y="2839734"/>
              <a:ext cx="157323" cy="1573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58470C0-E016-4358-548E-D7C5B52099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50243" y="2839894"/>
              <a:ext cx="157323" cy="1573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8D1C01B6-BCED-0B1F-3127-824C5C406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9053" y="2174550"/>
            <a:ext cx="3543457" cy="3446073"/>
          </a:xfrm>
        </p:spPr>
        <p:txBody>
          <a:bodyPr>
            <a:normAutofit fontScale="25000" lnSpcReduction="20000"/>
          </a:bodyPr>
          <a:lstStyle/>
          <a:p>
            <a:pPr algn="r" rtl="1"/>
            <a:r>
              <a:rPr lang="he-IL" sz="6400" b="1" dirty="0"/>
              <a:t>מנחם, בן 81, נ+1. אבחנות רפואיות:</a:t>
            </a:r>
          </a:p>
          <a:p>
            <a:pPr algn="r" rtl="1"/>
            <a:r>
              <a:rPr lang="he-IL" sz="6400" dirty="0"/>
              <a:t>* סוכרת מטופל באינסולין</a:t>
            </a:r>
          </a:p>
          <a:p>
            <a:pPr algn="r" rtl="1"/>
            <a:r>
              <a:rPr lang="he-IL" sz="6400" dirty="0"/>
              <a:t>* יתר לחץ דם</a:t>
            </a:r>
          </a:p>
          <a:p>
            <a:pPr algn="r" rtl="1"/>
            <a:r>
              <a:rPr lang="he-IL" sz="6400" dirty="0"/>
              <a:t>* </a:t>
            </a:r>
            <a:r>
              <a:rPr lang="he-IL" sz="6400" dirty="0" err="1"/>
              <a:t>אוסטאוטריטיס</a:t>
            </a:r>
            <a:r>
              <a:rPr lang="he-IL" sz="6400" dirty="0"/>
              <a:t>– דלקת מפרקים ניוונית</a:t>
            </a:r>
          </a:p>
          <a:p>
            <a:pPr algn="r" rtl="1"/>
            <a:r>
              <a:rPr lang="he-IL" sz="6400" dirty="0"/>
              <a:t>* אי שליטה על סוגרים ודחיפות במתן שתן</a:t>
            </a:r>
          </a:p>
          <a:p>
            <a:pPr algn="r" rtl="1"/>
            <a:r>
              <a:rPr lang="he-IL" sz="6400" dirty="0"/>
              <a:t>* נפילות חוזרות</a:t>
            </a:r>
          </a:p>
          <a:p>
            <a:pPr algn="r" rtl="1"/>
            <a:r>
              <a:rPr lang="he-IL" sz="6400" dirty="0"/>
              <a:t>* אי יציבות  בהליכה</a:t>
            </a:r>
          </a:p>
          <a:p>
            <a:pPr algn="r" rtl="1">
              <a:lnSpc>
                <a:spcPct val="120000"/>
              </a:lnSpc>
            </a:pPr>
            <a:r>
              <a:rPr lang="he-IL" sz="6400" dirty="0"/>
              <a:t>מנחם במקצועו מהנדס מכונות, בעל יכולות ביצועיות, חובב מוזיקה מושבע, אוסף מכוניות עתיקות, עם מערכת משפחתית תומכת. בשנים האחרונות, מאז שהחל ליפול ממעט לצאת מביתו.</a:t>
            </a:r>
          </a:p>
          <a:p>
            <a:pPr algn="r" rtl="1"/>
            <a:endParaRPr lang="he-IL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1A6A51E-CB76-6764-B73A-2D7D2ED69E2F}"/>
              </a:ext>
            </a:extLst>
          </p:cNvPr>
          <p:cNvSpPr txBox="1">
            <a:spLocks/>
          </p:cNvSpPr>
          <p:nvPr/>
        </p:nvSpPr>
        <p:spPr>
          <a:xfrm>
            <a:off x="1142277" y="1953202"/>
            <a:ext cx="3788135" cy="2817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1252 ₪- גמלה בכסף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11 שעות מטפלת שבועיות הכוללות:</a:t>
            </a:r>
          </a:p>
          <a:p>
            <a:pPr marL="742950" marR="0" lvl="1" indent="-28575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סיוע בניידות בבית ומחוץ לבית</a:t>
            </a:r>
          </a:p>
          <a:p>
            <a:pPr marL="742950" marR="0" lvl="1" indent="-28575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סיוע בבישול והגשת מזון </a:t>
            </a:r>
          </a:p>
          <a:p>
            <a:pPr marL="742950" marR="0" lvl="1" indent="-28575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סיוע באחזקת הבית וניקיון</a:t>
            </a:r>
          </a:p>
          <a:p>
            <a:pPr marL="742950" marR="0" lvl="1" indent="-28575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שמירה על סביבה בטוחה</a:t>
            </a:r>
          </a:p>
          <a:p>
            <a:pPr marL="742950" marR="0" lvl="1" indent="-28575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השגחה או עזרה חלקית ברחצה והלבשה</a:t>
            </a:r>
          </a:p>
          <a:p>
            <a:pPr marL="742950" marR="0" lvl="1" indent="-28575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ליווי לשירותים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149271A-345A-5122-3EC4-B8002397612C}"/>
              </a:ext>
            </a:extLst>
          </p:cNvPr>
          <p:cNvSpPr/>
          <p:nvPr/>
        </p:nvSpPr>
        <p:spPr>
          <a:xfrm>
            <a:off x="8966664" y="499606"/>
            <a:ext cx="1472544" cy="1519046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5E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9" name="Chevron 9">
            <a:extLst>
              <a:ext uri="{FF2B5EF4-FFF2-40B4-BE49-F238E27FC236}">
                <a16:creationId xmlns:a16="http://schemas.microsoft.com/office/drawing/2014/main" id="{16ADEEB6-1E30-6D38-D568-DAADF160E382}"/>
              </a:ext>
            </a:extLst>
          </p:cNvPr>
          <p:cNvSpPr/>
          <p:nvPr/>
        </p:nvSpPr>
        <p:spPr>
          <a:xfrm rot="10800000">
            <a:off x="5436991" y="3285000"/>
            <a:ext cx="1558343" cy="288000"/>
          </a:xfrm>
          <a:prstGeom prst="chevron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5D1170E-6314-7E2A-7D50-BDA53F122E7D}"/>
              </a:ext>
            </a:extLst>
          </p:cNvPr>
          <p:cNvSpPr>
            <a:spLocks noChangeAspect="1"/>
          </p:cNvSpPr>
          <p:nvPr/>
        </p:nvSpPr>
        <p:spPr>
          <a:xfrm>
            <a:off x="6142176" y="3384213"/>
            <a:ext cx="101674" cy="1016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64062" y="256266"/>
            <a:ext cx="2573140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המצב והשיטה היום</a:t>
            </a:r>
          </a:p>
        </p:txBody>
      </p:sp>
      <p:sp>
        <p:nvSpPr>
          <p:cNvPr id="19" name="מלבן 18"/>
          <p:cNvSpPr/>
          <p:nvPr/>
        </p:nvSpPr>
        <p:spPr>
          <a:xfrm>
            <a:off x="3093" y="0"/>
            <a:ext cx="244547" cy="6857999"/>
          </a:xfrm>
          <a:prstGeom prst="rect">
            <a:avLst/>
          </a:prstGeom>
          <a:solidFill>
            <a:srgbClr val="5EC5C5"/>
          </a:solidFill>
          <a:ln>
            <a:solidFill>
              <a:srgbClr val="2CC2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 rot="16200000">
            <a:off x="-709672" y="667069"/>
            <a:ext cx="1616148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1600" b="1" dirty="0"/>
              <a:t>סל מותאם אישית</a:t>
            </a:r>
          </a:p>
        </p:txBody>
      </p:sp>
      <p:sp>
        <p:nvSpPr>
          <p:cNvPr id="21" name="אליפסה 20"/>
          <p:cNvSpPr/>
          <p:nvPr/>
        </p:nvSpPr>
        <p:spPr>
          <a:xfrm>
            <a:off x="10678046" y="30951"/>
            <a:ext cx="1449299" cy="12393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0">
              <a:defRPr/>
            </a:pPr>
            <a:r>
              <a:rPr lang="he-IL" sz="2000" b="1" dirty="0">
                <a:solidFill>
                  <a:prstClr val="white"/>
                </a:solidFill>
              </a:rPr>
              <a:t>רמה 3</a:t>
            </a:r>
          </a:p>
          <a:p>
            <a:pPr lvl="0" algn="ctr" rtl="0">
              <a:defRPr/>
            </a:pPr>
            <a:r>
              <a:rPr lang="he-IL" sz="1600" b="1" dirty="0">
                <a:solidFill>
                  <a:prstClr val="white"/>
                </a:solidFill>
              </a:rPr>
              <a:t>17 שעות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5899" y="1833986"/>
            <a:ext cx="126028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dirty="0"/>
              <a:t>הסל הקיים:</a:t>
            </a:r>
          </a:p>
        </p:txBody>
      </p:sp>
    </p:spTree>
    <p:extLst>
      <p:ext uri="{BB962C8B-B14F-4D97-AF65-F5344CB8AC3E}">
        <p14:creationId xmlns:p14="http://schemas.microsoft.com/office/powerpoint/2010/main" val="4286533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">
            <a:extLst>
              <a:ext uri="{FF2B5EF4-FFF2-40B4-BE49-F238E27FC236}">
                <a16:creationId xmlns:a16="http://schemas.microsoft.com/office/drawing/2014/main" id="{D0B4EA7B-34D5-1A23-EEE1-3B26FC65248B}"/>
              </a:ext>
            </a:extLst>
          </p:cNvPr>
          <p:cNvSpPr/>
          <p:nvPr/>
        </p:nvSpPr>
        <p:spPr>
          <a:xfrm>
            <a:off x="356691" y="588475"/>
            <a:ext cx="5449569" cy="5894061"/>
          </a:xfrm>
          <a:prstGeom prst="roundRect">
            <a:avLst/>
          </a:prstGeom>
          <a:solidFill>
            <a:srgbClr val="5EC5C5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3A88E2F-5EF4-789E-4EC1-FECE0F60DDB1}"/>
              </a:ext>
            </a:extLst>
          </p:cNvPr>
          <p:cNvGrpSpPr>
            <a:grpSpLocks noChangeAspect="1"/>
          </p:cNvGrpSpPr>
          <p:nvPr/>
        </p:nvGrpSpPr>
        <p:grpSpPr>
          <a:xfrm>
            <a:off x="7678489" y="1368598"/>
            <a:ext cx="4048894" cy="4429827"/>
            <a:chOff x="8042765" y="2046515"/>
            <a:chExt cx="3483067" cy="3810764"/>
          </a:xfrm>
        </p:grpSpPr>
        <p:sp>
          <p:nvSpPr>
            <p:cNvPr id="5" name="Rounded Rectangle 111">
              <a:extLst>
                <a:ext uri="{FF2B5EF4-FFF2-40B4-BE49-F238E27FC236}">
                  <a16:creationId xmlns:a16="http://schemas.microsoft.com/office/drawing/2014/main" id="{621A4DD8-C551-84E3-8B7C-F54D08EBF65B}"/>
                </a:ext>
              </a:extLst>
            </p:cNvPr>
            <p:cNvSpPr/>
            <p:nvPr/>
          </p:nvSpPr>
          <p:spPr>
            <a:xfrm>
              <a:off x="8131154" y="2046515"/>
              <a:ext cx="3311785" cy="3810764"/>
            </a:xfrm>
            <a:prstGeom prst="roundRect">
              <a:avLst>
                <a:gd name="adj" fmla="val 5098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A60DC4F-3B2E-7161-90A3-10058A300945}"/>
                </a:ext>
              </a:extLst>
            </p:cNvPr>
            <p:cNvGrpSpPr/>
            <p:nvPr/>
          </p:nvGrpSpPr>
          <p:grpSpPr>
            <a:xfrm>
              <a:off x="8042765" y="2054133"/>
              <a:ext cx="3483067" cy="935810"/>
              <a:chOff x="8196597" y="2046513"/>
              <a:chExt cx="3483067" cy="935810"/>
            </a:xfrm>
          </p:grpSpPr>
          <p:sp>
            <p:nvSpPr>
              <p:cNvPr id="9" name="Rounded Rectangle 103">
                <a:extLst>
                  <a:ext uri="{FF2B5EF4-FFF2-40B4-BE49-F238E27FC236}">
                    <a16:creationId xmlns:a16="http://schemas.microsoft.com/office/drawing/2014/main" id="{152D9103-54F9-A90C-CB51-ABE857EDC729}"/>
                  </a:ext>
                </a:extLst>
              </p:cNvPr>
              <p:cNvSpPr/>
              <p:nvPr/>
            </p:nvSpPr>
            <p:spPr>
              <a:xfrm>
                <a:off x="8273404" y="2046513"/>
                <a:ext cx="3325748" cy="869043"/>
              </a:xfrm>
              <a:prstGeom prst="roundRect">
                <a:avLst/>
              </a:prstGeom>
              <a:noFill/>
              <a:ln w="28575">
                <a:solidFill>
                  <a:srgbClr val="5EC5C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4ADDB74-0E15-742D-DCB9-DF4B1ADAD329}"/>
                  </a:ext>
                </a:extLst>
              </p:cNvPr>
              <p:cNvSpPr/>
              <p:nvPr/>
            </p:nvSpPr>
            <p:spPr>
              <a:xfrm>
                <a:off x="8208414" y="2647821"/>
                <a:ext cx="3455728" cy="3345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8926696-7AD8-C99A-5C5A-1619DFF240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22341" y="2495157"/>
                <a:ext cx="157323" cy="157323"/>
              </a:xfrm>
              <a:prstGeom prst="ellipse">
                <a:avLst/>
              </a:prstGeom>
              <a:solidFill>
                <a:srgbClr val="5EC5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0B44494-FC7C-999B-CD19-01A9DADC869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96597" y="2495157"/>
                <a:ext cx="157323" cy="157323"/>
              </a:xfrm>
              <a:prstGeom prst="ellipse">
                <a:avLst/>
              </a:prstGeom>
              <a:solidFill>
                <a:srgbClr val="5EC5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A2A50CB-0FA1-F4DF-39D2-36E73B7A6F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65794" y="2839734"/>
              <a:ext cx="157323" cy="1573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D1AAC09-5FEA-10F6-D909-5CE48748BA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50243" y="2839894"/>
              <a:ext cx="157323" cy="1573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5F48573E-28D5-B8FD-4B49-EAC00579D7D1}"/>
              </a:ext>
            </a:extLst>
          </p:cNvPr>
          <p:cNvSpPr/>
          <p:nvPr/>
        </p:nvSpPr>
        <p:spPr>
          <a:xfrm>
            <a:off x="8966664" y="499606"/>
            <a:ext cx="1472544" cy="1519046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5E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1C01B6-BCED-0B1F-3127-824C5C406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1369" y="2178994"/>
            <a:ext cx="3586386" cy="3723931"/>
          </a:xfrm>
        </p:spPr>
        <p:txBody>
          <a:bodyPr>
            <a:normAutofit fontScale="55000" lnSpcReduction="20000"/>
          </a:bodyPr>
          <a:lstStyle/>
          <a:p>
            <a:pPr algn="r" rtl="1"/>
            <a:r>
              <a:rPr lang="he-IL" dirty="0"/>
              <a:t>מנחם, בן 81, נ+1. פרופיל תפקודי:</a:t>
            </a:r>
          </a:p>
          <a:p>
            <a:pPr algn="r" rtl="1"/>
            <a:r>
              <a:rPr lang="he-IL" dirty="0"/>
              <a:t>* עייפות, ירידה ברמות האנרגיה </a:t>
            </a:r>
          </a:p>
          <a:p>
            <a:pPr algn="r" rtl="1"/>
            <a:r>
              <a:rPr lang="he-IL" dirty="0"/>
              <a:t>* בעיות שינה </a:t>
            </a:r>
          </a:p>
          <a:p>
            <a:pPr algn="r" rtl="1"/>
            <a:r>
              <a:rPr lang="he-IL" dirty="0"/>
              <a:t>* קשיים בקשב וזיכרון 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dirty="0"/>
              <a:t>רגישות לכאב 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dirty="0"/>
              <a:t>בעיות שמיעה</a:t>
            </a:r>
          </a:p>
          <a:p>
            <a:pPr algn="r" rtl="1"/>
            <a:r>
              <a:rPr lang="he-IL" dirty="0"/>
              <a:t>* שליטה חלקית על מתן שתן </a:t>
            </a:r>
          </a:p>
          <a:p>
            <a:pPr algn="r" rtl="1"/>
            <a:r>
              <a:rPr lang="he-IL" dirty="0"/>
              <a:t>* הליכה לא יציבה ונטייה לנפילות </a:t>
            </a:r>
          </a:p>
          <a:p>
            <a:pPr algn="r" rtl="1"/>
            <a:r>
              <a:rPr lang="he-IL" dirty="0"/>
              <a:t>* נוקשות וכאב בתנועתיות ברכיים </a:t>
            </a:r>
          </a:p>
          <a:p>
            <a:pPr algn="r" rtl="1">
              <a:lnSpc>
                <a:spcPct val="170000"/>
              </a:lnSpc>
            </a:pPr>
            <a:r>
              <a:rPr lang="he-IL" dirty="0"/>
              <a:t>מנחם במקצועו מהנדס מכונות, בעל יכולות ביצועיות, חובב מוזיקה מושבע, אוסף מכוניות עתיקות, בעל מערכת משפחתית תומכת. בשנים האחרונות, מאז שהחל נופל ממעט לצאת מביתו.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1A6A51E-CB76-6764-B73A-2D7D2ED69E2F}"/>
              </a:ext>
            </a:extLst>
          </p:cNvPr>
          <p:cNvSpPr txBox="1">
            <a:spLocks/>
          </p:cNvSpPr>
          <p:nvPr/>
        </p:nvSpPr>
        <p:spPr>
          <a:xfrm>
            <a:off x="393318" y="944291"/>
            <a:ext cx="5178131" cy="5361479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1000</a:t>
            </a:r>
            <a:r>
              <a:rPr kumimoji="0" lang="he-IL" sz="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₪</a:t>
            </a:r>
            <a:r>
              <a: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גמלה בכסף ולצריכת שירותים מותאמים אישית </a:t>
            </a:r>
            <a:r>
              <a:rPr kumimoji="0" lang="he-I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(5 ש)</a:t>
            </a:r>
          </a:p>
          <a:p>
            <a:pPr marL="342900" marR="0" lvl="0" indent="-34290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8 שעות מטפלת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שבועיות הכוללות:</a:t>
            </a:r>
          </a:p>
          <a:p>
            <a:pPr marL="800100" marR="0" lvl="1" indent="-34290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סיוע בניידות בבית ומחוץ לבית</a:t>
            </a:r>
          </a:p>
          <a:p>
            <a:pPr marL="800100" marR="0" lvl="1" indent="-34290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סיוע בבישול והגשת מזון </a:t>
            </a:r>
          </a:p>
          <a:p>
            <a:pPr marL="800100" marR="0" lvl="1" indent="-34290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סיוע באחזקת הבית ושמירה על סביבה בטוחה</a:t>
            </a:r>
          </a:p>
          <a:p>
            <a:pPr marL="800100" marR="0" lvl="1" indent="-34290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השגחה או עזרה חלקית ברחצה והלבשה</a:t>
            </a:r>
          </a:p>
          <a:p>
            <a:pPr marL="800100" marR="0" lvl="1" indent="-34290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ליווי לשירותים</a:t>
            </a:r>
          </a:p>
          <a:p>
            <a:pPr marL="342900" marR="0" lvl="0" indent="-34290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2 ש' צבוע + 2 ש' בבחירה (1,118 ₪)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לקהילה ולרכישת שירותים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ומוצרים מותאמים לפרופיל האישי כגון: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1.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קהילה מקדמת שייכות, בריאות וחוסן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(פעילות, קשר, תיקונים,   תיווך וסיוע)- 209 ₪ 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2.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קורס מוזיקה מקוון בקתדרה למוזיקה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– 350 ₪ 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(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מאפשר עיסוק קוגניטיבי בתחום העניין, לצד התחשבות בקשיים המוטוריים </a:t>
            </a:r>
            <a:r>
              <a:rPr kumimoji="0" 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והקשביים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)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3.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שיעורי דמיון מודרך ומדיטציה במתנ"ס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- 250 ₪ 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(מהווה כלי מסייע בניהול כאבים, בעיות שינה, מטפלת מסיעה ומלווה, מתנ"ס מונגש)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4.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בריכה והידרותרפיה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– 250 ₪ 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(מתייחס לכלל הקשיים, דגש על נוקשות בתנועתיות, סביבת המים, וההחזקה, נותנת מענה לחשש מנפילות)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5.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רכישת מכשיר שמיעה מסובסד-300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₪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(קריטי במניעת הדרדרות ותפקוד)</a:t>
            </a:r>
            <a:endParaRPr kumimoji="0" lang="he-IL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6.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התנדבות </a:t>
            </a:r>
            <a:r>
              <a:rPr kumimoji="0" lang="he-IL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דו חודשית בבית הספר "אורט" מגמת מכונאות בסיוע לתלמידים</a:t>
            </a:r>
            <a:r>
              <a:rPr kumimoji="0" lang="he-IL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 </a:t>
            </a:r>
          </a:p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סה"כ 1409 ₪ מתוכם 1,118 ₪ במימון מדינה </a:t>
            </a:r>
            <a:endParaRPr kumimoji="0" lang="he-IL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Chevron 9">
            <a:extLst>
              <a:ext uri="{FF2B5EF4-FFF2-40B4-BE49-F238E27FC236}">
                <a16:creationId xmlns:a16="http://schemas.microsoft.com/office/drawing/2014/main" id="{53CB9F4D-0FB1-3D16-6D13-CEF08E76D144}"/>
              </a:ext>
            </a:extLst>
          </p:cNvPr>
          <p:cNvSpPr/>
          <p:nvPr/>
        </p:nvSpPr>
        <p:spPr>
          <a:xfrm rot="10800000">
            <a:off x="6097256" y="3295511"/>
            <a:ext cx="1558343" cy="288000"/>
          </a:xfrm>
          <a:prstGeom prst="chevron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E549171-80AC-AFAF-C88B-947BC5215AD1}"/>
              </a:ext>
            </a:extLst>
          </p:cNvPr>
          <p:cNvSpPr>
            <a:spLocks noChangeAspect="1"/>
          </p:cNvSpPr>
          <p:nvPr/>
        </p:nvSpPr>
        <p:spPr>
          <a:xfrm>
            <a:off x="7164023" y="3388674"/>
            <a:ext cx="101674" cy="1016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40697" y="65255"/>
            <a:ext cx="2642070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ההזדמנות לשינוי</a:t>
            </a:r>
          </a:p>
        </p:txBody>
      </p:sp>
      <p:sp>
        <p:nvSpPr>
          <p:cNvPr id="21" name="אליפסה 20"/>
          <p:cNvSpPr/>
          <p:nvPr/>
        </p:nvSpPr>
        <p:spPr>
          <a:xfrm>
            <a:off x="10723105" y="40478"/>
            <a:ext cx="1449299" cy="12393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0">
              <a:defRPr/>
            </a:pPr>
            <a:r>
              <a:rPr lang="he-IL" sz="1600" b="1" dirty="0">
                <a:solidFill>
                  <a:prstClr val="white"/>
                </a:solidFill>
              </a:rPr>
              <a:t> </a:t>
            </a:r>
            <a:r>
              <a:rPr lang="he-IL" sz="1500" b="1" dirty="0">
                <a:solidFill>
                  <a:prstClr val="white"/>
                </a:solidFill>
              </a:rPr>
              <a:t>פרופיל  </a:t>
            </a:r>
            <a:r>
              <a:rPr lang="he-IL" sz="1350" b="1" dirty="0">
                <a:solidFill>
                  <a:prstClr val="white"/>
                </a:solidFill>
              </a:rPr>
              <a:t>וסל  תפקודי </a:t>
            </a:r>
            <a:r>
              <a:rPr lang="he-IL" sz="1500" b="1" dirty="0">
                <a:solidFill>
                  <a:prstClr val="white"/>
                </a:solidFill>
              </a:rPr>
              <a:t>מותאם</a:t>
            </a:r>
          </a:p>
        </p:txBody>
      </p:sp>
      <p:sp>
        <p:nvSpPr>
          <p:cNvPr id="23" name="מלבן 22"/>
          <p:cNvSpPr/>
          <p:nvPr/>
        </p:nvSpPr>
        <p:spPr>
          <a:xfrm>
            <a:off x="994130" y="187332"/>
            <a:ext cx="40302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b="1" dirty="0"/>
              <a:t>הסל החדש: מותאם, מתמרץ ודוחק תלות: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72EB0216-DF15-0ADF-1446-3B696A77CA6A}"/>
              </a:ext>
            </a:extLst>
          </p:cNvPr>
          <p:cNvSpPr/>
          <p:nvPr/>
        </p:nvSpPr>
        <p:spPr>
          <a:xfrm>
            <a:off x="3093" y="0"/>
            <a:ext cx="244547" cy="6857999"/>
          </a:xfrm>
          <a:prstGeom prst="rect">
            <a:avLst/>
          </a:prstGeom>
          <a:solidFill>
            <a:srgbClr val="5EC5C5"/>
          </a:solidFill>
          <a:ln>
            <a:solidFill>
              <a:srgbClr val="2CC2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3D44079-AB70-B511-15B2-3CF42217CADE}"/>
              </a:ext>
            </a:extLst>
          </p:cNvPr>
          <p:cNvSpPr txBox="1"/>
          <p:nvPr/>
        </p:nvSpPr>
        <p:spPr>
          <a:xfrm rot="16200000">
            <a:off x="-709672" y="667069"/>
            <a:ext cx="1616148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1600" b="1" dirty="0"/>
              <a:t>סל מותאם אישית</a:t>
            </a:r>
          </a:p>
        </p:txBody>
      </p:sp>
    </p:spTree>
    <p:extLst>
      <p:ext uri="{BB962C8B-B14F-4D97-AF65-F5344CB8AC3E}">
        <p14:creationId xmlns:p14="http://schemas.microsoft.com/office/powerpoint/2010/main" val="3209581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4CCDC711-627C-F516-2CB4-03FD436CA5F4}"/>
              </a:ext>
            </a:extLst>
          </p:cNvPr>
          <p:cNvSpPr txBox="1"/>
          <p:nvPr/>
        </p:nvSpPr>
        <p:spPr>
          <a:xfrm>
            <a:off x="6607278" y="222470"/>
            <a:ext cx="5446721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b="1" dirty="0"/>
              <a:t>פנינה, אישה בת 71, רמת סיעוד 2 </a:t>
            </a:r>
          </a:p>
          <a:p>
            <a:r>
              <a:rPr lang="he-IL" sz="1400" b="1" dirty="0"/>
              <a:t>(מייצגת 20% מהזקנים בישראל ברמות הנמוכות)</a:t>
            </a:r>
          </a:p>
          <a:p>
            <a:endParaRPr lang="he-IL" sz="1000" b="1" dirty="0"/>
          </a:p>
          <a:p>
            <a:r>
              <a:rPr lang="he-IL" b="1" dirty="0"/>
              <a:t>רקע:</a:t>
            </a:r>
            <a:endParaRPr lang="he-IL" dirty="0"/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גיל: 71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מצב משפחתי: אלמנה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מקום מגורים: </a:t>
            </a:r>
          </a:p>
          <a:p>
            <a:r>
              <a:rPr lang="he-IL" dirty="0"/>
              <a:t>גרה בביתה עם בנה הגרוש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1600" b="1" dirty="0"/>
              <a:t>מצב בריאות: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1600" dirty="0"/>
              <a:t>סוכרת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1600" dirty="0"/>
              <a:t>לחץ דם גבוה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1600" dirty="0"/>
              <a:t>דלקת מפרקים ניוונית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1600" dirty="0"/>
              <a:t>קושי בהליכה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1600" dirty="0"/>
              <a:t>ירידה בכוח אחיזה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1600" dirty="0"/>
              <a:t>קשיים קלים בביצוע פעולות יומיומיות, כמו רחצה, התלבשות, בישול וקניות</a:t>
            </a:r>
          </a:p>
          <a:p>
            <a:endParaRPr lang="he-IL" b="1" dirty="0"/>
          </a:p>
          <a:p>
            <a:endParaRPr lang="he-IL" dirty="0"/>
          </a:p>
        </p:txBody>
      </p:sp>
      <p:pic>
        <p:nvPicPr>
          <p:cNvPr id="1026" name="Picture 2" descr="הלם הפרישה - רותם מוצרי ספיגה">
            <a:extLst>
              <a:ext uri="{FF2B5EF4-FFF2-40B4-BE49-F238E27FC236}">
                <a16:creationId xmlns:a16="http://schemas.microsoft.com/office/drawing/2014/main" id="{9F17C421-A018-6C31-8BA3-0C9016DB4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439" y="882081"/>
            <a:ext cx="2861187" cy="160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דיאגרמה 3">
            <a:extLst>
              <a:ext uri="{FF2B5EF4-FFF2-40B4-BE49-F238E27FC236}">
                <a16:creationId xmlns:a16="http://schemas.microsoft.com/office/drawing/2014/main" id="{8C79B7A8-EA7E-43AF-9CC4-B2EC0BF053DF}"/>
              </a:ext>
            </a:extLst>
          </p:cNvPr>
          <p:cNvGraphicFramePr/>
          <p:nvPr/>
        </p:nvGraphicFramePr>
        <p:xfrm>
          <a:off x="1845188" y="4081707"/>
          <a:ext cx="6895690" cy="3572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7E5247A0-2741-6994-E305-894A06B331FE}"/>
              </a:ext>
            </a:extLst>
          </p:cNvPr>
          <p:cNvSpPr txBox="1"/>
          <p:nvPr/>
        </p:nvSpPr>
        <p:spPr>
          <a:xfrm>
            <a:off x="285486" y="636506"/>
            <a:ext cx="581051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b="1" dirty="0"/>
              <a:t>בעיות:</a:t>
            </a:r>
            <a:endParaRPr lang="he-IL" dirty="0"/>
          </a:p>
          <a:p>
            <a:pPr>
              <a:buFont typeface="Arial" panose="020B0604020202020204" pitchFamily="34" charset="0"/>
              <a:buChar char="•"/>
            </a:pPr>
            <a:r>
              <a:rPr lang="he-IL" b="1" dirty="0"/>
              <a:t>קשיי תפקוד: </a:t>
            </a:r>
            <a:r>
              <a:rPr lang="he-IL" dirty="0"/>
              <a:t>פנינה יוצאת מעט מביתה, מה שפוגע ביכולתה לחיות חיים מלאים ועצמאיים.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1" dirty="0"/>
              <a:t>בדידות: </a:t>
            </a:r>
            <a:r>
              <a:rPr lang="he-IL" dirty="0"/>
              <a:t>פנינה מרגישה בודדה ומבודדת, בעיקר עקב קשיי </a:t>
            </a:r>
            <a:r>
              <a:rPr lang="he-IL" dirty="0" err="1"/>
              <a:t>התניידות</a:t>
            </a:r>
            <a:r>
              <a:rPr lang="he-IL" dirty="0"/>
              <a:t> ומגבלות חברתיות.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1" dirty="0"/>
              <a:t>תלות בבן: </a:t>
            </a:r>
            <a:r>
              <a:rPr lang="he-IL" dirty="0"/>
              <a:t>פנינה תלויה רבות בבנה, מה שגורם לה להרגיש אשמה ומעמיס עליו קשיים רבים.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1" dirty="0"/>
              <a:t>חשש מנפילות: </a:t>
            </a:r>
            <a:r>
              <a:rPr lang="he-IL" dirty="0"/>
              <a:t>פנינה חוששת מנפילות, מה שמונע ממנה לצאת מהבית וליהנות מפעילויות חברתיות.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1" dirty="0"/>
              <a:t>ירידה במוטיבציה: </a:t>
            </a:r>
            <a:r>
              <a:rPr lang="he-IL" dirty="0"/>
              <a:t>פנינה מרגישה חסרת תקווה וחיוניות, מה שמשפיע לרעה על בריאותה הנפשית והפיזית.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8B38939D-9FB0-76F3-254A-62ABE3FFF063}"/>
              </a:ext>
            </a:extLst>
          </p:cNvPr>
          <p:cNvSpPr txBox="1"/>
          <p:nvPr/>
        </p:nvSpPr>
        <p:spPr>
          <a:xfrm>
            <a:off x="1845188" y="4327206"/>
            <a:ext cx="6895690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r>
              <a:rPr lang="he-IL" b="1" dirty="0">
                <a:solidFill>
                  <a:schemeClr val="tx1"/>
                </a:solidFill>
              </a:rPr>
              <a:t>האם זה הסל שצריכה לקבל יחד עם כ180,000 זכאים ברמות הנמוכות?</a:t>
            </a:r>
          </a:p>
          <a:p>
            <a:r>
              <a:rPr lang="he-IL" b="1" dirty="0">
                <a:solidFill>
                  <a:schemeClr val="tx1"/>
                </a:solidFill>
              </a:rPr>
              <a:t>האם זה מה שימנע את ההידרדרות שלה?</a:t>
            </a: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E23FD695-54DE-847A-8A1B-D432A7EAF58B}"/>
              </a:ext>
            </a:extLst>
          </p:cNvPr>
          <p:cNvSpPr/>
          <p:nvPr/>
        </p:nvSpPr>
        <p:spPr>
          <a:xfrm>
            <a:off x="3093" y="0"/>
            <a:ext cx="244547" cy="6857999"/>
          </a:xfrm>
          <a:prstGeom prst="rect">
            <a:avLst/>
          </a:prstGeom>
          <a:solidFill>
            <a:srgbClr val="2980B9"/>
          </a:solidFill>
          <a:ln w="12700" cap="flat" cmpd="sng" algn="ctr">
            <a:solidFill>
              <a:srgbClr val="2CC2E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04DEBE81-FD89-7382-F4F6-23F91C8E6E5C}"/>
              </a:ext>
            </a:extLst>
          </p:cNvPr>
          <p:cNvSpPr txBox="1"/>
          <p:nvPr/>
        </p:nvSpPr>
        <p:spPr>
          <a:xfrm rot="16200000">
            <a:off x="-628535" y="570738"/>
            <a:ext cx="1478289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1600" b="1" dirty="0">
                <a:solidFill>
                  <a:schemeClr val="bg1"/>
                </a:solidFill>
                <a:cs typeface="Calibri"/>
              </a:rPr>
              <a:t>רקע </a:t>
            </a:r>
            <a:r>
              <a:rPr lang="he-IL" sz="1600" b="1" dirty="0" err="1">
                <a:solidFill>
                  <a:schemeClr val="bg1"/>
                </a:solidFill>
                <a:cs typeface="Calibri"/>
              </a:rPr>
              <a:t>ןתמונת</a:t>
            </a:r>
            <a:r>
              <a:rPr lang="he-IL" sz="1600" b="1" dirty="0">
                <a:solidFill>
                  <a:schemeClr val="bg1"/>
                </a:solidFill>
                <a:cs typeface="Calibri"/>
              </a:rPr>
              <a:t> מצב</a:t>
            </a:r>
          </a:p>
        </p:txBody>
      </p:sp>
    </p:spTree>
    <p:extLst>
      <p:ext uri="{BB962C8B-B14F-4D97-AF65-F5344CB8AC3E}">
        <p14:creationId xmlns:p14="http://schemas.microsoft.com/office/powerpoint/2010/main" val="411131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4CCDC711-627C-F516-2CB4-03FD436CA5F4}"/>
              </a:ext>
            </a:extLst>
          </p:cNvPr>
          <p:cNvSpPr txBox="1"/>
          <p:nvPr/>
        </p:nvSpPr>
        <p:spPr>
          <a:xfrm>
            <a:off x="5810865" y="255571"/>
            <a:ext cx="622684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b="1" dirty="0"/>
              <a:t>פנינה, אישה בת 71, רמת סיעוד </a:t>
            </a:r>
            <a:r>
              <a:rPr lang="he-IL" sz="1200" b="1" dirty="0">
                <a:solidFill>
                  <a:prstClr val="black"/>
                </a:solidFill>
              </a:rPr>
              <a:t>(מייצגת 20% מהזקנים בישראל ברמות הנמוכות)</a:t>
            </a:r>
          </a:p>
          <a:p>
            <a:endParaRPr lang="he-IL" b="1" dirty="0"/>
          </a:p>
          <a:p>
            <a:r>
              <a:rPr lang="he-IL" b="1" dirty="0"/>
              <a:t>המלצות לסל שירותים:</a:t>
            </a:r>
            <a:endParaRPr lang="he-IL" dirty="0"/>
          </a:p>
          <a:p>
            <a:pPr>
              <a:buFont typeface="Arial" panose="020B0604020202020204" pitchFamily="34" charset="0"/>
              <a:buChar char="•"/>
            </a:pPr>
            <a:r>
              <a:rPr lang="he-IL" b="1" dirty="0"/>
              <a:t>חיבור חברתי:</a:t>
            </a:r>
            <a:r>
              <a:rPr lang="he-IL" dirty="0"/>
              <a:t> פעילויות חברתיות בקהילה, מפגשים עם חברים, קבוצות תמיכה, פעילויות פנאי.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1" dirty="0"/>
              <a:t>פיזיותרפיה:</a:t>
            </a:r>
            <a:r>
              <a:rPr lang="he-IL" dirty="0"/>
              <a:t> טיפולים לחיזוק השרירים, שיפור שיווי המשקל והתנועתיות, והפחתת הסיכון לנפילות.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1" dirty="0"/>
              <a:t>טיפול רגשי:</a:t>
            </a:r>
            <a:r>
              <a:rPr lang="he-IL" dirty="0"/>
              <a:t> סיוע להתמודדות עם קשיים רגשיים, בדידות, דיכאון, וחששות.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1" dirty="0"/>
              <a:t>הדרכה וייעוץ:</a:t>
            </a:r>
            <a:r>
              <a:rPr lang="he-IL" dirty="0"/>
              <a:t> הדרכה לבני המשפחה בנוגע לטיפול נכון בפנינה, ייעוץ בנוגע לזכויותיה והטבות המגיעות לה.</a:t>
            </a:r>
          </a:p>
          <a:p>
            <a:endParaRPr lang="he-IL" b="1" dirty="0"/>
          </a:p>
          <a:p>
            <a:endParaRPr lang="he-IL" dirty="0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989D5D1B-948C-CF8C-4CFE-F86AA54017FB}"/>
              </a:ext>
            </a:extLst>
          </p:cNvPr>
          <p:cNvSpPr txBox="1"/>
          <p:nvPr/>
        </p:nvSpPr>
        <p:spPr>
          <a:xfrm>
            <a:off x="3780126" y="5040271"/>
            <a:ext cx="8018584" cy="1200329"/>
          </a:xfrm>
          <a:prstGeom prst="rect">
            <a:avLst/>
          </a:prstGeom>
          <a:solidFill>
            <a:srgbClr val="5EC5C5"/>
          </a:solidFill>
          <a:ln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lang="he-IL" b="1" dirty="0"/>
              <a:t>דגשים חשובים:</a:t>
            </a:r>
            <a:endParaRPr lang="he-IL" dirty="0"/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סל השירותים המומלץ צריך להיות מותאם אישית לצרכיה הייחודיים של פנינה.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רצוי שפנינה תהיה מעורבת בתהליך קבלת ההחלטות בנוגע לסל השירותים שיוענק לה.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חשוב לתעד את התקדמותה של פנינה ולעדכן את סל השירותים בהתאם לצורך.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BBDCCE0-0CA5-FA69-CA6F-DE3A715936E5}"/>
              </a:ext>
            </a:extLst>
          </p:cNvPr>
          <p:cNvSpPr txBox="1"/>
          <p:nvPr/>
        </p:nvSpPr>
        <p:spPr>
          <a:xfrm>
            <a:off x="-2076876" y="831220"/>
            <a:ext cx="80185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b="1" dirty="0"/>
              <a:t>מטרת סל השירותים:</a:t>
            </a:r>
            <a:endParaRPr lang="he-IL" dirty="0"/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לשפר את איכות חייה של פנינה ולעזור לה לשמור על עצמאותה.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להפחית את תחושת הבדידות והתלות בבן.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לחזק את בריאותה הנפשית והפיזית.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לאפשר לה ליהנות מחיים מלאים ומשמעותיים.</a:t>
            </a:r>
          </a:p>
        </p:txBody>
      </p:sp>
      <p:pic>
        <p:nvPicPr>
          <p:cNvPr id="5" name="Picture 2" descr="הלם הפרישה - רותם מוצרי ספיגה">
            <a:extLst>
              <a:ext uri="{FF2B5EF4-FFF2-40B4-BE49-F238E27FC236}">
                <a16:creationId xmlns:a16="http://schemas.microsoft.com/office/drawing/2014/main" id="{AB2C3BED-B606-FB77-B8C4-5ACB9D4D3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52" y="4759427"/>
            <a:ext cx="2861187" cy="160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מלבן 6">
            <a:extLst>
              <a:ext uri="{FF2B5EF4-FFF2-40B4-BE49-F238E27FC236}">
                <a16:creationId xmlns:a16="http://schemas.microsoft.com/office/drawing/2014/main" id="{9079C5C4-FF00-B341-CD7D-5CF40746F4E6}"/>
              </a:ext>
            </a:extLst>
          </p:cNvPr>
          <p:cNvSpPr/>
          <p:nvPr/>
        </p:nvSpPr>
        <p:spPr>
          <a:xfrm>
            <a:off x="3093" y="0"/>
            <a:ext cx="244547" cy="6857999"/>
          </a:xfrm>
          <a:prstGeom prst="rect">
            <a:avLst/>
          </a:prstGeom>
          <a:solidFill>
            <a:srgbClr val="2980B9"/>
          </a:solidFill>
          <a:ln w="12700" cap="flat" cmpd="sng" algn="ctr">
            <a:solidFill>
              <a:srgbClr val="2CC2E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455870-164A-9D98-0914-8122C6F9D320}"/>
              </a:ext>
            </a:extLst>
          </p:cNvPr>
          <p:cNvSpPr txBox="1"/>
          <p:nvPr/>
        </p:nvSpPr>
        <p:spPr>
          <a:xfrm rot="16200000">
            <a:off x="-628535" y="570738"/>
            <a:ext cx="1478289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1600" b="1" dirty="0">
                <a:solidFill>
                  <a:schemeClr val="bg1"/>
                </a:solidFill>
                <a:cs typeface="Calibri"/>
              </a:rPr>
              <a:t>רקע </a:t>
            </a:r>
            <a:r>
              <a:rPr lang="he-IL" sz="1600" b="1" dirty="0" err="1">
                <a:solidFill>
                  <a:schemeClr val="bg1"/>
                </a:solidFill>
                <a:cs typeface="Calibri"/>
              </a:rPr>
              <a:t>ןתמונת</a:t>
            </a:r>
            <a:r>
              <a:rPr lang="he-IL" sz="1600" b="1" dirty="0">
                <a:solidFill>
                  <a:schemeClr val="bg1"/>
                </a:solidFill>
                <a:cs typeface="Calibri"/>
              </a:rPr>
              <a:t> מצב</a:t>
            </a:r>
          </a:p>
        </p:txBody>
      </p:sp>
    </p:spTree>
    <p:extLst>
      <p:ext uri="{BB962C8B-B14F-4D97-AF65-F5344CB8AC3E}">
        <p14:creationId xmlns:p14="http://schemas.microsoft.com/office/powerpoint/2010/main" val="3590463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מלבן 20"/>
          <p:cNvSpPr/>
          <p:nvPr/>
        </p:nvSpPr>
        <p:spPr>
          <a:xfrm>
            <a:off x="560833" y="1144901"/>
            <a:ext cx="10097588" cy="836705"/>
          </a:xfrm>
          <a:prstGeom prst="rect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התאמה אישית, מדידה ותמרוץ שירותים דוחקי תלות</a:t>
            </a:r>
          </a:p>
        </p:txBody>
      </p:sp>
      <p:sp>
        <p:nvSpPr>
          <p:cNvPr id="3" name="מלבן 2"/>
          <p:cNvSpPr/>
          <p:nvPr/>
        </p:nvSpPr>
        <p:spPr>
          <a:xfrm>
            <a:off x="656195" y="519432"/>
            <a:ext cx="6673066" cy="10438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20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10000"/>
                </a:srgbClr>
              </a:solidFill>
              <a:effectLst/>
              <a:uLnTx/>
              <a:uFillTx/>
              <a:latin typeface="Varela Round" panose="00000500000000000000" pitchFamily="2" charset="-79"/>
              <a:ea typeface="+mn-ea"/>
              <a:cs typeface="Varela Round" panose="00000500000000000000" pitchFamily="2" charset="-79"/>
            </a:endParaRPr>
          </a:p>
        </p:txBody>
      </p:sp>
      <p:sp>
        <p:nvSpPr>
          <p:cNvPr id="5" name="מלבן 4"/>
          <p:cNvSpPr/>
          <p:nvPr/>
        </p:nvSpPr>
        <p:spPr>
          <a:xfrm>
            <a:off x="0" y="0"/>
            <a:ext cx="753237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>
              <a:lnSpc>
                <a:spcPct val="150000"/>
              </a:lnSpc>
            </a:pPr>
            <a:endParaRPr lang="he-IL" sz="2400" dirty="0">
              <a:solidFill>
                <a:schemeClr val="bg1"/>
              </a:solidFill>
              <a:latin typeface="Gveret Levin AlefAlefAlef" panose="00000500000000000000" pitchFamily="50" charset="-79"/>
              <a:cs typeface="Gveret Levin AlefAlefAlef" panose="00000500000000000000" pitchFamily="50" charset="-79"/>
            </a:endParaRPr>
          </a:p>
        </p:txBody>
      </p:sp>
      <p:sp>
        <p:nvSpPr>
          <p:cNvPr id="23" name="מלבן 22"/>
          <p:cNvSpPr/>
          <p:nvPr/>
        </p:nvSpPr>
        <p:spPr>
          <a:xfrm>
            <a:off x="596367" y="5311931"/>
            <a:ext cx="11358218" cy="12201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שירותים חברתיים למקבלי סיעוד מחייב הסתכלות רחבה על כל 360 אלף מקבלי הגמלה, יכולת להציע שירותים מגוונים, התאמה ותמרוץ</a:t>
            </a:r>
          </a:p>
        </p:txBody>
      </p:sp>
      <p:grpSp>
        <p:nvGrpSpPr>
          <p:cNvPr id="7" name="קבוצה 6"/>
          <p:cNvGrpSpPr/>
          <p:nvPr/>
        </p:nvGrpSpPr>
        <p:grpSpPr>
          <a:xfrm>
            <a:off x="1154557" y="1144900"/>
            <a:ext cx="9653910" cy="2580023"/>
            <a:chOff x="1291535" y="3895066"/>
            <a:chExt cx="9653910" cy="2580023"/>
          </a:xfrm>
          <a:solidFill>
            <a:srgbClr val="FFC000"/>
          </a:solidFill>
        </p:grpSpPr>
        <p:sp>
          <p:nvSpPr>
            <p:cNvPr id="16" name="אליפסה 15"/>
            <p:cNvSpPr/>
            <p:nvPr/>
          </p:nvSpPr>
          <p:spPr>
            <a:xfrm>
              <a:off x="4637356" y="4770492"/>
              <a:ext cx="1705404" cy="16696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sz="2000" b="1" dirty="0" err="1">
                  <a:solidFill>
                    <a:srgbClr val="44546A">
                      <a:lumMod val="10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אסדרת</a:t>
              </a:r>
              <a:r>
                <a:rPr lang="he-IL" sz="2000" b="1" dirty="0">
                  <a:solidFill>
                    <a:srgbClr val="44546A">
                      <a:lumMod val="10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הפיקוח</a:t>
              </a:r>
            </a:p>
          </p:txBody>
        </p:sp>
        <p:sp>
          <p:nvSpPr>
            <p:cNvPr id="17" name="אליפסה 16"/>
            <p:cNvSpPr/>
            <p:nvPr/>
          </p:nvSpPr>
          <p:spPr>
            <a:xfrm>
              <a:off x="7988150" y="4805408"/>
              <a:ext cx="1705404" cy="16696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sz="2000" b="1" dirty="0">
                  <a:solidFill>
                    <a:srgbClr val="44546A">
                      <a:lumMod val="10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תכנון השירותים ברשויות</a:t>
              </a:r>
            </a:p>
          </p:txBody>
        </p:sp>
        <p:sp>
          <p:nvSpPr>
            <p:cNvPr id="15" name="אליפסה 14"/>
            <p:cNvSpPr/>
            <p:nvPr/>
          </p:nvSpPr>
          <p:spPr>
            <a:xfrm>
              <a:off x="2951096" y="4762794"/>
              <a:ext cx="1705404" cy="16696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sz="2000" b="1" dirty="0">
                  <a:solidFill>
                    <a:srgbClr val="44546A">
                      <a:lumMod val="10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מיקוד בנזקקים</a:t>
              </a:r>
            </a:p>
          </p:txBody>
        </p:sp>
        <p:sp>
          <p:nvSpPr>
            <p:cNvPr id="22" name="אליפסה 21"/>
            <p:cNvSpPr/>
            <p:nvPr/>
          </p:nvSpPr>
          <p:spPr>
            <a:xfrm>
              <a:off x="1291535" y="4757911"/>
              <a:ext cx="1705404" cy="16696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sz="2000" b="1" dirty="0">
                  <a:solidFill>
                    <a:srgbClr val="44546A">
                      <a:lumMod val="10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מניעת כפל</a:t>
              </a:r>
            </a:p>
          </p:txBody>
        </p:sp>
        <p:sp>
          <p:nvSpPr>
            <p:cNvPr id="25" name="מלבן 24"/>
            <p:cNvSpPr/>
            <p:nvPr/>
          </p:nvSpPr>
          <p:spPr>
            <a:xfrm>
              <a:off x="8513765" y="3895066"/>
              <a:ext cx="2431680" cy="83670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sz="25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המטרה: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2580841" y="314925"/>
            <a:ext cx="92537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b="1" dirty="0">
                <a:latin typeface="Calibri" panose="020F0502020204030204" pitchFamily="34" charset="0"/>
                <a:cs typeface="Calibri" panose="020F0502020204030204" pitchFamily="34" charset="0"/>
              </a:rPr>
              <a:t>שת"פ והעברות מידע– ביטוח לאומי ומשרד הרווחה</a:t>
            </a:r>
          </a:p>
        </p:txBody>
      </p:sp>
      <p:sp>
        <p:nvSpPr>
          <p:cNvPr id="20" name="מלבן 19"/>
          <p:cNvSpPr/>
          <p:nvPr/>
        </p:nvSpPr>
        <p:spPr>
          <a:xfrm>
            <a:off x="3093" y="0"/>
            <a:ext cx="244547" cy="6857999"/>
          </a:xfrm>
          <a:prstGeom prst="rect">
            <a:avLst/>
          </a:prstGeom>
          <a:solidFill>
            <a:srgbClr val="527FC4"/>
          </a:solidFill>
          <a:ln>
            <a:solidFill>
              <a:srgbClr val="8C8D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אליפסה 13"/>
          <p:cNvSpPr/>
          <p:nvPr/>
        </p:nvSpPr>
        <p:spPr>
          <a:xfrm>
            <a:off x="6185347" y="2055242"/>
            <a:ext cx="1705404" cy="1669681"/>
          </a:xfrm>
          <a:prstGeom prst="ellipse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solidFill>
                  <a:srgbClr val="44546A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התאמת שירותים לצרכי הלקוחות</a:t>
            </a:r>
          </a:p>
        </p:txBody>
      </p:sp>
      <p:sp>
        <p:nvSpPr>
          <p:cNvPr id="18" name="מלבן 17"/>
          <p:cNvSpPr/>
          <p:nvPr/>
        </p:nvSpPr>
        <p:spPr>
          <a:xfrm>
            <a:off x="-2308" y="1"/>
            <a:ext cx="244547" cy="6857999"/>
          </a:xfrm>
          <a:prstGeom prst="rect">
            <a:avLst/>
          </a:prstGeom>
          <a:solidFill>
            <a:srgbClr val="5EC5C5"/>
          </a:solidFill>
          <a:ln>
            <a:solidFill>
              <a:srgbClr val="2CC2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 rot="16200000">
            <a:off x="-709672" y="667069"/>
            <a:ext cx="1616148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1600" b="1" dirty="0"/>
              <a:t>סל מותאם אישית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67C49B9E-65D5-781E-4D41-177CE02F5461}"/>
              </a:ext>
            </a:extLst>
          </p:cNvPr>
          <p:cNvSpPr/>
          <p:nvPr/>
        </p:nvSpPr>
        <p:spPr>
          <a:xfrm>
            <a:off x="3093" y="0"/>
            <a:ext cx="264155" cy="6857999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rgbClr val="2CC2E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2CA3A015-7B6E-2195-8F3A-3584FA652760}"/>
              </a:ext>
            </a:extLst>
          </p:cNvPr>
          <p:cNvSpPr txBox="1"/>
          <p:nvPr/>
        </p:nvSpPr>
        <p:spPr>
          <a:xfrm rot="16200000">
            <a:off x="-1010313" y="774604"/>
            <a:ext cx="2039340" cy="51578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lvl="0">
              <a:lnSpc>
                <a:spcPct val="200000"/>
              </a:lnSpc>
              <a:defRPr/>
            </a:pPr>
            <a:r>
              <a:rPr lang="he-IL" sz="1600" b="1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ההזדמנות לשינוי בסיעוד</a:t>
            </a:r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55525E03-FFF1-50E2-C731-4C2923713AFA}"/>
              </a:ext>
            </a:extLst>
          </p:cNvPr>
          <p:cNvSpPr/>
          <p:nvPr/>
        </p:nvSpPr>
        <p:spPr>
          <a:xfrm>
            <a:off x="9539283" y="2055242"/>
            <a:ext cx="1705404" cy="1669681"/>
          </a:xfrm>
          <a:prstGeom prst="ellipse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b="1" dirty="0">
                <a:solidFill>
                  <a:srgbClr val="44546A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תמונת מצב והיערכות לאומית להזדקנות</a:t>
            </a:r>
          </a:p>
        </p:txBody>
      </p:sp>
    </p:spTree>
    <p:extLst>
      <p:ext uri="{BB962C8B-B14F-4D97-AF65-F5344CB8AC3E}">
        <p14:creationId xmlns:p14="http://schemas.microsoft.com/office/powerpoint/2010/main" val="385796697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901</Words>
  <Application>Microsoft Office PowerPoint</Application>
  <PresentationFormat>מסך רחב</PresentationFormat>
  <Paragraphs>140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9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Gveret Levin AlefAlefAlef</vt:lpstr>
      <vt:lpstr>Open Sans</vt:lpstr>
      <vt:lpstr>Times New Roman</vt:lpstr>
      <vt:lpstr>Varela Round</vt:lpstr>
      <vt:lpstr>Wingdings</vt:lpstr>
      <vt:lpstr>ערכת נושא Office</vt:lpstr>
      <vt:lpstr>סל שירותים אישי מבוסס נתונים לבחירת הזקן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סל שירותים אישי מבוסס נתונים לבחירת הזקן</dc:title>
  <dc:creator>אביעד יצחק</dc:creator>
  <cp:lastModifiedBy>אביעד יצחקי</cp:lastModifiedBy>
  <cp:revision>2</cp:revision>
  <dcterms:created xsi:type="dcterms:W3CDTF">2024-06-19T12:22:20Z</dcterms:created>
  <dcterms:modified xsi:type="dcterms:W3CDTF">2024-06-19T14:01:34Z</dcterms:modified>
</cp:coreProperties>
</file>